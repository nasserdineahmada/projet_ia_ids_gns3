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4"/>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Calibri (MS) Bold" charset="1" panose="020F0702030404030204"/>
      <p:regular r:id="rId20"/>
    </p:embeddedFont>
    <p:embeddedFont>
      <p:font typeface="Calibri (MS) Italics" charset="1" panose="020F05020202040A0204"/>
      <p:regular r:id="rId21"/>
    </p:embeddedFont>
    <p:embeddedFont>
      <p:font typeface="Calibri (MS)" charset="1" panose="020F0502020204030204"/>
      <p:regular r:id="rId22"/>
    </p:embeddedFont>
    <p:embeddedFont>
      <p:font typeface="Open Sans Bold" charset="1" panose="020B0806030504020204"/>
      <p:regular r:id="rId23"/>
    </p:embeddedFont>
    <p:embeddedFont>
      <p:font typeface="Trebuchet MS Bold" charset="1" panose="020B0703020202020204"/>
      <p:regular r:id="rId27"/>
    </p:embeddedFont>
    <p:embeddedFont>
      <p:font typeface="Cambria Bold" charset="1" panose="02040803050406030204"/>
      <p:regular r:id="rId28"/>
    </p:embeddedFont>
    <p:embeddedFont>
      <p:font typeface="Calibri (MS) Bold Italics" charset="1" panose="020F07020304040A0204"/>
      <p:regular r:id="rId29"/>
    </p:embeddedFont>
    <p:embeddedFont>
      <p:font typeface="TAN Headline" charset="1" panose="00000000000000000000"/>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notesMasters/notesMaster1.xml" Type="http://schemas.openxmlformats.org/officeDocument/2006/relationships/notesMaster"/><Relationship Id="rId25" Target="theme/theme2.xml" Type="http://schemas.openxmlformats.org/officeDocument/2006/relationships/theme"/><Relationship Id="rId26" Target="notesSlides/notesSlide1.xml" Type="http://schemas.openxmlformats.org/officeDocument/2006/relationships/notesSlide"/><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8.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0F4FF"/>
        </a:solidFill>
      </p:bgPr>
    </p:bg>
    <p:spTree>
      <p:nvGrpSpPr>
        <p:cNvPr id="1" name=""/>
        <p:cNvGrpSpPr/>
        <p:nvPr/>
      </p:nvGrpSpPr>
      <p:grpSpPr>
        <a:xfrm>
          <a:off x="0" y="0"/>
          <a:ext cx="0" cy="0"/>
          <a:chOff x="0" y="0"/>
          <a:chExt cx="0" cy="0"/>
        </a:xfrm>
      </p:grpSpPr>
      <p:grpSp>
        <p:nvGrpSpPr>
          <p:cNvPr name="Group 2" id="2"/>
          <p:cNvGrpSpPr/>
          <p:nvPr/>
        </p:nvGrpSpPr>
        <p:grpSpPr>
          <a:xfrm rot="0">
            <a:off x="-12697" y="-21895"/>
            <a:ext cx="12550778" cy="180906"/>
            <a:chOff x="0" y="0"/>
            <a:chExt cx="15883471" cy="228943"/>
          </a:xfrm>
        </p:grpSpPr>
        <p:sp>
          <p:nvSpPr>
            <p:cNvPr name="Freeform 3" id="3"/>
            <p:cNvSpPr/>
            <p:nvPr/>
          </p:nvSpPr>
          <p:spPr>
            <a:xfrm flipH="false" flipV="false" rot="0">
              <a:off x="16891" y="16891"/>
              <a:ext cx="15849599" cy="195072"/>
            </a:xfrm>
            <a:custGeom>
              <a:avLst/>
              <a:gdLst/>
              <a:ahLst/>
              <a:cxnLst/>
              <a:rect r="r" b="b" t="t" l="l"/>
              <a:pathLst>
                <a:path h="195072" w="15849599">
                  <a:moveTo>
                    <a:pt x="0" y="0"/>
                  </a:moveTo>
                  <a:lnTo>
                    <a:pt x="15849599" y="0"/>
                  </a:lnTo>
                  <a:lnTo>
                    <a:pt x="15849599" y="195072"/>
                  </a:lnTo>
                  <a:lnTo>
                    <a:pt x="0" y="195072"/>
                  </a:lnTo>
                  <a:close/>
                </a:path>
              </a:pathLst>
            </a:custGeom>
            <a:solidFill>
              <a:srgbClr val="2563EB"/>
            </a:solidFill>
          </p:spPr>
        </p:sp>
        <p:sp>
          <p:nvSpPr>
            <p:cNvPr name="Freeform 4" id="4"/>
            <p:cNvSpPr/>
            <p:nvPr/>
          </p:nvSpPr>
          <p:spPr>
            <a:xfrm flipH="false" flipV="false" rot="0">
              <a:off x="0" y="0"/>
              <a:ext cx="15883382" cy="228856"/>
            </a:xfrm>
            <a:custGeom>
              <a:avLst/>
              <a:gdLst/>
              <a:ahLst/>
              <a:cxnLst/>
              <a:rect r="r" b="b" t="t" l="l"/>
              <a:pathLst>
                <a:path h="228856" w="15883382">
                  <a:moveTo>
                    <a:pt x="16891" y="0"/>
                  </a:moveTo>
                  <a:lnTo>
                    <a:pt x="15866490" y="0"/>
                  </a:lnTo>
                  <a:cubicBezTo>
                    <a:pt x="15875890" y="0"/>
                    <a:pt x="15883382" y="7620"/>
                    <a:pt x="15883382" y="16891"/>
                  </a:cubicBezTo>
                  <a:lnTo>
                    <a:pt x="15883382" y="211963"/>
                  </a:lnTo>
                  <a:cubicBezTo>
                    <a:pt x="15883382" y="221361"/>
                    <a:pt x="15875763" y="228854"/>
                    <a:pt x="15866490" y="228854"/>
                  </a:cubicBezTo>
                  <a:lnTo>
                    <a:pt x="16891" y="228854"/>
                  </a:lnTo>
                  <a:cubicBezTo>
                    <a:pt x="7620" y="228981"/>
                    <a:pt x="0" y="221361"/>
                    <a:pt x="0" y="211963"/>
                  </a:cubicBezTo>
                  <a:lnTo>
                    <a:pt x="0" y="16891"/>
                  </a:lnTo>
                  <a:cubicBezTo>
                    <a:pt x="0" y="7620"/>
                    <a:pt x="7620" y="0"/>
                    <a:pt x="16891" y="0"/>
                  </a:cubicBezTo>
                  <a:moveTo>
                    <a:pt x="16891" y="33909"/>
                  </a:moveTo>
                  <a:lnTo>
                    <a:pt x="16891" y="16891"/>
                  </a:lnTo>
                  <a:lnTo>
                    <a:pt x="33909" y="16891"/>
                  </a:lnTo>
                  <a:lnTo>
                    <a:pt x="33909" y="211963"/>
                  </a:lnTo>
                  <a:lnTo>
                    <a:pt x="16891" y="211963"/>
                  </a:lnTo>
                  <a:lnTo>
                    <a:pt x="16891" y="195072"/>
                  </a:lnTo>
                  <a:lnTo>
                    <a:pt x="15866490" y="195072"/>
                  </a:lnTo>
                  <a:lnTo>
                    <a:pt x="15866490" y="211963"/>
                  </a:lnTo>
                  <a:lnTo>
                    <a:pt x="15849600" y="211963"/>
                  </a:lnTo>
                  <a:lnTo>
                    <a:pt x="15849600" y="16891"/>
                  </a:lnTo>
                  <a:lnTo>
                    <a:pt x="15866490" y="16891"/>
                  </a:lnTo>
                  <a:lnTo>
                    <a:pt x="15866490" y="33909"/>
                  </a:lnTo>
                  <a:lnTo>
                    <a:pt x="16891" y="33909"/>
                  </a:lnTo>
                  <a:close/>
                </a:path>
              </a:pathLst>
            </a:custGeom>
            <a:solidFill>
              <a:srgbClr val="2563EB"/>
            </a:solidFill>
          </p:spPr>
        </p:sp>
      </p:grpSp>
      <p:grpSp>
        <p:nvGrpSpPr>
          <p:cNvPr name="Group 5" id="5"/>
          <p:cNvGrpSpPr/>
          <p:nvPr/>
        </p:nvGrpSpPr>
        <p:grpSpPr>
          <a:xfrm rot="0">
            <a:off x="812797" y="1910077"/>
            <a:ext cx="10627357" cy="20317"/>
            <a:chOff x="0" y="0"/>
            <a:chExt cx="14169809" cy="27089"/>
          </a:xfrm>
        </p:grpSpPr>
        <p:sp>
          <p:nvSpPr>
            <p:cNvPr name="Freeform 6" id="6"/>
            <p:cNvSpPr/>
            <p:nvPr/>
          </p:nvSpPr>
          <p:spPr>
            <a:xfrm flipH="false" flipV="false" rot="0">
              <a:off x="13589" y="0"/>
              <a:ext cx="14142719" cy="27051"/>
            </a:xfrm>
            <a:custGeom>
              <a:avLst/>
              <a:gdLst/>
              <a:ahLst/>
              <a:cxnLst/>
              <a:rect r="r" b="b" t="t" l="l"/>
              <a:pathLst>
                <a:path h="27051" w="14142719">
                  <a:moveTo>
                    <a:pt x="0" y="0"/>
                  </a:moveTo>
                  <a:lnTo>
                    <a:pt x="14142719" y="0"/>
                  </a:lnTo>
                  <a:lnTo>
                    <a:pt x="14142719" y="27051"/>
                  </a:lnTo>
                  <a:lnTo>
                    <a:pt x="0" y="27051"/>
                  </a:lnTo>
                  <a:close/>
                </a:path>
              </a:pathLst>
            </a:custGeom>
            <a:solidFill>
              <a:srgbClr val="D1D5DB"/>
            </a:solidFill>
          </p:spPr>
        </p:sp>
      </p:grpSp>
      <p:grpSp>
        <p:nvGrpSpPr>
          <p:cNvPr name="Group 7" id="7"/>
          <p:cNvGrpSpPr/>
          <p:nvPr/>
        </p:nvGrpSpPr>
        <p:grpSpPr>
          <a:xfrm rot="0">
            <a:off x="873257" y="2267712"/>
            <a:ext cx="10607040" cy="512064"/>
            <a:chOff x="0" y="0"/>
            <a:chExt cx="14142720" cy="682752"/>
          </a:xfrm>
        </p:grpSpPr>
        <p:sp>
          <p:nvSpPr>
            <p:cNvPr name="Freeform 8" id="8"/>
            <p:cNvSpPr/>
            <p:nvPr/>
          </p:nvSpPr>
          <p:spPr>
            <a:xfrm flipH="false" flipV="false" rot="0">
              <a:off x="0" y="0"/>
              <a:ext cx="14142720" cy="682752"/>
            </a:xfrm>
            <a:custGeom>
              <a:avLst/>
              <a:gdLst/>
              <a:ahLst/>
              <a:cxnLst/>
              <a:rect r="r" b="b" t="t" l="l"/>
              <a:pathLst>
                <a:path h="682752" w="14142720">
                  <a:moveTo>
                    <a:pt x="0" y="0"/>
                  </a:moveTo>
                  <a:lnTo>
                    <a:pt x="14142720" y="0"/>
                  </a:lnTo>
                  <a:lnTo>
                    <a:pt x="14142720" y="682752"/>
                  </a:lnTo>
                  <a:lnTo>
                    <a:pt x="0" y="682752"/>
                  </a:lnTo>
                  <a:close/>
                </a:path>
              </a:pathLst>
            </a:custGeom>
            <a:blipFill>
              <a:blip r:embed="rId2">
                <a:alphaModFix amt="0"/>
              </a:blip>
              <a:stretch>
                <a:fillRect l="0" t="-353618" r="0" b="-353618"/>
              </a:stretch>
            </a:blipFill>
          </p:spPr>
        </p:sp>
        <p:sp>
          <p:nvSpPr>
            <p:cNvPr name="TextBox 9" id="9"/>
            <p:cNvSpPr txBox="true"/>
            <p:nvPr/>
          </p:nvSpPr>
          <p:spPr>
            <a:xfrm>
              <a:off x="0" y="-38100"/>
              <a:ext cx="14142720" cy="720852"/>
            </a:xfrm>
            <a:prstGeom prst="rect">
              <a:avLst/>
            </a:prstGeom>
          </p:spPr>
          <p:txBody>
            <a:bodyPr anchor="ctr" rtlCol="false" tIns="0" lIns="0" bIns="0" rIns="0"/>
            <a:lstStyle/>
            <a:p>
              <a:pPr algn="l">
                <a:lnSpc>
                  <a:spcPts val="2160"/>
                </a:lnSpc>
              </a:pPr>
              <a:r>
                <a:rPr lang="en-US" b="true" sz="1800" spc="400">
                  <a:solidFill>
                    <a:srgbClr val="2563EB"/>
                  </a:solidFill>
                  <a:latin typeface="Calibri (MS) Bold"/>
                  <a:ea typeface="Calibri (MS) Bold"/>
                  <a:cs typeface="Calibri (MS) Bold"/>
                  <a:sym typeface="Calibri (MS) Bold"/>
                </a:rPr>
                <a:t>PROJET — Intelligence Artificielle</a:t>
              </a:r>
            </a:p>
          </p:txBody>
        </p:sp>
      </p:grpSp>
      <p:grpSp>
        <p:nvGrpSpPr>
          <p:cNvPr name="Group 10" id="10"/>
          <p:cNvGrpSpPr/>
          <p:nvPr/>
        </p:nvGrpSpPr>
        <p:grpSpPr>
          <a:xfrm rot="0">
            <a:off x="747779" y="2178044"/>
            <a:ext cx="10627357" cy="2899281"/>
            <a:chOff x="0" y="0"/>
            <a:chExt cx="14169809" cy="3865709"/>
          </a:xfrm>
        </p:grpSpPr>
        <p:sp>
          <p:nvSpPr>
            <p:cNvPr name="Freeform 11" id="11"/>
            <p:cNvSpPr/>
            <p:nvPr/>
          </p:nvSpPr>
          <p:spPr>
            <a:xfrm flipH="false" flipV="false" rot="0">
              <a:off x="0" y="0"/>
              <a:ext cx="14169810" cy="3865709"/>
            </a:xfrm>
            <a:custGeom>
              <a:avLst/>
              <a:gdLst/>
              <a:ahLst/>
              <a:cxnLst/>
              <a:rect r="r" b="b" t="t" l="l"/>
              <a:pathLst>
                <a:path h="3865709" w="14169810">
                  <a:moveTo>
                    <a:pt x="0" y="0"/>
                  </a:moveTo>
                  <a:lnTo>
                    <a:pt x="14169810" y="0"/>
                  </a:lnTo>
                  <a:lnTo>
                    <a:pt x="14169810" y="3865709"/>
                  </a:lnTo>
                  <a:lnTo>
                    <a:pt x="0" y="3865709"/>
                  </a:lnTo>
                  <a:close/>
                </a:path>
              </a:pathLst>
            </a:custGeom>
            <a:blipFill>
              <a:blip r:embed="rId2">
                <a:alphaModFix amt="0"/>
              </a:blip>
              <a:stretch>
                <a:fillRect l="0" t="-28708" r="191" b="-13863"/>
              </a:stretch>
            </a:blipFill>
          </p:spPr>
        </p:sp>
        <p:sp>
          <p:nvSpPr>
            <p:cNvPr name="TextBox 12" id="12"/>
            <p:cNvSpPr txBox="true"/>
            <p:nvPr/>
          </p:nvSpPr>
          <p:spPr>
            <a:xfrm>
              <a:off x="0" y="-123825"/>
              <a:ext cx="14169809" cy="3989534"/>
            </a:xfrm>
            <a:prstGeom prst="rect">
              <a:avLst/>
            </a:prstGeom>
          </p:spPr>
          <p:txBody>
            <a:bodyPr anchor="ctr" rtlCol="false" tIns="0" lIns="0" bIns="0" rIns="0"/>
            <a:lstStyle/>
            <a:p>
              <a:pPr algn="l">
                <a:lnSpc>
                  <a:spcPts val="4692"/>
                </a:lnSpc>
              </a:pPr>
              <a:r>
                <a:rPr lang="en-US" sz="3400" b="true">
                  <a:solidFill>
                    <a:srgbClr val="1A1A2E"/>
                  </a:solidFill>
                  <a:latin typeface="Calibri (MS) Bold"/>
                  <a:ea typeface="Calibri (MS) Bold"/>
                  <a:cs typeface="Calibri (MS) Bold"/>
                  <a:sym typeface="Calibri (MS) Bold"/>
                </a:rPr>
                <a:t>Concep</a:t>
              </a:r>
              <a:r>
                <a:rPr lang="en-US" sz="3400" b="true">
                  <a:solidFill>
                    <a:srgbClr val="1A1A2E"/>
                  </a:solidFill>
                  <a:latin typeface="Calibri (MS) Bold"/>
                  <a:ea typeface="Calibri (MS) Bold"/>
                  <a:cs typeface="Calibri (MS) Bold"/>
                  <a:sym typeface="Calibri (MS) Bold"/>
                </a:rPr>
                <a:t>tion d’un système basé sur l’Intelligence Artificielle pour l’analyse et la détection des anomalies dans le trafic réseau</a:t>
              </a:r>
            </a:p>
          </p:txBody>
        </p:sp>
      </p:grpSp>
      <p:grpSp>
        <p:nvGrpSpPr>
          <p:cNvPr name="Group 13" id="13"/>
          <p:cNvGrpSpPr/>
          <p:nvPr/>
        </p:nvGrpSpPr>
        <p:grpSpPr>
          <a:xfrm rot="0">
            <a:off x="768096" y="4887087"/>
            <a:ext cx="2037083" cy="125987"/>
            <a:chOff x="0" y="0"/>
            <a:chExt cx="2716111" cy="167983"/>
          </a:xfrm>
        </p:grpSpPr>
        <p:sp>
          <p:nvSpPr>
            <p:cNvPr name="Freeform 14" id="14"/>
            <p:cNvSpPr/>
            <p:nvPr/>
          </p:nvSpPr>
          <p:spPr>
            <a:xfrm flipH="false" flipV="false" rot="0">
              <a:off x="16891" y="16891"/>
              <a:ext cx="2682240" cy="134112"/>
            </a:xfrm>
            <a:custGeom>
              <a:avLst/>
              <a:gdLst/>
              <a:ahLst/>
              <a:cxnLst/>
              <a:rect r="r" b="b" t="t" l="l"/>
              <a:pathLst>
                <a:path h="134112" w="2682240">
                  <a:moveTo>
                    <a:pt x="0" y="0"/>
                  </a:moveTo>
                  <a:lnTo>
                    <a:pt x="2682240" y="0"/>
                  </a:lnTo>
                  <a:lnTo>
                    <a:pt x="2682240" y="134112"/>
                  </a:lnTo>
                  <a:lnTo>
                    <a:pt x="0" y="134112"/>
                  </a:lnTo>
                  <a:close/>
                </a:path>
              </a:pathLst>
            </a:custGeom>
            <a:solidFill>
              <a:srgbClr val="2563EB"/>
            </a:solidFill>
          </p:spPr>
        </p:sp>
        <p:sp>
          <p:nvSpPr>
            <p:cNvPr name="Freeform 15" id="15"/>
            <p:cNvSpPr/>
            <p:nvPr/>
          </p:nvSpPr>
          <p:spPr>
            <a:xfrm flipH="false" flipV="false" rot="0">
              <a:off x="0" y="0"/>
              <a:ext cx="2716022" cy="167896"/>
            </a:xfrm>
            <a:custGeom>
              <a:avLst/>
              <a:gdLst/>
              <a:ahLst/>
              <a:cxnLst/>
              <a:rect r="r" b="b" t="t" l="l"/>
              <a:pathLst>
                <a:path h="167896" w="2716022">
                  <a:moveTo>
                    <a:pt x="16891" y="0"/>
                  </a:moveTo>
                  <a:lnTo>
                    <a:pt x="2699131" y="0"/>
                  </a:lnTo>
                  <a:cubicBezTo>
                    <a:pt x="2708529" y="0"/>
                    <a:pt x="2716022" y="7620"/>
                    <a:pt x="2716022" y="16891"/>
                  </a:cubicBezTo>
                  <a:lnTo>
                    <a:pt x="2716022" y="151003"/>
                  </a:lnTo>
                  <a:cubicBezTo>
                    <a:pt x="2716022" y="160401"/>
                    <a:pt x="2708402" y="167894"/>
                    <a:pt x="2699131" y="167894"/>
                  </a:cubicBezTo>
                  <a:lnTo>
                    <a:pt x="16891" y="167894"/>
                  </a:lnTo>
                  <a:cubicBezTo>
                    <a:pt x="7620" y="168021"/>
                    <a:pt x="0" y="160401"/>
                    <a:pt x="0" y="151003"/>
                  </a:cubicBezTo>
                  <a:lnTo>
                    <a:pt x="0" y="16891"/>
                  </a:lnTo>
                  <a:cubicBezTo>
                    <a:pt x="0" y="7620"/>
                    <a:pt x="7620" y="0"/>
                    <a:pt x="16891" y="0"/>
                  </a:cubicBezTo>
                  <a:moveTo>
                    <a:pt x="16891" y="33909"/>
                  </a:moveTo>
                  <a:lnTo>
                    <a:pt x="16891" y="16891"/>
                  </a:lnTo>
                  <a:lnTo>
                    <a:pt x="33909" y="16891"/>
                  </a:lnTo>
                  <a:lnTo>
                    <a:pt x="33909" y="151003"/>
                  </a:lnTo>
                  <a:lnTo>
                    <a:pt x="16891" y="151003"/>
                  </a:lnTo>
                  <a:lnTo>
                    <a:pt x="16891" y="134112"/>
                  </a:lnTo>
                  <a:lnTo>
                    <a:pt x="2699131" y="134112"/>
                  </a:lnTo>
                  <a:lnTo>
                    <a:pt x="2699131" y="151003"/>
                  </a:lnTo>
                  <a:lnTo>
                    <a:pt x="2682240" y="151003"/>
                  </a:lnTo>
                  <a:lnTo>
                    <a:pt x="2682240" y="16891"/>
                  </a:lnTo>
                  <a:lnTo>
                    <a:pt x="2699131" y="16891"/>
                  </a:lnTo>
                  <a:lnTo>
                    <a:pt x="2699131" y="33909"/>
                  </a:lnTo>
                  <a:lnTo>
                    <a:pt x="16891" y="33909"/>
                  </a:lnTo>
                  <a:close/>
                </a:path>
              </a:pathLst>
            </a:custGeom>
            <a:solidFill>
              <a:srgbClr val="2563EB"/>
            </a:solidFill>
          </p:spPr>
        </p:sp>
      </p:grpSp>
      <p:grpSp>
        <p:nvGrpSpPr>
          <p:cNvPr name="Group 16" id="16"/>
          <p:cNvGrpSpPr/>
          <p:nvPr/>
        </p:nvGrpSpPr>
        <p:grpSpPr>
          <a:xfrm rot="0">
            <a:off x="768096" y="5414643"/>
            <a:ext cx="10607040" cy="508640"/>
            <a:chOff x="0" y="0"/>
            <a:chExt cx="14142720" cy="678186"/>
          </a:xfrm>
        </p:grpSpPr>
        <p:sp>
          <p:nvSpPr>
            <p:cNvPr name="Freeform 17" id="17"/>
            <p:cNvSpPr/>
            <p:nvPr/>
          </p:nvSpPr>
          <p:spPr>
            <a:xfrm flipH="false" flipV="false" rot="0">
              <a:off x="0" y="0"/>
              <a:ext cx="14142720" cy="678186"/>
            </a:xfrm>
            <a:custGeom>
              <a:avLst/>
              <a:gdLst/>
              <a:ahLst/>
              <a:cxnLst/>
              <a:rect r="r" b="b" t="t" l="l"/>
              <a:pathLst>
                <a:path h="678186" w="14142720">
                  <a:moveTo>
                    <a:pt x="0" y="0"/>
                  </a:moveTo>
                  <a:lnTo>
                    <a:pt x="14142720" y="0"/>
                  </a:lnTo>
                  <a:lnTo>
                    <a:pt x="14142720" y="678186"/>
                  </a:lnTo>
                  <a:lnTo>
                    <a:pt x="0" y="678186"/>
                  </a:lnTo>
                  <a:close/>
                </a:path>
              </a:pathLst>
            </a:custGeom>
            <a:blipFill>
              <a:blip r:embed="rId2">
                <a:alphaModFix amt="0"/>
              </a:blip>
              <a:stretch>
                <a:fillRect l="0" t="-348808" r="0" b="-363863"/>
              </a:stretch>
            </a:blipFill>
          </p:spPr>
        </p:sp>
        <p:sp>
          <p:nvSpPr>
            <p:cNvPr name="TextBox 18" id="18"/>
            <p:cNvSpPr txBox="true"/>
            <p:nvPr/>
          </p:nvSpPr>
          <p:spPr>
            <a:xfrm>
              <a:off x="0" y="-47625"/>
              <a:ext cx="14142720" cy="725811"/>
            </a:xfrm>
            <a:prstGeom prst="rect">
              <a:avLst/>
            </a:prstGeom>
          </p:spPr>
          <p:txBody>
            <a:bodyPr anchor="ctr" rtlCol="false" tIns="0" lIns="0" bIns="0" rIns="0"/>
            <a:lstStyle/>
            <a:p>
              <a:pPr algn="l">
                <a:lnSpc>
                  <a:spcPts val="2520"/>
                </a:lnSpc>
              </a:pPr>
              <a:r>
                <a:rPr lang="en-US" sz="2100" i="true">
                  <a:solidFill>
                    <a:srgbClr val="6B7280"/>
                  </a:solidFill>
                  <a:latin typeface="Calibri (MS) Italics"/>
                  <a:ea typeface="Calibri (MS) Italics"/>
                  <a:cs typeface="Calibri (MS) Italics"/>
                  <a:sym typeface="Calibri (MS) Italics"/>
                </a:rPr>
                <a:t>Analyse</a:t>
              </a:r>
              <a:r>
                <a:rPr lang="en-US" sz="2100" i="true">
                  <a:solidFill>
                    <a:srgbClr val="6B7280"/>
                  </a:solidFill>
                  <a:latin typeface="Calibri (MS) Italics"/>
                  <a:ea typeface="Calibri (MS) Italics"/>
                  <a:cs typeface="Calibri (MS) Italics"/>
                  <a:sym typeface="Calibri (MS) Italics"/>
                </a:rPr>
                <a:t>· pretraitement· entraînement.teste&amp;validation</a:t>
              </a:r>
            </a:p>
          </p:txBody>
        </p:sp>
      </p:grpSp>
      <p:grpSp>
        <p:nvGrpSpPr>
          <p:cNvPr name="Group 19" id="19"/>
          <p:cNvGrpSpPr/>
          <p:nvPr/>
        </p:nvGrpSpPr>
        <p:grpSpPr>
          <a:xfrm rot="0">
            <a:off x="747779" y="6113783"/>
            <a:ext cx="10627357" cy="2817495"/>
            <a:chOff x="0" y="0"/>
            <a:chExt cx="14169809" cy="3756660"/>
          </a:xfrm>
        </p:grpSpPr>
        <p:sp>
          <p:nvSpPr>
            <p:cNvPr name="Freeform 20" id="20"/>
            <p:cNvSpPr/>
            <p:nvPr/>
          </p:nvSpPr>
          <p:spPr>
            <a:xfrm flipH="false" flipV="false" rot="0">
              <a:off x="13589" y="13411"/>
              <a:ext cx="14142719" cy="3729927"/>
            </a:xfrm>
            <a:custGeom>
              <a:avLst/>
              <a:gdLst/>
              <a:ahLst/>
              <a:cxnLst/>
              <a:rect r="r" b="b" t="t" l="l"/>
              <a:pathLst>
                <a:path h="3729927" w="14142719">
                  <a:moveTo>
                    <a:pt x="0" y="0"/>
                  </a:moveTo>
                  <a:lnTo>
                    <a:pt x="14142719" y="0"/>
                  </a:lnTo>
                  <a:lnTo>
                    <a:pt x="14142719" y="3729926"/>
                  </a:lnTo>
                  <a:lnTo>
                    <a:pt x="0" y="3729926"/>
                  </a:lnTo>
                  <a:close/>
                </a:path>
              </a:pathLst>
            </a:custGeom>
            <a:solidFill>
              <a:srgbClr val="FFFFFF"/>
            </a:solidFill>
          </p:spPr>
        </p:sp>
        <p:sp>
          <p:nvSpPr>
            <p:cNvPr name="Freeform 21" id="21"/>
            <p:cNvSpPr/>
            <p:nvPr/>
          </p:nvSpPr>
          <p:spPr>
            <a:xfrm flipH="false" flipV="false" rot="0">
              <a:off x="0" y="0"/>
              <a:ext cx="14169898" cy="3756749"/>
            </a:xfrm>
            <a:custGeom>
              <a:avLst/>
              <a:gdLst/>
              <a:ahLst/>
              <a:cxnLst/>
              <a:rect r="r" b="b" t="t" l="l"/>
              <a:pathLst>
                <a:path h="3756749" w="14169898">
                  <a:moveTo>
                    <a:pt x="13589" y="0"/>
                  </a:moveTo>
                  <a:lnTo>
                    <a:pt x="14156308" y="0"/>
                  </a:lnTo>
                  <a:cubicBezTo>
                    <a:pt x="14163802" y="0"/>
                    <a:pt x="14169898" y="6016"/>
                    <a:pt x="14169898" y="13411"/>
                  </a:cubicBezTo>
                  <a:lnTo>
                    <a:pt x="14169898" y="3743337"/>
                  </a:lnTo>
                  <a:cubicBezTo>
                    <a:pt x="14169898" y="3750732"/>
                    <a:pt x="14163802" y="3756749"/>
                    <a:pt x="14156308" y="3756749"/>
                  </a:cubicBezTo>
                  <a:lnTo>
                    <a:pt x="13589" y="3756749"/>
                  </a:lnTo>
                  <a:cubicBezTo>
                    <a:pt x="6096" y="3756749"/>
                    <a:pt x="0" y="3750732"/>
                    <a:pt x="0" y="3743337"/>
                  </a:cubicBezTo>
                  <a:lnTo>
                    <a:pt x="0" y="13411"/>
                  </a:lnTo>
                  <a:cubicBezTo>
                    <a:pt x="0" y="6016"/>
                    <a:pt x="6096" y="0"/>
                    <a:pt x="13589" y="0"/>
                  </a:cubicBezTo>
                  <a:moveTo>
                    <a:pt x="13589" y="26696"/>
                  </a:moveTo>
                  <a:lnTo>
                    <a:pt x="13589" y="13411"/>
                  </a:lnTo>
                  <a:lnTo>
                    <a:pt x="27051" y="13411"/>
                  </a:lnTo>
                  <a:lnTo>
                    <a:pt x="27051" y="3743337"/>
                  </a:lnTo>
                  <a:lnTo>
                    <a:pt x="13589" y="3743337"/>
                  </a:lnTo>
                  <a:lnTo>
                    <a:pt x="13589" y="3729927"/>
                  </a:lnTo>
                  <a:lnTo>
                    <a:pt x="14156308" y="3729927"/>
                  </a:lnTo>
                  <a:lnTo>
                    <a:pt x="14156308" y="3743337"/>
                  </a:lnTo>
                  <a:lnTo>
                    <a:pt x="14142720" y="3743337"/>
                  </a:lnTo>
                  <a:lnTo>
                    <a:pt x="14142720" y="13411"/>
                  </a:lnTo>
                  <a:lnTo>
                    <a:pt x="14156308" y="13411"/>
                  </a:lnTo>
                  <a:lnTo>
                    <a:pt x="14156308" y="26696"/>
                  </a:lnTo>
                  <a:lnTo>
                    <a:pt x="13589" y="26696"/>
                  </a:lnTo>
                  <a:close/>
                </a:path>
              </a:pathLst>
            </a:custGeom>
            <a:solidFill>
              <a:srgbClr val="D1D5DB"/>
            </a:solidFill>
          </p:spPr>
        </p:sp>
      </p:grpSp>
      <p:grpSp>
        <p:nvGrpSpPr>
          <p:cNvPr name="Group 22" id="22"/>
          <p:cNvGrpSpPr/>
          <p:nvPr/>
        </p:nvGrpSpPr>
        <p:grpSpPr>
          <a:xfrm rot="0">
            <a:off x="810263" y="6094733"/>
            <a:ext cx="125987" cy="2860043"/>
            <a:chOff x="0" y="0"/>
            <a:chExt cx="167983" cy="3813391"/>
          </a:xfrm>
        </p:grpSpPr>
        <p:sp>
          <p:nvSpPr>
            <p:cNvPr name="Freeform 23" id="23"/>
            <p:cNvSpPr/>
            <p:nvPr/>
          </p:nvSpPr>
          <p:spPr>
            <a:xfrm flipH="false" flipV="false" rot="0">
              <a:off x="16891" y="16891"/>
              <a:ext cx="134112" cy="3779520"/>
            </a:xfrm>
            <a:custGeom>
              <a:avLst/>
              <a:gdLst/>
              <a:ahLst/>
              <a:cxnLst/>
              <a:rect r="r" b="b" t="t" l="l"/>
              <a:pathLst>
                <a:path h="3779520" w="134112">
                  <a:moveTo>
                    <a:pt x="0" y="0"/>
                  </a:moveTo>
                  <a:lnTo>
                    <a:pt x="134112" y="0"/>
                  </a:lnTo>
                  <a:lnTo>
                    <a:pt x="134112" y="3779520"/>
                  </a:lnTo>
                  <a:lnTo>
                    <a:pt x="0" y="3779520"/>
                  </a:lnTo>
                  <a:close/>
                </a:path>
              </a:pathLst>
            </a:custGeom>
            <a:solidFill>
              <a:srgbClr val="2563EB"/>
            </a:solidFill>
          </p:spPr>
        </p:sp>
        <p:sp>
          <p:nvSpPr>
            <p:cNvPr name="Freeform 24" id="24"/>
            <p:cNvSpPr/>
            <p:nvPr/>
          </p:nvSpPr>
          <p:spPr>
            <a:xfrm flipH="false" flipV="false" rot="0">
              <a:off x="0" y="0"/>
              <a:ext cx="167894" cy="3813302"/>
            </a:xfrm>
            <a:custGeom>
              <a:avLst/>
              <a:gdLst/>
              <a:ahLst/>
              <a:cxnLst/>
              <a:rect r="r" b="b" t="t" l="l"/>
              <a:pathLst>
                <a:path h="3813302" w="167894">
                  <a:moveTo>
                    <a:pt x="16891" y="0"/>
                  </a:moveTo>
                  <a:lnTo>
                    <a:pt x="151003" y="0"/>
                  </a:lnTo>
                  <a:cubicBezTo>
                    <a:pt x="160401" y="0"/>
                    <a:pt x="167894" y="7620"/>
                    <a:pt x="167894" y="16891"/>
                  </a:cubicBezTo>
                  <a:lnTo>
                    <a:pt x="167894" y="3796411"/>
                  </a:lnTo>
                  <a:cubicBezTo>
                    <a:pt x="167894" y="3805809"/>
                    <a:pt x="160274" y="3813302"/>
                    <a:pt x="151003" y="3813302"/>
                  </a:cubicBezTo>
                  <a:lnTo>
                    <a:pt x="16891" y="3813302"/>
                  </a:lnTo>
                  <a:cubicBezTo>
                    <a:pt x="7493" y="3813302"/>
                    <a:pt x="0" y="3805682"/>
                    <a:pt x="0" y="3796411"/>
                  </a:cubicBezTo>
                  <a:lnTo>
                    <a:pt x="0" y="16891"/>
                  </a:lnTo>
                  <a:cubicBezTo>
                    <a:pt x="0" y="7620"/>
                    <a:pt x="7620" y="0"/>
                    <a:pt x="16891" y="0"/>
                  </a:cubicBezTo>
                  <a:moveTo>
                    <a:pt x="16891" y="33909"/>
                  </a:moveTo>
                  <a:lnTo>
                    <a:pt x="16891" y="16891"/>
                  </a:lnTo>
                  <a:lnTo>
                    <a:pt x="33909" y="16891"/>
                  </a:lnTo>
                  <a:lnTo>
                    <a:pt x="33909" y="3796411"/>
                  </a:lnTo>
                  <a:lnTo>
                    <a:pt x="16891" y="3796411"/>
                  </a:lnTo>
                  <a:lnTo>
                    <a:pt x="16891" y="3779520"/>
                  </a:lnTo>
                  <a:lnTo>
                    <a:pt x="151003" y="3779520"/>
                  </a:lnTo>
                  <a:lnTo>
                    <a:pt x="151003" y="3796411"/>
                  </a:lnTo>
                  <a:lnTo>
                    <a:pt x="134112" y="3796411"/>
                  </a:lnTo>
                  <a:lnTo>
                    <a:pt x="134112" y="16891"/>
                  </a:lnTo>
                  <a:lnTo>
                    <a:pt x="151003" y="16891"/>
                  </a:lnTo>
                  <a:lnTo>
                    <a:pt x="151003" y="33909"/>
                  </a:lnTo>
                  <a:lnTo>
                    <a:pt x="16891" y="33909"/>
                  </a:lnTo>
                  <a:close/>
                </a:path>
              </a:pathLst>
            </a:custGeom>
            <a:solidFill>
              <a:srgbClr val="2563EB"/>
            </a:solidFill>
          </p:spPr>
        </p:sp>
      </p:grpSp>
      <p:grpSp>
        <p:nvGrpSpPr>
          <p:cNvPr name="Group 25" id="25"/>
          <p:cNvGrpSpPr/>
          <p:nvPr/>
        </p:nvGrpSpPr>
        <p:grpSpPr>
          <a:xfrm rot="0">
            <a:off x="1133856" y="6235446"/>
            <a:ext cx="4572000" cy="457200"/>
            <a:chOff x="0" y="0"/>
            <a:chExt cx="6096000" cy="609600"/>
          </a:xfrm>
        </p:grpSpPr>
        <p:sp>
          <p:nvSpPr>
            <p:cNvPr name="Freeform 26" id="26"/>
            <p:cNvSpPr/>
            <p:nvPr/>
          </p:nvSpPr>
          <p:spPr>
            <a:xfrm flipH="false" flipV="false" rot="0">
              <a:off x="0" y="0"/>
              <a:ext cx="6096000" cy="609600"/>
            </a:xfrm>
            <a:custGeom>
              <a:avLst/>
              <a:gdLst/>
              <a:ahLst/>
              <a:cxnLst/>
              <a:rect r="r" b="b" t="t" l="l"/>
              <a:pathLst>
                <a:path h="609600" w="6096000">
                  <a:moveTo>
                    <a:pt x="0" y="0"/>
                  </a:moveTo>
                  <a:lnTo>
                    <a:pt x="6096000" y="0"/>
                  </a:lnTo>
                  <a:lnTo>
                    <a:pt x="6096000" y="609600"/>
                  </a:lnTo>
                  <a:lnTo>
                    <a:pt x="0" y="609600"/>
                  </a:lnTo>
                  <a:close/>
                </a:path>
              </a:pathLst>
            </a:custGeom>
            <a:blipFill>
              <a:blip r:embed="rId2">
                <a:alphaModFix amt="0"/>
              </a:blip>
              <a:stretch>
                <a:fillRect l="0" t="-144850" r="0" b="-144850"/>
              </a:stretch>
            </a:blipFill>
          </p:spPr>
        </p:sp>
        <p:sp>
          <p:nvSpPr>
            <p:cNvPr name="TextBox 27" id="27"/>
            <p:cNvSpPr txBox="true"/>
            <p:nvPr/>
          </p:nvSpPr>
          <p:spPr>
            <a:xfrm>
              <a:off x="0" y="-38100"/>
              <a:ext cx="6096000" cy="647700"/>
            </a:xfrm>
            <a:prstGeom prst="rect">
              <a:avLst/>
            </a:prstGeom>
          </p:spPr>
          <p:txBody>
            <a:bodyPr anchor="ctr" rtlCol="false" tIns="0" lIns="0" bIns="0" rIns="0"/>
            <a:lstStyle/>
            <a:p>
              <a:pPr algn="l">
                <a:lnSpc>
                  <a:spcPts val="2160"/>
                </a:lnSpc>
              </a:pPr>
              <a:r>
                <a:rPr lang="en-US" sz="1800" b="true">
                  <a:solidFill>
                    <a:srgbClr val="2563EB"/>
                  </a:solidFill>
                  <a:latin typeface="Calibri (MS) Bold"/>
                  <a:ea typeface="Calibri (MS) Bold"/>
                  <a:cs typeface="Calibri (MS) Bold"/>
                  <a:sym typeface="Calibri (MS) Bold"/>
                </a:rPr>
                <a:t>Réalisé par :</a:t>
              </a:r>
            </a:p>
          </p:txBody>
        </p:sp>
      </p:grpSp>
      <p:grpSp>
        <p:nvGrpSpPr>
          <p:cNvPr name="Group 28" id="28"/>
          <p:cNvGrpSpPr/>
          <p:nvPr/>
        </p:nvGrpSpPr>
        <p:grpSpPr>
          <a:xfrm rot="0">
            <a:off x="1133856" y="6806946"/>
            <a:ext cx="5029200" cy="489204"/>
            <a:chOff x="0" y="0"/>
            <a:chExt cx="6705600" cy="652272"/>
          </a:xfrm>
        </p:grpSpPr>
        <p:sp>
          <p:nvSpPr>
            <p:cNvPr name="Freeform 29" id="29"/>
            <p:cNvSpPr/>
            <p:nvPr/>
          </p:nvSpPr>
          <p:spPr>
            <a:xfrm flipH="false" flipV="false" rot="0">
              <a:off x="0" y="0"/>
              <a:ext cx="6705600" cy="652272"/>
            </a:xfrm>
            <a:custGeom>
              <a:avLst/>
              <a:gdLst/>
              <a:ahLst/>
              <a:cxnLst/>
              <a:rect r="r" b="b" t="t" l="l"/>
              <a:pathLst>
                <a:path h="652272" w="6705600">
                  <a:moveTo>
                    <a:pt x="0" y="0"/>
                  </a:moveTo>
                  <a:lnTo>
                    <a:pt x="6705600" y="0"/>
                  </a:lnTo>
                  <a:lnTo>
                    <a:pt x="6705600" y="652272"/>
                  </a:lnTo>
                  <a:lnTo>
                    <a:pt x="0" y="652272"/>
                  </a:lnTo>
                  <a:close/>
                </a:path>
              </a:pathLst>
            </a:custGeom>
            <a:blipFill>
              <a:blip r:embed="rId2">
                <a:alphaModFix amt="0"/>
              </a:blip>
              <a:stretch>
                <a:fillRect l="0" t="-147977" r="0" b="-152649"/>
              </a:stretch>
            </a:blipFill>
          </p:spPr>
        </p:sp>
        <p:sp>
          <p:nvSpPr>
            <p:cNvPr name="TextBox 30" id="30"/>
            <p:cNvSpPr txBox="true"/>
            <p:nvPr/>
          </p:nvSpPr>
          <p:spPr>
            <a:xfrm>
              <a:off x="0" y="-38100"/>
              <a:ext cx="6705600" cy="690372"/>
            </a:xfrm>
            <a:prstGeom prst="rect">
              <a:avLst/>
            </a:prstGeom>
          </p:spPr>
          <p:txBody>
            <a:bodyPr anchor="ctr" rtlCol="false" tIns="0" lIns="0" bIns="0" rIns="0"/>
            <a:lstStyle/>
            <a:p>
              <a:pPr algn="l">
                <a:lnSpc>
                  <a:spcPts val="2400"/>
                </a:lnSpc>
              </a:pPr>
              <a:r>
                <a:rPr lang="en-US" sz="2000">
                  <a:solidFill>
                    <a:srgbClr val="374151"/>
                  </a:solidFill>
                  <a:latin typeface="Calibri (MS)"/>
                  <a:ea typeface="Calibri (MS)"/>
                  <a:cs typeface="Calibri (MS)"/>
                  <a:sym typeface="Calibri (MS)"/>
                </a:rPr>
                <a:t>·  NASSERDINE AHMADA</a:t>
              </a:r>
            </a:p>
          </p:txBody>
        </p:sp>
      </p:grpSp>
      <p:grpSp>
        <p:nvGrpSpPr>
          <p:cNvPr name="Group 31" id="31"/>
          <p:cNvGrpSpPr/>
          <p:nvPr/>
        </p:nvGrpSpPr>
        <p:grpSpPr>
          <a:xfrm rot="0">
            <a:off x="6345936" y="6806946"/>
            <a:ext cx="5029200" cy="489204"/>
            <a:chOff x="0" y="0"/>
            <a:chExt cx="6705600" cy="652272"/>
          </a:xfrm>
        </p:grpSpPr>
        <p:sp>
          <p:nvSpPr>
            <p:cNvPr name="Freeform 32" id="32"/>
            <p:cNvSpPr/>
            <p:nvPr/>
          </p:nvSpPr>
          <p:spPr>
            <a:xfrm flipH="false" flipV="false" rot="0">
              <a:off x="0" y="0"/>
              <a:ext cx="6705600" cy="652272"/>
            </a:xfrm>
            <a:custGeom>
              <a:avLst/>
              <a:gdLst/>
              <a:ahLst/>
              <a:cxnLst/>
              <a:rect r="r" b="b" t="t" l="l"/>
              <a:pathLst>
                <a:path h="652272" w="6705600">
                  <a:moveTo>
                    <a:pt x="0" y="0"/>
                  </a:moveTo>
                  <a:lnTo>
                    <a:pt x="6705600" y="0"/>
                  </a:lnTo>
                  <a:lnTo>
                    <a:pt x="6705600" y="652272"/>
                  </a:lnTo>
                  <a:lnTo>
                    <a:pt x="0" y="652272"/>
                  </a:lnTo>
                  <a:close/>
                </a:path>
              </a:pathLst>
            </a:custGeom>
            <a:blipFill>
              <a:blip r:embed="rId2">
                <a:alphaModFix amt="0"/>
              </a:blip>
              <a:stretch>
                <a:fillRect l="0" t="-147977" r="0" b="-152649"/>
              </a:stretch>
            </a:blipFill>
          </p:spPr>
        </p:sp>
        <p:sp>
          <p:nvSpPr>
            <p:cNvPr name="TextBox 33" id="33"/>
            <p:cNvSpPr txBox="true"/>
            <p:nvPr/>
          </p:nvSpPr>
          <p:spPr>
            <a:xfrm>
              <a:off x="0" y="-38100"/>
              <a:ext cx="6705600" cy="690372"/>
            </a:xfrm>
            <a:prstGeom prst="rect">
              <a:avLst/>
            </a:prstGeom>
          </p:spPr>
          <p:txBody>
            <a:bodyPr anchor="ctr" rtlCol="false" tIns="0" lIns="0" bIns="0" rIns="0"/>
            <a:lstStyle/>
            <a:p>
              <a:pPr algn="l">
                <a:lnSpc>
                  <a:spcPts val="2400"/>
                </a:lnSpc>
              </a:pPr>
              <a:r>
                <a:rPr lang="en-US" sz="2000">
                  <a:solidFill>
                    <a:srgbClr val="374151"/>
                  </a:solidFill>
                  <a:latin typeface="Calibri (MS)"/>
                  <a:ea typeface="Calibri (MS)"/>
                  <a:cs typeface="Calibri (MS)"/>
                  <a:sym typeface="Calibri (MS)"/>
                </a:rPr>
                <a:t>·  SAID AHMED ROUKIA</a:t>
              </a:r>
            </a:p>
          </p:txBody>
        </p:sp>
      </p:grpSp>
      <p:grpSp>
        <p:nvGrpSpPr>
          <p:cNvPr name="Group 34" id="34"/>
          <p:cNvGrpSpPr/>
          <p:nvPr/>
        </p:nvGrpSpPr>
        <p:grpSpPr>
          <a:xfrm rot="0">
            <a:off x="6061458" y="7652424"/>
            <a:ext cx="5029200" cy="512064"/>
            <a:chOff x="0" y="0"/>
            <a:chExt cx="6705600" cy="682752"/>
          </a:xfrm>
        </p:grpSpPr>
        <p:sp>
          <p:nvSpPr>
            <p:cNvPr name="Freeform 35" id="35"/>
            <p:cNvSpPr/>
            <p:nvPr/>
          </p:nvSpPr>
          <p:spPr>
            <a:xfrm flipH="false" flipV="false" rot="0">
              <a:off x="0" y="0"/>
              <a:ext cx="6705600" cy="682752"/>
            </a:xfrm>
            <a:custGeom>
              <a:avLst/>
              <a:gdLst/>
              <a:ahLst/>
              <a:cxnLst/>
              <a:rect r="r" b="b" t="t" l="l"/>
              <a:pathLst>
                <a:path h="682752" w="6705600">
                  <a:moveTo>
                    <a:pt x="0" y="0"/>
                  </a:moveTo>
                  <a:lnTo>
                    <a:pt x="6705600" y="0"/>
                  </a:lnTo>
                  <a:lnTo>
                    <a:pt x="6705600" y="682752"/>
                  </a:lnTo>
                  <a:lnTo>
                    <a:pt x="0" y="682752"/>
                  </a:lnTo>
                  <a:close/>
                </a:path>
              </a:pathLst>
            </a:custGeom>
            <a:blipFill>
              <a:blip r:embed="rId2">
                <a:alphaModFix amt="0"/>
              </a:blip>
              <a:stretch>
                <a:fillRect l="0" t="-141370" r="0" b="-141370"/>
              </a:stretch>
            </a:blipFill>
          </p:spPr>
        </p:sp>
        <p:sp>
          <p:nvSpPr>
            <p:cNvPr name="TextBox 36" id="36"/>
            <p:cNvSpPr txBox="true"/>
            <p:nvPr/>
          </p:nvSpPr>
          <p:spPr>
            <a:xfrm>
              <a:off x="0" y="-38100"/>
              <a:ext cx="6705600" cy="720852"/>
            </a:xfrm>
            <a:prstGeom prst="rect">
              <a:avLst/>
            </a:prstGeom>
          </p:spPr>
          <p:txBody>
            <a:bodyPr anchor="ctr" rtlCol="false" tIns="0" lIns="0" bIns="0" rIns="0"/>
            <a:lstStyle/>
            <a:p>
              <a:pPr algn="l">
                <a:lnSpc>
                  <a:spcPts val="2400"/>
                </a:lnSpc>
              </a:pPr>
              <a:r>
                <a:rPr lang="en-US" sz="2000">
                  <a:solidFill>
                    <a:srgbClr val="374151"/>
                  </a:solidFill>
                  <a:latin typeface="Calibri (MS)"/>
                  <a:ea typeface="Calibri (MS)"/>
                  <a:cs typeface="Calibri (MS)"/>
                  <a:sym typeface="Calibri (MS)"/>
                </a:rPr>
                <a:t>·  SOKHNA DIAKHATE</a:t>
              </a:r>
            </a:p>
          </p:txBody>
        </p:sp>
      </p:grpSp>
      <p:grpSp>
        <p:nvGrpSpPr>
          <p:cNvPr name="Group 37" id="37"/>
          <p:cNvGrpSpPr/>
          <p:nvPr/>
        </p:nvGrpSpPr>
        <p:grpSpPr>
          <a:xfrm rot="0">
            <a:off x="810263" y="9245603"/>
            <a:ext cx="10632443" cy="25403"/>
            <a:chOff x="0" y="0"/>
            <a:chExt cx="14176591" cy="33871"/>
          </a:xfrm>
        </p:grpSpPr>
        <p:sp>
          <p:nvSpPr>
            <p:cNvPr name="Freeform 38" id="38"/>
            <p:cNvSpPr/>
            <p:nvPr/>
          </p:nvSpPr>
          <p:spPr>
            <a:xfrm flipH="false" flipV="false" rot="0">
              <a:off x="16891" y="16891"/>
              <a:ext cx="14142719" cy="0"/>
            </a:xfrm>
            <a:custGeom>
              <a:avLst/>
              <a:gdLst/>
              <a:ahLst/>
              <a:cxnLst/>
              <a:rect r="r" b="b" t="t" l="l"/>
              <a:pathLst>
                <a:path h="0" w="14142719">
                  <a:moveTo>
                    <a:pt x="0" y="0"/>
                  </a:moveTo>
                  <a:lnTo>
                    <a:pt x="14142719" y="0"/>
                  </a:lnTo>
                  <a:lnTo>
                    <a:pt x="0" y="0"/>
                  </a:lnTo>
                  <a:close/>
                </a:path>
              </a:pathLst>
            </a:custGeom>
            <a:solidFill>
              <a:srgbClr val="000000"/>
            </a:solidFill>
          </p:spPr>
        </p:sp>
        <p:sp>
          <p:nvSpPr>
            <p:cNvPr name="Freeform 39" id="39"/>
            <p:cNvSpPr/>
            <p:nvPr/>
          </p:nvSpPr>
          <p:spPr>
            <a:xfrm flipH="false" flipV="false" rot="0">
              <a:off x="0" y="0"/>
              <a:ext cx="14176502" cy="33909"/>
            </a:xfrm>
            <a:custGeom>
              <a:avLst/>
              <a:gdLst/>
              <a:ahLst/>
              <a:cxnLst/>
              <a:rect r="r" b="b" t="t" l="l"/>
              <a:pathLst>
                <a:path h="33909" w="14176502">
                  <a:moveTo>
                    <a:pt x="16891" y="0"/>
                  </a:moveTo>
                  <a:lnTo>
                    <a:pt x="14159610" y="0"/>
                  </a:lnTo>
                  <a:lnTo>
                    <a:pt x="14159610" y="16891"/>
                  </a:lnTo>
                  <a:lnTo>
                    <a:pt x="14159610" y="33909"/>
                  </a:lnTo>
                  <a:lnTo>
                    <a:pt x="16891" y="33909"/>
                  </a:lnTo>
                  <a:lnTo>
                    <a:pt x="16891" y="16891"/>
                  </a:lnTo>
                  <a:lnTo>
                    <a:pt x="16891" y="0"/>
                  </a:lnTo>
                  <a:moveTo>
                    <a:pt x="16891" y="33909"/>
                  </a:moveTo>
                  <a:cubicBezTo>
                    <a:pt x="7620" y="33909"/>
                    <a:pt x="0" y="26289"/>
                    <a:pt x="0" y="16891"/>
                  </a:cubicBezTo>
                  <a:cubicBezTo>
                    <a:pt x="0" y="7493"/>
                    <a:pt x="7620" y="0"/>
                    <a:pt x="16891" y="0"/>
                  </a:cubicBezTo>
                  <a:lnTo>
                    <a:pt x="14159610" y="0"/>
                  </a:lnTo>
                  <a:cubicBezTo>
                    <a:pt x="14169008" y="0"/>
                    <a:pt x="14176502" y="7620"/>
                    <a:pt x="14176502" y="16891"/>
                  </a:cubicBezTo>
                  <a:cubicBezTo>
                    <a:pt x="14176502" y="26162"/>
                    <a:pt x="14168882" y="33782"/>
                    <a:pt x="14159610" y="33782"/>
                  </a:cubicBezTo>
                  <a:lnTo>
                    <a:pt x="16891" y="33782"/>
                  </a:lnTo>
                  <a:close/>
                </a:path>
              </a:pathLst>
            </a:custGeom>
            <a:solidFill>
              <a:srgbClr val="000000"/>
            </a:solidFill>
          </p:spPr>
        </p:sp>
      </p:grpSp>
      <p:grpSp>
        <p:nvGrpSpPr>
          <p:cNvPr name="Group 40" id="40"/>
          <p:cNvGrpSpPr/>
          <p:nvPr/>
        </p:nvGrpSpPr>
        <p:grpSpPr>
          <a:xfrm rot="0">
            <a:off x="822960" y="10058400"/>
            <a:ext cx="10607040" cy="438912"/>
            <a:chOff x="0" y="0"/>
            <a:chExt cx="14142720" cy="585216"/>
          </a:xfrm>
        </p:grpSpPr>
        <p:sp>
          <p:nvSpPr>
            <p:cNvPr name="Freeform 41" id="41"/>
            <p:cNvSpPr/>
            <p:nvPr/>
          </p:nvSpPr>
          <p:spPr>
            <a:xfrm flipH="false" flipV="false" rot="0">
              <a:off x="0" y="0"/>
              <a:ext cx="14142720" cy="585216"/>
            </a:xfrm>
            <a:custGeom>
              <a:avLst/>
              <a:gdLst/>
              <a:ahLst/>
              <a:cxnLst/>
              <a:rect r="r" b="b" t="t" l="l"/>
              <a:pathLst>
                <a:path h="585216" w="14142720">
                  <a:moveTo>
                    <a:pt x="0" y="0"/>
                  </a:moveTo>
                  <a:lnTo>
                    <a:pt x="14142720" y="0"/>
                  </a:lnTo>
                  <a:lnTo>
                    <a:pt x="14142720" y="585216"/>
                  </a:lnTo>
                  <a:lnTo>
                    <a:pt x="0" y="585216"/>
                  </a:lnTo>
                  <a:close/>
                </a:path>
              </a:pathLst>
            </a:custGeom>
            <a:blipFill>
              <a:blip r:embed="rId2">
                <a:alphaModFix amt="0"/>
              </a:blip>
              <a:stretch>
                <a:fillRect l="0" t="-420888" r="0" b="-420888"/>
              </a:stretch>
            </a:blipFill>
          </p:spPr>
        </p:sp>
        <p:sp>
          <p:nvSpPr>
            <p:cNvPr name="TextBox 42" id="42"/>
            <p:cNvSpPr txBox="true"/>
            <p:nvPr/>
          </p:nvSpPr>
          <p:spPr>
            <a:xfrm>
              <a:off x="0" y="-38100"/>
              <a:ext cx="14142720" cy="623316"/>
            </a:xfrm>
            <a:prstGeom prst="rect">
              <a:avLst/>
            </a:prstGeom>
          </p:spPr>
          <p:txBody>
            <a:bodyPr anchor="ctr" rtlCol="false" tIns="0" lIns="0" bIns="0" rIns="0"/>
            <a:lstStyle/>
            <a:p>
              <a:pPr algn="l">
                <a:lnSpc>
                  <a:spcPts val="2160"/>
                </a:lnSpc>
              </a:pPr>
              <a:r>
                <a:rPr lang="en-US" sz="1800" i="true">
                  <a:solidFill>
                    <a:srgbClr val="6B7280"/>
                  </a:solidFill>
                  <a:latin typeface="Calibri (MS) Italics"/>
                  <a:ea typeface="Calibri (MS) Italics"/>
                  <a:cs typeface="Calibri (MS) Italics"/>
                  <a:sym typeface="Calibri (MS) Italics"/>
                </a:rPr>
                <a:t>Année universitaire 2024 – 2025</a:t>
              </a:r>
            </a:p>
          </p:txBody>
        </p:sp>
      </p:grpSp>
      <p:grpSp>
        <p:nvGrpSpPr>
          <p:cNvPr name="Group 43" id="43"/>
          <p:cNvGrpSpPr/>
          <p:nvPr/>
        </p:nvGrpSpPr>
        <p:grpSpPr>
          <a:xfrm rot="0">
            <a:off x="-12697" y="10089899"/>
            <a:ext cx="12550778" cy="209807"/>
            <a:chOff x="0" y="0"/>
            <a:chExt cx="15883471" cy="265519"/>
          </a:xfrm>
        </p:grpSpPr>
        <p:sp>
          <p:nvSpPr>
            <p:cNvPr name="Freeform 44" id="44"/>
            <p:cNvSpPr/>
            <p:nvPr/>
          </p:nvSpPr>
          <p:spPr>
            <a:xfrm flipH="false" flipV="false" rot="0">
              <a:off x="16891" y="16891"/>
              <a:ext cx="15849599" cy="231648"/>
            </a:xfrm>
            <a:custGeom>
              <a:avLst/>
              <a:gdLst/>
              <a:ahLst/>
              <a:cxnLst/>
              <a:rect r="r" b="b" t="t" l="l"/>
              <a:pathLst>
                <a:path h="231648" w="15849599">
                  <a:moveTo>
                    <a:pt x="0" y="0"/>
                  </a:moveTo>
                  <a:lnTo>
                    <a:pt x="15849599" y="0"/>
                  </a:lnTo>
                  <a:lnTo>
                    <a:pt x="15849599" y="231648"/>
                  </a:lnTo>
                  <a:lnTo>
                    <a:pt x="0" y="231648"/>
                  </a:lnTo>
                  <a:close/>
                </a:path>
              </a:pathLst>
            </a:custGeom>
            <a:solidFill>
              <a:srgbClr val="2563EB"/>
            </a:solidFill>
          </p:spPr>
        </p:sp>
        <p:sp>
          <p:nvSpPr>
            <p:cNvPr name="Freeform 45" id="45"/>
            <p:cNvSpPr/>
            <p:nvPr/>
          </p:nvSpPr>
          <p:spPr>
            <a:xfrm flipH="false" flipV="false" rot="0">
              <a:off x="0" y="0"/>
              <a:ext cx="15883382" cy="265432"/>
            </a:xfrm>
            <a:custGeom>
              <a:avLst/>
              <a:gdLst/>
              <a:ahLst/>
              <a:cxnLst/>
              <a:rect r="r" b="b" t="t" l="l"/>
              <a:pathLst>
                <a:path h="265432" w="15883382">
                  <a:moveTo>
                    <a:pt x="16891" y="0"/>
                  </a:moveTo>
                  <a:lnTo>
                    <a:pt x="15866490" y="0"/>
                  </a:lnTo>
                  <a:cubicBezTo>
                    <a:pt x="15875890" y="0"/>
                    <a:pt x="15883382" y="7620"/>
                    <a:pt x="15883382" y="16891"/>
                  </a:cubicBezTo>
                  <a:lnTo>
                    <a:pt x="15883382" y="248539"/>
                  </a:lnTo>
                  <a:cubicBezTo>
                    <a:pt x="15883382" y="257937"/>
                    <a:pt x="15875763" y="265430"/>
                    <a:pt x="15866490" y="265430"/>
                  </a:cubicBezTo>
                  <a:lnTo>
                    <a:pt x="16891" y="265430"/>
                  </a:lnTo>
                  <a:cubicBezTo>
                    <a:pt x="7620" y="265557"/>
                    <a:pt x="0" y="257937"/>
                    <a:pt x="0" y="248539"/>
                  </a:cubicBezTo>
                  <a:lnTo>
                    <a:pt x="0" y="16891"/>
                  </a:lnTo>
                  <a:cubicBezTo>
                    <a:pt x="0" y="7620"/>
                    <a:pt x="7620" y="0"/>
                    <a:pt x="16891" y="0"/>
                  </a:cubicBezTo>
                  <a:moveTo>
                    <a:pt x="16891" y="33909"/>
                  </a:moveTo>
                  <a:lnTo>
                    <a:pt x="16891" y="16891"/>
                  </a:lnTo>
                  <a:lnTo>
                    <a:pt x="33909" y="16891"/>
                  </a:lnTo>
                  <a:lnTo>
                    <a:pt x="33909" y="248539"/>
                  </a:lnTo>
                  <a:lnTo>
                    <a:pt x="16891" y="248539"/>
                  </a:lnTo>
                  <a:lnTo>
                    <a:pt x="16891" y="231648"/>
                  </a:lnTo>
                  <a:lnTo>
                    <a:pt x="15866490" y="231648"/>
                  </a:lnTo>
                  <a:lnTo>
                    <a:pt x="15866490" y="248539"/>
                  </a:lnTo>
                  <a:lnTo>
                    <a:pt x="15849600" y="248539"/>
                  </a:lnTo>
                  <a:lnTo>
                    <a:pt x="15849600" y="16891"/>
                  </a:lnTo>
                  <a:lnTo>
                    <a:pt x="15866490" y="16891"/>
                  </a:lnTo>
                  <a:lnTo>
                    <a:pt x="15866490" y="33909"/>
                  </a:lnTo>
                  <a:lnTo>
                    <a:pt x="16891" y="33909"/>
                  </a:lnTo>
                  <a:close/>
                </a:path>
              </a:pathLst>
            </a:custGeom>
            <a:solidFill>
              <a:srgbClr val="2563EB"/>
            </a:solidFill>
          </p:spPr>
        </p:sp>
      </p:grpSp>
      <p:grpSp>
        <p:nvGrpSpPr>
          <p:cNvPr name="Group 46" id="46"/>
          <p:cNvGrpSpPr/>
          <p:nvPr/>
        </p:nvGrpSpPr>
        <p:grpSpPr>
          <a:xfrm rot="0">
            <a:off x="12538081" y="-12697"/>
            <a:ext cx="5762625" cy="10312403"/>
            <a:chOff x="0" y="0"/>
            <a:chExt cx="7683500" cy="13749871"/>
          </a:xfrm>
        </p:grpSpPr>
        <p:sp>
          <p:nvSpPr>
            <p:cNvPr name="Freeform 47" id="47"/>
            <p:cNvSpPr/>
            <p:nvPr/>
          </p:nvSpPr>
          <p:spPr>
            <a:xfrm flipH="false" flipV="false" rot="0">
              <a:off x="15147" y="16891"/>
              <a:ext cx="7653127" cy="13715999"/>
            </a:xfrm>
            <a:custGeom>
              <a:avLst/>
              <a:gdLst/>
              <a:ahLst/>
              <a:cxnLst/>
              <a:rect r="r" b="b" t="t" l="l"/>
              <a:pathLst>
                <a:path h="13715999" w="7653127">
                  <a:moveTo>
                    <a:pt x="0" y="0"/>
                  </a:moveTo>
                  <a:lnTo>
                    <a:pt x="7653127" y="0"/>
                  </a:lnTo>
                  <a:lnTo>
                    <a:pt x="7653127" y="13715999"/>
                  </a:lnTo>
                  <a:lnTo>
                    <a:pt x="0" y="13715999"/>
                  </a:lnTo>
                  <a:close/>
                </a:path>
              </a:pathLst>
            </a:custGeom>
            <a:solidFill>
              <a:srgbClr val="1A1A2E"/>
            </a:solidFill>
          </p:spPr>
        </p:sp>
        <p:sp>
          <p:nvSpPr>
            <p:cNvPr name="Freeform 48" id="48"/>
            <p:cNvSpPr/>
            <p:nvPr/>
          </p:nvSpPr>
          <p:spPr>
            <a:xfrm flipH="false" flipV="false" rot="0">
              <a:off x="0" y="0"/>
              <a:ext cx="7683420" cy="13749782"/>
            </a:xfrm>
            <a:custGeom>
              <a:avLst/>
              <a:gdLst/>
              <a:ahLst/>
              <a:cxnLst/>
              <a:rect r="r" b="b" t="t" l="l"/>
              <a:pathLst>
                <a:path h="13749782" w="7683420">
                  <a:moveTo>
                    <a:pt x="15147" y="0"/>
                  </a:moveTo>
                  <a:lnTo>
                    <a:pt x="7668274" y="0"/>
                  </a:lnTo>
                  <a:cubicBezTo>
                    <a:pt x="7676701" y="0"/>
                    <a:pt x="7683420" y="7620"/>
                    <a:pt x="7683420" y="16891"/>
                  </a:cubicBezTo>
                  <a:lnTo>
                    <a:pt x="7683420" y="13732890"/>
                  </a:lnTo>
                  <a:cubicBezTo>
                    <a:pt x="7683420" y="13742290"/>
                    <a:pt x="7676587" y="13749782"/>
                    <a:pt x="7668274" y="13749782"/>
                  </a:cubicBezTo>
                  <a:lnTo>
                    <a:pt x="15147" y="13749782"/>
                  </a:lnTo>
                  <a:cubicBezTo>
                    <a:pt x="6719" y="13749782"/>
                    <a:pt x="0" y="13742163"/>
                    <a:pt x="0" y="13732890"/>
                  </a:cubicBezTo>
                  <a:lnTo>
                    <a:pt x="0" y="16891"/>
                  </a:lnTo>
                  <a:cubicBezTo>
                    <a:pt x="0" y="7620"/>
                    <a:pt x="6833" y="0"/>
                    <a:pt x="15147" y="0"/>
                  </a:cubicBezTo>
                  <a:moveTo>
                    <a:pt x="15147" y="33909"/>
                  </a:moveTo>
                  <a:lnTo>
                    <a:pt x="15147" y="16891"/>
                  </a:lnTo>
                  <a:lnTo>
                    <a:pt x="30408" y="16891"/>
                  </a:lnTo>
                  <a:lnTo>
                    <a:pt x="30408" y="13732890"/>
                  </a:lnTo>
                  <a:lnTo>
                    <a:pt x="15147" y="13732890"/>
                  </a:lnTo>
                  <a:lnTo>
                    <a:pt x="15147" y="13716000"/>
                  </a:lnTo>
                  <a:lnTo>
                    <a:pt x="7668274" y="13716000"/>
                  </a:lnTo>
                  <a:lnTo>
                    <a:pt x="7668274" y="13732890"/>
                  </a:lnTo>
                  <a:lnTo>
                    <a:pt x="7653127" y="13732890"/>
                  </a:lnTo>
                  <a:lnTo>
                    <a:pt x="7653127" y="16891"/>
                  </a:lnTo>
                  <a:lnTo>
                    <a:pt x="7668274" y="16891"/>
                  </a:lnTo>
                  <a:lnTo>
                    <a:pt x="7668274" y="33909"/>
                  </a:lnTo>
                  <a:lnTo>
                    <a:pt x="15147" y="33909"/>
                  </a:lnTo>
                  <a:close/>
                </a:path>
              </a:pathLst>
            </a:custGeom>
            <a:solidFill>
              <a:srgbClr val="1A1A2E"/>
            </a:solidFill>
          </p:spPr>
        </p:sp>
      </p:grpSp>
      <p:grpSp>
        <p:nvGrpSpPr>
          <p:cNvPr name="Group 49" id="49"/>
          <p:cNvGrpSpPr/>
          <p:nvPr/>
        </p:nvGrpSpPr>
        <p:grpSpPr>
          <a:xfrm rot="0">
            <a:off x="12416790" y="33127"/>
            <a:ext cx="9614740" cy="10266579"/>
            <a:chOff x="0" y="0"/>
            <a:chExt cx="12845153" cy="13716000"/>
          </a:xfrm>
        </p:grpSpPr>
        <p:sp>
          <p:nvSpPr>
            <p:cNvPr name="Freeform 50" id="50"/>
            <p:cNvSpPr/>
            <p:nvPr/>
          </p:nvSpPr>
          <p:spPr>
            <a:xfrm flipH="false" flipV="false" rot="0">
              <a:off x="0" y="0"/>
              <a:ext cx="12845153" cy="13716000"/>
            </a:xfrm>
            <a:custGeom>
              <a:avLst/>
              <a:gdLst/>
              <a:ahLst/>
              <a:cxnLst/>
              <a:rect r="r" b="b" t="t" l="l"/>
              <a:pathLst>
                <a:path h="13716000" w="12845153">
                  <a:moveTo>
                    <a:pt x="0" y="0"/>
                  </a:moveTo>
                  <a:lnTo>
                    <a:pt x="12845153" y="0"/>
                  </a:lnTo>
                  <a:lnTo>
                    <a:pt x="12845153" y="13716000"/>
                  </a:lnTo>
                  <a:lnTo>
                    <a:pt x="0" y="13716000"/>
                  </a:lnTo>
                  <a:lnTo>
                    <a:pt x="0" y="0"/>
                  </a:lnTo>
                  <a:close/>
                </a:path>
              </a:pathLst>
            </a:custGeom>
            <a:blipFill>
              <a:blip r:embed="rId3"/>
              <a:stretch>
                <a:fillRect l="-38065" t="0" r="-38065" b="0"/>
              </a:stretch>
            </a:blipFill>
          </p:spPr>
        </p:sp>
      </p:grpSp>
      <p:grpSp>
        <p:nvGrpSpPr>
          <p:cNvPr name="Group 51" id="51"/>
          <p:cNvGrpSpPr/>
          <p:nvPr/>
        </p:nvGrpSpPr>
        <p:grpSpPr>
          <a:xfrm rot="0">
            <a:off x="12538081" y="9271006"/>
            <a:ext cx="5762625" cy="1028700"/>
            <a:chOff x="0" y="0"/>
            <a:chExt cx="7683500" cy="1371600"/>
          </a:xfrm>
        </p:grpSpPr>
        <p:sp>
          <p:nvSpPr>
            <p:cNvPr name="Freeform 52" id="52"/>
            <p:cNvSpPr/>
            <p:nvPr/>
          </p:nvSpPr>
          <p:spPr>
            <a:xfrm flipH="false" flipV="false" rot="0">
              <a:off x="15147" y="8342"/>
              <a:ext cx="7653127" cy="1354871"/>
            </a:xfrm>
            <a:custGeom>
              <a:avLst/>
              <a:gdLst/>
              <a:ahLst/>
              <a:cxnLst/>
              <a:rect r="r" b="b" t="t" l="l"/>
              <a:pathLst>
                <a:path h="1354871" w="7653127">
                  <a:moveTo>
                    <a:pt x="0" y="0"/>
                  </a:moveTo>
                  <a:lnTo>
                    <a:pt x="7653127" y="0"/>
                  </a:lnTo>
                  <a:lnTo>
                    <a:pt x="7653127" y="1354872"/>
                  </a:lnTo>
                  <a:lnTo>
                    <a:pt x="0" y="1354872"/>
                  </a:lnTo>
                  <a:close/>
                </a:path>
              </a:pathLst>
            </a:custGeom>
            <a:solidFill>
              <a:srgbClr val="1A1A2E">
                <a:alpha val="48627"/>
              </a:srgbClr>
            </a:solidFill>
          </p:spPr>
        </p:sp>
        <p:sp>
          <p:nvSpPr>
            <p:cNvPr name="Freeform 53" id="53"/>
            <p:cNvSpPr/>
            <p:nvPr/>
          </p:nvSpPr>
          <p:spPr>
            <a:xfrm flipH="false" flipV="false" rot="0">
              <a:off x="0" y="0"/>
              <a:ext cx="7683420" cy="1371556"/>
            </a:xfrm>
            <a:custGeom>
              <a:avLst/>
              <a:gdLst/>
              <a:ahLst/>
              <a:cxnLst/>
              <a:rect r="r" b="b" t="t" l="l"/>
              <a:pathLst>
                <a:path h="1371556" w="7683420">
                  <a:moveTo>
                    <a:pt x="15147" y="0"/>
                  </a:moveTo>
                  <a:lnTo>
                    <a:pt x="7668274" y="0"/>
                  </a:lnTo>
                  <a:cubicBezTo>
                    <a:pt x="7676701" y="0"/>
                    <a:pt x="7683420" y="3764"/>
                    <a:pt x="7683420" y="8342"/>
                  </a:cubicBezTo>
                  <a:lnTo>
                    <a:pt x="7683420" y="1363214"/>
                  </a:lnTo>
                  <a:cubicBezTo>
                    <a:pt x="7683420" y="1367855"/>
                    <a:pt x="7676587" y="1371556"/>
                    <a:pt x="7668274" y="1371556"/>
                  </a:cubicBezTo>
                  <a:lnTo>
                    <a:pt x="15147" y="1371556"/>
                  </a:lnTo>
                  <a:cubicBezTo>
                    <a:pt x="6719" y="1371556"/>
                    <a:pt x="0" y="1367793"/>
                    <a:pt x="0" y="1363214"/>
                  </a:cubicBezTo>
                  <a:lnTo>
                    <a:pt x="0" y="8342"/>
                  </a:lnTo>
                  <a:cubicBezTo>
                    <a:pt x="0" y="3764"/>
                    <a:pt x="6833" y="0"/>
                    <a:pt x="15147" y="0"/>
                  </a:cubicBezTo>
                  <a:moveTo>
                    <a:pt x="15147" y="16748"/>
                  </a:moveTo>
                  <a:lnTo>
                    <a:pt x="15147" y="8342"/>
                  </a:lnTo>
                  <a:lnTo>
                    <a:pt x="30408" y="8342"/>
                  </a:lnTo>
                  <a:lnTo>
                    <a:pt x="30408" y="1363214"/>
                  </a:lnTo>
                  <a:lnTo>
                    <a:pt x="15147" y="1363214"/>
                  </a:lnTo>
                  <a:lnTo>
                    <a:pt x="15147" y="1354871"/>
                  </a:lnTo>
                  <a:lnTo>
                    <a:pt x="7668274" y="1354871"/>
                  </a:lnTo>
                  <a:lnTo>
                    <a:pt x="7668274" y="1363214"/>
                  </a:lnTo>
                  <a:lnTo>
                    <a:pt x="7653127" y="1363214"/>
                  </a:lnTo>
                  <a:lnTo>
                    <a:pt x="7653127" y="8342"/>
                  </a:lnTo>
                  <a:lnTo>
                    <a:pt x="7668274" y="8342"/>
                  </a:lnTo>
                  <a:lnTo>
                    <a:pt x="7668274" y="16748"/>
                  </a:lnTo>
                  <a:lnTo>
                    <a:pt x="15147" y="16748"/>
                  </a:lnTo>
                  <a:close/>
                </a:path>
              </a:pathLst>
            </a:custGeom>
            <a:solidFill>
              <a:srgbClr val="000000"/>
            </a:solidFill>
          </p:spPr>
        </p:sp>
      </p:grpSp>
      <p:grpSp>
        <p:nvGrpSpPr>
          <p:cNvPr name="Group 54" id="54"/>
          <p:cNvGrpSpPr/>
          <p:nvPr/>
        </p:nvGrpSpPr>
        <p:grpSpPr>
          <a:xfrm rot="0">
            <a:off x="11978640" y="9473184"/>
            <a:ext cx="6217920" cy="512064"/>
            <a:chOff x="0" y="0"/>
            <a:chExt cx="8290560" cy="682752"/>
          </a:xfrm>
        </p:grpSpPr>
        <p:sp>
          <p:nvSpPr>
            <p:cNvPr name="Freeform 55" id="55"/>
            <p:cNvSpPr/>
            <p:nvPr/>
          </p:nvSpPr>
          <p:spPr>
            <a:xfrm flipH="false" flipV="false" rot="0">
              <a:off x="0" y="0"/>
              <a:ext cx="8290560" cy="682752"/>
            </a:xfrm>
            <a:custGeom>
              <a:avLst/>
              <a:gdLst/>
              <a:ahLst/>
              <a:cxnLst/>
              <a:rect r="r" b="b" t="t" l="l"/>
              <a:pathLst>
                <a:path h="682752" w="8290560">
                  <a:moveTo>
                    <a:pt x="0" y="0"/>
                  </a:moveTo>
                  <a:lnTo>
                    <a:pt x="8290560" y="0"/>
                  </a:lnTo>
                  <a:lnTo>
                    <a:pt x="8290560" y="682752"/>
                  </a:lnTo>
                  <a:lnTo>
                    <a:pt x="0" y="682752"/>
                  </a:lnTo>
                  <a:close/>
                </a:path>
              </a:pathLst>
            </a:custGeom>
            <a:blipFill>
              <a:blip r:embed="rId2">
                <a:alphaModFix amt="0"/>
              </a:blip>
              <a:stretch>
                <a:fillRect l="0" t="-186604" r="0" b="-186604"/>
              </a:stretch>
            </a:blipFill>
          </p:spPr>
        </p:sp>
        <p:sp>
          <p:nvSpPr>
            <p:cNvPr name="TextBox 56" id="56"/>
            <p:cNvSpPr txBox="true"/>
            <p:nvPr/>
          </p:nvSpPr>
          <p:spPr>
            <a:xfrm>
              <a:off x="0" y="-38100"/>
              <a:ext cx="8290560" cy="720852"/>
            </a:xfrm>
            <a:prstGeom prst="rect">
              <a:avLst/>
            </a:prstGeom>
          </p:spPr>
          <p:txBody>
            <a:bodyPr anchor="ctr" rtlCol="false" tIns="0" lIns="0" bIns="0" rIns="0"/>
            <a:lstStyle/>
            <a:p>
              <a:pPr algn="ctr">
                <a:lnSpc>
                  <a:spcPts val="2039"/>
                </a:lnSpc>
              </a:pPr>
              <a:r>
                <a:rPr lang="en-US" sz="1700" i="true">
                  <a:solidFill>
                    <a:srgbClr val="7ED957"/>
                  </a:solidFill>
                  <a:latin typeface="Calibri (MS) Italics"/>
                  <a:ea typeface="Calibri (MS) Italics"/>
                  <a:cs typeface="Calibri (MS) Italics"/>
                  <a:sym typeface="Calibri (MS) Italics"/>
                </a:rPr>
                <a:t>Projet-IA</a:t>
              </a:r>
            </a:p>
          </p:txBody>
        </p:sp>
      </p:grpSp>
      <p:grpSp>
        <p:nvGrpSpPr>
          <p:cNvPr name="Group 57" id="57"/>
          <p:cNvGrpSpPr/>
          <p:nvPr/>
        </p:nvGrpSpPr>
        <p:grpSpPr>
          <a:xfrm rot="0">
            <a:off x="768096" y="407528"/>
            <a:ext cx="10761217" cy="1331099"/>
            <a:chOff x="0" y="0"/>
            <a:chExt cx="4719404" cy="583762"/>
          </a:xfrm>
        </p:grpSpPr>
        <p:sp>
          <p:nvSpPr>
            <p:cNvPr name="Freeform 58" id="58"/>
            <p:cNvSpPr/>
            <p:nvPr/>
          </p:nvSpPr>
          <p:spPr>
            <a:xfrm flipH="false" flipV="false" rot="0">
              <a:off x="0" y="0"/>
              <a:ext cx="4719455" cy="583775"/>
            </a:xfrm>
            <a:custGeom>
              <a:avLst/>
              <a:gdLst/>
              <a:ahLst/>
              <a:cxnLst/>
              <a:rect r="r" b="b" t="t" l="l"/>
              <a:pathLst>
                <a:path h="583775" w="4719455">
                  <a:moveTo>
                    <a:pt x="0" y="0"/>
                  </a:moveTo>
                  <a:lnTo>
                    <a:pt x="4719455" y="0"/>
                  </a:lnTo>
                  <a:lnTo>
                    <a:pt x="4719455" y="583775"/>
                  </a:lnTo>
                  <a:lnTo>
                    <a:pt x="0" y="583775"/>
                  </a:lnTo>
                  <a:lnTo>
                    <a:pt x="0" y="0"/>
                  </a:lnTo>
                  <a:close/>
                </a:path>
              </a:pathLst>
            </a:custGeom>
            <a:blipFill>
              <a:blip r:embed="rId4"/>
              <a:stretch>
                <a:fillRect l="-2" t="-47689" r="0" b="-47685"/>
              </a:stretch>
            </a:blipFill>
          </p:spPr>
        </p:sp>
      </p:grpSp>
      <p:sp>
        <p:nvSpPr>
          <p:cNvPr name="TextBox 59" id="59"/>
          <p:cNvSpPr txBox="true"/>
          <p:nvPr/>
        </p:nvSpPr>
        <p:spPr>
          <a:xfrm rot="0">
            <a:off x="873257" y="9618790"/>
            <a:ext cx="3271394" cy="303648"/>
          </a:xfrm>
          <a:prstGeom prst="rect">
            <a:avLst/>
          </a:prstGeom>
        </p:spPr>
        <p:txBody>
          <a:bodyPr anchor="t" rtlCol="false" tIns="0" lIns="0" bIns="0" rIns="0">
            <a:spAutoFit/>
          </a:bodyPr>
          <a:lstStyle/>
          <a:p>
            <a:pPr algn="l">
              <a:lnSpc>
                <a:spcPts val="2331"/>
              </a:lnSpc>
              <a:spcBef>
                <a:spcPct val="0"/>
              </a:spcBef>
            </a:pPr>
            <a:r>
              <a:rPr lang="en-US" b="true" sz="1997" spc="229">
                <a:solidFill>
                  <a:srgbClr val="2D3880"/>
                </a:solidFill>
                <a:latin typeface="Open Sans Bold"/>
                <a:ea typeface="Open Sans Bold"/>
                <a:cs typeface="Open Sans Bold"/>
                <a:sym typeface="Open Sans Bold"/>
              </a:rPr>
              <a:t>Prof: ANISS MOUMEN</a:t>
            </a:r>
          </a:p>
        </p:txBody>
      </p:sp>
      <p:grpSp>
        <p:nvGrpSpPr>
          <p:cNvPr name="Group 60" id="60"/>
          <p:cNvGrpSpPr/>
          <p:nvPr/>
        </p:nvGrpSpPr>
        <p:grpSpPr>
          <a:xfrm rot="0">
            <a:off x="1147577" y="7724523"/>
            <a:ext cx="4160134" cy="439966"/>
            <a:chOff x="0" y="0"/>
            <a:chExt cx="6705600" cy="709168"/>
          </a:xfrm>
        </p:grpSpPr>
        <p:sp>
          <p:nvSpPr>
            <p:cNvPr name="Freeform 61" id="61"/>
            <p:cNvSpPr/>
            <p:nvPr/>
          </p:nvSpPr>
          <p:spPr>
            <a:xfrm flipH="false" flipV="false" rot="0">
              <a:off x="0" y="0"/>
              <a:ext cx="6705600" cy="709168"/>
            </a:xfrm>
            <a:custGeom>
              <a:avLst/>
              <a:gdLst/>
              <a:ahLst/>
              <a:cxnLst/>
              <a:rect r="r" b="b" t="t" l="l"/>
              <a:pathLst>
                <a:path h="709168" w="6705600">
                  <a:moveTo>
                    <a:pt x="0" y="0"/>
                  </a:moveTo>
                  <a:lnTo>
                    <a:pt x="6705600" y="0"/>
                  </a:lnTo>
                  <a:lnTo>
                    <a:pt x="6705600" y="709168"/>
                  </a:lnTo>
                  <a:lnTo>
                    <a:pt x="0" y="709168"/>
                  </a:lnTo>
                  <a:close/>
                </a:path>
              </a:pathLst>
            </a:custGeom>
            <a:blipFill>
              <a:blip r:embed="rId2">
                <a:alphaModFix amt="0"/>
              </a:blip>
              <a:stretch>
                <a:fillRect l="0" t="-136104" r="0" b="-132380"/>
              </a:stretch>
            </a:blipFill>
          </p:spPr>
        </p:sp>
        <p:sp>
          <p:nvSpPr>
            <p:cNvPr name="TextBox 62" id="62"/>
            <p:cNvSpPr txBox="true"/>
            <p:nvPr/>
          </p:nvSpPr>
          <p:spPr>
            <a:xfrm>
              <a:off x="0" y="-38100"/>
              <a:ext cx="6705600" cy="747268"/>
            </a:xfrm>
            <a:prstGeom prst="rect">
              <a:avLst/>
            </a:prstGeom>
          </p:spPr>
          <p:txBody>
            <a:bodyPr anchor="ctr" rtlCol="false" tIns="0" lIns="0" bIns="0" rIns="0"/>
            <a:lstStyle/>
            <a:p>
              <a:pPr algn="l">
                <a:lnSpc>
                  <a:spcPts val="2400"/>
                </a:lnSpc>
              </a:pPr>
              <a:r>
                <a:rPr lang="en-US" sz="2000">
                  <a:solidFill>
                    <a:srgbClr val="374151"/>
                  </a:solidFill>
                  <a:latin typeface="Calibri (MS)"/>
                  <a:ea typeface="Calibri (MS)"/>
                  <a:cs typeface="Calibri (MS)"/>
                  <a:sym typeface="Calibri (MS)"/>
                </a:rPr>
                <a:t>·   MOHAMED MBAYE</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0F4FF"/>
        </a:solidFill>
      </p:bgPr>
    </p:bg>
    <p:spTree>
      <p:nvGrpSpPr>
        <p:cNvPr id="1" name=""/>
        <p:cNvGrpSpPr/>
        <p:nvPr/>
      </p:nvGrpSpPr>
      <p:grpSpPr>
        <a:xfrm>
          <a:off x="0" y="0"/>
          <a:ext cx="0" cy="0"/>
          <a:chOff x="0" y="0"/>
          <a:chExt cx="0" cy="0"/>
        </a:xfrm>
      </p:grpSpPr>
      <p:grpSp>
        <p:nvGrpSpPr>
          <p:cNvPr name="Group 2" id="2"/>
          <p:cNvGrpSpPr/>
          <p:nvPr/>
        </p:nvGrpSpPr>
        <p:grpSpPr>
          <a:xfrm rot="0">
            <a:off x="1384833" y="1783314"/>
            <a:ext cx="15349330" cy="1499647"/>
            <a:chOff x="0" y="0"/>
            <a:chExt cx="21214080" cy="2072640"/>
          </a:xfrm>
        </p:grpSpPr>
        <p:sp>
          <p:nvSpPr>
            <p:cNvPr name="Freeform 3" id="3"/>
            <p:cNvSpPr/>
            <p:nvPr/>
          </p:nvSpPr>
          <p:spPr>
            <a:xfrm flipH="false" flipV="false" rot="0">
              <a:off x="0" y="0"/>
              <a:ext cx="21214080" cy="2072640"/>
            </a:xfrm>
            <a:custGeom>
              <a:avLst/>
              <a:gdLst/>
              <a:ahLst/>
              <a:cxnLst/>
              <a:rect r="r" b="b" t="t" l="l"/>
              <a:pathLst>
                <a:path h="2072640" w="21214080">
                  <a:moveTo>
                    <a:pt x="0" y="0"/>
                  </a:moveTo>
                  <a:lnTo>
                    <a:pt x="21214080" y="0"/>
                  </a:lnTo>
                  <a:lnTo>
                    <a:pt x="21214080" y="2072640"/>
                  </a:lnTo>
                  <a:lnTo>
                    <a:pt x="0" y="2072640"/>
                  </a:lnTo>
                  <a:close/>
                </a:path>
              </a:pathLst>
            </a:custGeom>
            <a:blipFill>
              <a:blip r:embed="rId3">
                <a:alphaModFix amt="0"/>
              </a:blip>
              <a:stretch>
                <a:fillRect l="0" t="-149435" r="0" b="-149435"/>
              </a:stretch>
            </a:blipFill>
          </p:spPr>
        </p:sp>
        <p:sp>
          <p:nvSpPr>
            <p:cNvPr name="TextBox 4" id="4"/>
            <p:cNvSpPr txBox="true"/>
            <p:nvPr/>
          </p:nvSpPr>
          <p:spPr>
            <a:xfrm>
              <a:off x="0" y="-9525"/>
              <a:ext cx="21214080" cy="2082165"/>
            </a:xfrm>
            <a:prstGeom prst="rect">
              <a:avLst/>
            </a:prstGeom>
          </p:spPr>
          <p:txBody>
            <a:bodyPr anchor="ctr" rtlCol="false" tIns="0" lIns="0" bIns="0" rIns="0"/>
            <a:lstStyle/>
            <a:p>
              <a:pPr algn="l">
                <a:lnSpc>
                  <a:spcPts val="4920"/>
                </a:lnSpc>
              </a:pPr>
              <a:r>
                <a:rPr lang="en-US" sz="4100" b="true">
                  <a:solidFill>
                    <a:srgbClr val="1E2761"/>
                  </a:solidFill>
                  <a:latin typeface="Trebuchet MS Bold"/>
                  <a:ea typeface="Trebuchet MS Bold"/>
                  <a:cs typeface="Trebuchet MS Bold"/>
                  <a:sym typeface="Trebuchet MS Bold"/>
                </a:rPr>
                <a:t> L’intelligence Artificielle</a:t>
              </a:r>
            </a:p>
          </p:txBody>
        </p:sp>
      </p:grpSp>
      <p:grpSp>
        <p:nvGrpSpPr>
          <p:cNvPr name="Group 5" id="5"/>
          <p:cNvGrpSpPr/>
          <p:nvPr/>
        </p:nvGrpSpPr>
        <p:grpSpPr>
          <a:xfrm rot="0">
            <a:off x="1019726" y="3535356"/>
            <a:ext cx="16079554" cy="2406300"/>
            <a:chOff x="0" y="0"/>
            <a:chExt cx="22223311" cy="3325711"/>
          </a:xfrm>
        </p:grpSpPr>
        <p:sp>
          <p:nvSpPr>
            <p:cNvPr name="Freeform 6" id="6"/>
            <p:cNvSpPr/>
            <p:nvPr/>
          </p:nvSpPr>
          <p:spPr>
            <a:xfrm flipH="false" flipV="false" rot="0">
              <a:off x="0" y="0"/>
              <a:ext cx="22223349" cy="3325749"/>
            </a:xfrm>
            <a:custGeom>
              <a:avLst/>
              <a:gdLst/>
              <a:ahLst/>
              <a:cxnLst/>
              <a:rect r="r" b="b" t="t" l="l"/>
              <a:pathLst>
                <a:path h="3325749" w="22223349">
                  <a:moveTo>
                    <a:pt x="0" y="0"/>
                  </a:moveTo>
                  <a:lnTo>
                    <a:pt x="22223349" y="0"/>
                  </a:lnTo>
                  <a:lnTo>
                    <a:pt x="22223349" y="3325749"/>
                  </a:lnTo>
                  <a:lnTo>
                    <a:pt x="0" y="3325749"/>
                  </a:lnTo>
                  <a:close/>
                </a:path>
              </a:pathLst>
            </a:custGeom>
            <a:solidFill>
              <a:srgbClr val="CADCFC"/>
            </a:solidFill>
            <a:ln w="25400" cap="sq">
              <a:solidFill>
                <a:srgbClr val="CADCFC"/>
              </a:solidFill>
              <a:prstDash val="solid"/>
              <a:miter/>
            </a:ln>
          </p:spPr>
        </p:sp>
      </p:grpSp>
      <p:grpSp>
        <p:nvGrpSpPr>
          <p:cNvPr name="Group 7" id="7"/>
          <p:cNvGrpSpPr/>
          <p:nvPr/>
        </p:nvGrpSpPr>
        <p:grpSpPr>
          <a:xfrm rot="0">
            <a:off x="1305423" y="3679931"/>
            <a:ext cx="15349330" cy="2117149"/>
            <a:chOff x="0" y="0"/>
            <a:chExt cx="21214080" cy="2926080"/>
          </a:xfrm>
        </p:grpSpPr>
        <p:sp>
          <p:nvSpPr>
            <p:cNvPr name="Freeform 8" id="8"/>
            <p:cNvSpPr/>
            <p:nvPr/>
          </p:nvSpPr>
          <p:spPr>
            <a:xfrm flipH="false" flipV="false" rot="0">
              <a:off x="0" y="0"/>
              <a:ext cx="21214080" cy="2926080"/>
            </a:xfrm>
            <a:custGeom>
              <a:avLst/>
              <a:gdLst/>
              <a:ahLst/>
              <a:cxnLst/>
              <a:rect r="r" b="b" t="t" l="l"/>
              <a:pathLst>
                <a:path h="2926080" w="21214080">
                  <a:moveTo>
                    <a:pt x="0" y="0"/>
                  </a:moveTo>
                  <a:lnTo>
                    <a:pt x="21214080" y="0"/>
                  </a:lnTo>
                  <a:lnTo>
                    <a:pt x="21214080" y="2926080"/>
                  </a:lnTo>
                  <a:lnTo>
                    <a:pt x="0" y="2926080"/>
                  </a:lnTo>
                  <a:close/>
                </a:path>
              </a:pathLst>
            </a:custGeom>
            <a:solidFill>
              <a:srgbClr val="4F6FD4">
                <a:alpha val="0"/>
              </a:srgbClr>
            </a:solidFill>
          </p:spPr>
        </p:sp>
        <p:sp>
          <p:nvSpPr>
            <p:cNvPr name="TextBox 9" id="9"/>
            <p:cNvSpPr txBox="true"/>
            <p:nvPr/>
          </p:nvSpPr>
          <p:spPr>
            <a:xfrm>
              <a:off x="0" y="-66675"/>
              <a:ext cx="21214080" cy="2992755"/>
            </a:xfrm>
            <a:prstGeom prst="rect">
              <a:avLst/>
            </a:prstGeom>
          </p:spPr>
          <p:txBody>
            <a:bodyPr anchor="ctr" rtlCol="false" tIns="0" lIns="0" bIns="0" rIns="0"/>
            <a:lstStyle/>
            <a:p>
              <a:pPr algn="l">
                <a:lnSpc>
                  <a:spcPts val="3600"/>
                </a:lnSpc>
              </a:pPr>
              <a:r>
                <a:rPr lang="en-US" sz="3000" b="true">
                  <a:solidFill>
                    <a:srgbClr val="4F6FD4"/>
                  </a:solidFill>
                  <a:latin typeface="Calibri (MS) Bold"/>
                  <a:ea typeface="Calibri (MS) Bold"/>
                  <a:cs typeface="Calibri (MS) Bold"/>
                  <a:sym typeface="Calibri (MS) Bold"/>
                </a:rPr>
                <a:t>L'intelligence artificielle (IA) est un domaine de l'informatique qui permet aux machines de simuler l'intelligence humaine, en leur donnant la capacité de penser, d'apprendre et de s'adapter de manière autonome à des situations complexes</a:t>
              </a:r>
            </a:p>
          </p:txBody>
        </p:sp>
      </p:grpSp>
      <p:grpSp>
        <p:nvGrpSpPr>
          <p:cNvPr name="Group 10" id="10"/>
          <p:cNvGrpSpPr/>
          <p:nvPr/>
        </p:nvGrpSpPr>
        <p:grpSpPr>
          <a:xfrm rot="0">
            <a:off x="869947" y="6822800"/>
            <a:ext cx="15923901" cy="2722248"/>
            <a:chOff x="0" y="0"/>
            <a:chExt cx="21231867" cy="3629664"/>
          </a:xfrm>
        </p:grpSpPr>
        <p:sp>
          <p:nvSpPr>
            <p:cNvPr name="Freeform 11" id="11"/>
            <p:cNvSpPr/>
            <p:nvPr/>
          </p:nvSpPr>
          <p:spPr>
            <a:xfrm flipH="false" flipV="false" rot="0">
              <a:off x="0" y="0"/>
              <a:ext cx="21231906" cy="3629702"/>
            </a:xfrm>
            <a:custGeom>
              <a:avLst/>
              <a:gdLst/>
              <a:ahLst/>
              <a:cxnLst/>
              <a:rect r="r" b="b" t="t" l="l"/>
              <a:pathLst>
                <a:path h="3629702" w="21231906">
                  <a:moveTo>
                    <a:pt x="0" y="0"/>
                  </a:moveTo>
                  <a:lnTo>
                    <a:pt x="21231906" y="0"/>
                  </a:lnTo>
                  <a:lnTo>
                    <a:pt x="21231906" y="3629702"/>
                  </a:lnTo>
                  <a:lnTo>
                    <a:pt x="0" y="3629702"/>
                  </a:lnTo>
                  <a:close/>
                </a:path>
              </a:pathLst>
            </a:custGeom>
            <a:solidFill>
              <a:srgbClr val="FFFFFF"/>
            </a:solidFill>
            <a:ln w="25400" cap="sq">
              <a:solidFill>
                <a:srgbClr val="CADCFC"/>
              </a:solidFill>
              <a:prstDash val="solid"/>
              <a:miter/>
            </a:ln>
          </p:spPr>
        </p:sp>
      </p:grpSp>
      <p:grpSp>
        <p:nvGrpSpPr>
          <p:cNvPr name="Group 12" id="12"/>
          <p:cNvGrpSpPr/>
          <p:nvPr/>
        </p:nvGrpSpPr>
        <p:grpSpPr>
          <a:xfrm rot="0">
            <a:off x="869947" y="6666553"/>
            <a:ext cx="15923901" cy="309666"/>
            <a:chOff x="0" y="0"/>
            <a:chExt cx="10518991" cy="204559"/>
          </a:xfrm>
        </p:grpSpPr>
        <p:sp>
          <p:nvSpPr>
            <p:cNvPr name="Freeform 13" id="13"/>
            <p:cNvSpPr/>
            <p:nvPr/>
          </p:nvSpPr>
          <p:spPr>
            <a:xfrm flipH="false" flipV="false" rot="0">
              <a:off x="0" y="0"/>
              <a:ext cx="10519029" cy="204597"/>
            </a:xfrm>
            <a:custGeom>
              <a:avLst/>
              <a:gdLst/>
              <a:ahLst/>
              <a:cxnLst/>
              <a:rect r="r" b="b" t="t" l="l"/>
              <a:pathLst>
                <a:path h="204597" w="10519029">
                  <a:moveTo>
                    <a:pt x="0" y="0"/>
                  </a:moveTo>
                  <a:lnTo>
                    <a:pt x="10519029" y="0"/>
                  </a:lnTo>
                  <a:lnTo>
                    <a:pt x="10519029" y="204597"/>
                  </a:lnTo>
                  <a:lnTo>
                    <a:pt x="0" y="204597"/>
                  </a:lnTo>
                  <a:close/>
                </a:path>
              </a:pathLst>
            </a:custGeom>
            <a:solidFill>
              <a:srgbClr val="E8541A"/>
            </a:solidFill>
            <a:ln w="25400" cap="sq">
              <a:solidFill>
                <a:srgbClr val="E8541A"/>
              </a:solidFill>
              <a:prstDash val="solid"/>
              <a:miter/>
            </a:ln>
          </p:spPr>
        </p:sp>
      </p:grpSp>
      <p:grpSp>
        <p:nvGrpSpPr>
          <p:cNvPr name="Group 14" id="14"/>
          <p:cNvGrpSpPr/>
          <p:nvPr/>
        </p:nvGrpSpPr>
        <p:grpSpPr>
          <a:xfrm rot="0">
            <a:off x="1156964" y="7018377"/>
            <a:ext cx="7315200" cy="822960"/>
            <a:chOff x="0" y="0"/>
            <a:chExt cx="9753600" cy="1097280"/>
          </a:xfrm>
        </p:grpSpPr>
        <p:sp>
          <p:nvSpPr>
            <p:cNvPr name="Freeform 15" id="15"/>
            <p:cNvSpPr/>
            <p:nvPr/>
          </p:nvSpPr>
          <p:spPr>
            <a:xfrm flipH="false" flipV="false" rot="0">
              <a:off x="0" y="0"/>
              <a:ext cx="9753600" cy="1097280"/>
            </a:xfrm>
            <a:custGeom>
              <a:avLst/>
              <a:gdLst/>
              <a:ahLst/>
              <a:cxnLst/>
              <a:rect r="r" b="b" t="t" l="l"/>
              <a:pathLst>
                <a:path h="1097280" w="9753600">
                  <a:moveTo>
                    <a:pt x="0" y="0"/>
                  </a:moveTo>
                  <a:lnTo>
                    <a:pt x="9753600" y="0"/>
                  </a:lnTo>
                  <a:lnTo>
                    <a:pt x="9753600" y="1097280"/>
                  </a:lnTo>
                  <a:lnTo>
                    <a:pt x="0" y="1097280"/>
                  </a:lnTo>
                  <a:close/>
                </a:path>
              </a:pathLst>
            </a:custGeom>
            <a:blipFill>
              <a:blip r:embed="rId3">
                <a:alphaModFix amt="0"/>
              </a:blip>
              <a:stretch>
                <a:fillRect l="0" t="-123200" r="0" b="-123200"/>
              </a:stretch>
            </a:blipFill>
          </p:spPr>
        </p:sp>
        <p:sp>
          <p:nvSpPr>
            <p:cNvPr name="TextBox 16" id="16"/>
            <p:cNvSpPr txBox="true"/>
            <p:nvPr/>
          </p:nvSpPr>
          <p:spPr>
            <a:xfrm>
              <a:off x="0" y="-9525"/>
              <a:ext cx="9753600" cy="1106805"/>
            </a:xfrm>
            <a:prstGeom prst="rect">
              <a:avLst/>
            </a:prstGeom>
          </p:spPr>
          <p:txBody>
            <a:bodyPr anchor="ctr" rtlCol="false" tIns="0" lIns="0" bIns="0" rIns="0"/>
            <a:lstStyle/>
            <a:p>
              <a:pPr algn="l">
                <a:lnSpc>
                  <a:spcPts val="3120"/>
                </a:lnSpc>
              </a:pPr>
            </a:p>
          </p:txBody>
        </p:sp>
      </p:grpSp>
      <p:grpSp>
        <p:nvGrpSpPr>
          <p:cNvPr name="Group 17" id="17"/>
          <p:cNvGrpSpPr/>
          <p:nvPr/>
        </p:nvGrpSpPr>
        <p:grpSpPr>
          <a:xfrm rot="0">
            <a:off x="1139772" y="7223869"/>
            <a:ext cx="15206821" cy="2194560"/>
            <a:chOff x="0" y="0"/>
            <a:chExt cx="20275762" cy="2926080"/>
          </a:xfrm>
        </p:grpSpPr>
        <p:sp>
          <p:nvSpPr>
            <p:cNvPr name="Freeform 18" id="18"/>
            <p:cNvSpPr/>
            <p:nvPr/>
          </p:nvSpPr>
          <p:spPr>
            <a:xfrm flipH="false" flipV="false" rot="0">
              <a:off x="0" y="0"/>
              <a:ext cx="20275762" cy="2926080"/>
            </a:xfrm>
            <a:custGeom>
              <a:avLst/>
              <a:gdLst/>
              <a:ahLst/>
              <a:cxnLst/>
              <a:rect r="r" b="b" t="t" l="l"/>
              <a:pathLst>
                <a:path h="2926080" w="20275762">
                  <a:moveTo>
                    <a:pt x="0" y="0"/>
                  </a:moveTo>
                  <a:lnTo>
                    <a:pt x="20275762" y="0"/>
                  </a:lnTo>
                  <a:lnTo>
                    <a:pt x="20275762" y="2926080"/>
                  </a:lnTo>
                  <a:lnTo>
                    <a:pt x="0" y="2926080"/>
                  </a:lnTo>
                  <a:close/>
                </a:path>
              </a:pathLst>
            </a:custGeom>
            <a:blipFill>
              <a:blip r:embed="rId3">
                <a:alphaModFix amt="0"/>
              </a:blip>
              <a:stretch>
                <a:fillRect l="0" t="-14950" r="51895" b="-14950"/>
              </a:stretch>
            </a:blipFill>
          </p:spPr>
        </p:sp>
        <p:sp>
          <p:nvSpPr>
            <p:cNvPr name="TextBox 19" id="19"/>
            <p:cNvSpPr txBox="true"/>
            <p:nvPr/>
          </p:nvSpPr>
          <p:spPr>
            <a:xfrm>
              <a:off x="0" y="-38100"/>
              <a:ext cx="20275762" cy="2964180"/>
            </a:xfrm>
            <a:prstGeom prst="rect">
              <a:avLst/>
            </a:prstGeom>
          </p:spPr>
          <p:txBody>
            <a:bodyPr anchor="ctr" rtlCol="false" tIns="0" lIns="0" bIns="0" rIns="0"/>
            <a:lstStyle/>
            <a:p>
              <a:pPr algn="l">
                <a:lnSpc>
                  <a:spcPts val="2879"/>
                </a:lnSpc>
              </a:pPr>
              <a:r>
                <a:rPr lang="en-US" sz="2400">
                  <a:solidFill>
                    <a:srgbClr val="444466"/>
                  </a:solidFill>
                  <a:latin typeface="Calibri (MS)"/>
                  <a:ea typeface="Calibri (MS)"/>
                  <a:cs typeface="Calibri (MS)"/>
                  <a:sym typeface="Calibri (MS)"/>
                </a:rPr>
                <a:t>Dans le domaine des réseaux informatiques, la cybersécurité est sans aucun doute l'un des secteurs où l'intelligence artificielle est devenue la plus essentielle. Les mécanismes de protection traditionnels, tels que les pare-feu classiques et les antivirus, ne suffisent plus face à des cyberattaques de plus en plus rapides, massives et automatisées. </a:t>
              </a:r>
            </a:p>
          </p:txBody>
        </p:sp>
      </p:grpSp>
      <p:grpSp>
        <p:nvGrpSpPr>
          <p:cNvPr name="Group 20" id="20"/>
          <p:cNvGrpSpPr/>
          <p:nvPr/>
        </p:nvGrpSpPr>
        <p:grpSpPr>
          <a:xfrm rot="0">
            <a:off x="1139772" y="36017"/>
            <a:ext cx="15349330" cy="1499647"/>
            <a:chOff x="0" y="0"/>
            <a:chExt cx="21214080" cy="2072640"/>
          </a:xfrm>
        </p:grpSpPr>
        <p:sp>
          <p:nvSpPr>
            <p:cNvPr name="Freeform 21" id="21"/>
            <p:cNvSpPr/>
            <p:nvPr/>
          </p:nvSpPr>
          <p:spPr>
            <a:xfrm flipH="false" flipV="false" rot="0">
              <a:off x="0" y="0"/>
              <a:ext cx="21214080" cy="2072640"/>
            </a:xfrm>
            <a:custGeom>
              <a:avLst/>
              <a:gdLst/>
              <a:ahLst/>
              <a:cxnLst/>
              <a:rect r="r" b="b" t="t" l="l"/>
              <a:pathLst>
                <a:path h="2072640" w="21214080">
                  <a:moveTo>
                    <a:pt x="0" y="0"/>
                  </a:moveTo>
                  <a:lnTo>
                    <a:pt x="21214080" y="0"/>
                  </a:lnTo>
                  <a:lnTo>
                    <a:pt x="21214080" y="2072640"/>
                  </a:lnTo>
                  <a:lnTo>
                    <a:pt x="0" y="2072640"/>
                  </a:lnTo>
                  <a:close/>
                </a:path>
              </a:pathLst>
            </a:custGeom>
            <a:blipFill>
              <a:blip r:embed="rId3">
                <a:alphaModFix amt="0"/>
              </a:blip>
              <a:stretch>
                <a:fillRect l="0" t="-149435" r="0" b="-149435"/>
              </a:stretch>
            </a:blipFill>
          </p:spPr>
        </p:sp>
        <p:sp>
          <p:nvSpPr>
            <p:cNvPr name="TextBox 22" id="22"/>
            <p:cNvSpPr txBox="true"/>
            <p:nvPr/>
          </p:nvSpPr>
          <p:spPr>
            <a:xfrm>
              <a:off x="0" y="-9525"/>
              <a:ext cx="21214080" cy="2082165"/>
            </a:xfrm>
            <a:prstGeom prst="rect">
              <a:avLst/>
            </a:prstGeom>
          </p:spPr>
          <p:txBody>
            <a:bodyPr anchor="ctr" rtlCol="false" tIns="0" lIns="0" bIns="0" rIns="0"/>
            <a:lstStyle/>
            <a:p>
              <a:pPr algn="l">
                <a:lnSpc>
                  <a:spcPts val="6240"/>
                </a:lnSpc>
              </a:pPr>
              <a:r>
                <a:rPr lang="en-US" sz="5200" b="true">
                  <a:solidFill>
                    <a:srgbClr val="1E2761"/>
                  </a:solidFill>
                  <a:latin typeface="Trebuchet MS Bold"/>
                  <a:ea typeface="Trebuchet MS Bold"/>
                  <a:cs typeface="Trebuchet MS Bold"/>
                  <a:sym typeface="Trebuchet MS Bold"/>
                </a:rPr>
                <a:t>Introduction</a:t>
              </a:r>
            </a:p>
          </p:txBody>
        </p:sp>
      </p:grpSp>
      <p:grpSp>
        <p:nvGrpSpPr>
          <p:cNvPr name="Group 23" id="23"/>
          <p:cNvGrpSpPr/>
          <p:nvPr/>
        </p:nvGrpSpPr>
        <p:grpSpPr>
          <a:xfrm rot="0">
            <a:off x="1139772" y="1892362"/>
            <a:ext cx="165650" cy="1347725"/>
            <a:chOff x="0" y="0"/>
            <a:chExt cx="228943" cy="1862671"/>
          </a:xfrm>
        </p:grpSpPr>
        <p:sp>
          <p:nvSpPr>
            <p:cNvPr name="Freeform 24" id="24"/>
            <p:cNvSpPr/>
            <p:nvPr/>
          </p:nvSpPr>
          <p:spPr>
            <a:xfrm flipH="false" flipV="false" rot="0">
              <a:off x="0" y="0"/>
              <a:ext cx="228981" cy="1862709"/>
            </a:xfrm>
            <a:custGeom>
              <a:avLst/>
              <a:gdLst/>
              <a:ahLst/>
              <a:cxnLst/>
              <a:rect r="r" b="b" t="t" l="l"/>
              <a:pathLst>
                <a:path h="1862709" w="228981">
                  <a:moveTo>
                    <a:pt x="0" y="0"/>
                  </a:moveTo>
                  <a:lnTo>
                    <a:pt x="228981" y="0"/>
                  </a:lnTo>
                  <a:lnTo>
                    <a:pt x="228981" y="1862709"/>
                  </a:lnTo>
                  <a:lnTo>
                    <a:pt x="0" y="1862709"/>
                  </a:lnTo>
                  <a:close/>
                </a:path>
              </a:pathLst>
            </a:custGeom>
            <a:solidFill>
              <a:srgbClr val="1E2761"/>
            </a:solidFill>
            <a:ln w="25400" cap="sq">
              <a:solidFill>
                <a:srgbClr val="1E2761"/>
              </a:solidFill>
              <a:prstDash val="solid"/>
              <a:miter/>
            </a:ln>
          </p:spPr>
        </p:sp>
      </p:grpSp>
      <p:grpSp>
        <p:nvGrpSpPr>
          <p:cNvPr name="Group 25" id="25"/>
          <p:cNvGrpSpPr/>
          <p:nvPr/>
        </p:nvGrpSpPr>
        <p:grpSpPr>
          <a:xfrm rot="0">
            <a:off x="869947" y="1497564"/>
            <a:ext cx="16680180" cy="38100"/>
            <a:chOff x="0" y="0"/>
            <a:chExt cx="22240240" cy="50800"/>
          </a:xfrm>
        </p:grpSpPr>
        <p:sp>
          <p:nvSpPr>
            <p:cNvPr name="Freeform 26" id="26"/>
            <p:cNvSpPr/>
            <p:nvPr/>
          </p:nvSpPr>
          <p:spPr>
            <a:xfrm flipH="false" flipV="false" rot="0">
              <a:off x="25400" y="0"/>
              <a:ext cx="22189439" cy="50800"/>
            </a:xfrm>
            <a:custGeom>
              <a:avLst/>
              <a:gdLst/>
              <a:ahLst/>
              <a:cxnLst/>
              <a:rect r="r" b="b" t="t" l="l"/>
              <a:pathLst>
                <a:path h="50800" w="22189439">
                  <a:moveTo>
                    <a:pt x="0" y="0"/>
                  </a:moveTo>
                  <a:lnTo>
                    <a:pt x="22189439" y="0"/>
                  </a:lnTo>
                  <a:lnTo>
                    <a:pt x="22189439" y="50800"/>
                  </a:lnTo>
                  <a:lnTo>
                    <a:pt x="0" y="50800"/>
                  </a:lnTo>
                  <a:close/>
                </a:path>
              </a:pathLst>
            </a:custGeom>
            <a:solidFill>
              <a:srgbClr val="E8541A"/>
            </a:solid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0F4FF"/>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525019"/>
            <a:chOff x="0" y="0"/>
            <a:chExt cx="24417871" cy="2033359"/>
          </a:xfrm>
        </p:grpSpPr>
        <p:sp>
          <p:nvSpPr>
            <p:cNvPr name="Freeform 3" id="3"/>
            <p:cNvSpPr/>
            <p:nvPr/>
          </p:nvSpPr>
          <p:spPr>
            <a:xfrm flipH="false" flipV="false" rot="0">
              <a:off x="0" y="0"/>
              <a:ext cx="24417910" cy="2033397"/>
            </a:xfrm>
            <a:custGeom>
              <a:avLst/>
              <a:gdLst/>
              <a:ahLst/>
              <a:cxnLst/>
              <a:rect r="r" b="b" t="t" l="l"/>
              <a:pathLst>
                <a:path h="2033397" w="24417910">
                  <a:moveTo>
                    <a:pt x="0" y="0"/>
                  </a:moveTo>
                  <a:lnTo>
                    <a:pt x="24417910" y="0"/>
                  </a:lnTo>
                  <a:lnTo>
                    <a:pt x="24417910" y="2033397"/>
                  </a:lnTo>
                  <a:lnTo>
                    <a:pt x="0" y="2033397"/>
                  </a:lnTo>
                  <a:close/>
                </a:path>
              </a:pathLst>
            </a:custGeom>
            <a:solidFill>
              <a:srgbClr val="1C2B3A"/>
            </a:solidFill>
            <a:ln w="25400" cap="sq">
              <a:solidFill>
                <a:srgbClr val="1C2B3A"/>
              </a:solidFill>
              <a:prstDash val="solid"/>
              <a:miter/>
            </a:ln>
          </p:spPr>
        </p:sp>
      </p:grpSp>
      <p:grpSp>
        <p:nvGrpSpPr>
          <p:cNvPr name="Group 4" id="4"/>
          <p:cNvGrpSpPr/>
          <p:nvPr/>
        </p:nvGrpSpPr>
        <p:grpSpPr>
          <a:xfrm rot="0">
            <a:off x="15532103" y="-1109977"/>
            <a:ext cx="4048763" cy="4048763"/>
            <a:chOff x="0" y="0"/>
            <a:chExt cx="5398351" cy="5398351"/>
          </a:xfrm>
        </p:grpSpPr>
        <p:sp>
          <p:nvSpPr>
            <p:cNvPr name="Freeform 5" id="5"/>
            <p:cNvSpPr/>
            <p:nvPr/>
          </p:nvSpPr>
          <p:spPr>
            <a:xfrm flipH="false" flipV="false" rot="0">
              <a:off x="0" y="0"/>
              <a:ext cx="5398389" cy="5398389"/>
            </a:xfrm>
            <a:custGeom>
              <a:avLst/>
              <a:gdLst/>
              <a:ahLst/>
              <a:cxnLst/>
              <a:rect r="r" b="b" t="t" l="l"/>
              <a:pathLst>
                <a:path h="5398389" w="5398389">
                  <a:moveTo>
                    <a:pt x="0" y="2699131"/>
                  </a:moveTo>
                  <a:cubicBezTo>
                    <a:pt x="0" y="1208405"/>
                    <a:pt x="1208405" y="0"/>
                    <a:pt x="2699131" y="0"/>
                  </a:cubicBezTo>
                  <a:cubicBezTo>
                    <a:pt x="4189857" y="0"/>
                    <a:pt x="5398389" y="1208405"/>
                    <a:pt x="5398389" y="2699131"/>
                  </a:cubicBezTo>
                  <a:cubicBezTo>
                    <a:pt x="5398389" y="4189857"/>
                    <a:pt x="4189857" y="5398389"/>
                    <a:pt x="2699131" y="5398389"/>
                  </a:cubicBezTo>
                  <a:cubicBezTo>
                    <a:pt x="1208405" y="5398389"/>
                    <a:pt x="0" y="4189857"/>
                    <a:pt x="0" y="2699131"/>
                  </a:cubicBezTo>
                  <a:close/>
                </a:path>
              </a:pathLst>
            </a:custGeom>
            <a:solidFill>
              <a:srgbClr val="E8541A">
                <a:alpha val="4706"/>
              </a:srgbClr>
            </a:solidFill>
            <a:ln w="25400" cap="sq">
              <a:solidFill>
                <a:srgbClr val="E8541A"/>
              </a:solidFill>
              <a:prstDash val="solid"/>
              <a:miter/>
            </a:ln>
          </p:spPr>
        </p:sp>
      </p:grpSp>
      <p:grpSp>
        <p:nvGrpSpPr>
          <p:cNvPr name="Group 6" id="6"/>
          <p:cNvGrpSpPr/>
          <p:nvPr/>
        </p:nvGrpSpPr>
        <p:grpSpPr>
          <a:xfrm rot="0">
            <a:off x="731520" y="109728"/>
            <a:ext cx="15544800" cy="804672"/>
            <a:chOff x="0" y="0"/>
            <a:chExt cx="20726400" cy="1072896"/>
          </a:xfrm>
        </p:grpSpPr>
        <p:sp>
          <p:nvSpPr>
            <p:cNvPr name="Freeform 7" id="7"/>
            <p:cNvSpPr/>
            <p:nvPr/>
          </p:nvSpPr>
          <p:spPr>
            <a:xfrm flipH="false" flipV="false" rot="0">
              <a:off x="0" y="0"/>
              <a:ext cx="20726400" cy="1072896"/>
            </a:xfrm>
            <a:custGeom>
              <a:avLst/>
              <a:gdLst/>
              <a:ahLst/>
              <a:cxnLst/>
              <a:rect r="r" b="b" t="t" l="l"/>
              <a:pathLst>
                <a:path h="1072896" w="20726400">
                  <a:moveTo>
                    <a:pt x="0" y="0"/>
                  </a:moveTo>
                  <a:lnTo>
                    <a:pt x="20726400" y="0"/>
                  </a:lnTo>
                  <a:lnTo>
                    <a:pt x="20726400" y="1072896"/>
                  </a:lnTo>
                  <a:lnTo>
                    <a:pt x="0" y="1072896"/>
                  </a:lnTo>
                  <a:close/>
                </a:path>
              </a:pathLst>
            </a:custGeom>
            <a:blipFill>
              <a:blip r:embed="rId2">
                <a:alphaModFix amt="0"/>
              </a:blip>
              <a:stretch>
                <a:fillRect l="0" t="-326415" r="0" b="-326415"/>
              </a:stretch>
            </a:blipFill>
          </p:spPr>
        </p:sp>
        <p:sp>
          <p:nvSpPr>
            <p:cNvPr name="TextBox 8" id="8"/>
            <p:cNvSpPr txBox="true"/>
            <p:nvPr/>
          </p:nvSpPr>
          <p:spPr>
            <a:xfrm>
              <a:off x="0" y="-9525"/>
              <a:ext cx="20726400" cy="1082421"/>
            </a:xfrm>
            <a:prstGeom prst="rect">
              <a:avLst/>
            </a:prstGeom>
          </p:spPr>
          <p:txBody>
            <a:bodyPr anchor="ctr" rtlCol="false" tIns="0" lIns="0" bIns="0" rIns="0"/>
            <a:lstStyle/>
            <a:p>
              <a:pPr algn="l">
                <a:lnSpc>
                  <a:spcPts val="4800"/>
                </a:lnSpc>
              </a:pPr>
              <a:r>
                <a:rPr lang="en-US" sz="4000" b="true">
                  <a:solidFill>
                    <a:srgbClr val="FFFFFF"/>
                  </a:solidFill>
                  <a:latin typeface="Cambria Bold"/>
                  <a:ea typeface="Cambria Bold"/>
                  <a:cs typeface="Cambria Bold"/>
                  <a:sym typeface="Cambria Bold"/>
                </a:rPr>
                <a:t>Guide d'entretien — Sécurité réseau &amp; IA</a:t>
              </a:r>
            </a:p>
          </p:txBody>
        </p:sp>
      </p:grpSp>
      <p:grpSp>
        <p:nvGrpSpPr>
          <p:cNvPr name="Group 9" id="9"/>
          <p:cNvGrpSpPr/>
          <p:nvPr/>
        </p:nvGrpSpPr>
        <p:grpSpPr>
          <a:xfrm rot="0">
            <a:off x="731520" y="877824"/>
            <a:ext cx="15544800" cy="548640"/>
            <a:chOff x="0" y="0"/>
            <a:chExt cx="20726400" cy="731520"/>
          </a:xfrm>
        </p:grpSpPr>
        <p:sp>
          <p:nvSpPr>
            <p:cNvPr name="Freeform 10" id="10"/>
            <p:cNvSpPr/>
            <p:nvPr/>
          </p:nvSpPr>
          <p:spPr>
            <a:xfrm flipH="false" flipV="false" rot="0">
              <a:off x="0" y="0"/>
              <a:ext cx="20726400" cy="731520"/>
            </a:xfrm>
            <a:custGeom>
              <a:avLst/>
              <a:gdLst/>
              <a:ahLst/>
              <a:cxnLst/>
              <a:rect r="r" b="b" t="t" l="l"/>
              <a:pathLst>
                <a:path h="731520" w="20726400">
                  <a:moveTo>
                    <a:pt x="0" y="0"/>
                  </a:moveTo>
                  <a:lnTo>
                    <a:pt x="20726400" y="0"/>
                  </a:lnTo>
                  <a:lnTo>
                    <a:pt x="20726400" y="731520"/>
                  </a:lnTo>
                  <a:lnTo>
                    <a:pt x="0" y="731520"/>
                  </a:lnTo>
                  <a:close/>
                </a:path>
              </a:pathLst>
            </a:custGeom>
            <a:blipFill>
              <a:blip r:embed="rId2">
                <a:alphaModFix amt="0"/>
              </a:blip>
              <a:stretch>
                <a:fillRect l="0" t="-502076" r="0" b="-502076"/>
              </a:stretch>
            </a:blipFill>
          </p:spPr>
        </p:sp>
        <p:sp>
          <p:nvSpPr>
            <p:cNvPr name="TextBox 11" id="11"/>
            <p:cNvSpPr txBox="true"/>
            <p:nvPr/>
          </p:nvSpPr>
          <p:spPr>
            <a:xfrm>
              <a:off x="0" y="-47625"/>
              <a:ext cx="20726400" cy="779145"/>
            </a:xfrm>
            <a:prstGeom prst="rect">
              <a:avLst/>
            </a:prstGeom>
          </p:spPr>
          <p:txBody>
            <a:bodyPr anchor="ctr" rtlCol="false" tIns="0" lIns="0" bIns="0" rIns="0"/>
            <a:lstStyle/>
            <a:p>
              <a:pPr algn="l">
                <a:lnSpc>
                  <a:spcPts val="2520"/>
                </a:lnSpc>
              </a:pPr>
              <a:r>
                <a:rPr lang="en-US" sz="2100">
                  <a:solidFill>
                    <a:srgbClr val="CADCFC"/>
                  </a:solidFill>
                  <a:latin typeface="Calibri (MS)"/>
                  <a:ea typeface="Calibri (MS)"/>
                  <a:cs typeface="Calibri (MS)"/>
                  <a:sym typeface="Calibri (MS)"/>
                </a:rPr>
                <a:t>DakarTech Solutions · Administrateur réseau</a:t>
              </a:r>
            </a:p>
          </p:txBody>
        </p:sp>
      </p:grpSp>
      <p:grpSp>
        <p:nvGrpSpPr>
          <p:cNvPr name="Group 12" id="12"/>
          <p:cNvGrpSpPr/>
          <p:nvPr/>
        </p:nvGrpSpPr>
        <p:grpSpPr>
          <a:xfrm rot="0">
            <a:off x="359407" y="1731007"/>
            <a:ext cx="8608057" cy="1987801"/>
            <a:chOff x="0" y="0"/>
            <a:chExt cx="11477409" cy="2650401"/>
          </a:xfrm>
        </p:grpSpPr>
        <p:sp>
          <p:nvSpPr>
            <p:cNvPr name="Freeform 13" id="13"/>
            <p:cNvSpPr/>
            <p:nvPr/>
          </p:nvSpPr>
          <p:spPr>
            <a:xfrm flipH="false" flipV="false" rot="0">
              <a:off x="0" y="0"/>
              <a:ext cx="11477371" cy="2650363"/>
            </a:xfrm>
            <a:custGeom>
              <a:avLst/>
              <a:gdLst/>
              <a:ahLst/>
              <a:cxnLst/>
              <a:rect r="r" b="b" t="t" l="l"/>
              <a:pathLst>
                <a:path h="2650363" w="11477371">
                  <a:moveTo>
                    <a:pt x="0" y="245364"/>
                  </a:moveTo>
                  <a:cubicBezTo>
                    <a:pt x="0" y="109855"/>
                    <a:pt x="109855" y="0"/>
                    <a:pt x="245364" y="0"/>
                  </a:cubicBezTo>
                  <a:lnTo>
                    <a:pt x="11232007" y="0"/>
                  </a:lnTo>
                  <a:cubicBezTo>
                    <a:pt x="11367515" y="0"/>
                    <a:pt x="11477371" y="109855"/>
                    <a:pt x="11477371" y="245364"/>
                  </a:cubicBezTo>
                  <a:lnTo>
                    <a:pt x="11477371" y="2404999"/>
                  </a:lnTo>
                  <a:cubicBezTo>
                    <a:pt x="11477371" y="2540508"/>
                    <a:pt x="11367515" y="2650363"/>
                    <a:pt x="11232007" y="2650363"/>
                  </a:cubicBezTo>
                  <a:lnTo>
                    <a:pt x="245364" y="2650363"/>
                  </a:lnTo>
                  <a:cubicBezTo>
                    <a:pt x="109855" y="2650363"/>
                    <a:pt x="0" y="2540508"/>
                    <a:pt x="0" y="2404999"/>
                  </a:cubicBezTo>
                  <a:close/>
                </a:path>
              </a:pathLst>
            </a:custGeom>
            <a:solidFill>
              <a:srgbClr val="FFFFFF"/>
            </a:solidFill>
            <a:ln w="12700" cap="sq">
              <a:solidFill>
                <a:srgbClr val="E2E8F0"/>
              </a:solidFill>
              <a:prstDash val="solid"/>
              <a:miter/>
            </a:ln>
          </p:spPr>
        </p:sp>
      </p:grpSp>
      <p:grpSp>
        <p:nvGrpSpPr>
          <p:cNvPr name="Group 14" id="14"/>
          <p:cNvGrpSpPr/>
          <p:nvPr/>
        </p:nvGrpSpPr>
        <p:grpSpPr>
          <a:xfrm rot="0">
            <a:off x="572519" y="1944119"/>
            <a:ext cx="793499" cy="720347"/>
            <a:chOff x="0" y="0"/>
            <a:chExt cx="1057999" cy="960463"/>
          </a:xfrm>
        </p:grpSpPr>
        <p:sp>
          <p:nvSpPr>
            <p:cNvPr name="Freeform 15" id="15"/>
            <p:cNvSpPr/>
            <p:nvPr/>
          </p:nvSpPr>
          <p:spPr>
            <a:xfrm flipH="false" flipV="false" rot="0">
              <a:off x="0" y="0"/>
              <a:ext cx="1058037" cy="960501"/>
            </a:xfrm>
            <a:custGeom>
              <a:avLst/>
              <a:gdLst/>
              <a:ahLst/>
              <a:cxnLst/>
              <a:rect r="r" b="b" t="t" l="l"/>
              <a:pathLst>
                <a:path h="960501" w="1058037">
                  <a:moveTo>
                    <a:pt x="0" y="151638"/>
                  </a:moveTo>
                  <a:cubicBezTo>
                    <a:pt x="0" y="67945"/>
                    <a:pt x="67945" y="0"/>
                    <a:pt x="151638" y="0"/>
                  </a:cubicBezTo>
                  <a:lnTo>
                    <a:pt x="906399" y="0"/>
                  </a:lnTo>
                  <a:cubicBezTo>
                    <a:pt x="990092" y="0"/>
                    <a:pt x="1058037" y="67945"/>
                    <a:pt x="1058037" y="151638"/>
                  </a:cubicBezTo>
                  <a:lnTo>
                    <a:pt x="1058037" y="808863"/>
                  </a:lnTo>
                  <a:cubicBezTo>
                    <a:pt x="1058037" y="892556"/>
                    <a:pt x="990092" y="960501"/>
                    <a:pt x="906399" y="960501"/>
                  </a:cubicBezTo>
                  <a:lnTo>
                    <a:pt x="151638" y="960501"/>
                  </a:lnTo>
                  <a:cubicBezTo>
                    <a:pt x="67945" y="960501"/>
                    <a:pt x="0" y="892556"/>
                    <a:pt x="0" y="808863"/>
                  </a:cubicBezTo>
                  <a:close/>
                </a:path>
              </a:pathLst>
            </a:custGeom>
            <a:solidFill>
              <a:srgbClr val="E8541A"/>
            </a:solidFill>
            <a:ln w="25400" cap="sq">
              <a:solidFill>
                <a:srgbClr val="E8541A"/>
              </a:solidFill>
              <a:prstDash val="solid"/>
              <a:miter/>
            </a:ln>
          </p:spPr>
        </p:sp>
      </p:grpSp>
      <p:grpSp>
        <p:nvGrpSpPr>
          <p:cNvPr name="Group 16" id="16"/>
          <p:cNvGrpSpPr/>
          <p:nvPr/>
        </p:nvGrpSpPr>
        <p:grpSpPr>
          <a:xfrm rot="0">
            <a:off x="585216" y="1956816"/>
            <a:ext cx="768096" cy="694944"/>
            <a:chOff x="0" y="0"/>
            <a:chExt cx="1024128" cy="926592"/>
          </a:xfrm>
        </p:grpSpPr>
        <p:sp>
          <p:nvSpPr>
            <p:cNvPr name="Freeform 17" id="17"/>
            <p:cNvSpPr/>
            <p:nvPr/>
          </p:nvSpPr>
          <p:spPr>
            <a:xfrm flipH="false" flipV="false" rot="0">
              <a:off x="0" y="0"/>
              <a:ext cx="1024128" cy="926592"/>
            </a:xfrm>
            <a:custGeom>
              <a:avLst/>
              <a:gdLst/>
              <a:ahLst/>
              <a:cxnLst/>
              <a:rect r="r" b="b" t="t" l="l"/>
              <a:pathLst>
                <a:path h="926592" w="1024128">
                  <a:moveTo>
                    <a:pt x="0" y="0"/>
                  </a:moveTo>
                  <a:lnTo>
                    <a:pt x="1024128" y="0"/>
                  </a:lnTo>
                  <a:lnTo>
                    <a:pt x="1024128" y="926592"/>
                  </a:lnTo>
                  <a:lnTo>
                    <a:pt x="0" y="926592"/>
                  </a:lnTo>
                  <a:close/>
                </a:path>
              </a:pathLst>
            </a:custGeom>
            <a:blipFill>
              <a:blip r:embed="rId2">
                <a:alphaModFix amt="0"/>
              </a:blip>
              <a:stretch>
                <a:fillRect l="-66084" t="0" r="-66084" b="0"/>
              </a:stretch>
            </a:blipFill>
          </p:spPr>
        </p:sp>
        <p:sp>
          <p:nvSpPr>
            <p:cNvPr name="TextBox 18" id="18"/>
            <p:cNvSpPr txBox="true"/>
            <p:nvPr/>
          </p:nvSpPr>
          <p:spPr>
            <a:xfrm>
              <a:off x="0" y="-38100"/>
              <a:ext cx="1024128" cy="96469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Q1</a:t>
              </a:r>
            </a:p>
          </p:txBody>
        </p:sp>
      </p:grpSp>
      <p:grpSp>
        <p:nvGrpSpPr>
          <p:cNvPr name="Group 19" id="19"/>
          <p:cNvGrpSpPr/>
          <p:nvPr/>
        </p:nvGrpSpPr>
        <p:grpSpPr>
          <a:xfrm rot="0">
            <a:off x="1499616" y="1956816"/>
            <a:ext cx="7205472" cy="694944"/>
            <a:chOff x="0" y="0"/>
            <a:chExt cx="9607296" cy="926592"/>
          </a:xfrm>
        </p:grpSpPr>
        <p:sp>
          <p:nvSpPr>
            <p:cNvPr name="Freeform 20" id="20"/>
            <p:cNvSpPr/>
            <p:nvPr/>
          </p:nvSpPr>
          <p:spPr>
            <a:xfrm flipH="false" flipV="false" rot="0">
              <a:off x="0" y="0"/>
              <a:ext cx="9607296" cy="926592"/>
            </a:xfrm>
            <a:custGeom>
              <a:avLst/>
              <a:gdLst/>
              <a:ahLst/>
              <a:cxnLst/>
              <a:rect r="r" b="b" t="t" l="l"/>
              <a:pathLst>
                <a:path h="926592" w="9607296">
                  <a:moveTo>
                    <a:pt x="0" y="0"/>
                  </a:moveTo>
                  <a:lnTo>
                    <a:pt x="9607296" y="0"/>
                  </a:lnTo>
                  <a:lnTo>
                    <a:pt x="9607296" y="926592"/>
                  </a:lnTo>
                  <a:lnTo>
                    <a:pt x="0" y="926592"/>
                  </a:lnTo>
                  <a:close/>
                </a:path>
              </a:pathLst>
            </a:custGeom>
            <a:blipFill>
              <a:blip r:embed="rId2">
                <a:alphaModFix amt="0"/>
              </a:blip>
              <a:stretch>
                <a:fillRect l="0" t="-152029" r="0" b="-152029"/>
              </a:stretch>
            </a:blipFill>
          </p:spPr>
        </p:sp>
        <p:sp>
          <p:nvSpPr>
            <p:cNvPr name="TextBox 21" id="21"/>
            <p:cNvSpPr txBox="true"/>
            <p:nvPr/>
          </p:nvSpPr>
          <p:spPr>
            <a:xfrm>
              <a:off x="0" y="-47625"/>
              <a:ext cx="9607296" cy="974217"/>
            </a:xfrm>
            <a:prstGeom prst="rect">
              <a:avLst/>
            </a:prstGeom>
          </p:spPr>
          <p:txBody>
            <a:bodyPr anchor="ctr" rtlCol="false" tIns="0" lIns="0" bIns="0" rIns="0"/>
            <a:lstStyle/>
            <a:p>
              <a:pPr algn="l">
                <a:lnSpc>
                  <a:spcPts val="2520"/>
                </a:lnSpc>
              </a:pPr>
              <a:r>
                <a:rPr lang="en-US" sz="2100" b="true">
                  <a:solidFill>
                    <a:srgbClr val="E8541A"/>
                  </a:solidFill>
                  <a:latin typeface="Calibri (MS) Bold"/>
                  <a:ea typeface="Calibri (MS) Bold"/>
                  <a:cs typeface="Calibri (MS) Bold"/>
                  <a:sym typeface="Calibri (MS) Bold"/>
                </a:rPr>
                <a:t>Pouvez-vous vous présenter ?</a:t>
              </a:r>
            </a:p>
          </p:txBody>
        </p:sp>
      </p:grpSp>
      <p:grpSp>
        <p:nvGrpSpPr>
          <p:cNvPr name="Group 22" id="22"/>
          <p:cNvGrpSpPr/>
          <p:nvPr/>
        </p:nvGrpSpPr>
        <p:grpSpPr>
          <a:xfrm rot="0">
            <a:off x="572519" y="2730503"/>
            <a:ext cx="8181851" cy="61979"/>
            <a:chOff x="0" y="0"/>
            <a:chExt cx="10909135" cy="82639"/>
          </a:xfrm>
        </p:grpSpPr>
        <p:sp>
          <p:nvSpPr>
            <p:cNvPr name="Freeform 23" id="23"/>
            <p:cNvSpPr/>
            <p:nvPr/>
          </p:nvSpPr>
          <p:spPr>
            <a:xfrm flipH="false" flipV="false" rot="0">
              <a:off x="0" y="0"/>
              <a:ext cx="10909173" cy="82677"/>
            </a:xfrm>
            <a:custGeom>
              <a:avLst/>
              <a:gdLst/>
              <a:ahLst/>
              <a:cxnLst/>
              <a:rect r="r" b="b" t="t" l="l"/>
              <a:pathLst>
                <a:path h="82677" w="10909173">
                  <a:moveTo>
                    <a:pt x="0" y="0"/>
                  </a:moveTo>
                  <a:lnTo>
                    <a:pt x="10909173" y="0"/>
                  </a:lnTo>
                  <a:lnTo>
                    <a:pt x="10909173" y="82677"/>
                  </a:lnTo>
                  <a:lnTo>
                    <a:pt x="0" y="82677"/>
                  </a:lnTo>
                  <a:close/>
                </a:path>
              </a:pathLst>
            </a:custGeom>
            <a:solidFill>
              <a:srgbClr val="EEF2F7"/>
            </a:solidFill>
            <a:ln w="25400" cap="sq">
              <a:solidFill>
                <a:srgbClr val="EEF2F7"/>
              </a:solidFill>
              <a:prstDash val="solid"/>
              <a:miter/>
            </a:ln>
          </p:spPr>
        </p:sp>
      </p:grpSp>
      <p:sp>
        <p:nvSpPr>
          <p:cNvPr name="TextBox 24" id="24"/>
          <p:cNvSpPr txBox="true"/>
          <p:nvPr/>
        </p:nvSpPr>
        <p:spPr>
          <a:xfrm rot="0">
            <a:off x="676656" y="2842260"/>
            <a:ext cx="7973568" cy="605028"/>
          </a:xfrm>
          <a:prstGeom prst="rect">
            <a:avLst/>
          </a:prstGeom>
        </p:spPr>
        <p:txBody>
          <a:bodyPr anchor="t" rtlCol="false" tIns="0" lIns="0" bIns="0" rIns="0">
            <a:spAutoFit/>
          </a:bodyPr>
          <a:lstStyle/>
          <a:p>
            <a:pPr algn="l">
              <a:lnSpc>
                <a:spcPts val="2280"/>
              </a:lnSpc>
            </a:pPr>
            <a:r>
              <a:rPr lang="en-US" sz="1900">
                <a:solidFill>
                  <a:srgbClr val="1E293B"/>
                </a:solidFill>
                <a:latin typeface="Calibri (MS)"/>
                <a:ea typeface="Calibri (MS)"/>
                <a:cs typeface="Calibri (MS)"/>
                <a:sym typeface="Calibri (MS)"/>
              </a:rPr>
              <a:t>Administrateur réseau chez DakarTech Solutions à Dakar. Responsable de la gestion du réseau, sécurité des équipements, supervision du trafic et résolution des incidents techniques.</a:t>
            </a:r>
          </a:p>
        </p:txBody>
      </p:sp>
      <p:grpSp>
        <p:nvGrpSpPr>
          <p:cNvPr name="Group 25" id="25"/>
          <p:cNvGrpSpPr/>
          <p:nvPr/>
        </p:nvGrpSpPr>
        <p:grpSpPr>
          <a:xfrm rot="0">
            <a:off x="359407" y="3888991"/>
            <a:ext cx="8608057" cy="1987801"/>
            <a:chOff x="0" y="0"/>
            <a:chExt cx="11477409" cy="2650401"/>
          </a:xfrm>
        </p:grpSpPr>
        <p:sp>
          <p:nvSpPr>
            <p:cNvPr name="Freeform 26" id="26"/>
            <p:cNvSpPr/>
            <p:nvPr/>
          </p:nvSpPr>
          <p:spPr>
            <a:xfrm flipH="false" flipV="false" rot="0">
              <a:off x="0" y="0"/>
              <a:ext cx="11477371" cy="2650363"/>
            </a:xfrm>
            <a:custGeom>
              <a:avLst/>
              <a:gdLst/>
              <a:ahLst/>
              <a:cxnLst/>
              <a:rect r="r" b="b" t="t" l="l"/>
              <a:pathLst>
                <a:path h="2650363" w="11477371">
                  <a:moveTo>
                    <a:pt x="0" y="245364"/>
                  </a:moveTo>
                  <a:cubicBezTo>
                    <a:pt x="0" y="109855"/>
                    <a:pt x="109855" y="0"/>
                    <a:pt x="245364" y="0"/>
                  </a:cubicBezTo>
                  <a:lnTo>
                    <a:pt x="11232007" y="0"/>
                  </a:lnTo>
                  <a:cubicBezTo>
                    <a:pt x="11367515" y="0"/>
                    <a:pt x="11477371" y="109855"/>
                    <a:pt x="11477371" y="245364"/>
                  </a:cubicBezTo>
                  <a:lnTo>
                    <a:pt x="11477371" y="2404999"/>
                  </a:lnTo>
                  <a:cubicBezTo>
                    <a:pt x="11477371" y="2540508"/>
                    <a:pt x="11367515" y="2650363"/>
                    <a:pt x="11232007" y="2650363"/>
                  </a:cubicBezTo>
                  <a:lnTo>
                    <a:pt x="245364" y="2650363"/>
                  </a:lnTo>
                  <a:cubicBezTo>
                    <a:pt x="109855" y="2650363"/>
                    <a:pt x="0" y="2540508"/>
                    <a:pt x="0" y="2404999"/>
                  </a:cubicBezTo>
                  <a:close/>
                </a:path>
              </a:pathLst>
            </a:custGeom>
            <a:solidFill>
              <a:srgbClr val="FFFFFF"/>
            </a:solidFill>
            <a:ln w="12700" cap="sq">
              <a:solidFill>
                <a:srgbClr val="E2E8F0"/>
              </a:solidFill>
              <a:prstDash val="solid"/>
              <a:miter/>
            </a:ln>
          </p:spPr>
        </p:sp>
      </p:grpSp>
      <p:grpSp>
        <p:nvGrpSpPr>
          <p:cNvPr name="Group 27" id="27"/>
          <p:cNvGrpSpPr/>
          <p:nvPr/>
        </p:nvGrpSpPr>
        <p:grpSpPr>
          <a:xfrm rot="0">
            <a:off x="572519" y="4102103"/>
            <a:ext cx="793499" cy="720347"/>
            <a:chOff x="0" y="0"/>
            <a:chExt cx="1057999" cy="960463"/>
          </a:xfrm>
        </p:grpSpPr>
        <p:sp>
          <p:nvSpPr>
            <p:cNvPr name="Freeform 28" id="28"/>
            <p:cNvSpPr/>
            <p:nvPr/>
          </p:nvSpPr>
          <p:spPr>
            <a:xfrm flipH="false" flipV="false" rot="0">
              <a:off x="0" y="0"/>
              <a:ext cx="1058037" cy="960501"/>
            </a:xfrm>
            <a:custGeom>
              <a:avLst/>
              <a:gdLst/>
              <a:ahLst/>
              <a:cxnLst/>
              <a:rect r="r" b="b" t="t" l="l"/>
              <a:pathLst>
                <a:path h="960501" w="1058037">
                  <a:moveTo>
                    <a:pt x="0" y="151638"/>
                  </a:moveTo>
                  <a:cubicBezTo>
                    <a:pt x="0" y="67945"/>
                    <a:pt x="67945" y="0"/>
                    <a:pt x="151638" y="0"/>
                  </a:cubicBezTo>
                  <a:lnTo>
                    <a:pt x="906399" y="0"/>
                  </a:lnTo>
                  <a:cubicBezTo>
                    <a:pt x="990092" y="0"/>
                    <a:pt x="1058037" y="67945"/>
                    <a:pt x="1058037" y="151638"/>
                  </a:cubicBezTo>
                  <a:lnTo>
                    <a:pt x="1058037" y="808863"/>
                  </a:lnTo>
                  <a:cubicBezTo>
                    <a:pt x="1058037" y="892556"/>
                    <a:pt x="990092" y="960501"/>
                    <a:pt x="906399" y="960501"/>
                  </a:cubicBezTo>
                  <a:lnTo>
                    <a:pt x="151638" y="960501"/>
                  </a:lnTo>
                  <a:cubicBezTo>
                    <a:pt x="67945" y="960501"/>
                    <a:pt x="0" y="892556"/>
                    <a:pt x="0" y="808863"/>
                  </a:cubicBezTo>
                  <a:close/>
                </a:path>
              </a:pathLst>
            </a:custGeom>
            <a:solidFill>
              <a:srgbClr val="E8541A"/>
            </a:solidFill>
            <a:ln w="25400" cap="sq">
              <a:solidFill>
                <a:srgbClr val="E8541A"/>
              </a:solidFill>
              <a:prstDash val="solid"/>
              <a:miter/>
            </a:ln>
          </p:spPr>
        </p:sp>
      </p:grpSp>
      <p:grpSp>
        <p:nvGrpSpPr>
          <p:cNvPr name="Group 29" id="29"/>
          <p:cNvGrpSpPr/>
          <p:nvPr/>
        </p:nvGrpSpPr>
        <p:grpSpPr>
          <a:xfrm rot="0">
            <a:off x="585216" y="4114800"/>
            <a:ext cx="768096" cy="694944"/>
            <a:chOff x="0" y="0"/>
            <a:chExt cx="1024128" cy="926592"/>
          </a:xfrm>
        </p:grpSpPr>
        <p:sp>
          <p:nvSpPr>
            <p:cNvPr name="Freeform 30" id="30"/>
            <p:cNvSpPr/>
            <p:nvPr/>
          </p:nvSpPr>
          <p:spPr>
            <a:xfrm flipH="false" flipV="false" rot="0">
              <a:off x="0" y="0"/>
              <a:ext cx="1024128" cy="926592"/>
            </a:xfrm>
            <a:custGeom>
              <a:avLst/>
              <a:gdLst/>
              <a:ahLst/>
              <a:cxnLst/>
              <a:rect r="r" b="b" t="t" l="l"/>
              <a:pathLst>
                <a:path h="926592" w="1024128">
                  <a:moveTo>
                    <a:pt x="0" y="0"/>
                  </a:moveTo>
                  <a:lnTo>
                    <a:pt x="1024128" y="0"/>
                  </a:lnTo>
                  <a:lnTo>
                    <a:pt x="1024128" y="926592"/>
                  </a:lnTo>
                  <a:lnTo>
                    <a:pt x="0" y="926592"/>
                  </a:lnTo>
                  <a:close/>
                </a:path>
              </a:pathLst>
            </a:custGeom>
            <a:blipFill>
              <a:blip r:embed="rId2">
                <a:alphaModFix amt="0"/>
              </a:blip>
              <a:stretch>
                <a:fillRect l="-66084" t="0" r="-66084" b="0"/>
              </a:stretch>
            </a:blipFill>
          </p:spPr>
        </p:sp>
        <p:sp>
          <p:nvSpPr>
            <p:cNvPr name="TextBox 31" id="31"/>
            <p:cNvSpPr txBox="true"/>
            <p:nvPr/>
          </p:nvSpPr>
          <p:spPr>
            <a:xfrm>
              <a:off x="0" y="-38100"/>
              <a:ext cx="1024128" cy="96469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Q2</a:t>
              </a:r>
            </a:p>
          </p:txBody>
        </p:sp>
      </p:grpSp>
      <p:grpSp>
        <p:nvGrpSpPr>
          <p:cNvPr name="Group 32" id="32"/>
          <p:cNvGrpSpPr/>
          <p:nvPr/>
        </p:nvGrpSpPr>
        <p:grpSpPr>
          <a:xfrm rot="0">
            <a:off x="1499616" y="4114800"/>
            <a:ext cx="7205472" cy="694944"/>
            <a:chOff x="0" y="0"/>
            <a:chExt cx="9607296" cy="926592"/>
          </a:xfrm>
        </p:grpSpPr>
        <p:sp>
          <p:nvSpPr>
            <p:cNvPr name="Freeform 33" id="33"/>
            <p:cNvSpPr/>
            <p:nvPr/>
          </p:nvSpPr>
          <p:spPr>
            <a:xfrm flipH="false" flipV="false" rot="0">
              <a:off x="0" y="0"/>
              <a:ext cx="9607296" cy="926592"/>
            </a:xfrm>
            <a:custGeom>
              <a:avLst/>
              <a:gdLst/>
              <a:ahLst/>
              <a:cxnLst/>
              <a:rect r="r" b="b" t="t" l="l"/>
              <a:pathLst>
                <a:path h="926592" w="9607296">
                  <a:moveTo>
                    <a:pt x="0" y="0"/>
                  </a:moveTo>
                  <a:lnTo>
                    <a:pt x="9607296" y="0"/>
                  </a:lnTo>
                  <a:lnTo>
                    <a:pt x="9607296" y="926592"/>
                  </a:lnTo>
                  <a:lnTo>
                    <a:pt x="0" y="926592"/>
                  </a:lnTo>
                  <a:close/>
                </a:path>
              </a:pathLst>
            </a:custGeom>
            <a:blipFill>
              <a:blip r:embed="rId2">
                <a:alphaModFix amt="0"/>
              </a:blip>
              <a:stretch>
                <a:fillRect l="0" t="-152029" r="0" b="-152029"/>
              </a:stretch>
            </a:blipFill>
          </p:spPr>
        </p:sp>
        <p:sp>
          <p:nvSpPr>
            <p:cNvPr name="TextBox 34" id="34"/>
            <p:cNvSpPr txBox="true"/>
            <p:nvPr/>
          </p:nvSpPr>
          <p:spPr>
            <a:xfrm>
              <a:off x="0" y="-47625"/>
              <a:ext cx="9607296" cy="974217"/>
            </a:xfrm>
            <a:prstGeom prst="rect">
              <a:avLst/>
            </a:prstGeom>
          </p:spPr>
          <p:txBody>
            <a:bodyPr anchor="ctr" rtlCol="false" tIns="0" lIns="0" bIns="0" rIns="0"/>
            <a:lstStyle/>
            <a:p>
              <a:pPr algn="l">
                <a:lnSpc>
                  <a:spcPts val="2520"/>
                </a:lnSpc>
              </a:pPr>
              <a:r>
                <a:rPr lang="en-US" sz="2100" b="true">
                  <a:solidFill>
                    <a:srgbClr val="E8541A"/>
                  </a:solidFill>
                  <a:latin typeface="Calibri (MS) Bold"/>
                  <a:ea typeface="Calibri (MS) Bold"/>
                  <a:cs typeface="Calibri (MS) Bold"/>
                  <a:sym typeface="Calibri (MS) Bold"/>
                </a:rPr>
                <a:t>Pouvez-vous décrire votre infrastructure réseau ?</a:t>
              </a:r>
            </a:p>
          </p:txBody>
        </p:sp>
      </p:grpSp>
      <p:grpSp>
        <p:nvGrpSpPr>
          <p:cNvPr name="Group 35" id="35"/>
          <p:cNvGrpSpPr/>
          <p:nvPr/>
        </p:nvGrpSpPr>
        <p:grpSpPr>
          <a:xfrm rot="0">
            <a:off x="572519" y="4888487"/>
            <a:ext cx="8181851" cy="61979"/>
            <a:chOff x="0" y="0"/>
            <a:chExt cx="10909135" cy="82639"/>
          </a:xfrm>
        </p:grpSpPr>
        <p:sp>
          <p:nvSpPr>
            <p:cNvPr name="Freeform 36" id="36"/>
            <p:cNvSpPr/>
            <p:nvPr/>
          </p:nvSpPr>
          <p:spPr>
            <a:xfrm flipH="false" flipV="false" rot="0">
              <a:off x="0" y="0"/>
              <a:ext cx="10909173" cy="82677"/>
            </a:xfrm>
            <a:custGeom>
              <a:avLst/>
              <a:gdLst/>
              <a:ahLst/>
              <a:cxnLst/>
              <a:rect r="r" b="b" t="t" l="l"/>
              <a:pathLst>
                <a:path h="82677" w="10909173">
                  <a:moveTo>
                    <a:pt x="0" y="0"/>
                  </a:moveTo>
                  <a:lnTo>
                    <a:pt x="10909173" y="0"/>
                  </a:lnTo>
                  <a:lnTo>
                    <a:pt x="10909173" y="82677"/>
                  </a:lnTo>
                  <a:lnTo>
                    <a:pt x="0" y="82677"/>
                  </a:lnTo>
                  <a:close/>
                </a:path>
              </a:pathLst>
            </a:custGeom>
            <a:solidFill>
              <a:srgbClr val="EEF2F7"/>
            </a:solidFill>
            <a:ln w="25400" cap="sq">
              <a:solidFill>
                <a:srgbClr val="EEF2F7"/>
              </a:solidFill>
              <a:prstDash val="solid"/>
              <a:miter/>
            </a:ln>
          </p:spPr>
        </p:sp>
      </p:grpSp>
      <p:sp>
        <p:nvSpPr>
          <p:cNvPr name="TextBox 37" id="37"/>
          <p:cNvSpPr txBox="true"/>
          <p:nvPr/>
        </p:nvSpPr>
        <p:spPr>
          <a:xfrm rot="0">
            <a:off x="676656" y="5000244"/>
            <a:ext cx="7973568" cy="605028"/>
          </a:xfrm>
          <a:prstGeom prst="rect">
            <a:avLst/>
          </a:prstGeom>
        </p:spPr>
        <p:txBody>
          <a:bodyPr anchor="t" rtlCol="false" tIns="0" lIns="0" bIns="0" rIns="0">
            <a:spAutoFit/>
          </a:bodyPr>
          <a:lstStyle/>
          <a:p>
            <a:pPr algn="l">
              <a:lnSpc>
                <a:spcPts val="2280"/>
              </a:lnSpc>
            </a:pPr>
            <a:r>
              <a:rPr lang="en-US" sz="1900">
                <a:solidFill>
                  <a:srgbClr val="1E293B"/>
                </a:solidFill>
                <a:latin typeface="Calibri (MS)"/>
                <a:ea typeface="Calibri (MS)"/>
                <a:cs typeface="Calibri (MS)"/>
                <a:sym typeface="Calibri (MS)"/>
              </a:rPr>
              <a:t>~150 employés sur deux sites à Dakar. Plusieurs serveurs, postes de travail, équipements réseau et accès VPN pour certains collaborateurs.</a:t>
            </a:r>
          </a:p>
        </p:txBody>
      </p:sp>
      <p:grpSp>
        <p:nvGrpSpPr>
          <p:cNvPr name="Group 38" id="38"/>
          <p:cNvGrpSpPr/>
          <p:nvPr/>
        </p:nvGrpSpPr>
        <p:grpSpPr>
          <a:xfrm rot="0">
            <a:off x="359407" y="6046975"/>
            <a:ext cx="8608057" cy="1987801"/>
            <a:chOff x="0" y="0"/>
            <a:chExt cx="11477409" cy="2650401"/>
          </a:xfrm>
        </p:grpSpPr>
        <p:sp>
          <p:nvSpPr>
            <p:cNvPr name="Freeform 39" id="39"/>
            <p:cNvSpPr/>
            <p:nvPr/>
          </p:nvSpPr>
          <p:spPr>
            <a:xfrm flipH="false" flipV="false" rot="0">
              <a:off x="0" y="0"/>
              <a:ext cx="11477371" cy="2650363"/>
            </a:xfrm>
            <a:custGeom>
              <a:avLst/>
              <a:gdLst/>
              <a:ahLst/>
              <a:cxnLst/>
              <a:rect r="r" b="b" t="t" l="l"/>
              <a:pathLst>
                <a:path h="2650363" w="11477371">
                  <a:moveTo>
                    <a:pt x="0" y="245364"/>
                  </a:moveTo>
                  <a:cubicBezTo>
                    <a:pt x="0" y="109855"/>
                    <a:pt x="109855" y="0"/>
                    <a:pt x="245364" y="0"/>
                  </a:cubicBezTo>
                  <a:lnTo>
                    <a:pt x="11232007" y="0"/>
                  </a:lnTo>
                  <a:cubicBezTo>
                    <a:pt x="11367515" y="0"/>
                    <a:pt x="11477371" y="109855"/>
                    <a:pt x="11477371" y="245364"/>
                  </a:cubicBezTo>
                  <a:lnTo>
                    <a:pt x="11477371" y="2404999"/>
                  </a:lnTo>
                  <a:cubicBezTo>
                    <a:pt x="11477371" y="2540508"/>
                    <a:pt x="11367515" y="2650363"/>
                    <a:pt x="11232007" y="2650363"/>
                  </a:cubicBezTo>
                  <a:lnTo>
                    <a:pt x="245364" y="2650363"/>
                  </a:lnTo>
                  <a:cubicBezTo>
                    <a:pt x="109855" y="2650363"/>
                    <a:pt x="0" y="2540508"/>
                    <a:pt x="0" y="2404999"/>
                  </a:cubicBezTo>
                  <a:close/>
                </a:path>
              </a:pathLst>
            </a:custGeom>
            <a:solidFill>
              <a:srgbClr val="FFFFFF"/>
            </a:solidFill>
            <a:ln w="12700" cap="sq">
              <a:solidFill>
                <a:srgbClr val="E2E8F0"/>
              </a:solidFill>
              <a:prstDash val="solid"/>
              <a:miter/>
            </a:ln>
          </p:spPr>
        </p:sp>
      </p:grpSp>
      <p:grpSp>
        <p:nvGrpSpPr>
          <p:cNvPr name="Group 40" id="40"/>
          <p:cNvGrpSpPr/>
          <p:nvPr/>
        </p:nvGrpSpPr>
        <p:grpSpPr>
          <a:xfrm rot="0">
            <a:off x="572519" y="6260087"/>
            <a:ext cx="793499" cy="720347"/>
            <a:chOff x="0" y="0"/>
            <a:chExt cx="1057999" cy="960463"/>
          </a:xfrm>
        </p:grpSpPr>
        <p:sp>
          <p:nvSpPr>
            <p:cNvPr name="Freeform 41" id="41"/>
            <p:cNvSpPr/>
            <p:nvPr/>
          </p:nvSpPr>
          <p:spPr>
            <a:xfrm flipH="false" flipV="false" rot="0">
              <a:off x="0" y="0"/>
              <a:ext cx="1058037" cy="960501"/>
            </a:xfrm>
            <a:custGeom>
              <a:avLst/>
              <a:gdLst/>
              <a:ahLst/>
              <a:cxnLst/>
              <a:rect r="r" b="b" t="t" l="l"/>
              <a:pathLst>
                <a:path h="960501" w="1058037">
                  <a:moveTo>
                    <a:pt x="0" y="151638"/>
                  </a:moveTo>
                  <a:cubicBezTo>
                    <a:pt x="0" y="67945"/>
                    <a:pt x="67945" y="0"/>
                    <a:pt x="151638" y="0"/>
                  </a:cubicBezTo>
                  <a:lnTo>
                    <a:pt x="906399" y="0"/>
                  </a:lnTo>
                  <a:cubicBezTo>
                    <a:pt x="990092" y="0"/>
                    <a:pt x="1058037" y="67945"/>
                    <a:pt x="1058037" y="151638"/>
                  </a:cubicBezTo>
                  <a:lnTo>
                    <a:pt x="1058037" y="808863"/>
                  </a:lnTo>
                  <a:cubicBezTo>
                    <a:pt x="1058037" y="892556"/>
                    <a:pt x="990092" y="960501"/>
                    <a:pt x="906399" y="960501"/>
                  </a:cubicBezTo>
                  <a:lnTo>
                    <a:pt x="151638" y="960501"/>
                  </a:lnTo>
                  <a:cubicBezTo>
                    <a:pt x="67945" y="960501"/>
                    <a:pt x="0" y="892556"/>
                    <a:pt x="0" y="808863"/>
                  </a:cubicBezTo>
                  <a:close/>
                </a:path>
              </a:pathLst>
            </a:custGeom>
            <a:solidFill>
              <a:srgbClr val="B22222"/>
            </a:solidFill>
            <a:ln w="25400" cap="sq">
              <a:solidFill>
                <a:srgbClr val="B22222"/>
              </a:solidFill>
              <a:prstDash val="solid"/>
              <a:miter/>
            </a:ln>
          </p:spPr>
        </p:sp>
      </p:grpSp>
      <p:grpSp>
        <p:nvGrpSpPr>
          <p:cNvPr name="Group 42" id="42"/>
          <p:cNvGrpSpPr/>
          <p:nvPr/>
        </p:nvGrpSpPr>
        <p:grpSpPr>
          <a:xfrm rot="0">
            <a:off x="585216" y="6272784"/>
            <a:ext cx="768096" cy="694944"/>
            <a:chOff x="0" y="0"/>
            <a:chExt cx="1024128" cy="926592"/>
          </a:xfrm>
        </p:grpSpPr>
        <p:sp>
          <p:nvSpPr>
            <p:cNvPr name="Freeform 43" id="43"/>
            <p:cNvSpPr/>
            <p:nvPr/>
          </p:nvSpPr>
          <p:spPr>
            <a:xfrm flipH="false" flipV="false" rot="0">
              <a:off x="0" y="0"/>
              <a:ext cx="1024128" cy="926592"/>
            </a:xfrm>
            <a:custGeom>
              <a:avLst/>
              <a:gdLst/>
              <a:ahLst/>
              <a:cxnLst/>
              <a:rect r="r" b="b" t="t" l="l"/>
              <a:pathLst>
                <a:path h="926592" w="1024128">
                  <a:moveTo>
                    <a:pt x="0" y="0"/>
                  </a:moveTo>
                  <a:lnTo>
                    <a:pt x="1024128" y="0"/>
                  </a:lnTo>
                  <a:lnTo>
                    <a:pt x="1024128" y="926592"/>
                  </a:lnTo>
                  <a:lnTo>
                    <a:pt x="0" y="926592"/>
                  </a:lnTo>
                  <a:close/>
                </a:path>
              </a:pathLst>
            </a:custGeom>
            <a:blipFill>
              <a:blip r:embed="rId2">
                <a:alphaModFix amt="0"/>
              </a:blip>
              <a:stretch>
                <a:fillRect l="-66084" t="0" r="-66084" b="0"/>
              </a:stretch>
            </a:blipFill>
          </p:spPr>
        </p:sp>
        <p:sp>
          <p:nvSpPr>
            <p:cNvPr name="TextBox 44" id="44"/>
            <p:cNvSpPr txBox="true"/>
            <p:nvPr/>
          </p:nvSpPr>
          <p:spPr>
            <a:xfrm>
              <a:off x="0" y="-38100"/>
              <a:ext cx="1024128" cy="96469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Q3</a:t>
              </a:r>
            </a:p>
          </p:txBody>
        </p:sp>
      </p:grpSp>
      <p:grpSp>
        <p:nvGrpSpPr>
          <p:cNvPr name="Group 45" id="45"/>
          <p:cNvGrpSpPr/>
          <p:nvPr/>
        </p:nvGrpSpPr>
        <p:grpSpPr>
          <a:xfrm rot="0">
            <a:off x="1499616" y="6272784"/>
            <a:ext cx="7205472" cy="694944"/>
            <a:chOff x="0" y="0"/>
            <a:chExt cx="9607296" cy="926592"/>
          </a:xfrm>
        </p:grpSpPr>
        <p:sp>
          <p:nvSpPr>
            <p:cNvPr name="Freeform 46" id="46"/>
            <p:cNvSpPr/>
            <p:nvPr/>
          </p:nvSpPr>
          <p:spPr>
            <a:xfrm flipH="false" flipV="false" rot="0">
              <a:off x="0" y="0"/>
              <a:ext cx="9607296" cy="926592"/>
            </a:xfrm>
            <a:custGeom>
              <a:avLst/>
              <a:gdLst/>
              <a:ahLst/>
              <a:cxnLst/>
              <a:rect r="r" b="b" t="t" l="l"/>
              <a:pathLst>
                <a:path h="926592" w="9607296">
                  <a:moveTo>
                    <a:pt x="0" y="0"/>
                  </a:moveTo>
                  <a:lnTo>
                    <a:pt x="9607296" y="0"/>
                  </a:lnTo>
                  <a:lnTo>
                    <a:pt x="9607296" y="926592"/>
                  </a:lnTo>
                  <a:lnTo>
                    <a:pt x="0" y="926592"/>
                  </a:lnTo>
                  <a:close/>
                </a:path>
              </a:pathLst>
            </a:custGeom>
            <a:blipFill>
              <a:blip r:embed="rId2">
                <a:alphaModFix amt="0"/>
              </a:blip>
              <a:stretch>
                <a:fillRect l="0" t="-152029" r="0" b="-152029"/>
              </a:stretch>
            </a:blipFill>
          </p:spPr>
        </p:sp>
        <p:sp>
          <p:nvSpPr>
            <p:cNvPr name="TextBox 47" id="47"/>
            <p:cNvSpPr txBox="true"/>
            <p:nvPr/>
          </p:nvSpPr>
          <p:spPr>
            <a:xfrm>
              <a:off x="0" y="-47625"/>
              <a:ext cx="9607296" cy="974217"/>
            </a:xfrm>
            <a:prstGeom prst="rect">
              <a:avLst/>
            </a:prstGeom>
          </p:spPr>
          <p:txBody>
            <a:bodyPr anchor="ctr" rtlCol="false" tIns="0" lIns="0" bIns="0" rIns="0"/>
            <a:lstStyle/>
            <a:p>
              <a:pPr algn="l">
                <a:lnSpc>
                  <a:spcPts val="2520"/>
                </a:lnSpc>
              </a:pPr>
              <a:r>
                <a:rPr lang="en-US" sz="2100" b="true">
                  <a:solidFill>
                    <a:srgbClr val="B22222"/>
                  </a:solidFill>
                  <a:latin typeface="Calibri (MS) Bold"/>
                  <a:ea typeface="Calibri (MS) Bold"/>
                  <a:cs typeface="Calibri (MS) Bold"/>
                  <a:sym typeface="Calibri (MS) Bold"/>
                </a:rPr>
                <a:t>Avez-vous mis en place des outils ou politiques de sécurité ?</a:t>
              </a:r>
            </a:p>
          </p:txBody>
        </p:sp>
      </p:grpSp>
      <p:grpSp>
        <p:nvGrpSpPr>
          <p:cNvPr name="Group 48" id="48"/>
          <p:cNvGrpSpPr/>
          <p:nvPr/>
        </p:nvGrpSpPr>
        <p:grpSpPr>
          <a:xfrm rot="0">
            <a:off x="572519" y="7046471"/>
            <a:ext cx="8181851" cy="61979"/>
            <a:chOff x="0" y="0"/>
            <a:chExt cx="10909135" cy="82639"/>
          </a:xfrm>
        </p:grpSpPr>
        <p:sp>
          <p:nvSpPr>
            <p:cNvPr name="Freeform 49" id="49"/>
            <p:cNvSpPr/>
            <p:nvPr/>
          </p:nvSpPr>
          <p:spPr>
            <a:xfrm flipH="false" flipV="false" rot="0">
              <a:off x="0" y="0"/>
              <a:ext cx="10909173" cy="82677"/>
            </a:xfrm>
            <a:custGeom>
              <a:avLst/>
              <a:gdLst/>
              <a:ahLst/>
              <a:cxnLst/>
              <a:rect r="r" b="b" t="t" l="l"/>
              <a:pathLst>
                <a:path h="82677" w="10909173">
                  <a:moveTo>
                    <a:pt x="0" y="0"/>
                  </a:moveTo>
                  <a:lnTo>
                    <a:pt x="10909173" y="0"/>
                  </a:lnTo>
                  <a:lnTo>
                    <a:pt x="10909173" y="82677"/>
                  </a:lnTo>
                  <a:lnTo>
                    <a:pt x="0" y="82677"/>
                  </a:lnTo>
                  <a:close/>
                </a:path>
              </a:pathLst>
            </a:custGeom>
            <a:solidFill>
              <a:srgbClr val="EEF2F7"/>
            </a:solidFill>
            <a:ln w="25400" cap="sq">
              <a:solidFill>
                <a:srgbClr val="EEF2F7"/>
              </a:solidFill>
              <a:prstDash val="solid"/>
              <a:miter/>
            </a:ln>
          </p:spPr>
        </p:sp>
      </p:grpSp>
      <p:sp>
        <p:nvSpPr>
          <p:cNvPr name="TextBox 50" id="50"/>
          <p:cNvSpPr txBox="true"/>
          <p:nvPr/>
        </p:nvSpPr>
        <p:spPr>
          <a:xfrm rot="0">
            <a:off x="676656" y="7158228"/>
            <a:ext cx="7973568" cy="605028"/>
          </a:xfrm>
          <a:prstGeom prst="rect">
            <a:avLst/>
          </a:prstGeom>
        </p:spPr>
        <p:txBody>
          <a:bodyPr anchor="t" rtlCol="false" tIns="0" lIns="0" bIns="0" rIns="0">
            <a:spAutoFit/>
          </a:bodyPr>
          <a:lstStyle/>
          <a:p>
            <a:pPr algn="l">
              <a:lnSpc>
                <a:spcPts val="2280"/>
              </a:lnSpc>
            </a:pPr>
            <a:r>
              <a:rPr lang="en-US" sz="1900">
                <a:solidFill>
                  <a:srgbClr val="1E293B"/>
                </a:solidFill>
                <a:latin typeface="Calibri (MS)"/>
                <a:ea typeface="Calibri (MS)"/>
                <a:cs typeface="Calibri (MS)"/>
                <a:sym typeface="Calibri (MS)"/>
              </a:rPr>
              <a:t>Oui : pare-feu, antivirus centralisé, politique de gestion des mots de passe et des droits d'accès. Mesures en place depuis plusieurs années.</a:t>
            </a:r>
          </a:p>
        </p:txBody>
      </p:sp>
      <p:grpSp>
        <p:nvGrpSpPr>
          <p:cNvPr name="Group 51" id="51"/>
          <p:cNvGrpSpPr/>
          <p:nvPr/>
        </p:nvGrpSpPr>
        <p:grpSpPr>
          <a:xfrm rot="0">
            <a:off x="359407" y="8204959"/>
            <a:ext cx="8608057" cy="1987801"/>
            <a:chOff x="0" y="0"/>
            <a:chExt cx="11477409" cy="2650401"/>
          </a:xfrm>
        </p:grpSpPr>
        <p:sp>
          <p:nvSpPr>
            <p:cNvPr name="Freeform 52" id="52"/>
            <p:cNvSpPr/>
            <p:nvPr/>
          </p:nvSpPr>
          <p:spPr>
            <a:xfrm flipH="false" flipV="false" rot="0">
              <a:off x="0" y="0"/>
              <a:ext cx="11477371" cy="2650363"/>
            </a:xfrm>
            <a:custGeom>
              <a:avLst/>
              <a:gdLst/>
              <a:ahLst/>
              <a:cxnLst/>
              <a:rect r="r" b="b" t="t" l="l"/>
              <a:pathLst>
                <a:path h="2650363" w="11477371">
                  <a:moveTo>
                    <a:pt x="0" y="245364"/>
                  </a:moveTo>
                  <a:cubicBezTo>
                    <a:pt x="0" y="109855"/>
                    <a:pt x="109855" y="0"/>
                    <a:pt x="245364" y="0"/>
                  </a:cubicBezTo>
                  <a:lnTo>
                    <a:pt x="11232007" y="0"/>
                  </a:lnTo>
                  <a:cubicBezTo>
                    <a:pt x="11367515" y="0"/>
                    <a:pt x="11477371" y="109855"/>
                    <a:pt x="11477371" y="245364"/>
                  </a:cubicBezTo>
                  <a:lnTo>
                    <a:pt x="11477371" y="2404999"/>
                  </a:lnTo>
                  <a:cubicBezTo>
                    <a:pt x="11477371" y="2540508"/>
                    <a:pt x="11367515" y="2650363"/>
                    <a:pt x="11232007" y="2650363"/>
                  </a:cubicBezTo>
                  <a:lnTo>
                    <a:pt x="245364" y="2650363"/>
                  </a:lnTo>
                  <a:cubicBezTo>
                    <a:pt x="109855" y="2650363"/>
                    <a:pt x="0" y="2540508"/>
                    <a:pt x="0" y="2404999"/>
                  </a:cubicBezTo>
                  <a:close/>
                </a:path>
              </a:pathLst>
            </a:custGeom>
            <a:solidFill>
              <a:srgbClr val="FFFFFF"/>
            </a:solidFill>
            <a:ln w="12700" cap="sq">
              <a:solidFill>
                <a:srgbClr val="E2E8F0"/>
              </a:solidFill>
              <a:prstDash val="solid"/>
              <a:miter/>
            </a:ln>
          </p:spPr>
        </p:sp>
      </p:grpSp>
      <p:grpSp>
        <p:nvGrpSpPr>
          <p:cNvPr name="Group 53" id="53"/>
          <p:cNvGrpSpPr/>
          <p:nvPr/>
        </p:nvGrpSpPr>
        <p:grpSpPr>
          <a:xfrm rot="0">
            <a:off x="572519" y="8418071"/>
            <a:ext cx="793499" cy="720347"/>
            <a:chOff x="0" y="0"/>
            <a:chExt cx="1057999" cy="960463"/>
          </a:xfrm>
        </p:grpSpPr>
        <p:sp>
          <p:nvSpPr>
            <p:cNvPr name="Freeform 54" id="54"/>
            <p:cNvSpPr/>
            <p:nvPr/>
          </p:nvSpPr>
          <p:spPr>
            <a:xfrm flipH="false" flipV="false" rot="0">
              <a:off x="0" y="0"/>
              <a:ext cx="1058037" cy="960501"/>
            </a:xfrm>
            <a:custGeom>
              <a:avLst/>
              <a:gdLst/>
              <a:ahLst/>
              <a:cxnLst/>
              <a:rect r="r" b="b" t="t" l="l"/>
              <a:pathLst>
                <a:path h="960501" w="1058037">
                  <a:moveTo>
                    <a:pt x="0" y="151638"/>
                  </a:moveTo>
                  <a:cubicBezTo>
                    <a:pt x="0" y="67945"/>
                    <a:pt x="67945" y="0"/>
                    <a:pt x="151638" y="0"/>
                  </a:cubicBezTo>
                  <a:lnTo>
                    <a:pt x="906399" y="0"/>
                  </a:lnTo>
                  <a:cubicBezTo>
                    <a:pt x="990092" y="0"/>
                    <a:pt x="1058037" y="67945"/>
                    <a:pt x="1058037" y="151638"/>
                  </a:cubicBezTo>
                  <a:lnTo>
                    <a:pt x="1058037" y="808863"/>
                  </a:lnTo>
                  <a:cubicBezTo>
                    <a:pt x="1058037" y="892556"/>
                    <a:pt x="990092" y="960501"/>
                    <a:pt x="906399" y="960501"/>
                  </a:cubicBezTo>
                  <a:lnTo>
                    <a:pt x="151638" y="960501"/>
                  </a:lnTo>
                  <a:cubicBezTo>
                    <a:pt x="67945" y="960501"/>
                    <a:pt x="0" y="892556"/>
                    <a:pt x="0" y="808863"/>
                  </a:cubicBezTo>
                  <a:close/>
                </a:path>
              </a:pathLst>
            </a:custGeom>
            <a:solidFill>
              <a:srgbClr val="B22222"/>
            </a:solidFill>
            <a:ln w="25400" cap="sq">
              <a:solidFill>
                <a:srgbClr val="B22222"/>
              </a:solidFill>
              <a:prstDash val="solid"/>
              <a:miter/>
            </a:ln>
          </p:spPr>
        </p:sp>
      </p:grpSp>
      <p:grpSp>
        <p:nvGrpSpPr>
          <p:cNvPr name="Group 55" id="55"/>
          <p:cNvGrpSpPr/>
          <p:nvPr/>
        </p:nvGrpSpPr>
        <p:grpSpPr>
          <a:xfrm rot="0">
            <a:off x="585216" y="8430768"/>
            <a:ext cx="768096" cy="694944"/>
            <a:chOff x="0" y="0"/>
            <a:chExt cx="1024128" cy="926592"/>
          </a:xfrm>
        </p:grpSpPr>
        <p:sp>
          <p:nvSpPr>
            <p:cNvPr name="Freeform 56" id="56"/>
            <p:cNvSpPr/>
            <p:nvPr/>
          </p:nvSpPr>
          <p:spPr>
            <a:xfrm flipH="false" flipV="false" rot="0">
              <a:off x="0" y="0"/>
              <a:ext cx="1024128" cy="926592"/>
            </a:xfrm>
            <a:custGeom>
              <a:avLst/>
              <a:gdLst/>
              <a:ahLst/>
              <a:cxnLst/>
              <a:rect r="r" b="b" t="t" l="l"/>
              <a:pathLst>
                <a:path h="926592" w="1024128">
                  <a:moveTo>
                    <a:pt x="0" y="0"/>
                  </a:moveTo>
                  <a:lnTo>
                    <a:pt x="1024128" y="0"/>
                  </a:lnTo>
                  <a:lnTo>
                    <a:pt x="1024128" y="926592"/>
                  </a:lnTo>
                  <a:lnTo>
                    <a:pt x="0" y="926592"/>
                  </a:lnTo>
                  <a:close/>
                </a:path>
              </a:pathLst>
            </a:custGeom>
            <a:blipFill>
              <a:blip r:embed="rId2">
                <a:alphaModFix amt="0"/>
              </a:blip>
              <a:stretch>
                <a:fillRect l="-66084" t="0" r="-66084" b="0"/>
              </a:stretch>
            </a:blipFill>
          </p:spPr>
        </p:sp>
        <p:sp>
          <p:nvSpPr>
            <p:cNvPr name="TextBox 57" id="57"/>
            <p:cNvSpPr txBox="true"/>
            <p:nvPr/>
          </p:nvSpPr>
          <p:spPr>
            <a:xfrm>
              <a:off x="0" y="-38100"/>
              <a:ext cx="1024128" cy="96469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Q4</a:t>
              </a:r>
            </a:p>
          </p:txBody>
        </p:sp>
      </p:grpSp>
      <p:grpSp>
        <p:nvGrpSpPr>
          <p:cNvPr name="Group 58" id="58"/>
          <p:cNvGrpSpPr/>
          <p:nvPr/>
        </p:nvGrpSpPr>
        <p:grpSpPr>
          <a:xfrm rot="0">
            <a:off x="1499616" y="8430768"/>
            <a:ext cx="7205472" cy="694944"/>
            <a:chOff x="0" y="0"/>
            <a:chExt cx="9607296" cy="926592"/>
          </a:xfrm>
        </p:grpSpPr>
        <p:sp>
          <p:nvSpPr>
            <p:cNvPr name="Freeform 59" id="59"/>
            <p:cNvSpPr/>
            <p:nvPr/>
          </p:nvSpPr>
          <p:spPr>
            <a:xfrm flipH="false" flipV="false" rot="0">
              <a:off x="0" y="0"/>
              <a:ext cx="9607296" cy="926592"/>
            </a:xfrm>
            <a:custGeom>
              <a:avLst/>
              <a:gdLst/>
              <a:ahLst/>
              <a:cxnLst/>
              <a:rect r="r" b="b" t="t" l="l"/>
              <a:pathLst>
                <a:path h="926592" w="9607296">
                  <a:moveTo>
                    <a:pt x="0" y="0"/>
                  </a:moveTo>
                  <a:lnTo>
                    <a:pt x="9607296" y="0"/>
                  </a:lnTo>
                  <a:lnTo>
                    <a:pt x="9607296" y="926592"/>
                  </a:lnTo>
                  <a:lnTo>
                    <a:pt x="0" y="926592"/>
                  </a:lnTo>
                  <a:close/>
                </a:path>
              </a:pathLst>
            </a:custGeom>
            <a:blipFill>
              <a:blip r:embed="rId2">
                <a:alphaModFix amt="0"/>
              </a:blip>
              <a:stretch>
                <a:fillRect l="0" t="-152029" r="0" b="-152029"/>
              </a:stretch>
            </a:blipFill>
          </p:spPr>
        </p:sp>
        <p:sp>
          <p:nvSpPr>
            <p:cNvPr name="TextBox 60" id="60"/>
            <p:cNvSpPr txBox="true"/>
            <p:nvPr/>
          </p:nvSpPr>
          <p:spPr>
            <a:xfrm>
              <a:off x="0" y="-47625"/>
              <a:ext cx="9607296" cy="974217"/>
            </a:xfrm>
            <a:prstGeom prst="rect">
              <a:avLst/>
            </a:prstGeom>
          </p:spPr>
          <p:txBody>
            <a:bodyPr anchor="ctr" rtlCol="false" tIns="0" lIns="0" bIns="0" rIns="0"/>
            <a:lstStyle/>
            <a:p>
              <a:pPr algn="l">
                <a:lnSpc>
                  <a:spcPts val="2520"/>
                </a:lnSpc>
              </a:pPr>
              <a:r>
                <a:rPr lang="en-US" sz="2100" b="true">
                  <a:solidFill>
                    <a:srgbClr val="B22222"/>
                  </a:solidFill>
                  <a:latin typeface="Calibri (MS) Bold"/>
                  <a:ea typeface="Calibri (MS) Bold"/>
                  <a:cs typeface="Calibri (MS) Bold"/>
                  <a:sym typeface="Calibri (MS) Bold"/>
                </a:rPr>
                <a:t>Avez-vous déjà subi des intrusions ou tentatives d'attaques ?</a:t>
              </a:r>
            </a:p>
          </p:txBody>
        </p:sp>
      </p:grpSp>
      <p:grpSp>
        <p:nvGrpSpPr>
          <p:cNvPr name="Group 61" id="61"/>
          <p:cNvGrpSpPr/>
          <p:nvPr/>
        </p:nvGrpSpPr>
        <p:grpSpPr>
          <a:xfrm rot="0">
            <a:off x="572519" y="9204455"/>
            <a:ext cx="8181851" cy="61979"/>
            <a:chOff x="0" y="0"/>
            <a:chExt cx="10909135" cy="82639"/>
          </a:xfrm>
        </p:grpSpPr>
        <p:sp>
          <p:nvSpPr>
            <p:cNvPr name="Freeform 62" id="62"/>
            <p:cNvSpPr/>
            <p:nvPr/>
          </p:nvSpPr>
          <p:spPr>
            <a:xfrm flipH="false" flipV="false" rot="0">
              <a:off x="0" y="0"/>
              <a:ext cx="10909173" cy="82677"/>
            </a:xfrm>
            <a:custGeom>
              <a:avLst/>
              <a:gdLst/>
              <a:ahLst/>
              <a:cxnLst/>
              <a:rect r="r" b="b" t="t" l="l"/>
              <a:pathLst>
                <a:path h="82677" w="10909173">
                  <a:moveTo>
                    <a:pt x="0" y="0"/>
                  </a:moveTo>
                  <a:lnTo>
                    <a:pt x="10909173" y="0"/>
                  </a:lnTo>
                  <a:lnTo>
                    <a:pt x="10909173" y="82677"/>
                  </a:lnTo>
                  <a:lnTo>
                    <a:pt x="0" y="82677"/>
                  </a:lnTo>
                  <a:close/>
                </a:path>
              </a:pathLst>
            </a:custGeom>
            <a:solidFill>
              <a:srgbClr val="EEF2F7"/>
            </a:solidFill>
            <a:ln w="25400" cap="sq">
              <a:solidFill>
                <a:srgbClr val="EEF2F7"/>
              </a:solidFill>
              <a:prstDash val="solid"/>
              <a:miter/>
            </a:ln>
          </p:spPr>
        </p:sp>
      </p:grpSp>
      <p:sp>
        <p:nvSpPr>
          <p:cNvPr name="TextBox 63" id="63"/>
          <p:cNvSpPr txBox="true"/>
          <p:nvPr/>
        </p:nvSpPr>
        <p:spPr>
          <a:xfrm rot="0">
            <a:off x="676656" y="9316212"/>
            <a:ext cx="7973568" cy="605028"/>
          </a:xfrm>
          <a:prstGeom prst="rect">
            <a:avLst/>
          </a:prstGeom>
        </p:spPr>
        <p:txBody>
          <a:bodyPr anchor="t" rtlCol="false" tIns="0" lIns="0" bIns="0" rIns="0">
            <a:spAutoFit/>
          </a:bodyPr>
          <a:lstStyle/>
          <a:p>
            <a:pPr algn="l">
              <a:lnSpc>
                <a:spcPts val="2280"/>
              </a:lnSpc>
            </a:pPr>
            <a:r>
              <a:rPr lang="en-US" sz="1900">
                <a:solidFill>
                  <a:srgbClr val="1E293B"/>
                </a:solidFill>
                <a:latin typeface="Calibri (MS)"/>
                <a:ea typeface="Calibri (MS)"/>
                <a:cs typeface="Calibri (MS)"/>
                <a:sym typeface="Calibri (MS)"/>
              </a:rPr>
              <a:t>Oui : tentatives de phishing, scans de ports et attaques par force brute visant les comptes utilisateurs. Incidents assez fréquents.</a:t>
            </a:r>
          </a:p>
        </p:txBody>
      </p:sp>
      <p:grpSp>
        <p:nvGrpSpPr>
          <p:cNvPr name="Group 64" id="64"/>
          <p:cNvGrpSpPr/>
          <p:nvPr/>
        </p:nvGrpSpPr>
        <p:grpSpPr>
          <a:xfrm rot="0">
            <a:off x="9320527" y="1731007"/>
            <a:ext cx="8608057" cy="1987801"/>
            <a:chOff x="0" y="0"/>
            <a:chExt cx="11477409" cy="2650401"/>
          </a:xfrm>
        </p:grpSpPr>
        <p:sp>
          <p:nvSpPr>
            <p:cNvPr name="Freeform 65" id="65"/>
            <p:cNvSpPr/>
            <p:nvPr/>
          </p:nvSpPr>
          <p:spPr>
            <a:xfrm flipH="false" flipV="false" rot="0">
              <a:off x="0" y="0"/>
              <a:ext cx="11477371" cy="2650363"/>
            </a:xfrm>
            <a:custGeom>
              <a:avLst/>
              <a:gdLst/>
              <a:ahLst/>
              <a:cxnLst/>
              <a:rect r="r" b="b" t="t" l="l"/>
              <a:pathLst>
                <a:path h="2650363" w="11477371">
                  <a:moveTo>
                    <a:pt x="0" y="245364"/>
                  </a:moveTo>
                  <a:cubicBezTo>
                    <a:pt x="0" y="109855"/>
                    <a:pt x="109855" y="0"/>
                    <a:pt x="245364" y="0"/>
                  </a:cubicBezTo>
                  <a:lnTo>
                    <a:pt x="11232007" y="0"/>
                  </a:lnTo>
                  <a:cubicBezTo>
                    <a:pt x="11367515" y="0"/>
                    <a:pt x="11477371" y="109855"/>
                    <a:pt x="11477371" y="245364"/>
                  </a:cubicBezTo>
                  <a:lnTo>
                    <a:pt x="11477371" y="2404999"/>
                  </a:lnTo>
                  <a:cubicBezTo>
                    <a:pt x="11477371" y="2540508"/>
                    <a:pt x="11367515" y="2650363"/>
                    <a:pt x="11232007" y="2650363"/>
                  </a:cubicBezTo>
                  <a:lnTo>
                    <a:pt x="245364" y="2650363"/>
                  </a:lnTo>
                  <a:cubicBezTo>
                    <a:pt x="109855" y="2650363"/>
                    <a:pt x="0" y="2540508"/>
                    <a:pt x="0" y="2404999"/>
                  </a:cubicBezTo>
                  <a:close/>
                </a:path>
              </a:pathLst>
            </a:custGeom>
            <a:solidFill>
              <a:srgbClr val="FFFFFF"/>
            </a:solidFill>
            <a:ln w="12700" cap="sq">
              <a:solidFill>
                <a:srgbClr val="E2E8F0"/>
              </a:solidFill>
              <a:prstDash val="solid"/>
              <a:miter/>
            </a:ln>
          </p:spPr>
        </p:sp>
      </p:grpSp>
      <p:grpSp>
        <p:nvGrpSpPr>
          <p:cNvPr name="Group 66" id="66"/>
          <p:cNvGrpSpPr/>
          <p:nvPr/>
        </p:nvGrpSpPr>
        <p:grpSpPr>
          <a:xfrm rot="0">
            <a:off x="9533639" y="1944119"/>
            <a:ext cx="793499" cy="720347"/>
            <a:chOff x="0" y="0"/>
            <a:chExt cx="1057999" cy="960463"/>
          </a:xfrm>
        </p:grpSpPr>
        <p:sp>
          <p:nvSpPr>
            <p:cNvPr name="Freeform 67" id="67"/>
            <p:cNvSpPr/>
            <p:nvPr/>
          </p:nvSpPr>
          <p:spPr>
            <a:xfrm flipH="false" flipV="false" rot="0">
              <a:off x="0" y="0"/>
              <a:ext cx="1058037" cy="960501"/>
            </a:xfrm>
            <a:custGeom>
              <a:avLst/>
              <a:gdLst/>
              <a:ahLst/>
              <a:cxnLst/>
              <a:rect r="r" b="b" t="t" l="l"/>
              <a:pathLst>
                <a:path h="960501" w="1058037">
                  <a:moveTo>
                    <a:pt x="0" y="151638"/>
                  </a:moveTo>
                  <a:cubicBezTo>
                    <a:pt x="0" y="67945"/>
                    <a:pt x="67945" y="0"/>
                    <a:pt x="151638" y="0"/>
                  </a:cubicBezTo>
                  <a:lnTo>
                    <a:pt x="906399" y="0"/>
                  </a:lnTo>
                  <a:cubicBezTo>
                    <a:pt x="990092" y="0"/>
                    <a:pt x="1058037" y="67945"/>
                    <a:pt x="1058037" y="151638"/>
                  </a:cubicBezTo>
                  <a:lnTo>
                    <a:pt x="1058037" y="808863"/>
                  </a:lnTo>
                  <a:cubicBezTo>
                    <a:pt x="1058037" y="892556"/>
                    <a:pt x="990092" y="960501"/>
                    <a:pt x="906399" y="960501"/>
                  </a:cubicBezTo>
                  <a:lnTo>
                    <a:pt x="151638" y="960501"/>
                  </a:lnTo>
                  <a:cubicBezTo>
                    <a:pt x="67945" y="960501"/>
                    <a:pt x="0" y="892556"/>
                    <a:pt x="0" y="808863"/>
                  </a:cubicBezTo>
                  <a:close/>
                </a:path>
              </a:pathLst>
            </a:custGeom>
            <a:solidFill>
              <a:srgbClr val="6B3A2A"/>
            </a:solidFill>
            <a:ln w="25400" cap="sq">
              <a:solidFill>
                <a:srgbClr val="6B3A2A"/>
              </a:solidFill>
              <a:prstDash val="solid"/>
              <a:miter/>
            </a:ln>
          </p:spPr>
        </p:sp>
      </p:grpSp>
      <p:grpSp>
        <p:nvGrpSpPr>
          <p:cNvPr name="Group 68" id="68"/>
          <p:cNvGrpSpPr/>
          <p:nvPr/>
        </p:nvGrpSpPr>
        <p:grpSpPr>
          <a:xfrm rot="0">
            <a:off x="9546336" y="1956816"/>
            <a:ext cx="768096" cy="694944"/>
            <a:chOff x="0" y="0"/>
            <a:chExt cx="1024128" cy="926592"/>
          </a:xfrm>
        </p:grpSpPr>
        <p:sp>
          <p:nvSpPr>
            <p:cNvPr name="Freeform 69" id="69"/>
            <p:cNvSpPr/>
            <p:nvPr/>
          </p:nvSpPr>
          <p:spPr>
            <a:xfrm flipH="false" flipV="false" rot="0">
              <a:off x="0" y="0"/>
              <a:ext cx="1024128" cy="926592"/>
            </a:xfrm>
            <a:custGeom>
              <a:avLst/>
              <a:gdLst/>
              <a:ahLst/>
              <a:cxnLst/>
              <a:rect r="r" b="b" t="t" l="l"/>
              <a:pathLst>
                <a:path h="926592" w="1024128">
                  <a:moveTo>
                    <a:pt x="0" y="0"/>
                  </a:moveTo>
                  <a:lnTo>
                    <a:pt x="1024128" y="0"/>
                  </a:lnTo>
                  <a:lnTo>
                    <a:pt x="1024128" y="926592"/>
                  </a:lnTo>
                  <a:lnTo>
                    <a:pt x="0" y="926592"/>
                  </a:lnTo>
                  <a:close/>
                </a:path>
              </a:pathLst>
            </a:custGeom>
            <a:blipFill>
              <a:blip r:embed="rId2">
                <a:alphaModFix amt="0"/>
              </a:blip>
              <a:stretch>
                <a:fillRect l="-66084" t="0" r="-66084" b="0"/>
              </a:stretch>
            </a:blipFill>
          </p:spPr>
        </p:sp>
        <p:sp>
          <p:nvSpPr>
            <p:cNvPr name="TextBox 70" id="70"/>
            <p:cNvSpPr txBox="true"/>
            <p:nvPr/>
          </p:nvSpPr>
          <p:spPr>
            <a:xfrm>
              <a:off x="0" y="-38100"/>
              <a:ext cx="1024128" cy="96469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Q5</a:t>
              </a:r>
            </a:p>
          </p:txBody>
        </p:sp>
      </p:grpSp>
      <p:grpSp>
        <p:nvGrpSpPr>
          <p:cNvPr name="Group 71" id="71"/>
          <p:cNvGrpSpPr/>
          <p:nvPr/>
        </p:nvGrpSpPr>
        <p:grpSpPr>
          <a:xfrm rot="0">
            <a:off x="10460736" y="1956816"/>
            <a:ext cx="7205472" cy="694944"/>
            <a:chOff x="0" y="0"/>
            <a:chExt cx="9607296" cy="926592"/>
          </a:xfrm>
        </p:grpSpPr>
        <p:sp>
          <p:nvSpPr>
            <p:cNvPr name="Freeform 72" id="72"/>
            <p:cNvSpPr/>
            <p:nvPr/>
          </p:nvSpPr>
          <p:spPr>
            <a:xfrm flipH="false" flipV="false" rot="0">
              <a:off x="0" y="0"/>
              <a:ext cx="9607296" cy="926592"/>
            </a:xfrm>
            <a:custGeom>
              <a:avLst/>
              <a:gdLst/>
              <a:ahLst/>
              <a:cxnLst/>
              <a:rect r="r" b="b" t="t" l="l"/>
              <a:pathLst>
                <a:path h="926592" w="9607296">
                  <a:moveTo>
                    <a:pt x="0" y="0"/>
                  </a:moveTo>
                  <a:lnTo>
                    <a:pt x="9607296" y="0"/>
                  </a:lnTo>
                  <a:lnTo>
                    <a:pt x="9607296" y="926592"/>
                  </a:lnTo>
                  <a:lnTo>
                    <a:pt x="0" y="926592"/>
                  </a:lnTo>
                  <a:close/>
                </a:path>
              </a:pathLst>
            </a:custGeom>
            <a:blipFill>
              <a:blip r:embed="rId2">
                <a:alphaModFix amt="0"/>
              </a:blip>
              <a:stretch>
                <a:fillRect l="0" t="-152029" r="0" b="-152029"/>
              </a:stretch>
            </a:blipFill>
          </p:spPr>
        </p:sp>
        <p:sp>
          <p:nvSpPr>
            <p:cNvPr name="TextBox 73" id="73"/>
            <p:cNvSpPr txBox="true"/>
            <p:nvPr/>
          </p:nvSpPr>
          <p:spPr>
            <a:xfrm>
              <a:off x="0" y="-47625"/>
              <a:ext cx="9607296" cy="974217"/>
            </a:xfrm>
            <a:prstGeom prst="rect">
              <a:avLst/>
            </a:prstGeom>
          </p:spPr>
          <p:txBody>
            <a:bodyPr anchor="ctr" rtlCol="false" tIns="0" lIns="0" bIns="0" rIns="0"/>
            <a:lstStyle/>
            <a:p>
              <a:pPr algn="l">
                <a:lnSpc>
                  <a:spcPts val="2520"/>
                </a:lnSpc>
              </a:pPr>
              <a:r>
                <a:rPr lang="en-US" sz="2100" b="true">
                  <a:solidFill>
                    <a:srgbClr val="6B3A2A"/>
                  </a:solidFill>
                  <a:latin typeface="Calibri (MS) Bold"/>
                  <a:ea typeface="Calibri (MS) Bold"/>
                  <a:cs typeface="Calibri (MS) Bold"/>
                  <a:sym typeface="Calibri (MS) Bold"/>
                </a:rPr>
                <a:t>Votre système analyse-t-il le trafic en temps réel ?</a:t>
              </a:r>
            </a:p>
          </p:txBody>
        </p:sp>
      </p:grpSp>
      <p:grpSp>
        <p:nvGrpSpPr>
          <p:cNvPr name="Group 74" id="74"/>
          <p:cNvGrpSpPr/>
          <p:nvPr/>
        </p:nvGrpSpPr>
        <p:grpSpPr>
          <a:xfrm rot="0">
            <a:off x="9533639" y="2730503"/>
            <a:ext cx="8181851" cy="61979"/>
            <a:chOff x="0" y="0"/>
            <a:chExt cx="10909135" cy="82639"/>
          </a:xfrm>
        </p:grpSpPr>
        <p:sp>
          <p:nvSpPr>
            <p:cNvPr name="Freeform 75" id="75"/>
            <p:cNvSpPr/>
            <p:nvPr/>
          </p:nvSpPr>
          <p:spPr>
            <a:xfrm flipH="false" flipV="false" rot="0">
              <a:off x="0" y="0"/>
              <a:ext cx="10909173" cy="82677"/>
            </a:xfrm>
            <a:custGeom>
              <a:avLst/>
              <a:gdLst/>
              <a:ahLst/>
              <a:cxnLst/>
              <a:rect r="r" b="b" t="t" l="l"/>
              <a:pathLst>
                <a:path h="82677" w="10909173">
                  <a:moveTo>
                    <a:pt x="0" y="0"/>
                  </a:moveTo>
                  <a:lnTo>
                    <a:pt x="10909173" y="0"/>
                  </a:lnTo>
                  <a:lnTo>
                    <a:pt x="10909173" y="82677"/>
                  </a:lnTo>
                  <a:lnTo>
                    <a:pt x="0" y="82677"/>
                  </a:lnTo>
                  <a:close/>
                </a:path>
              </a:pathLst>
            </a:custGeom>
            <a:solidFill>
              <a:srgbClr val="EEF2F7"/>
            </a:solidFill>
            <a:ln w="25400" cap="sq">
              <a:solidFill>
                <a:srgbClr val="EEF2F7"/>
              </a:solidFill>
              <a:prstDash val="solid"/>
              <a:miter/>
            </a:ln>
          </p:spPr>
        </p:sp>
      </p:grpSp>
      <p:sp>
        <p:nvSpPr>
          <p:cNvPr name="TextBox 76" id="76"/>
          <p:cNvSpPr txBox="true"/>
          <p:nvPr/>
        </p:nvSpPr>
        <p:spPr>
          <a:xfrm rot="0">
            <a:off x="9637776" y="2842260"/>
            <a:ext cx="7973568" cy="605028"/>
          </a:xfrm>
          <a:prstGeom prst="rect">
            <a:avLst/>
          </a:prstGeom>
        </p:spPr>
        <p:txBody>
          <a:bodyPr anchor="t" rtlCol="false" tIns="0" lIns="0" bIns="0" rIns="0">
            <a:spAutoFit/>
          </a:bodyPr>
          <a:lstStyle/>
          <a:p>
            <a:pPr algn="l">
              <a:lnSpc>
                <a:spcPts val="2280"/>
              </a:lnSpc>
            </a:pPr>
            <a:r>
              <a:rPr lang="en-US" sz="1900">
                <a:solidFill>
                  <a:srgbClr val="1E293B"/>
                </a:solidFill>
                <a:latin typeface="Calibri (MS)"/>
                <a:ea typeface="Calibri (MS)"/>
                <a:cs typeface="Calibri (MS)"/>
                <a:sym typeface="Calibri (MS)"/>
              </a:rPr>
              <a:t>Oui, grâce aux outils de supervision. Difficile cependant de distinguer rapidement un comportement anormal d'une activité légitime.</a:t>
            </a:r>
          </a:p>
        </p:txBody>
      </p:sp>
      <p:grpSp>
        <p:nvGrpSpPr>
          <p:cNvPr name="Group 77" id="77"/>
          <p:cNvGrpSpPr/>
          <p:nvPr/>
        </p:nvGrpSpPr>
        <p:grpSpPr>
          <a:xfrm rot="0">
            <a:off x="9320527" y="3888991"/>
            <a:ext cx="8608057" cy="1987801"/>
            <a:chOff x="0" y="0"/>
            <a:chExt cx="11477409" cy="2650401"/>
          </a:xfrm>
        </p:grpSpPr>
        <p:sp>
          <p:nvSpPr>
            <p:cNvPr name="Freeform 78" id="78"/>
            <p:cNvSpPr/>
            <p:nvPr/>
          </p:nvSpPr>
          <p:spPr>
            <a:xfrm flipH="false" flipV="false" rot="0">
              <a:off x="0" y="0"/>
              <a:ext cx="11477371" cy="2650363"/>
            </a:xfrm>
            <a:custGeom>
              <a:avLst/>
              <a:gdLst/>
              <a:ahLst/>
              <a:cxnLst/>
              <a:rect r="r" b="b" t="t" l="l"/>
              <a:pathLst>
                <a:path h="2650363" w="11477371">
                  <a:moveTo>
                    <a:pt x="0" y="245364"/>
                  </a:moveTo>
                  <a:cubicBezTo>
                    <a:pt x="0" y="109855"/>
                    <a:pt x="109855" y="0"/>
                    <a:pt x="245364" y="0"/>
                  </a:cubicBezTo>
                  <a:lnTo>
                    <a:pt x="11232007" y="0"/>
                  </a:lnTo>
                  <a:cubicBezTo>
                    <a:pt x="11367515" y="0"/>
                    <a:pt x="11477371" y="109855"/>
                    <a:pt x="11477371" y="245364"/>
                  </a:cubicBezTo>
                  <a:lnTo>
                    <a:pt x="11477371" y="2404999"/>
                  </a:lnTo>
                  <a:cubicBezTo>
                    <a:pt x="11477371" y="2540508"/>
                    <a:pt x="11367515" y="2650363"/>
                    <a:pt x="11232007" y="2650363"/>
                  </a:cubicBezTo>
                  <a:lnTo>
                    <a:pt x="245364" y="2650363"/>
                  </a:lnTo>
                  <a:cubicBezTo>
                    <a:pt x="109855" y="2650363"/>
                    <a:pt x="0" y="2540508"/>
                    <a:pt x="0" y="2404999"/>
                  </a:cubicBezTo>
                  <a:close/>
                </a:path>
              </a:pathLst>
            </a:custGeom>
            <a:solidFill>
              <a:srgbClr val="FFFFFF"/>
            </a:solidFill>
            <a:ln w="12700" cap="sq">
              <a:solidFill>
                <a:srgbClr val="E2E8F0"/>
              </a:solidFill>
              <a:prstDash val="solid"/>
              <a:miter/>
            </a:ln>
          </p:spPr>
        </p:sp>
      </p:grpSp>
      <p:grpSp>
        <p:nvGrpSpPr>
          <p:cNvPr name="Group 79" id="79"/>
          <p:cNvGrpSpPr/>
          <p:nvPr/>
        </p:nvGrpSpPr>
        <p:grpSpPr>
          <a:xfrm rot="0">
            <a:off x="9533639" y="4102103"/>
            <a:ext cx="793499" cy="720347"/>
            <a:chOff x="0" y="0"/>
            <a:chExt cx="1057999" cy="960463"/>
          </a:xfrm>
        </p:grpSpPr>
        <p:sp>
          <p:nvSpPr>
            <p:cNvPr name="Freeform 80" id="80"/>
            <p:cNvSpPr/>
            <p:nvPr/>
          </p:nvSpPr>
          <p:spPr>
            <a:xfrm flipH="false" flipV="false" rot="0">
              <a:off x="0" y="0"/>
              <a:ext cx="1058037" cy="960501"/>
            </a:xfrm>
            <a:custGeom>
              <a:avLst/>
              <a:gdLst/>
              <a:ahLst/>
              <a:cxnLst/>
              <a:rect r="r" b="b" t="t" l="l"/>
              <a:pathLst>
                <a:path h="960501" w="1058037">
                  <a:moveTo>
                    <a:pt x="0" y="151638"/>
                  </a:moveTo>
                  <a:cubicBezTo>
                    <a:pt x="0" y="67945"/>
                    <a:pt x="67945" y="0"/>
                    <a:pt x="151638" y="0"/>
                  </a:cubicBezTo>
                  <a:lnTo>
                    <a:pt x="906399" y="0"/>
                  </a:lnTo>
                  <a:cubicBezTo>
                    <a:pt x="990092" y="0"/>
                    <a:pt x="1058037" y="67945"/>
                    <a:pt x="1058037" y="151638"/>
                  </a:cubicBezTo>
                  <a:lnTo>
                    <a:pt x="1058037" y="808863"/>
                  </a:lnTo>
                  <a:cubicBezTo>
                    <a:pt x="1058037" y="892556"/>
                    <a:pt x="990092" y="960501"/>
                    <a:pt x="906399" y="960501"/>
                  </a:cubicBezTo>
                  <a:lnTo>
                    <a:pt x="151638" y="960501"/>
                  </a:lnTo>
                  <a:cubicBezTo>
                    <a:pt x="67945" y="960501"/>
                    <a:pt x="0" y="892556"/>
                    <a:pt x="0" y="808863"/>
                  </a:cubicBezTo>
                  <a:close/>
                </a:path>
              </a:pathLst>
            </a:custGeom>
            <a:solidFill>
              <a:srgbClr val="6B3A2A"/>
            </a:solidFill>
            <a:ln w="25400" cap="sq">
              <a:solidFill>
                <a:srgbClr val="6B3A2A"/>
              </a:solidFill>
              <a:prstDash val="solid"/>
              <a:miter/>
            </a:ln>
          </p:spPr>
        </p:sp>
      </p:grpSp>
      <p:grpSp>
        <p:nvGrpSpPr>
          <p:cNvPr name="Group 81" id="81"/>
          <p:cNvGrpSpPr/>
          <p:nvPr/>
        </p:nvGrpSpPr>
        <p:grpSpPr>
          <a:xfrm rot="0">
            <a:off x="9546336" y="4114800"/>
            <a:ext cx="768096" cy="694944"/>
            <a:chOff x="0" y="0"/>
            <a:chExt cx="1024128" cy="926592"/>
          </a:xfrm>
        </p:grpSpPr>
        <p:sp>
          <p:nvSpPr>
            <p:cNvPr name="Freeform 82" id="82"/>
            <p:cNvSpPr/>
            <p:nvPr/>
          </p:nvSpPr>
          <p:spPr>
            <a:xfrm flipH="false" flipV="false" rot="0">
              <a:off x="0" y="0"/>
              <a:ext cx="1024128" cy="926592"/>
            </a:xfrm>
            <a:custGeom>
              <a:avLst/>
              <a:gdLst/>
              <a:ahLst/>
              <a:cxnLst/>
              <a:rect r="r" b="b" t="t" l="l"/>
              <a:pathLst>
                <a:path h="926592" w="1024128">
                  <a:moveTo>
                    <a:pt x="0" y="0"/>
                  </a:moveTo>
                  <a:lnTo>
                    <a:pt x="1024128" y="0"/>
                  </a:lnTo>
                  <a:lnTo>
                    <a:pt x="1024128" y="926592"/>
                  </a:lnTo>
                  <a:lnTo>
                    <a:pt x="0" y="926592"/>
                  </a:lnTo>
                  <a:close/>
                </a:path>
              </a:pathLst>
            </a:custGeom>
            <a:blipFill>
              <a:blip r:embed="rId2">
                <a:alphaModFix amt="0"/>
              </a:blip>
              <a:stretch>
                <a:fillRect l="-66084" t="0" r="-66084" b="0"/>
              </a:stretch>
            </a:blipFill>
          </p:spPr>
        </p:sp>
        <p:sp>
          <p:nvSpPr>
            <p:cNvPr name="TextBox 83" id="83"/>
            <p:cNvSpPr txBox="true"/>
            <p:nvPr/>
          </p:nvSpPr>
          <p:spPr>
            <a:xfrm>
              <a:off x="0" y="-38100"/>
              <a:ext cx="1024128" cy="96469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Q6</a:t>
              </a:r>
            </a:p>
          </p:txBody>
        </p:sp>
      </p:grpSp>
      <p:grpSp>
        <p:nvGrpSpPr>
          <p:cNvPr name="Group 84" id="84"/>
          <p:cNvGrpSpPr/>
          <p:nvPr/>
        </p:nvGrpSpPr>
        <p:grpSpPr>
          <a:xfrm rot="0">
            <a:off x="10460736" y="4114800"/>
            <a:ext cx="7205472" cy="694944"/>
            <a:chOff x="0" y="0"/>
            <a:chExt cx="9607296" cy="926592"/>
          </a:xfrm>
        </p:grpSpPr>
        <p:sp>
          <p:nvSpPr>
            <p:cNvPr name="Freeform 85" id="85"/>
            <p:cNvSpPr/>
            <p:nvPr/>
          </p:nvSpPr>
          <p:spPr>
            <a:xfrm flipH="false" flipV="false" rot="0">
              <a:off x="0" y="0"/>
              <a:ext cx="9607296" cy="926592"/>
            </a:xfrm>
            <a:custGeom>
              <a:avLst/>
              <a:gdLst/>
              <a:ahLst/>
              <a:cxnLst/>
              <a:rect r="r" b="b" t="t" l="l"/>
              <a:pathLst>
                <a:path h="926592" w="9607296">
                  <a:moveTo>
                    <a:pt x="0" y="0"/>
                  </a:moveTo>
                  <a:lnTo>
                    <a:pt x="9607296" y="0"/>
                  </a:lnTo>
                  <a:lnTo>
                    <a:pt x="9607296" y="926592"/>
                  </a:lnTo>
                  <a:lnTo>
                    <a:pt x="0" y="926592"/>
                  </a:lnTo>
                  <a:close/>
                </a:path>
              </a:pathLst>
            </a:custGeom>
            <a:blipFill>
              <a:blip r:embed="rId2">
                <a:alphaModFix amt="0"/>
              </a:blip>
              <a:stretch>
                <a:fillRect l="0" t="-152029" r="0" b="-152029"/>
              </a:stretch>
            </a:blipFill>
          </p:spPr>
        </p:sp>
        <p:sp>
          <p:nvSpPr>
            <p:cNvPr name="TextBox 86" id="86"/>
            <p:cNvSpPr txBox="true"/>
            <p:nvPr/>
          </p:nvSpPr>
          <p:spPr>
            <a:xfrm>
              <a:off x="0" y="-47625"/>
              <a:ext cx="9607296" cy="974217"/>
            </a:xfrm>
            <a:prstGeom prst="rect">
              <a:avLst/>
            </a:prstGeom>
          </p:spPr>
          <p:txBody>
            <a:bodyPr anchor="ctr" rtlCol="false" tIns="0" lIns="0" bIns="0" rIns="0"/>
            <a:lstStyle/>
            <a:p>
              <a:pPr algn="l">
                <a:lnSpc>
                  <a:spcPts val="2520"/>
                </a:lnSpc>
              </a:pPr>
              <a:r>
                <a:rPr lang="en-US" sz="2100" b="true">
                  <a:solidFill>
                    <a:srgbClr val="6B3A2A"/>
                  </a:solidFill>
                  <a:latin typeface="Calibri (MS) Bold"/>
                  <a:ea typeface="Calibri (MS) Bold"/>
                  <a:cs typeface="Calibri (MS) Bold"/>
                  <a:sym typeface="Calibri (MS) Bold"/>
                </a:rPr>
                <a:t>Avez-vous constaté des ralentissements ou des surcharges ?</a:t>
              </a:r>
            </a:p>
          </p:txBody>
        </p:sp>
      </p:grpSp>
      <p:grpSp>
        <p:nvGrpSpPr>
          <p:cNvPr name="Group 87" id="87"/>
          <p:cNvGrpSpPr/>
          <p:nvPr/>
        </p:nvGrpSpPr>
        <p:grpSpPr>
          <a:xfrm rot="0">
            <a:off x="9533639" y="4888487"/>
            <a:ext cx="8181851" cy="61979"/>
            <a:chOff x="0" y="0"/>
            <a:chExt cx="10909135" cy="82639"/>
          </a:xfrm>
        </p:grpSpPr>
        <p:sp>
          <p:nvSpPr>
            <p:cNvPr name="Freeform 88" id="88"/>
            <p:cNvSpPr/>
            <p:nvPr/>
          </p:nvSpPr>
          <p:spPr>
            <a:xfrm flipH="false" flipV="false" rot="0">
              <a:off x="0" y="0"/>
              <a:ext cx="10909173" cy="82677"/>
            </a:xfrm>
            <a:custGeom>
              <a:avLst/>
              <a:gdLst/>
              <a:ahLst/>
              <a:cxnLst/>
              <a:rect r="r" b="b" t="t" l="l"/>
              <a:pathLst>
                <a:path h="82677" w="10909173">
                  <a:moveTo>
                    <a:pt x="0" y="0"/>
                  </a:moveTo>
                  <a:lnTo>
                    <a:pt x="10909173" y="0"/>
                  </a:lnTo>
                  <a:lnTo>
                    <a:pt x="10909173" y="82677"/>
                  </a:lnTo>
                  <a:lnTo>
                    <a:pt x="0" y="82677"/>
                  </a:lnTo>
                  <a:close/>
                </a:path>
              </a:pathLst>
            </a:custGeom>
            <a:solidFill>
              <a:srgbClr val="EEF2F7"/>
            </a:solidFill>
            <a:ln w="25400" cap="sq">
              <a:solidFill>
                <a:srgbClr val="EEF2F7"/>
              </a:solidFill>
              <a:prstDash val="solid"/>
              <a:miter/>
            </a:ln>
          </p:spPr>
        </p:sp>
      </p:grpSp>
      <p:sp>
        <p:nvSpPr>
          <p:cNvPr name="TextBox 89" id="89"/>
          <p:cNvSpPr txBox="true"/>
          <p:nvPr/>
        </p:nvSpPr>
        <p:spPr>
          <a:xfrm rot="0">
            <a:off x="9637776" y="5000244"/>
            <a:ext cx="7973568" cy="605028"/>
          </a:xfrm>
          <a:prstGeom prst="rect">
            <a:avLst/>
          </a:prstGeom>
        </p:spPr>
        <p:txBody>
          <a:bodyPr anchor="t" rtlCol="false" tIns="0" lIns="0" bIns="0" rIns="0">
            <a:spAutoFit/>
          </a:bodyPr>
          <a:lstStyle/>
          <a:p>
            <a:pPr algn="l">
              <a:lnSpc>
                <a:spcPts val="2280"/>
              </a:lnSpc>
            </a:pPr>
            <a:r>
              <a:rPr lang="en-US" sz="1900">
                <a:solidFill>
                  <a:srgbClr val="1E293B"/>
                </a:solidFill>
                <a:latin typeface="Calibri (MS)"/>
                <a:ea typeface="Calibri (MS)"/>
                <a:cs typeface="Calibri (MS)"/>
                <a:sym typeface="Calibri (MS)"/>
              </a:rPr>
              <a:t>Oui, lors de pics d'utilisation ou lorsqu'un trafic inhabituel est généré sur le réseau.</a:t>
            </a:r>
          </a:p>
        </p:txBody>
      </p:sp>
      <p:grpSp>
        <p:nvGrpSpPr>
          <p:cNvPr name="Group 90" id="90"/>
          <p:cNvGrpSpPr/>
          <p:nvPr/>
        </p:nvGrpSpPr>
        <p:grpSpPr>
          <a:xfrm rot="0">
            <a:off x="9320527" y="6046975"/>
            <a:ext cx="8608057" cy="1987801"/>
            <a:chOff x="0" y="0"/>
            <a:chExt cx="11477409" cy="2650401"/>
          </a:xfrm>
        </p:grpSpPr>
        <p:sp>
          <p:nvSpPr>
            <p:cNvPr name="Freeform 91" id="91"/>
            <p:cNvSpPr/>
            <p:nvPr/>
          </p:nvSpPr>
          <p:spPr>
            <a:xfrm flipH="false" flipV="false" rot="0">
              <a:off x="0" y="0"/>
              <a:ext cx="11477371" cy="2650363"/>
            </a:xfrm>
            <a:custGeom>
              <a:avLst/>
              <a:gdLst/>
              <a:ahLst/>
              <a:cxnLst/>
              <a:rect r="r" b="b" t="t" l="l"/>
              <a:pathLst>
                <a:path h="2650363" w="11477371">
                  <a:moveTo>
                    <a:pt x="0" y="245364"/>
                  </a:moveTo>
                  <a:cubicBezTo>
                    <a:pt x="0" y="109855"/>
                    <a:pt x="109855" y="0"/>
                    <a:pt x="245364" y="0"/>
                  </a:cubicBezTo>
                  <a:lnTo>
                    <a:pt x="11232007" y="0"/>
                  </a:lnTo>
                  <a:cubicBezTo>
                    <a:pt x="11367515" y="0"/>
                    <a:pt x="11477371" y="109855"/>
                    <a:pt x="11477371" y="245364"/>
                  </a:cubicBezTo>
                  <a:lnTo>
                    <a:pt x="11477371" y="2404999"/>
                  </a:lnTo>
                  <a:cubicBezTo>
                    <a:pt x="11477371" y="2540508"/>
                    <a:pt x="11367515" y="2650363"/>
                    <a:pt x="11232007" y="2650363"/>
                  </a:cubicBezTo>
                  <a:lnTo>
                    <a:pt x="245364" y="2650363"/>
                  </a:lnTo>
                  <a:cubicBezTo>
                    <a:pt x="109855" y="2650363"/>
                    <a:pt x="0" y="2540508"/>
                    <a:pt x="0" y="2404999"/>
                  </a:cubicBezTo>
                  <a:close/>
                </a:path>
              </a:pathLst>
            </a:custGeom>
            <a:solidFill>
              <a:srgbClr val="FFFFFF"/>
            </a:solidFill>
            <a:ln w="12700" cap="sq">
              <a:solidFill>
                <a:srgbClr val="E2E8F0"/>
              </a:solidFill>
              <a:prstDash val="solid"/>
              <a:miter/>
            </a:ln>
          </p:spPr>
        </p:sp>
      </p:grpSp>
      <p:grpSp>
        <p:nvGrpSpPr>
          <p:cNvPr name="Group 92" id="92"/>
          <p:cNvGrpSpPr/>
          <p:nvPr/>
        </p:nvGrpSpPr>
        <p:grpSpPr>
          <a:xfrm rot="0">
            <a:off x="9533639" y="6260087"/>
            <a:ext cx="793499" cy="720347"/>
            <a:chOff x="0" y="0"/>
            <a:chExt cx="1057999" cy="960463"/>
          </a:xfrm>
        </p:grpSpPr>
        <p:sp>
          <p:nvSpPr>
            <p:cNvPr name="Freeform 93" id="93"/>
            <p:cNvSpPr/>
            <p:nvPr/>
          </p:nvSpPr>
          <p:spPr>
            <a:xfrm flipH="false" flipV="false" rot="0">
              <a:off x="0" y="0"/>
              <a:ext cx="1058037" cy="960501"/>
            </a:xfrm>
            <a:custGeom>
              <a:avLst/>
              <a:gdLst/>
              <a:ahLst/>
              <a:cxnLst/>
              <a:rect r="r" b="b" t="t" l="l"/>
              <a:pathLst>
                <a:path h="960501" w="1058037">
                  <a:moveTo>
                    <a:pt x="0" y="151638"/>
                  </a:moveTo>
                  <a:cubicBezTo>
                    <a:pt x="0" y="67945"/>
                    <a:pt x="67945" y="0"/>
                    <a:pt x="151638" y="0"/>
                  </a:cubicBezTo>
                  <a:lnTo>
                    <a:pt x="906399" y="0"/>
                  </a:lnTo>
                  <a:cubicBezTo>
                    <a:pt x="990092" y="0"/>
                    <a:pt x="1058037" y="67945"/>
                    <a:pt x="1058037" y="151638"/>
                  </a:cubicBezTo>
                  <a:lnTo>
                    <a:pt x="1058037" y="808863"/>
                  </a:lnTo>
                  <a:cubicBezTo>
                    <a:pt x="1058037" y="892556"/>
                    <a:pt x="990092" y="960501"/>
                    <a:pt x="906399" y="960501"/>
                  </a:cubicBezTo>
                  <a:lnTo>
                    <a:pt x="151638" y="960501"/>
                  </a:lnTo>
                  <a:cubicBezTo>
                    <a:pt x="67945" y="960501"/>
                    <a:pt x="0" y="892556"/>
                    <a:pt x="0" y="808863"/>
                  </a:cubicBezTo>
                  <a:close/>
                </a:path>
              </a:pathLst>
            </a:custGeom>
            <a:solidFill>
              <a:srgbClr val="1D4ED8"/>
            </a:solidFill>
            <a:ln w="25400" cap="sq">
              <a:solidFill>
                <a:srgbClr val="1D4ED8"/>
              </a:solidFill>
              <a:prstDash val="solid"/>
              <a:miter/>
            </a:ln>
          </p:spPr>
        </p:sp>
      </p:grpSp>
      <p:grpSp>
        <p:nvGrpSpPr>
          <p:cNvPr name="Group 94" id="94"/>
          <p:cNvGrpSpPr/>
          <p:nvPr/>
        </p:nvGrpSpPr>
        <p:grpSpPr>
          <a:xfrm rot="0">
            <a:off x="9546336" y="6272784"/>
            <a:ext cx="768096" cy="694944"/>
            <a:chOff x="0" y="0"/>
            <a:chExt cx="1024128" cy="926592"/>
          </a:xfrm>
        </p:grpSpPr>
        <p:sp>
          <p:nvSpPr>
            <p:cNvPr name="Freeform 95" id="95"/>
            <p:cNvSpPr/>
            <p:nvPr/>
          </p:nvSpPr>
          <p:spPr>
            <a:xfrm flipH="false" flipV="false" rot="0">
              <a:off x="0" y="0"/>
              <a:ext cx="1024128" cy="926592"/>
            </a:xfrm>
            <a:custGeom>
              <a:avLst/>
              <a:gdLst/>
              <a:ahLst/>
              <a:cxnLst/>
              <a:rect r="r" b="b" t="t" l="l"/>
              <a:pathLst>
                <a:path h="926592" w="1024128">
                  <a:moveTo>
                    <a:pt x="0" y="0"/>
                  </a:moveTo>
                  <a:lnTo>
                    <a:pt x="1024128" y="0"/>
                  </a:lnTo>
                  <a:lnTo>
                    <a:pt x="1024128" y="926592"/>
                  </a:lnTo>
                  <a:lnTo>
                    <a:pt x="0" y="926592"/>
                  </a:lnTo>
                  <a:close/>
                </a:path>
              </a:pathLst>
            </a:custGeom>
            <a:blipFill>
              <a:blip r:embed="rId2">
                <a:alphaModFix amt="0"/>
              </a:blip>
              <a:stretch>
                <a:fillRect l="-66084" t="0" r="-66084" b="0"/>
              </a:stretch>
            </a:blipFill>
          </p:spPr>
        </p:sp>
        <p:sp>
          <p:nvSpPr>
            <p:cNvPr name="TextBox 96" id="96"/>
            <p:cNvSpPr txBox="true"/>
            <p:nvPr/>
          </p:nvSpPr>
          <p:spPr>
            <a:xfrm>
              <a:off x="0" y="-38100"/>
              <a:ext cx="1024128" cy="96469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Q7</a:t>
              </a:r>
            </a:p>
          </p:txBody>
        </p:sp>
      </p:grpSp>
      <p:grpSp>
        <p:nvGrpSpPr>
          <p:cNvPr name="Group 97" id="97"/>
          <p:cNvGrpSpPr/>
          <p:nvPr/>
        </p:nvGrpSpPr>
        <p:grpSpPr>
          <a:xfrm rot="0">
            <a:off x="10460736" y="6272784"/>
            <a:ext cx="7205472" cy="694944"/>
            <a:chOff x="0" y="0"/>
            <a:chExt cx="9607296" cy="926592"/>
          </a:xfrm>
        </p:grpSpPr>
        <p:sp>
          <p:nvSpPr>
            <p:cNvPr name="Freeform 98" id="98"/>
            <p:cNvSpPr/>
            <p:nvPr/>
          </p:nvSpPr>
          <p:spPr>
            <a:xfrm flipH="false" flipV="false" rot="0">
              <a:off x="0" y="0"/>
              <a:ext cx="9607296" cy="926592"/>
            </a:xfrm>
            <a:custGeom>
              <a:avLst/>
              <a:gdLst/>
              <a:ahLst/>
              <a:cxnLst/>
              <a:rect r="r" b="b" t="t" l="l"/>
              <a:pathLst>
                <a:path h="926592" w="9607296">
                  <a:moveTo>
                    <a:pt x="0" y="0"/>
                  </a:moveTo>
                  <a:lnTo>
                    <a:pt x="9607296" y="0"/>
                  </a:lnTo>
                  <a:lnTo>
                    <a:pt x="9607296" y="926592"/>
                  </a:lnTo>
                  <a:lnTo>
                    <a:pt x="0" y="926592"/>
                  </a:lnTo>
                  <a:close/>
                </a:path>
              </a:pathLst>
            </a:custGeom>
            <a:blipFill>
              <a:blip r:embed="rId2">
                <a:alphaModFix amt="0"/>
              </a:blip>
              <a:stretch>
                <a:fillRect l="0" t="-152029" r="0" b="-152029"/>
              </a:stretch>
            </a:blipFill>
          </p:spPr>
        </p:sp>
        <p:sp>
          <p:nvSpPr>
            <p:cNvPr name="TextBox 99" id="99"/>
            <p:cNvSpPr txBox="true"/>
            <p:nvPr/>
          </p:nvSpPr>
          <p:spPr>
            <a:xfrm>
              <a:off x="0" y="-47625"/>
              <a:ext cx="9607296" cy="974217"/>
            </a:xfrm>
            <a:prstGeom prst="rect">
              <a:avLst/>
            </a:prstGeom>
          </p:spPr>
          <p:txBody>
            <a:bodyPr anchor="ctr" rtlCol="false" tIns="0" lIns="0" bIns="0" rIns="0"/>
            <a:lstStyle/>
            <a:p>
              <a:pPr algn="l">
                <a:lnSpc>
                  <a:spcPts val="2520"/>
                </a:lnSpc>
              </a:pPr>
              <a:r>
                <a:rPr lang="en-US" sz="2100" b="true">
                  <a:solidFill>
                    <a:srgbClr val="1D4ED8"/>
                  </a:solidFill>
                  <a:latin typeface="Calibri (MS) Bold"/>
                  <a:ea typeface="Calibri (MS) Bold"/>
                  <a:cs typeface="Calibri (MS) Bold"/>
                  <a:sym typeface="Calibri (MS) Bold"/>
                </a:rPr>
                <a:t>Quels incidents de sécurité avez-vous déjà rencontrés ?</a:t>
              </a:r>
            </a:p>
          </p:txBody>
        </p:sp>
      </p:grpSp>
      <p:grpSp>
        <p:nvGrpSpPr>
          <p:cNvPr name="Group 100" id="100"/>
          <p:cNvGrpSpPr/>
          <p:nvPr/>
        </p:nvGrpSpPr>
        <p:grpSpPr>
          <a:xfrm rot="0">
            <a:off x="9533639" y="7046471"/>
            <a:ext cx="8181851" cy="61979"/>
            <a:chOff x="0" y="0"/>
            <a:chExt cx="10909135" cy="82639"/>
          </a:xfrm>
        </p:grpSpPr>
        <p:sp>
          <p:nvSpPr>
            <p:cNvPr name="Freeform 101" id="101"/>
            <p:cNvSpPr/>
            <p:nvPr/>
          </p:nvSpPr>
          <p:spPr>
            <a:xfrm flipH="false" flipV="false" rot="0">
              <a:off x="0" y="0"/>
              <a:ext cx="10909173" cy="82677"/>
            </a:xfrm>
            <a:custGeom>
              <a:avLst/>
              <a:gdLst/>
              <a:ahLst/>
              <a:cxnLst/>
              <a:rect r="r" b="b" t="t" l="l"/>
              <a:pathLst>
                <a:path h="82677" w="10909173">
                  <a:moveTo>
                    <a:pt x="0" y="0"/>
                  </a:moveTo>
                  <a:lnTo>
                    <a:pt x="10909173" y="0"/>
                  </a:lnTo>
                  <a:lnTo>
                    <a:pt x="10909173" y="82677"/>
                  </a:lnTo>
                  <a:lnTo>
                    <a:pt x="0" y="82677"/>
                  </a:lnTo>
                  <a:close/>
                </a:path>
              </a:pathLst>
            </a:custGeom>
            <a:solidFill>
              <a:srgbClr val="EEF2F7"/>
            </a:solidFill>
            <a:ln w="25400" cap="sq">
              <a:solidFill>
                <a:srgbClr val="EEF2F7"/>
              </a:solidFill>
              <a:prstDash val="solid"/>
              <a:miter/>
            </a:ln>
          </p:spPr>
        </p:sp>
      </p:grpSp>
      <p:sp>
        <p:nvSpPr>
          <p:cNvPr name="TextBox 102" id="102"/>
          <p:cNvSpPr txBox="true"/>
          <p:nvPr/>
        </p:nvSpPr>
        <p:spPr>
          <a:xfrm rot="0">
            <a:off x="9637776" y="7158228"/>
            <a:ext cx="7973568" cy="605028"/>
          </a:xfrm>
          <a:prstGeom prst="rect">
            <a:avLst/>
          </a:prstGeom>
        </p:spPr>
        <p:txBody>
          <a:bodyPr anchor="t" rtlCol="false" tIns="0" lIns="0" bIns="0" rIns="0">
            <a:spAutoFit/>
          </a:bodyPr>
          <a:lstStyle/>
          <a:p>
            <a:pPr algn="l">
              <a:lnSpc>
                <a:spcPts val="2280"/>
              </a:lnSpc>
            </a:pPr>
            <a:r>
              <a:rPr lang="en-US" sz="1900">
                <a:solidFill>
                  <a:srgbClr val="1E293B"/>
                </a:solidFill>
                <a:latin typeface="Calibri (MS)"/>
                <a:ea typeface="Calibri (MS)"/>
                <a:cs typeface="Calibri (MS)"/>
                <a:sym typeface="Calibri (MS)"/>
              </a:rPr>
              <a:t>Tentatives d'accès non autorisées et infections par malware, détectées grâce aux alertes de sécurité et à l'analyse des journaux.</a:t>
            </a:r>
          </a:p>
        </p:txBody>
      </p:sp>
      <p:grpSp>
        <p:nvGrpSpPr>
          <p:cNvPr name="Group 103" id="103"/>
          <p:cNvGrpSpPr/>
          <p:nvPr/>
        </p:nvGrpSpPr>
        <p:grpSpPr>
          <a:xfrm rot="0">
            <a:off x="9314183" y="8491223"/>
            <a:ext cx="354587" cy="354587"/>
            <a:chOff x="0" y="0"/>
            <a:chExt cx="472783" cy="472783"/>
          </a:xfrm>
        </p:grpSpPr>
        <p:sp>
          <p:nvSpPr>
            <p:cNvPr name="Freeform 104" id="104"/>
            <p:cNvSpPr/>
            <p:nvPr/>
          </p:nvSpPr>
          <p:spPr>
            <a:xfrm flipH="false" flipV="false" rot="0">
              <a:off x="0" y="0"/>
              <a:ext cx="472821" cy="472821"/>
            </a:xfrm>
            <a:custGeom>
              <a:avLst/>
              <a:gdLst/>
              <a:ahLst/>
              <a:cxnLst/>
              <a:rect r="r" b="b" t="t" l="l"/>
              <a:pathLst>
                <a:path h="472821" w="472821">
                  <a:moveTo>
                    <a:pt x="0" y="236347"/>
                  </a:moveTo>
                  <a:cubicBezTo>
                    <a:pt x="0" y="105791"/>
                    <a:pt x="105791" y="0"/>
                    <a:pt x="236347" y="0"/>
                  </a:cubicBezTo>
                  <a:cubicBezTo>
                    <a:pt x="366903" y="0"/>
                    <a:pt x="472821" y="105791"/>
                    <a:pt x="472821" y="236347"/>
                  </a:cubicBezTo>
                  <a:cubicBezTo>
                    <a:pt x="472821" y="366903"/>
                    <a:pt x="366903" y="472821"/>
                    <a:pt x="236347" y="472821"/>
                  </a:cubicBezTo>
                  <a:cubicBezTo>
                    <a:pt x="105791" y="472821"/>
                    <a:pt x="0" y="366903"/>
                    <a:pt x="0" y="236347"/>
                  </a:cubicBezTo>
                  <a:close/>
                </a:path>
              </a:pathLst>
            </a:custGeom>
            <a:solidFill>
              <a:srgbClr val="E8541A"/>
            </a:solidFill>
            <a:ln w="25400" cap="sq">
              <a:solidFill>
                <a:srgbClr val="E8541A"/>
              </a:solidFill>
              <a:prstDash val="solid"/>
              <a:miter/>
            </a:ln>
          </p:spPr>
        </p:sp>
      </p:grpSp>
      <p:grpSp>
        <p:nvGrpSpPr>
          <p:cNvPr name="Group 105" id="105"/>
          <p:cNvGrpSpPr/>
          <p:nvPr/>
        </p:nvGrpSpPr>
        <p:grpSpPr>
          <a:xfrm rot="0">
            <a:off x="9729216" y="8430768"/>
            <a:ext cx="2011680" cy="475488"/>
            <a:chOff x="0" y="0"/>
            <a:chExt cx="2682240" cy="633984"/>
          </a:xfrm>
        </p:grpSpPr>
        <p:sp>
          <p:nvSpPr>
            <p:cNvPr name="Freeform 106" id="106"/>
            <p:cNvSpPr/>
            <p:nvPr/>
          </p:nvSpPr>
          <p:spPr>
            <a:xfrm flipH="false" flipV="false" rot="0">
              <a:off x="0" y="0"/>
              <a:ext cx="2682240" cy="633984"/>
            </a:xfrm>
            <a:custGeom>
              <a:avLst/>
              <a:gdLst/>
              <a:ahLst/>
              <a:cxnLst/>
              <a:rect r="r" b="b" t="t" l="l"/>
              <a:pathLst>
                <a:path h="633984" w="2682240">
                  <a:moveTo>
                    <a:pt x="0" y="0"/>
                  </a:moveTo>
                  <a:lnTo>
                    <a:pt x="2682240" y="0"/>
                  </a:lnTo>
                  <a:lnTo>
                    <a:pt x="2682240" y="633984"/>
                  </a:lnTo>
                  <a:lnTo>
                    <a:pt x="0" y="633984"/>
                  </a:lnTo>
                  <a:close/>
                </a:path>
              </a:pathLst>
            </a:custGeom>
            <a:blipFill>
              <a:blip r:embed="rId2">
                <a:alphaModFix amt="0"/>
              </a:blip>
              <a:stretch>
                <a:fillRect l="0" t="-32436" r="0" b="-32436"/>
              </a:stretch>
            </a:blipFill>
          </p:spPr>
        </p:sp>
        <p:sp>
          <p:nvSpPr>
            <p:cNvPr name="TextBox 107" id="107"/>
            <p:cNvSpPr txBox="true"/>
            <p:nvPr/>
          </p:nvSpPr>
          <p:spPr>
            <a:xfrm>
              <a:off x="0" y="-38100"/>
              <a:ext cx="2682240" cy="672084"/>
            </a:xfrm>
            <a:prstGeom prst="rect">
              <a:avLst/>
            </a:prstGeom>
          </p:spPr>
          <p:txBody>
            <a:bodyPr anchor="ctr" rtlCol="false" tIns="0" lIns="0" bIns="0" rIns="0"/>
            <a:lstStyle/>
            <a:p>
              <a:pPr algn="l">
                <a:lnSpc>
                  <a:spcPts val="1800"/>
                </a:lnSpc>
              </a:pPr>
              <a:r>
                <a:rPr lang="en-US" sz="1500">
                  <a:solidFill>
                    <a:srgbClr val="64748B"/>
                  </a:solidFill>
                  <a:latin typeface="Calibri (MS)"/>
                  <a:ea typeface="Calibri (MS)"/>
                  <a:cs typeface="Calibri (MS)"/>
                  <a:sym typeface="Calibri (MS)"/>
                </a:rPr>
                <a:t>Profil &amp; Infrastructure</a:t>
              </a:r>
            </a:p>
          </p:txBody>
        </p:sp>
      </p:grpSp>
      <p:grpSp>
        <p:nvGrpSpPr>
          <p:cNvPr name="Group 108" id="108"/>
          <p:cNvGrpSpPr/>
          <p:nvPr/>
        </p:nvGrpSpPr>
        <p:grpSpPr>
          <a:xfrm rot="0">
            <a:off x="11453879" y="8491223"/>
            <a:ext cx="354587" cy="354587"/>
            <a:chOff x="0" y="0"/>
            <a:chExt cx="472783" cy="472783"/>
          </a:xfrm>
        </p:grpSpPr>
        <p:sp>
          <p:nvSpPr>
            <p:cNvPr name="Freeform 109" id="109"/>
            <p:cNvSpPr/>
            <p:nvPr/>
          </p:nvSpPr>
          <p:spPr>
            <a:xfrm flipH="false" flipV="false" rot="0">
              <a:off x="0" y="0"/>
              <a:ext cx="472821" cy="472821"/>
            </a:xfrm>
            <a:custGeom>
              <a:avLst/>
              <a:gdLst/>
              <a:ahLst/>
              <a:cxnLst/>
              <a:rect r="r" b="b" t="t" l="l"/>
              <a:pathLst>
                <a:path h="472821" w="472821">
                  <a:moveTo>
                    <a:pt x="0" y="236347"/>
                  </a:moveTo>
                  <a:cubicBezTo>
                    <a:pt x="0" y="105791"/>
                    <a:pt x="105791" y="0"/>
                    <a:pt x="236347" y="0"/>
                  </a:cubicBezTo>
                  <a:cubicBezTo>
                    <a:pt x="366903" y="0"/>
                    <a:pt x="472821" y="105791"/>
                    <a:pt x="472821" y="236347"/>
                  </a:cubicBezTo>
                  <a:cubicBezTo>
                    <a:pt x="472821" y="366903"/>
                    <a:pt x="366903" y="472821"/>
                    <a:pt x="236347" y="472821"/>
                  </a:cubicBezTo>
                  <a:cubicBezTo>
                    <a:pt x="105791" y="472821"/>
                    <a:pt x="0" y="366903"/>
                    <a:pt x="0" y="236347"/>
                  </a:cubicBezTo>
                  <a:close/>
                </a:path>
              </a:pathLst>
            </a:custGeom>
            <a:solidFill>
              <a:srgbClr val="B22222"/>
            </a:solidFill>
            <a:ln w="25400" cap="sq">
              <a:solidFill>
                <a:srgbClr val="B22222"/>
              </a:solidFill>
              <a:prstDash val="solid"/>
              <a:miter/>
            </a:ln>
          </p:spPr>
        </p:sp>
      </p:grpSp>
      <p:grpSp>
        <p:nvGrpSpPr>
          <p:cNvPr name="Group 110" id="110"/>
          <p:cNvGrpSpPr/>
          <p:nvPr/>
        </p:nvGrpSpPr>
        <p:grpSpPr>
          <a:xfrm rot="0">
            <a:off x="11868912" y="8430768"/>
            <a:ext cx="2011680" cy="475488"/>
            <a:chOff x="0" y="0"/>
            <a:chExt cx="2682240" cy="633984"/>
          </a:xfrm>
        </p:grpSpPr>
        <p:sp>
          <p:nvSpPr>
            <p:cNvPr name="Freeform 111" id="111"/>
            <p:cNvSpPr/>
            <p:nvPr/>
          </p:nvSpPr>
          <p:spPr>
            <a:xfrm flipH="false" flipV="false" rot="0">
              <a:off x="0" y="0"/>
              <a:ext cx="2682240" cy="633984"/>
            </a:xfrm>
            <a:custGeom>
              <a:avLst/>
              <a:gdLst/>
              <a:ahLst/>
              <a:cxnLst/>
              <a:rect r="r" b="b" t="t" l="l"/>
              <a:pathLst>
                <a:path h="633984" w="2682240">
                  <a:moveTo>
                    <a:pt x="0" y="0"/>
                  </a:moveTo>
                  <a:lnTo>
                    <a:pt x="2682240" y="0"/>
                  </a:lnTo>
                  <a:lnTo>
                    <a:pt x="2682240" y="633984"/>
                  </a:lnTo>
                  <a:lnTo>
                    <a:pt x="0" y="633984"/>
                  </a:lnTo>
                  <a:close/>
                </a:path>
              </a:pathLst>
            </a:custGeom>
            <a:blipFill>
              <a:blip r:embed="rId2">
                <a:alphaModFix amt="0"/>
              </a:blip>
              <a:stretch>
                <a:fillRect l="0" t="-32436" r="0" b="-32436"/>
              </a:stretch>
            </a:blipFill>
          </p:spPr>
        </p:sp>
        <p:sp>
          <p:nvSpPr>
            <p:cNvPr name="TextBox 112" id="112"/>
            <p:cNvSpPr txBox="true"/>
            <p:nvPr/>
          </p:nvSpPr>
          <p:spPr>
            <a:xfrm>
              <a:off x="0" y="-38100"/>
              <a:ext cx="2682240" cy="672084"/>
            </a:xfrm>
            <a:prstGeom prst="rect">
              <a:avLst/>
            </a:prstGeom>
          </p:spPr>
          <p:txBody>
            <a:bodyPr anchor="ctr" rtlCol="false" tIns="0" lIns="0" bIns="0" rIns="0"/>
            <a:lstStyle/>
            <a:p>
              <a:pPr algn="l">
                <a:lnSpc>
                  <a:spcPts val="1800"/>
                </a:lnSpc>
              </a:pPr>
              <a:r>
                <a:rPr lang="en-US" sz="1500">
                  <a:solidFill>
                    <a:srgbClr val="64748B"/>
                  </a:solidFill>
                  <a:latin typeface="Calibri (MS)"/>
                  <a:ea typeface="Calibri (MS)"/>
                  <a:cs typeface="Calibri (MS)"/>
                  <a:sym typeface="Calibri (MS)"/>
                </a:rPr>
                <a:t>Sécurité &amp; Menaces</a:t>
              </a:r>
            </a:p>
          </p:txBody>
        </p:sp>
      </p:grpSp>
      <p:grpSp>
        <p:nvGrpSpPr>
          <p:cNvPr name="Group 113" id="113"/>
          <p:cNvGrpSpPr/>
          <p:nvPr/>
        </p:nvGrpSpPr>
        <p:grpSpPr>
          <a:xfrm rot="0">
            <a:off x="13593575" y="8491223"/>
            <a:ext cx="354587" cy="354587"/>
            <a:chOff x="0" y="0"/>
            <a:chExt cx="472783" cy="472783"/>
          </a:xfrm>
        </p:grpSpPr>
        <p:sp>
          <p:nvSpPr>
            <p:cNvPr name="Freeform 114" id="114"/>
            <p:cNvSpPr/>
            <p:nvPr/>
          </p:nvSpPr>
          <p:spPr>
            <a:xfrm flipH="false" flipV="false" rot="0">
              <a:off x="0" y="0"/>
              <a:ext cx="472821" cy="472821"/>
            </a:xfrm>
            <a:custGeom>
              <a:avLst/>
              <a:gdLst/>
              <a:ahLst/>
              <a:cxnLst/>
              <a:rect r="r" b="b" t="t" l="l"/>
              <a:pathLst>
                <a:path h="472821" w="472821">
                  <a:moveTo>
                    <a:pt x="0" y="236347"/>
                  </a:moveTo>
                  <a:cubicBezTo>
                    <a:pt x="0" y="105791"/>
                    <a:pt x="105791" y="0"/>
                    <a:pt x="236347" y="0"/>
                  </a:cubicBezTo>
                  <a:cubicBezTo>
                    <a:pt x="366903" y="0"/>
                    <a:pt x="472821" y="105791"/>
                    <a:pt x="472821" y="236347"/>
                  </a:cubicBezTo>
                  <a:cubicBezTo>
                    <a:pt x="472821" y="366903"/>
                    <a:pt x="366903" y="472821"/>
                    <a:pt x="236347" y="472821"/>
                  </a:cubicBezTo>
                  <a:cubicBezTo>
                    <a:pt x="105791" y="472821"/>
                    <a:pt x="0" y="366903"/>
                    <a:pt x="0" y="236347"/>
                  </a:cubicBezTo>
                  <a:close/>
                </a:path>
              </a:pathLst>
            </a:custGeom>
            <a:solidFill>
              <a:srgbClr val="6B3A2A"/>
            </a:solidFill>
            <a:ln w="25400" cap="sq">
              <a:solidFill>
                <a:srgbClr val="6B3A2A"/>
              </a:solidFill>
              <a:prstDash val="solid"/>
              <a:miter/>
            </a:ln>
          </p:spPr>
        </p:sp>
      </p:grpSp>
      <p:grpSp>
        <p:nvGrpSpPr>
          <p:cNvPr name="Group 115" id="115"/>
          <p:cNvGrpSpPr/>
          <p:nvPr/>
        </p:nvGrpSpPr>
        <p:grpSpPr>
          <a:xfrm rot="0">
            <a:off x="14008608" y="8430768"/>
            <a:ext cx="2011680" cy="475488"/>
            <a:chOff x="0" y="0"/>
            <a:chExt cx="2682240" cy="633984"/>
          </a:xfrm>
        </p:grpSpPr>
        <p:sp>
          <p:nvSpPr>
            <p:cNvPr name="Freeform 116" id="116"/>
            <p:cNvSpPr/>
            <p:nvPr/>
          </p:nvSpPr>
          <p:spPr>
            <a:xfrm flipH="false" flipV="false" rot="0">
              <a:off x="0" y="0"/>
              <a:ext cx="2682240" cy="633984"/>
            </a:xfrm>
            <a:custGeom>
              <a:avLst/>
              <a:gdLst/>
              <a:ahLst/>
              <a:cxnLst/>
              <a:rect r="r" b="b" t="t" l="l"/>
              <a:pathLst>
                <a:path h="633984" w="2682240">
                  <a:moveTo>
                    <a:pt x="0" y="0"/>
                  </a:moveTo>
                  <a:lnTo>
                    <a:pt x="2682240" y="0"/>
                  </a:lnTo>
                  <a:lnTo>
                    <a:pt x="2682240" y="633984"/>
                  </a:lnTo>
                  <a:lnTo>
                    <a:pt x="0" y="633984"/>
                  </a:lnTo>
                  <a:close/>
                </a:path>
              </a:pathLst>
            </a:custGeom>
            <a:blipFill>
              <a:blip r:embed="rId2">
                <a:alphaModFix amt="0"/>
              </a:blip>
              <a:stretch>
                <a:fillRect l="0" t="-32436" r="0" b="-32436"/>
              </a:stretch>
            </a:blipFill>
          </p:spPr>
        </p:sp>
        <p:sp>
          <p:nvSpPr>
            <p:cNvPr name="TextBox 117" id="117"/>
            <p:cNvSpPr txBox="true"/>
            <p:nvPr/>
          </p:nvSpPr>
          <p:spPr>
            <a:xfrm>
              <a:off x="0" y="-38100"/>
              <a:ext cx="2682240" cy="672084"/>
            </a:xfrm>
            <a:prstGeom prst="rect">
              <a:avLst/>
            </a:prstGeom>
          </p:spPr>
          <p:txBody>
            <a:bodyPr anchor="ctr" rtlCol="false" tIns="0" lIns="0" bIns="0" rIns="0"/>
            <a:lstStyle/>
            <a:p>
              <a:pPr algn="l">
                <a:lnSpc>
                  <a:spcPts val="1800"/>
                </a:lnSpc>
              </a:pPr>
              <a:r>
                <a:rPr lang="en-US" sz="1500">
                  <a:solidFill>
                    <a:srgbClr val="64748B"/>
                  </a:solidFill>
                  <a:latin typeface="Calibri (MS)"/>
                  <a:ea typeface="Calibri (MS)"/>
                  <a:cs typeface="Calibri (MS)"/>
                  <a:sym typeface="Calibri (MS)"/>
                </a:rPr>
                <a:t>Surveillance &amp; Incidents</a:t>
              </a:r>
            </a:p>
          </p:txBody>
        </p:sp>
      </p:grpSp>
      <p:grpSp>
        <p:nvGrpSpPr>
          <p:cNvPr name="Group 118" id="118"/>
          <p:cNvGrpSpPr/>
          <p:nvPr/>
        </p:nvGrpSpPr>
        <p:grpSpPr>
          <a:xfrm rot="0">
            <a:off x="15733271" y="8491223"/>
            <a:ext cx="354587" cy="354587"/>
            <a:chOff x="0" y="0"/>
            <a:chExt cx="472783" cy="472783"/>
          </a:xfrm>
        </p:grpSpPr>
        <p:sp>
          <p:nvSpPr>
            <p:cNvPr name="Freeform 119" id="119"/>
            <p:cNvSpPr/>
            <p:nvPr/>
          </p:nvSpPr>
          <p:spPr>
            <a:xfrm flipH="false" flipV="false" rot="0">
              <a:off x="0" y="0"/>
              <a:ext cx="472821" cy="472821"/>
            </a:xfrm>
            <a:custGeom>
              <a:avLst/>
              <a:gdLst/>
              <a:ahLst/>
              <a:cxnLst/>
              <a:rect r="r" b="b" t="t" l="l"/>
              <a:pathLst>
                <a:path h="472821" w="472821">
                  <a:moveTo>
                    <a:pt x="0" y="236347"/>
                  </a:moveTo>
                  <a:cubicBezTo>
                    <a:pt x="0" y="105791"/>
                    <a:pt x="105791" y="0"/>
                    <a:pt x="236347" y="0"/>
                  </a:cubicBezTo>
                  <a:cubicBezTo>
                    <a:pt x="366903" y="0"/>
                    <a:pt x="472821" y="105791"/>
                    <a:pt x="472821" y="236347"/>
                  </a:cubicBezTo>
                  <a:cubicBezTo>
                    <a:pt x="472821" y="366903"/>
                    <a:pt x="366903" y="472821"/>
                    <a:pt x="236347" y="472821"/>
                  </a:cubicBezTo>
                  <a:cubicBezTo>
                    <a:pt x="105791" y="472821"/>
                    <a:pt x="0" y="366903"/>
                    <a:pt x="0" y="236347"/>
                  </a:cubicBezTo>
                  <a:close/>
                </a:path>
              </a:pathLst>
            </a:custGeom>
            <a:solidFill>
              <a:srgbClr val="1D4ED8"/>
            </a:solidFill>
            <a:ln w="25400" cap="sq">
              <a:solidFill>
                <a:srgbClr val="1D4ED8"/>
              </a:solidFill>
              <a:prstDash val="solid"/>
              <a:miter/>
            </a:ln>
          </p:spPr>
        </p:sp>
      </p:grpSp>
      <p:grpSp>
        <p:nvGrpSpPr>
          <p:cNvPr name="Group 120" id="120"/>
          <p:cNvGrpSpPr/>
          <p:nvPr/>
        </p:nvGrpSpPr>
        <p:grpSpPr>
          <a:xfrm rot="0">
            <a:off x="16148304" y="8430768"/>
            <a:ext cx="2011680" cy="475488"/>
            <a:chOff x="0" y="0"/>
            <a:chExt cx="2682240" cy="633984"/>
          </a:xfrm>
        </p:grpSpPr>
        <p:sp>
          <p:nvSpPr>
            <p:cNvPr name="Freeform 121" id="121"/>
            <p:cNvSpPr/>
            <p:nvPr/>
          </p:nvSpPr>
          <p:spPr>
            <a:xfrm flipH="false" flipV="false" rot="0">
              <a:off x="0" y="0"/>
              <a:ext cx="2682240" cy="633984"/>
            </a:xfrm>
            <a:custGeom>
              <a:avLst/>
              <a:gdLst/>
              <a:ahLst/>
              <a:cxnLst/>
              <a:rect r="r" b="b" t="t" l="l"/>
              <a:pathLst>
                <a:path h="633984" w="2682240">
                  <a:moveTo>
                    <a:pt x="0" y="0"/>
                  </a:moveTo>
                  <a:lnTo>
                    <a:pt x="2682240" y="0"/>
                  </a:lnTo>
                  <a:lnTo>
                    <a:pt x="2682240" y="633984"/>
                  </a:lnTo>
                  <a:lnTo>
                    <a:pt x="0" y="633984"/>
                  </a:lnTo>
                  <a:close/>
                </a:path>
              </a:pathLst>
            </a:custGeom>
            <a:blipFill>
              <a:blip r:embed="rId2">
                <a:alphaModFix amt="0"/>
              </a:blip>
              <a:stretch>
                <a:fillRect l="0" t="-32436" r="0" b="-32436"/>
              </a:stretch>
            </a:blipFill>
          </p:spPr>
        </p:sp>
        <p:sp>
          <p:nvSpPr>
            <p:cNvPr name="TextBox 122" id="122"/>
            <p:cNvSpPr txBox="true"/>
            <p:nvPr/>
          </p:nvSpPr>
          <p:spPr>
            <a:xfrm>
              <a:off x="0" y="-38100"/>
              <a:ext cx="2682240" cy="672084"/>
            </a:xfrm>
            <a:prstGeom prst="rect">
              <a:avLst/>
            </a:prstGeom>
          </p:spPr>
          <p:txBody>
            <a:bodyPr anchor="ctr" rtlCol="false" tIns="0" lIns="0" bIns="0" rIns="0"/>
            <a:lstStyle/>
            <a:p>
              <a:pPr algn="l">
                <a:lnSpc>
                  <a:spcPts val="1800"/>
                </a:lnSpc>
              </a:pPr>
              <a:r>
                <a:rPr lang="en-US" sz="1500">
                  <a:solidFill>
                    <a:srgbClr val="64748B"/>
                  </a:solidFill>
                  <a:latin typeface="Calibri (MS)"/>
                  <a:ea typeface="Calibri (MS)"/>
                  <a:cs typeface="Calibri (MS)"/>
                  <a:sym typeface="Calibri (MS)"/>
                </a:rPr>
                <a:t>Outils &amp; Limites</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0F4FF"/>
        </a:solidFill>
      </p:bgPr>
    </p:bg>
    <p:spTree>
      <p:nvGrpSpPr>
        <p:cNvPr id="1" name=""/>
        <p:cNvGrpSpPr/>
        <p:nvPr/>
      </p:nvGrpSpPr>
      <p:grpSpPr>
        <a:xfrm>
          <a:off x="0" y="0"/>
          <a:ext cx="0" cy="0"/>
          <a:chOff x="0" y="0"/>
          <a:chExt cx="0" cy="0"/>
        </a:xfrm>
      </p:grpSpPr>
      <p:sp>
        <p:nvSpPr>
          <p:cNvPr name="TextBox 2" id="2"/>
          <p:cNvSpPr txBox="true"/>
          <p:nvPr/>
        </p:nvSpPr>
        <p:spPr>
          <a:xfrm rot="0">
            <a:off x="657595" y="221137"/>
            <a:ext cx="973733" cy="361950"/>
          </a:xfrm>
          <a:prstGeom prst="rect">
            <a:avLst/>
          </a:prstGeom>
        </p:spPr>
        <p:txBody>
          <a:bodyPr anchor="t" rtlCol="false" tIns="0" lIns="0" bIns="0" rIns="0">
            <a:spAutoFit/>
          </a:bodyPr>
          <a:lstStyle/>
          <a:p>
            <a:pPr algn="ctr">
              <a:lnSpc>
                <a:spcPts val="2520"/>
              </a:lnSpc>
              <a:spcBef>
                <a:spcPct val="0"/>
              </a:spcBef>
            </a:pPr>
            <a:r>
              <a:rPr lang="en-US" sz="2100">
                <a:solidFill>
                  <a:srgbClr val="000000"/>
                </a:solidFill>
                <a:latin typeface="Calibri (MS)"/>
                <a:ea typeface="Calibri (MS)"/>
                <a:cs typeface="Calibri (MS)"/>
                <a:sym typeface="Calibri (MS)"/>
              </a:rPr>
              <a:t>df.head</a:t>
            </a:r>
            <a:r>
              <a:rPr lang="en-US" sz="2100">
                <a:solidFill>
                  <a:srgbClr val="E8541A"/>
                </a:solidFill>
                <a:latin typeface="Calibri (MS)"/>
                <a:ea typeface="Calibri (MS)"/>
                <a:cs typeface="Calibri (MS)"/>
                <a:sym typeface="Calibri (MS)"/>
              </a:rPr>
              <a:t>()</a:t>
            </a:r>
          </a:p>
        </p:txBody>
      </p:sp>
      <p:grpSp>
        <p:nvGrpSpPr>
          <p:cNvPr name="Group 3" id="3"/>
          <p:cNvGrpSpPr/>
          <p:nvPr/>
        </p:nvGrpSpPr>
        <p:grpSpPr>
          <a:xfrm rot="0">
            <a:off x="-12697" y="-12697"/>
            <a:ext cx="18313403" cy="1525019"/>
            <a:chOff x="0" y="0"/>
            <a:chExt cx="24417871" cy="2033359"/>
          </a:xfrm>
        </p:grpSpPr>
        <p:sp>
          <p:nvSpPr>
            <p:cNvPr name="Freeform 4" id="4"/>
            <p:cNvSpPr/>
            <p:nvPr/>
          </p:nvSpPr>
          <p:spPr>
            <a:xfrm flipH="false" flipV="false" rot="0">
              <a:off x="0" y="0"/>
              <a:ext cx="24417910" cy="2033397"/>
            </a:xfrm>
            <a:custGeom>
              <a:avLst/>
              <a:gdLst/>
              <a:ahLst/>
              <a:cxnLst/>
              <a:rect r="r" b="b" t="t" l="l"/>
              <a:pathLst>
                <a:path h="2033397" w="24417910">
                  <a:moveTo>
                    <a:pt x="0" y="0"/>
                  </a:moveTo>
                  <a:lnTo>
                    <a:pt x="24417910" y="0"/>
                  </a:lnTo>
                  <a:lnTo>
                    <a:pt x="24417910" y="2033397"/>
                  </a:lnTo>
                  <a:lnTo>
                    <a:pt x="0" y="2033397"/>
                  </a:lnTo>
                  <a:close/>
                </a:path>
              </a:pathLst>
            </a:custGeom>
            <a:solidFill>
              <a:srgbClr val="1C2B3A"/>
            </a:solidFill>
            <a:ln w="25400" cap="sq">
              <a:solidFill>
                <a:srgbClr val="1C2B3A"/>
              </a:solidFill>
              <a:prstDash val="solid"/>
              <a:miter/>
            </a:ln>
          </p:spPr>
        </p:sp>
      </p:grpSp>
      <p:grpSp>
        <p:nvGrpSpPr>
          <p:cNvPr name="Group 5" id="5"/>
          <p:cNvGrpSpPr/>
          <p:nvPr/>
        </p:nvGrpSpPr>
        <p:grpSpPr>
          <a:xfrm rot="0">
            <a:off x="15532103" y="-1109977"/>
            <a:ext cx="4048763" cy="4048763"/>
            <a:chOff x="0" y="0"/>
            <a:chExt cx="5398351" cy="5398351"/>
          </a:xfrm>
        </p:grpSpPr>
        <p:sp>
          <p:nvSpPr>
            <p:cNvPr name="Freeform 6" id="6"/>
            <p:cNvSpPr/>
            <p:nvPr/>
          </p:nvSpPr>
          <p:spPr>
            <a:xfrm flipH="false" flipV="false" rot="0">
              <a:off x="0" y="0"/>
              <a:ext cx="5398389" cy="5398389"/>
            </a:xfrm>
            <a:custGeom>
              <a:avLst/>
              <a:gdLst/>
              <a:ahLst/>
              <a:cxnLst/>
              <a:rect r="r" b="b" t="t" l="l"/>
              <a:pathLst>
                <a:path h="5398389" w="5398389">
                  <a:moveTo>
                    <a:pt x="0" y="2699131"/>
                  </a:moveTo>
                  <a:cubicBezTo>
                    <a:pt x="0" y="1208405"/>
                    <a:pt x="1208405" y="0"/>
                    <a:pt x="2699131" y="0"/>
                  </a:cubicBezTo>
                  <a:cubicBezTo>
                    <a:pt x="4189857" y="0"/>
                    <a:pt x="5398389" y="1208405"/>
                    <a:pt x="5398389" y="2699131"/>
                  </a:cubicBezTo>
                  <a:cubicBezTo>
                    <a:pt x="5398389" y="4189857"/>
                    <a:pt x="4189857" y="5398389"/>
                    <a:pt x="2699131" y="5398389"/>
                  </a:cubicBezTo>
                  <a:cubicBezTo>
                    <a:pt x="1208405" y="5398389"/>
                    <a:pt x="0" y="4189857"/>
                    <a:pt x="0" y="2699131"/>
                  </a:cubicBezTo>
                  <a:close/>
                </a:path>
              </a:pathLst>
            </a:custGeom>
            <a:solidFill>
              <a:srgbClr val="1D4ED8">
                <a:alpha val="4706"/>
              </a:srgbClr>
            </a:solidFill>
            <a:ln w="25400" cap="sq">
              <a:solidFill>
                <a:srgbClr val="1D4ED8"/>
              </a:solidFill>
              <a:prstDash val="solid"/>
              <a:miter/>
            </a:ln>
          </p:spPr>
        </p:sp>
      </p:grpSp>
      <p:grpSp>
        <p:nvGrpSpPr>
          <p:cNvPr name="Group 7" id="7"/>
          <p:cNvGrpSpPr/>
          <p:nvPr/>
        </p:nvGrpSpPr>
        <p:grpSpPr>
          <a:xfrm rot="0">
            <a:off x="731520" y="109728"/>
            <a:ext cx="15544800" cy="804672"/>
            <a:chOff x="0" y="0"/>
            <a:chExt cx="20726400" cy="1072896"/>
          </a:xfrm>
        </p:grpSpPr>
        <p:sp>
          <p:nvSpPr>
            <p:cNvPr name="Freeform 8" id="8"/>
            <p:cNvSpPr/>
            <p:nvPr/>
          </p:nvSpPr>
          <p:spPr>
            <a:xfrm flipH="false" flipV="false" rot="0">
              <a:off x="0" y="0"/>
              <a:ext cx="20726400" cy="1072896"/>
            </a:xfrm>
            <a:custGeom>
              <a:avLst/>
              <a:gdLst/>
              <a:ahLst/>
              <a:cxnLst/>
              <a:rect r="r" b="b" t="t" l="l"/>
              <a:pathLst>
                <a:path h="1072896" w="20726400">
                  <a:moveTo>
                    <a:pt x="0" y="0"/>
                  </a:moveTo>
                  <a:lnTo>
                    <a:pt x="20726400" y="0"/>
                  </a:lnTo>
                  <a:lnTo>
                    <a:pt x="20726400" y="1072896"/>
                  </a:lnTo>
                  <a:lnTo>
                    <a:pt x="0" y="1072896"/>
                  </a:lnTo>
                  <a:close/>
                </a:path>
              </a:pathLst>
            </a:custGeom>
            <a:blipFill>
              <a:blip r:embed="rId2">
                <a:alphaModFix amt="0"/>
              </a:blip>
              <a:stretch>
                <a:fillRect l="0" t="-326415" r="0" b="-326415"/>
              </a:stretch>
            </a:blipFill>
          </p:spPr>
        </p:sp>
        <p:sp>
          <p:nvSpPr>
            <p:cNvPr name="TextBox 9" id="9"/>
            <p:cNvSpPr txBox="true"/>
            <p:nvPr/>
          </p:nvSpPr>
          <p:spPr>
            <a:xfrm>
              <a:off x="0" y="-9525"/>
              <a:ext cx="20726400" cy="1082421"/>
            </a:xfrm>
            <a:prstGeom prst="rect">
              <a:avLst/>
            </a:prstGeom>
          </p:spPr>
          <p:txBody>
            <a:bodyPr anchor="ctr" rtlCol="false" tIns="0" lIns="0" bIns="0" rIns="0"/>
            <a:lstStyle/>
            <a:p>
              <a:pPr algn="l">
                <a:lnSpc>
                  <a:spcPts val="4800"/>
                </a:lnSpc>
              </a:pPr>
              <a:r>
                <a:rPr lang="en-US" sz="4000" b="true">
                  <a:solidFill>
                    <a:srgbClr val="FFFFFF"/>
                  </a:solidFill>
                  <a:latin typeface="Cambria Bold"/>
                  <a:ea typeface="Cambria Bold"/>
                  <a:cs typeface="Cambria Bold"/>
                  <a:sym typeface="Cambria Bold"/>
                </a:rPr>
                <a:t>Guide d'entretien — Sécurité réseau &amp; IA</a:t>
              </a:r>
            </a:p>
          </p:txBody>
        </p:sp>
      </p:grpSp>
      <p:grpSp>
        <p:nvGrpSpPr>
          <p:cNvPr name="Group 10" id="10"/>
          <p:cNvGrpSpPr/>
          <p:nvPr/>
        </p:nvGrpSpPr>
        <p:grpSpPr>
          <a:xfrm rot="0">
            <a:off x="731520" y="877824"/>
            <a:ext cx="15544800" cy="548640"/>
            <a:chOff x="0" y="0"/>
            <a:chExt cx="20726400" cy="731520"/>
          </a:xfrm>
        </p:grpSpPr>
        <p:sp>
          <p:nvSpPr>
            <p:cNvPr name="Freeform 11" id="11"/>
            <p:cNvSpPr/>
            <p:nvPr/>
          </p:nvSpPr>
          <p:spPr>
            <a:xfrm flipH="false" flipV="false" rot="0">
              <a:off x="0" y="0"/>
              <a:ext cx="20726400" cy="731520"/>
            </a:xfrm>
            <a:custGeom>
              <a:avLst/>
              <a:gdLst/>
              <a:ahLst/>
              <a:cxnLst/>
              <a:rect r="r" b="b" t="t" l="l"/>
              <a:pathLst>
                <a:path h="731520" w="20726400">
                  <a:moveTo>
                    <a:pt x="0" y="0"/>
                  </a:moveTo>
                  <a:lnTo>
                    <a:pt x="20726400" y="0"/>
                  </a:lnTo>
                  <a:lnTo>
                    <a:pt x="20726400" y="731520"/>
                  </a:lnTo>
                  <a:lnTo>
                    <a:pt x="0" y="731520"/>
                  </a:lnTo>
                  <a:close/>
                </a:path>
              </a:pathLst>
            </a:custGeom>
            <a:blipFill>
              <a:blip r:embed="rId2">
                <a:alphaModFix amt="0"/>
              </a:blip>
              <a:stretch>
                <a:fillRect l="0" t="-502076" r="0" b="-502076"/>
              </a:stretch>
            </a:blipFill>
          </p:spPr>
        </p:sp>
        <p:sp>
          <p:nvSpPr>
            <p:cNvPr name="TextBox 12" id="12"/>
            <p:cNvSpPr txBox="true"/>
            <p:nvPr/>
          </p:nvSpPr>
          <p:spPr>
            <a:xfrm>
              <a:off x="0" y="-47625"/>
              <a:ext cx="20726400" cy="779145"/>
            </a:xfrm>
            <a:prstGeom prst="rect">
              <a:avLst/>
            </a:prstGeom>
          </p:spPr>
          <p:txBody>
            <a:bodyPr anchor="ctr" rtlCol="false" tIns="0" lIns="0" bIns="0" rIns="0"/>
            <a:lstStyle/>
            <a:p>
              <a:pPr algn="l">
                <a:lnSpc>
                  <a:spcPts val="2520"/>
                </a:lnSpc>
              </a:pPr>
              <a:r>
                <a:rPr lang="en-US" sz="2100">
                  <a:solidFill>
                    <a:srgbClr val="CADCFC"/>
                  </a:solidFill>
                  <a:latin typeface="Calibri (MS)"/>
                  <a:ea typeface="Calibri (MS)"/>
                  <a:cs typeface="Calibri (MS)"/>
                  <a:sym typeface="Calibri (MS)"/>
                </a:rPr>
                <a:t>DakarTech Solutions · Administrateur réseau</a:t>
              </a:r>
            </a:p>
          </p:txBody>
        </p:sp>
      </p:grpSp>
      <p:grpSp>
        <p:nvGrpSpPr>
          <p:cNvPr name="Group 13" id="13"/>
          <p:cNvGrpSpPr/>
          <p:nvPr/>
        </p:nvGrpSpPr>
        <p:grpSpPr>
          <a:xfrm rot="0">
            <a:off x="359407" y="1731007"/>
            <a:ext cx="8608057" cy="1987801"/>
            <a:chOff x="0" y="0"/>
            <a:chExt cx="11477409" cy="2650401"/>
          </a:xfrm>
        </p:grpSpPr>
        <p:sp>
          <p:nvSpPr>
            <p:cNvPr name="Freeform 14" id="14"/>
            <p:cNvSpPr/>
            <p:nvPr/>
          </p:nvSpPr>
          <p:spPr>
            <a:xfrm flipH="false" flipV="false" rot="0">
              <a:off x="0" y="0"/>
              <a:ext cx="11477371" cy="2650363"/>
            </a:xfrm>
            <a:custGeom>
              <a:avLst/>
              <a:gdLst/>
              <a:ahLst/>
              <a:cxnLst/>
              <a:rect r="r" b="b" t="t" l="l"/>
              <a:pathLst>
                <a:path h="2650363" w="11477371">
                  <a:moveTo>
                    <a:pt x="0" y="245364"/>
                  </a:moveTo>
                  <a:cubicBezTo>
                    <a:pt x="0" y="109855"/>
                    <a:pt x="109855" y="0"/>
                    <a:pt x="245364" y="0"/>
                  </a:cubicBezTo>
                  <a:lnTo>
                    <a:pt x="11232007" y="0"/>
                  </a:lnTo>
                  <a:cubicBezTo>
                    <a:pt x="11367515" y="0"/>
                    <a:pt x="11477371" y="109855"/>
                    <a:pt x="11477371" y="245364"/>
                  </a:cubicBezTo>
                  <a:lnTo>
                    <a:pt x="11477371" y="2404999"/>
                  </a:lnTo>
                  <a:cubicBezTo>
                    <a:pt x="11477371" y="2540508"/>
                    <a:pt x="11367515" y="2650363"/>
                    <a:pt x="11232007" y="2650363"/>
                  </a:cubicBezTo>
                  <a:lnTo>
                    <a:pt x="245364" y="2650363"/>
                  </a:lnTo>
                  <a:cubicBezTo>
                    <a:pt x="109855" y="2650363"/>
                    <a:pt x="0" y="2540508"/>
                    <a:pt x="0" y="2404999"/>
                  </a:cubicBezTo>
                  <a:close/>
                </a:path>
              </a:pathLst>
            </a:custGeom>
            <a:solidFill>
              <a:srgbClr val="FFFFFF"/>
            </a:solidFill>
            <a:ln w="12700" cap="sq">
              <a:solidFill>
                <a:srgbClr val="E2E8F0"/>
              </a:solidFill>
              <a:prstDash val="solid"/>
              <a:miter/>
            </a:ln>
          </p:spPr>
        </p:sp>
      </p:grpSp>
      <p:grpSp>
        <p:nvGrpSpPr>
          <p:cNvPr name="Group 15" id="15"/>
          <p:cNvGrpSpPr/>
          <p:nvPr/>
        </p:nvGrpSpPr>
        <p:grpSpPr>
          <a:xfrm rot="0">
            <a:off x="572519" y="1944119"/>
            <a:ext cx="793499" cy="720347"/>
            <a:chOff x="0" y="0"/>
            <a:chExt cx="1057999" cy="960463"/>
          </a:xfrm>
        </p:grpSpPr>
        <p:sp>
          <p:nvSpPr>
            <p:cNvPr name="Freeform 16" id="16"/>
            <p:cNvSpPr/>
            <p:nvPr/>
          </p:nvSpPr>
          <p:spPr>
            <a:xfrm flipH="false" flipV="false" rot="0">
              <a:off x="0" y="0"/>
              <a:ext cx="1058037" cy="960501"/>
            </a:xfrm>
            <a:custGeom>
              <a:avLst/>
              <a:gdLst/>
              <a:ahLst/>
              <a:cxnLst/>
              <a:rect r="r" b="b" t="t" l="l"/>
              <a:pathLst>
                <a:path h="960501" w="1058037">
                  <a:moveTo>
                    <a:pt x="0" y="151638"/>
                  </a:moveTo>
                  <a:cubicBezTo>
                    <a:pt x="0" y="67945"/>
                    <a:pt x="67945" y="0"/>
                    <a:pt x="151638" y="0"/>
                  </a:cubicBezTo>
                  <a:lnTo>
                    <a:pt x="906399" y="0"/>
                  </a:lnTo>
                  <a:cubicBezTo>
                    <a:pt x="990092" y="0"/>
                    <a:pt x="1058037" y="67945"/>
                    <a:pt x="1058037" y="151638"/>
                  </a:cubicBezTo>
                  <a:lnTo>
                    <a:pt x="1058037" y="808863"/>
                  </a:lnTo>
                  <a:cubicBezTo>
                    <a:pt x="1058037" y="892556"/>
                    <a:pt x="990092" y="960501"/>
                    <a:pt x="906399" y="960501"/>
                  </a:cubicBezTo>
                  <a:lnTo>
                    <a:pt x="151638" y="960501"/>
                  </a:lnTo>
                  <a:cubicBezTo>
                    <a:pt x="67945" y="960501"/>
                    <a:pt x="0" y="892556"/>
                    <a:pt x="0" y="808863"/>
                  </a:cubicBezTo>
                  <a:close/>
                </a:path>
              </a:pathLst>
            </a:custGeom>
            <a:solidFill>
              <a:srgbClr val="1D4ED8"/>
            </a:solidFill>
            <a:ln w="25400" cap="sq">
              <a:solidFill>
                <a:srgbClr val="1D4ED8"/>
              </a:solidFill>
              <a:prstDash val="solid"/>
              <a:miter/>
            </a:ln>
          </p:spPr>
        </p:sp>
      </p:grpSp>
      <p:grpSp>
        <p:nvGrpSpPr>
          <p:cNvPr name="Group 17" id="17"/>
          <p:cNvGrpSpPr/>
          <p:nvPr/>
        </p:nvGrpSpPr>
        <p:grpSpPr>
          <a:xfrm rot="0">
            <a:off x="585216" y="1956816"/>
            <a:ext cx="768096" cy="694944"/>
            <a:chOff x="0" y="0"/>
            <a:chExt cx="1024128" cy="926592"/>
          </a:xfrm>
        </p:grpSpPr>
        <p:sp>
          <p:nvSpPr>
            <p:cNvPr name="Freeform 18" id="18"/>
            <p:cNvSpPr/>
            <p:nvPr/>
          </p:nvSpPr>
          <p:spPr>
            <a:xfrm flipH="false" flipV="false" rot="0">
              <a:off x="0" y="0"/>
              <a:ext cx="1024128" cy="926592"/>
            </a:xfrm>
            <a:custGeom>
              <a:avLst/>
              <a:gdLst/>
              <a:ahLst/>
              <a:cxnLst/>
              <a:rect r="r" b="b" t="t" l="l"/>
              <a:pathLst>
                <a:path h="926592" w="1024128">
                  <a:moveTo>
                    <a:pt x="0" y="0"/>
                  </a:moveTo>
                  <a:lnTo>
                    <a:pt x="1024128" y="0"/>
                  </a:lnTo>
                  <a:lnTo>
                    <a:pt x="1024128" y="926592"/>
                  </a:lnTo>
                  <a:lnTo>
                    <a:pt x="0" y="926592"/>
                  </a:lnTo>
                  <a:close/>
                </a:path>
              </a:pathLst>
            </a:custGeom>
            <a:blipFill>
              <a:blip r:embed="rId2">
                <a:alphaModFix amt="0"/>
              </a:blip>
              <a:stretch>
                <a:fillRect l="-66084" t="0" r="-66084" b="0"/>
              </a:stretch>
            </a:blipFill>
          </p:spPr>
        </p:sp>
        <p:sp>
          <p:nvSpPr>
            <p:cNvPr name="TextBox 19" id="19"/>
            <p:cNvSpPr txBox="true"/>
            <p:nvPr/>
          </p:nvSpPr>
          <p:spPr>
            <a:xfrm>
              <a:off x="0" y="-38100"/>
              <a:ext cx="1024128" cy="96469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Q8</a:t>
              </a:r>
            </a:p>
          </p:txBody>
        </p:sp>
      </p:grpSp>
      <p:grpSp>
        <p:nvGrpSpPr>
          <p:cNvPr name="Group 20" id="20"/>
          <p:cNvGrpSpPr/>
          <p:nvPr/>
        </p:nvGrpSpPr>
        <p:grpSpPr>
          <a:xfrm rot="0">
            <a:off x="1499616" y="1956816"/>
            <a:ext cx="7205472" cy="694944"/>
            <a:chOff x="0" y="0"/>
            <a:chExt cx="9607296" cy="926592"/>
          </a:xfrm>
        </p:grpSpPr>
        <p:sp>
          <p:nvSpPr>
            <p:cNvPr name="Freeform 21" id="21"/>
            <p:cNvSpPr/>
            <p:nvPr/>
          </p:nvSpPr>
          <p:spPr>
            <a:xfrm flipH="false" flipV="false" rot="0">
              <a:off x="0" y="0"/>
              <a:ext cx="9607296" cy="926592"/>
            </a:xfrm>
            <a:custGeom>
              <a:avLst/>
              <a:gdLst/>
              <a:ahLst/>
              <a:cxnLst/>
              <a:rect r="r" b="b" t="t" l="l"/>
              <a:pathLst>
                <a:path h="926592" w="9607296">
                  <a:moveTo>
                    <a:pt x="0" y="0"/>
                  </a:moveTo>
                  <a:lnTo>
                    <a:pt x="9607296" y="0"/>
                  </a:lnTo>
                  <a:lnTo>
                    <a:pt x="9607296" y="926592"/>
                  </a:lnTo>
                  <a:lnTo>
                    <a:pt x="0" y="926592"/>
                  </a:lnTo>
                  <a:close/>
                </a:path>
              </a:pathLst>
            </a:custGeom>
            <a:blipFill>
              <a:blip r:embed="rId2">
                <a:alphaModFix amt="0"/>
              </a:blip>
              <a:stretch>
                <a:fillRect l="0" t="-152029" r="0" b="-152029"/>
              </a:stretch>
            </a:blipFill>
          </p:spPr>
        </p:sp>
        <p:sp>
          <p:nvSpPr>
            <p:cNvPr name="TextBox 22" id="22"/>
            <p:cNvSpPr txBox="true"/>
            <p:nvPr/>
          </p:nvSpPr>
          <p:spPr>
            <a:xfrm>
              <a:off x="0" y="-47625"/>
              <a:ext cx="9607296" cy="974217"/>
            </a:xfrm>
            <a:prstGeom prst="rect">
              <a:avLst/>
            </a:prstGeom>
          </p:spPr>
          <p:txBody>
            <a:bodyPr anchor="ctr" rtlCol="false" tIns="0" lIns="0" bIns="0" rIns="0"/>
            <a:lstStyle/>
            <a:p>
              <a:pPr algn="l">
                <a:lnSpc>
                  <a:spcPts val="2520"/>
                </a:lnSpc>
              </a:pPr>
              <a:r>
                <a:rPr lang="en-US" sz="2100" b="true">
                  <a:solidFill>
                    <a:srgbClr val="1D4ED8"/>
                  </a:solidFill>
                  <a:latin typeface="Calibri (MS) Bold"/>
                  <a:ea typeface="Calibri (MS) Bold"/>
                  <a:cs typeface="Calibri (MS) Bold"/>
                  <a:sym typeface="Calibri (MS) Bold"/>
                </a:rPr>
                <a:t>Conservez-vous des logs ou un historique du trafic réseau ?</a:t>
              </a:r>
            </a:p>
          </p:txBody>
        </p:sp>
      </p:grpSp>
      <p:grpSp>
        <p:nvGrpSpPr>
          <p:cNvPr name="Group 23" id="23"/>
          <p:cNvGrpSpPr/>
          <p:nvPr/>
        </p:nvGrpSpPr>
        <p:grpSpPr>
          <a:xfrm rot="0">
            <a:off x="572519" y="2730503"/>
            <a:ext cx="8181851" cy="61979"/>
            <a:chOff x="0" y="0"/>
            <a:chExt cx="10909135" cy="82639"/>
          </a:xfrm>
        </p:grpSpPr>
        <p:sp>
          <p:nvSpPr>
            <p:cNvPr name="Freeform 24" id="24"/>
            <p:cNvSpPr/>
            <p:nvPr/>
          </p:nvSpPr>
          <p:spPr>
            <a:xfrm flipH="false" flipV="false" rot="0">
              <a:off x="0" y="0"/>
              <a:ext cx="10909173" cy="82677"/>
            </a:xfrm>
            <a:custGeom>
              <a:avLst/>
              <a:gdLst/>
              <a:ahLst/>
              <a:cxnLst/>
              <a:rect r="r" b="b" t="t" l="l"/>
              <a:pathLst>
                <a:path h="82677" w="10909173">
                  <a:moveTo>
                    <a:pt x="0" y="0"/>
                  </a:moveTo>
                  <a:lnTo>
                    <a:pt x="10909173" y="0"/>
                  </a:lnTo>
                  <a:lnTo>
                    <a:pt x="10909173" y="82677"/>
                  </a:lnTo>
                  <a:lnTo>
                    <a:pt x="0" y="82677"/>
                  </a:lnTo>
                  <a:close/>
                </a:path>
              </a:pathLst>
            </a:custGeom>
            <a:solidFill>
              <a:srgbClr val="EEF2F7"/>
            </a:solidFill>
            <a:ln w="25400" cap="sq">
              <a:solidFill>
                <a:srgbClr val="EEF2F7"/>
              </a:solidFill>
              <a:prstDash val="solid"/>
              <a:miter/>
            </a:ln>
          </p:spPr>
        </p:sp>
      </p:grpSp>
      <p:sp>
        <p:nvSpPr>
          <p:cNvPr name="TextBox 25" id="25"/>
          <p:cNvSpPr txBox="true"/>
          <p:nvPr/>
        </p:nvSpPr>
        <p:spPr>
          <a:xfrm rot="0">
            <a:off x="676656" y="2842260"/>
            <a:ext cx="7973568" cy="605028"/>
          </a:xfrm>
          <a:prstGeom prst="rect">
            <a:avLst/>
          </a:prstGeom>
        </p:spPr>
        <p:txBody>
          <a:bodyPr anchor="t" rtlCol="false" tIns="0" lIns="0" bIns="0" rIns="0">
            <a:spAutoFit/>
          </a:bodyPr>
          <a:lstStyle/>
          <a:p>
            <a:pPr algn="l">
              <a:lnSpc>
                <a:spcPts val="2280"/>
              </a:lnSpc>
            </a:pPr>
            <a:r>
              <a:rPr lang="en-US" sz="1900">
                <a:solidFill>
                  <a:srgbClr val="1E293B"/>
                </a:solidFill>
                <a:latin typeface="Calibri (MS)"/>
                <a:ea typeface="Calibri (MS)"/>
                <a:cs typeface="Calibri (MS)"/>
                <a:sym typeface="Calibri (MS)"/>
              </a:rPr>
              <a:t>Oui, journaux des équipements et des serveurs conservés pour effectuer des analyses en cas d'incident et détecter d'éventuelles anomalies.</a:t>
            </a:r>
          </a:p>
        </p:txBody>
      </p:sp>
      <p:grpSp>
        <p:nvGrpSpPr>
          <p:cNvPr name="Group 26" id="26"/>
          <p:cNvGrpSpPr/>
          <p:nvPr/>
        </p:nvGrpSpPr>
        <p:grpSpPr>
          <a:xfrm rot="0">
            <a:off x="359407" y="3925567"/>
            <a:ext cx="8608057" cy="1987801"/>
            <a:chOff x="0" y="0"/>
            <a:chExt cx="11477409" cy="2650401"/>
          </a:xfrm>
        </p:grpSpPr>
        <p:sp>
          <p:nvSpPr>
            <p:cNvPr name="Freeform 27" id="27"/>
            <p:cNvSpPr/>
            <p:nvPr/>
          </p:nvSpPr>
          <p:spPr>
            <a:xfrm flipH="false" flipV="false" rot="0">
              <a:off x="0" y="0"/>
              <a:ext cx="11477371" cy="2650363"/>
            </a:xfrm>
            <a:custGeom>
              <a:avLst/>
              <a:gdLst/>
              <a:ahLst/>
              <a:cxnLst/>
              <a:rect r="r" b="b" t="t" l="l"/>
              <a:pathLst>
                <a:path h="2650363" w="11477371">
                  <a:moveTo>
                    <a:pt x="0" y="245364"/>
                  </a:moveTo>
                  <a:cubicBezTo>
                    <a:pt x="0" y="109855"/>
                    <a:pt x="109855" y="0"/>
                    <a:pt x="245364" y="0"/>
                  </a:cubicBezTo>
                  <a:lnTo>
                    <a:pt x="11232007" y="0"/>
                  </a:lnTo>
                  <a:cubicBezTo>
                    <a:pt x="11367515" y="0"/>
                    <a:pt x="11477371" y="109855"/>
                    <a:pt x="11477371" y="245364"/>
                  </a:cubicBezTo>
                  <a:lnTo>
                    <a:pt x="11477371" y="2404999"/>
                  </a:lnTo>
                  <a:cubicBezTo>
                    <a:pt x="11477371" y="2540508"/>
                    <a:pt x="11367515" y="2650363"/>
                    <a:pt x="11232007" y="2650363"/>
                  </a:cubicBezTo>
                  <a:lnTo>
                    <a:pt x="245364" y="2650363"/>
                  </a:lnTo>
                  <a:cubicBezTo>
                    <a:pt x="109855" y="2650363"/>
                    <a:pt x="0" y="2540508"/>
                    <a:pt x="0" y="2404999"/>
                  </a:cubicBezTo>
                  <a:close/>
                </a:path>
              </a:pathLst>
            </a:custGeom>
            <a:solidFill>
              <a:srgbClr val="FFFFFF"/>
            </a:solidFill>
            <a:ln w="12700" cap="sq">
              <a:solidFill>
                <a:srgbClr val="E2E8F0"/>
              </a:solidFill>
              <a:prstDash val="solid"/>
              <a:miter/>
            </a:ln>
          </p:spPr>
        </p:sp>
      </p:grpSp>
      <p:grpSp>
        <p:nvGrpSpPr>
          <p:cNvPr name="Group 28" id="28"/>
          <p:cNvGrpSpPr/>
          <p:nvPr/>
        </p:nvGrpSpPr>
        <p:grpSpPr>
          <a:xfrm rot="0">
            <a:off x="572519" y="4138679"/>
            <a:ext cx="793499" cy="720347"/>
            <a:chOff x="0" y="0"/>
            <a:chExt cx="1057999" cy="960463"/>
          </a:xfrm>
        </p:grpSpPr>
        <p:sp>
          <p:nvSpPr>
            <p:cNvPr name="Freeform 29" id="29"/>
            <p:cNvSpPr/>
            <p:nvPr/>
          </p:nvSpPr>
          <p:spPr>
            <a:xfrm flipH="false" flipV="false" rot="0">
              <a:off x="0" y="0"/>
              <a:ext cx="1058037" cy="960501"/>
            </a:xfrm>
            <a:custGeom>
              <a:avLst/>
              <a:gdLst/>
              <a:ahLst/>
              <a:cxnLst/>
              <a:rect r="r" b="b" t="t" l="l"/>
              <a:pathLst>
                <a:path h="960501" w="1058037">
                  <a:moveTo>
                    <a:pt x="0" y="151638"/>
                  </a:moveTo>
                  <a:cubicBezTo>
                    <a:pt x="0" y="67945"/>
                    <a:pt x="67945" y="0"/>
                    <a:pt x="151638" y="0"/>
                  </a:cubicBezTo>
                  <a:lnTo>
                    <a:pt x="906399" y="0"/>
                  </a:lnTo>
                  <a:cubicBezTo>
                    <a:pt x="990092" y="0"/>
                    <a:pt x="1058037" y="67945"/>
                    <a:pt x="1058037" y="151638"/>
                  </a:cubicBezTo>
                  <a:lnTo>
                    <a:pt x="1058037" y="808863"/>
                  </a:lnTo>
                  <a:cubicBezTo>
                    <a:pt x="1058037" y="892556"/>
                    <a:pt x="990092" y="960501"/>
                    <a:pt x="906399" y="960501"/>
                  </a:cubicBezTo>
                  <a:lnTo>
                    <a:pt x="151638" y="960501"/>
                  </a:lnTo>
                  <a:cubicBezTo>
                    <a:pt x="67945" y="960501"/>
                    <a:pt x="0" y="892556"/>
                    <a:pt x="0" y="808863"/>
                  </a:cubicBezTo>
                  <a:close/>
                </a:path>
              </a:pathLst>
            </a:custGeom>
            <a:solidFill>
              <a:srgbClr val="1D4ED8"/>
            </a:solidFill>
            <a:ln w="25400" cap="sq">
              <a:solidFill>
                <a:srgbClr val="1D4ED8"/>
              </a:solidFill>
              <a:prstDash val="solid"/>
              <a:miter/>
            </a:ln>
          </p:spPr>
        </p:sp>
      </p:grpSp>
      <p:grpSp>
        <p:nvGrpSpPr>
          <p:cNvPr name="Group 30" id="30"/>
          <p:cNvGrpSpPr/>
          <p:nvPr/>
        </p:nvGrpSpPr>
        <p:grpSpPr>
          <a:xfrm rot="0">
            <a:off x="585216" y="4151376"/>
            <a:ext cx="768096" cy="694944"/>
            <a:chOff x="0" y="0"/>
            <a:chExt cx="1024128" cy="926592"/>
          </a:xfrm>
        </p:grpSpPr>
        <p:sp>
          <p:nvSpPr>
            <p:cNvPr name="Freeform 31" id="31"/>
            <p:cNvSpPr/>
            <p:nvPr/>
          </p:nvSpPr>
          <p:spPr>
            <a:xfrm flipH="false" flipV="false" rot="0">
              <a:off x="0" y="0"/>
              <a:ext cx="1024128" cy="926592"/>
            </a:xfrm>
            <a:custGeom>
              <a:avLst/>
              <a:gdLst/>
              <a:ahLst/>
              <a:cxnLst/>
              <a:rect r="r" b="b" t="t" l="l"/>
              <a:pathLst>
                <a:path h="926592" w="1024128">
                  <a:moveTo>
                    <a:pt x="0" y="0"/>
                  </a:moveTo>
                  <a:lnTo>
                    <a:pt x="1024128" y="0"/>
                  </a:lnTo>
                  <a:lnTo>
                    <a:pt x="1024128" y="926592"/>
                  </a:lnTo>
                  <a:lnTo>
                    <a:pt x="0" y="926592"/>
                  </a:lnTo>
                  <a:close/>
                </a:path>
              </a:pathLst>
            </a:custGeom>
            <a:blipFill>
              <a:blip r:embed="rId2">
                <a:alphaModFix amt="0"/>
              </a:blip>
              <a:stretch>
                <a:fillRect l="-66084" t="0" r="-66084" b="0"/>
              </a:stretch>
            </a:blipFill>
          </p:spPr>
        </p:sp>
        <p:sp>
          <p:nvSpPr>
            <p:cNvPr name="TextBox 32" id="32"/>
            <p:cNvSpPr txBox="true"/>
            <p:nvPr/>
          </p:nvSpPr>
          <p:spPr>
            <a:xfrm>
              <a:off x="0" y="-38100"/>
              <a:ext cx="1024128" cy="96469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Q9</a:t>
              </a:r>
            </a:p>
          </p:txBody>
        </p:sp>
      </p:grpSp>
      <p:grpSp>
        <p:nvGrpSpPr>
          <p:cNvPr name="Group 33" id="33"/>
          <p:cNvGrpSpPr/>
          <p:nvPr/>
        </p:nvGrpSpPr>
        <p:grpSpPr>
          <a:xfrm rot="0">
            <a:off x="1499616" y="4151376"/>
            <a:ext cx="7205472" cy="694944"/>
            <a:chOff x="0" y="0"/>
            <a:chExt cx="9607296" cy="926592"/>
          </a:xfrm>
        </p:grpSpPr>
        <p:sp>
          <p:nvSpPr>
            <p:cNvPr name="Freeform 34" id="34"/>
            <p:cNvSpPr/>
            <p:nvPr/>
          </p:nvSpPr>
          <p:spPr>
            <a:xfrm flipH="false" flipV="false" rot="0">
              <a:off x="0" y="0"/>
              <a:ext cx="9607296" cy="926592"/>
            </a:xfrm>
            <a:custGeom>
              <a:avLst/>
              <a:gdLst/>
              <a:ahLst/>
              <a:cxnLst/>
              <a:rect r="r" b="b" t="t" l="l"/>
              <a:pathLst>
                <a:path h="926592" w="9607296">
                  <a:moveTo>
                    <a:pt x="0" y="0"/>
                  </a:moveTo>
                  <a:lnTo>
                    <a:pt x="9607296" y="0"/>
                  </a:lnTo>
                  <a:lnTo>
                    <a:pt x="9607296" y="926592"/>
                  </a:lnTo>
                  <a:lnTo>
                    <a:pt x="0" y="926592"/>
                  </a:lnTo>
                  <a:close/>
                </a:path>
              </a:pathLst>
            </a:custGeom>
            <a:blipFill>
              <a:blip r:embed="rId2">
                <a:alphaModFix amt="0"/>
              </a:blip>
              <a:stretch>
                <a:fillRect l="0" t="-152029" r="0" b="-152029"/>
              </a:stretch>
            </a:blipFill>
          </p:spPr>
        </p:sp>
        <p:sp>
          <p:nvSpPr>
            <p:cNvPr name="TextBox 35" id="35"/>
            <p:cNvSpPr txBox="true"/>
            <p:nvPr/>
          </p:nvSpPr>
          <p:spPr>
            <a:xfrm>
              <a:off x="0" y="-47625"/>
              <a:ext cx="9607296" cy="974217"/>
            </a:xfrm>
            <a:prstGeom prst="rect">
              <a:avLst/>
            </a:prstGeom>
          </p:spPr>
          <p:txBody>
            <a:bodyPr anchor="ctr" rtlCol="false" tIns="0" lIns="0" bIns="0" rIns="0"/>
            <a:lstStyle/>
            <a:p>
              <a:pPr algn="l">
                <a:lnSpc>
                  <a:spcPts val="2520"/>
                </a:lnSpc>
              </a:pPr>
              <a:r>
                <a:rPr lang="en-US" sz="2100" b="true">
                  <a:solidFill>
                    <a:srgbClr val="1D4ED8"/>
                  </a:solidFill>
                  <a:latin typeface="Calibri (MS) Bold"/>
                  <a:ea typeface="Calibri (MS) Bold"/>
                  <a:cs typeface="Calibri (MS) Bold"/>
                  <a:sym typeface="Calibri (MS) Bold"/>
                </a:rPr>
                <a:t>Quelles sont les principales limites de vos outils actuels ?</a:t>
              </a:r>
            </a:p>
          </p:txBody>
        </p:sp>
      </p:grpSp>
      <p:grpSp>
        <p:nvGrpSpPr>
          <p:cNvPr name="Group 36" id="36"/>
          <p:cNvGrpSpPr/>
          <p:nvPr/>
        </p:nvGrpSpPr>
        <p:grpSpPr>
          <a:xfrm rot="0">
            <a:off x="572519" y="4925063"/>
            <a:ext cx="8181851" cy="61979"/>
            <a:chOff x="0" y="0"/>
            <a:chExt cx="10909135" cy="82639"/>
          </a:xfrm>
        </p:grpSpPr>
        <p:sp>
          <p:nvSpPr>
            <p:cNvPr name="Freeform 37" id="37"/>
            <p:cNvSpPr/>
            <p:nvPr/>
          </p:nvSpPr>
          <p:spPr>
            <a:xfrm flipH="false" flipV="false" rot="0">
              <a:off x="0" y="0"/>
              <a:ext cx="10909173" cy="82677"/>
            </a:xfrm>
            <a:custGeom>
              <a:avLst/>
              <a:gdLst/>
              <a:ahLst/>
              <a:cxnLst/>
              <a:rect r="r" b="b" t="t" l="l"/>
              <a:pathLst>
                <a:path h="82677" w="10909173">
                  <a:moveTo>
                    <a:pt x="0" y="0"/>
                  </a:moveTo>
                  <a:lnTo>
                    <a:pt x="10909173" y="0"/>
                  </a:lnTo>
                  <a:lnTo>
                    <a:pt x="10909173" y="82677"/>
                  </a:lnTo>
                  <a:lnTo>
                    <a:pt x="0" y="82677"/>
                  </a:lnTo>
                  <a:close/>
                </a:path>
              </a:pathLst>
            </a:custGeom>
            <a:solidFill>
              <a:srgbClr val="EEF2F7"/>
            </a:solidFill>
            <a:ln w="25400" cap="sq">
              <a:solidFill>
                <a:srgbClr val="EEF2F7"/>
              </a:solidFill>
              <a:prstDash val="solid"/>
              <a:miter/>
            </a:ln>
          </p:spPr>
        </p:sp>
      </p:grpSp>
      <p:sp>
        <p:nvSpPr>
          <p:cNvPr name="TextBox 38" id="38"/>
          <p:cNvSpPr txBox="true"/>
          <p:nvPr/>
        </p:nvSpPr>
        <p:spPr>
          <a:xfrm rot="0">
            <a:off x="676656" y="5036820"/>
            <a:ext cx="7973568" cy="605028"/>
          </a:xfrm>
          <a:prstGeom prst="rect">
            <a:avLst/>
          </a:prstGeom>
        </p:spPr>
        <p:txBody>
          <a:bodyPr anchor="t" rtlCol="false" tIns="0" lIns="0" bIns="0" rIns="0">
            <a:spAutoFit/>
          </a:bodyPr>
          <a:lstStyle/>
          <a:p>
            <a:pPr algn="l">
              <a:lnSpc>
                <a:spcPts val="2280"/>
              </a:lnSpc>
            </a:pPr>
            <a:r>
              <a:rPr lang="en-US" sz="1900">
                <a:solidFill>
                  <a:srgbClr val="1E293B"/>
                </a:solidFill>
                <a:latin typeface="Calibri (MS)"/>
                <a:ea typeface="Calibri (MS)"/>
                <a:cs typeface="Calibri (MS)"/>
                <a:sym typeface="Calibri (MS)"/>
              </a:rPr>
              <a:t>Génèrent beaucoup d'alertes nécessitant une vérification manuelle. Moins efficaces face aux nouvelles menaces ou attaques sophistiquées.</a:t>
            </a:r>
          </a:p>
        </p:txBody>
      </p:sp>
      <p:grpSp>
        <p:nvGrpSpPr>
          <p:cNvPr name="Group 39" id="39"/>
          <p:cNvGrpSpPr/>
          <p:nvPr/>
        </p:nvGrpSpPr>
        <p:grpSpPr>
          <a:xfrm rot="0">
            <a:off x="359407" y="6120127"/>
            <a:ext cx="8608057" cy="1987801"/>
            <a:chOff x="0" y="0"/>
            <a:chExt cx="11477409" cy="2650401"/>
          </a:xfrm>
        </p:grpSpPr>
        <p:sp>
          <p:nvSpPr>
            <p:cNvPr name="Freeform 40" id="40"/>
            <p:cNvSpPr/>
            <p:nvPr/>
          </p:nvSpPr>
          <p:spPr>
            <a:xfrm flipH="false" flipV="false" rot="0">
              <a:off x="0" y="0"/>
              <a:ext cx="11477371" cy="2650363"/>
            </a:xfrm>
            <a:custGeom>
              <a:avLst/>
              <a:gdLst/>
              <a:ahLst/>
              <a:cxnLst/>
              <a:rect r="r" b="b" t="t" l="l"/>
              <a:pathLst>
                <a:path h="2650363" w="11477371">
                  <a:moveTo>
                    <a:pt x="0" y="245364"/>
                  </a:moveTo>
                  <a:cubicBezTo>
                    <a:pt x="0" y="109855"/>
                    <a:pt x="109855" y="0"/>
                    <a:pt x="245364" y="0"/>
                  </a:cubicBezTo>
                  <a:lnTo>
                    <a:pt x="11232007" y="0"/>
                  </a:lnTo>
                  <a:cubicBezTo>
                    <a:pt x="11367515" y="0"/>
                    <a:pt x="11477371" y="109855"/>
                    <a:pt x="11477371" y="245364"/>
                  </a:cubicBezTo>
                  <a:lnTo>
                    <a:pt x="11477371" y="2404999"/>
                  </a:lnTo>
                  <a:cubicBezTo>
                    <a:pt x="11477371" y="2540508"/>
                    <a:pt x="11367515" y="2650363"/>
                    <a:pt x="11232007" y="2650363"/>
                  </a:cubicBezTo>
                  <a:lnTo>
                    <a:pt x="245364" y="2650363"/>
                  </a:lnTo>
                  <a:cubicBezTo>
                    <a:pt x="109855" y="2650363"/>
                    <a:pt x="0" y="2540508"/>
                    <a:pt x="0" y="2404999"/>
                  </a:cubicBezTo>
                  <a:close/>
                </a:path>
              </a:pathLst>
            </a:custGeom>
            <a:solidFill>
              <a:srgbClr val="FFFFFF"/>
            </a:solidFill>
            <a:ln w="12700" cap="sq">
              <a:solidFill>
                <a:srgbClr val="E2E8F0"/>
              </a:solidFill>
              <a:prstDash val="solid"/>
              <a:miter/>
            </a:ln>
          </p:spPr>
        </p:sp>
      </p:grpSp>
      <p:grpSp>
        <p:nvGrpSpPr>
          <p:cNvPr name="Group 41" id="41"/>
          <p:cNvGrpSpPr/>
          <p:nvPr/>
        </p:nvGrpSpPr>
        <p:grpSpPr>
          <a:xfrm rot="0">
            <a:off x="572519" y="6333239"/>
            <a:ext cx="793499" cy="720347"/>
            <a:chOff x="0" y="0"/>
            <a:chExt cx="1057999" cy="960463"/>
          </a:xfrm>
        </p:grpSpPr>
        <p:sp>
          <p:nvSpPr>
            <p:cNvPr name="Freeform 42" id="42"/>
            <p:cNvSpPr/>
            <p:nvPr/>
          </p:nvSpPr>
          <p:spPr>
            <a:xfrm flipH="false" flipV="false" rot="0">
              <a:off x="0" y="0"/>
              <a:ext cx="1058037" cy="960501"/>
            </a:xfrm>
            <a:custGeom>
              <a:avLst/>
              <a:gdLst/>
              <a:ahLst/>
              <a:cxnLst/>
              <a:rect r="r" b="b" t="t" l="l"/>
              <a:pathLst>
                <a:path h="960501" w="1058037">
                  <a:moveTo>
                    <a:pt x="0" y="151638"/>
                  </a:moveTo>
                  <a:cubicBezTo>
                    <a:pt x="0" y="67945"/>
                    <a:pt x="67945" y="0"/>
                    <a:pt x="151638" y="0"/>
                  </a:cubicBezTo>
                  <a:lnTo>
                    <a:pt x="906399" y="0"/>
                  </a:lnTo>
                  <a:cubicBezTo>
                    <a:pt x="990092" y="0"/>
                    <a:pt x="1058037" y="67945"/>
                    <a:pt x="1058037" y="151638"/>
                  </a:cubicBezTo>
                  <a:lnTo>
                    <a:pt x="1058037" y="808863"/>
                  </a:lnTo>
                  <a:cubicBezTo>
                    <a:pt x="1058037" y="892556"/>
                    <a:pt x="990092" y="960501"/>
                    <a:pt x="906399" y="960501"/>
                  </a:cubicBezTo>
                  <a:lnTo>
                    <a:pt x="151638" y="960501"/>
                  </a:lnTo>
                  <a:cubicBezTo>
                    <a:pt x="67945" y="960501"/>
                    <a:pt x="0" y="892556"/>
                    <a:pt x="0" y="808863"/>
                  </a:cubicBezTo>
                  <a:close/>
                </a:path>
              </a:pathLst>
            </a:custGeom>
            <a:solidFill>
              <a:srgbClr val="E8541A"/>
            </a:solidFill>
            <a:ln w="25400" cap="sq">
              <a:solidFill>
                <a:srgbClr val="E8541A"/>
              </a:solidFill>
              <a:prstDash val="solid"/>
              <a:miter/>
            </a:ln>
          </p:spPr>
        </p:sp>
      </p:grpSp>
      <p:grpSp>
        <p:nvGrpSpPr>
          <p:cNvPr name="Group 43" id="43"/>
          <p:cNvGrpSpPr/>
          <p:nvPr/>
        </p:nvGrpSpPr>
        <p:grpSpPr>
          <a:xfrm rot="0">
            <a:off x="585216" y="6345936"/>
            <a:ext cx="768096" cy="694944"/>
            <a:chOff x="0" y="0"/>
            <a:chExt cx="1024128" cy="926592"/>
          </a:xfrm>
        </p:grpSpPr>
        <p:sp>
          <p:nvSpPr>
            <p:cNvPr name="Freeform 44" id="44"/>
            <p:cNvSpPr/>
            <p:nvPr/>
          </p:nvSpPr>
          <p:spPr>
            <a:xfrm flipH="false" flipV="false" rot="0">
              <a:off x="0" y="0"/>
              <a:ext cx="1024128" cy="926592"/>
            </a:xfrm>
            <a:custGeom>
              <a:avLst/>
              <a:gdLst/>
              <a:ahLst/>
              <a:cxnLst/>
              <a:rect r="r" b="b" t="t" l="l"/>
              <a:pathLst>
                <a:path h="926592" w="1024128">
                  <a:moveTo>
                    <a:pt x="0" y="0"/>
                  </a:moveTo>
                  <a:lnTo>
                    <a:pt x="1024128" y="0"/>
                  </a:lnTo>
                  <a:lnTo>
                    <a:pt x="1024128" y="926592"/>
                  </a:lnTo>
                  <a:lnTo>
                    <a:pt x="0" y="926592"/>
                  </a:lnTo>
                  <a:close/>
                </a:path>
              </a:pathLst>
            </a:custGeom>
            <a:blipFill>
              <a:blip r:embed="rId2">
                <a:alphaModFix amt="0"/>
              </a:blip>
              <a:stretch>
                <a:fillRect l="-66084" t="0" r="-66084" b="0"/>
              </a:stretch>
            </a:blipFill>
          </p:spPr>
        </p:sp>
        <p:sp>
          <p:nvSpPr>
            <p:cNvPr name="TextBox 45" id="45"/>
            <p:cNvSpPr txBox="true"/>
            <p:nvPr/>
          </p:nvSpPr>
          <p:spPr>
            <a:xfrm>
              <a:off x="0" y="-38100"/>
              <a:ext cx="1024128" cy="96469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Q10</a:t>
              </a:r>
            </a:p>
          </p:txBody>
        </p:sp>
      </p:grpSp>
      <p:grpSp>
        <p:nvGrpSpPr>
          <p:cNvPr name="Group 46" id="46"/>
          <p:cNvGrpSpPr/>
          <p:nvPr/>
        </p:nvGrpSpPr>
        <p:grpSpPr>
          <a:xfrm rot="0">
            <a:off x="1499616" y="6345936"/>
            <a:ext cx="7205472" cy="694944"/>
            <a:chOff x="0" y="0"/>
            <a:chExt cx="9607296" cy="926592"/>
          </a:xfrm>
        </p:grpSpPr>
        <p:sp>
          <p:nvSpPr>
            <p:cNvPr name="Freeform 47" id="47"/>
            <p:cNvSpPr/>
            <p:nvPr/>
          </p:nvSpPr>
          <p:spPr>
            <a:xfrm flipH="false" flipV="false" rot="0">
              <a:off x="0" y="0"/>
              <a:ext cx="9607296" cy="926592"/>
            </a:xfrm>
            <a:custGeom>
              <a:avLst/>
              <a:gdLst/>
              <a:ahLst/>
              <a:cxnLst/>
              <a:rect r="r" b="b" t="t" l="l"/>
              <a:pathLst>
                <a:path h="926592" w="9607296">
                  <a:moveTo>
                    <a:pt x="0" y="0"/>
                  </a:moveTo>
                  <a:lnTo>
                    <a:pt x="9607296" y="0"/>
                  </a:lnTo>
                  <a:lnTo>
                    <a:pt x="9607296" y="926592"/>
                  </a:lnTo>
                  <a:lnTo>
                    <a:pt x="0" y="926592"/>
                  </a:lnTo>
                  <a:close/>
                </a:path>
              </a:pathLst>
            </a:custGeom>
            <a:blipFill>
              <a:blip r:embed="rId2">
                <a:alphaModFix amt="0"/>
              </a:blip>
              <a:stretch>
                <a:fillRect l="0" t="-152029" r="0" b="-152029"/>
              </a:stretch>
            </a:blipFill>
          </p:spPr>
        </p:sp>
        <p:sp>
          <p:nvSpPr>
            <p:cNvPr name="TextBox 48" id="48"/>
            <p:cNvSpPr txBox="true"/>
            <p:nvPr/>
          </p:nvSpPr>
          <p:spPr>
            <a:xfrm>
              <a:off x="0" y="-47625"/>
              <a:ext cx="9607296" cy="974217"/>
            </a:xfrm>
            <a:prstGeom prst="rect">
              <a:avLst/>
            </a:prstGeom>
          </p:spPr>
          <p:txBody>
            <a:bodyPr anchor="ctr" rtlCol="false" tIns="0" lIns="0" bIns="0" rIns="0"/>
            <a:lstStyle/>
            <a:p>
              <a:pPr algn="l">
                <a:lnSpc>
                  <a:spcPts val="2520"/>
                </a:lnSpc>
              </a:pPr>
              <a:r>
                <a:rPr lang="en-US" sz="2100" b="true">
                  <a:solidFill>
                    <a:srgbClr val="E8541A"/>
                  </a:solidFill>
                  <a:latin typeface="Calibri (MS) Bold"/>
                  <a:ea typeface="Calibri (MS) Bold"/>
                  <a:cs typeface="Calibri (MS) Bold"/>
                  <a:sym typeface="Calibri (MS) Bold"/>
                </a:rPr>
                <a:t>Seriez-vous prêt à intégrer un système basé sur l'IA ?</a:t>
              </a:r>
            </a:p>
          </p:txBody>
        </p:sp>
      </p:grpSp>
      <p:grpSp>
        <p:nvGrpSpPr>
          <p:cNvPr name="Group 49" id="49"/>
          <p:cNvGrpSpPr/>
          <p:nvPr/>
        </p:nvGrpSpPr>
        <p:grpSpPr>
          <a:xfrm rot="0">
            <a:off x="572519" y="7119623"/>
            <a:ext cx="8181851" cy="61979"/>
            <a:chOff x="0" y="0"/>
            <a:chExt cx="10909135" cy="82639"/>
          </a:xfrm>
        </p:grpSpPr>
        <p:sp>
          <p:nvSpPr>
            <p:cNvPr name="Freeform 50" id="50"/>
            <p:cNvSpPr/>
            <p:nvPr/>
          </p:nvSpPr>
          <p:spPr>
            <a:xfrm flipH="false" flipV="false" rot="0">
              <a:off x="0" y="0"/>
              <a:ext cx="10909173" cy="82677"/>
            </a:xfrm>
            <a:custGeom>
              <a:avLst/>
              <a:gdLst/>
              <a:ahLst/>
              <a:cxnLst/>
              <a:rect r="r" b="b" t="t" l="l"/>
              <a:pathLst>
                <a:path h="82677" w="10909173">
                  <a:moveTo>
                    <a:pt x="0" y="0"/>
                  </a:moveTo>
                  <a:lnTo>
                    <a:pt x="10909173" y="0"/>
                  </a:lnTo>
                  <a:lnTo>
                    <a:pt x="10909173" y="82677"/>
                  </a:lnTo>
                  <a:lnTo>
                    <a:pt x="0" y="82677"/>
                  </a:lnTo>
                  <a:close/>
                </a:path>
              </a:pathLst>
            </a:custGeom>
            <a:solidFill>
              <a:srgbClr val="EEF2F7"/>
            </a:solidFill>
            <a:ln w="25400" cap="sq">
              <a:solidFill>
                <a:srgbClr val="EEF2F7"/>
              </a:solidFill>
              <a:prstDash val="solid"/>
              <a:miter/>
            </a:ln>
          </p:spPr>
        </p:sp>
      </p:grpSp>
      <p:sp>
        <p:nvSpPr>
          <p:cNvPr name="TextBox 51" id="51"/>
          <p:cNvSpPr txBox="true"/>
          <p:nvPr/>
        </p:nvSpPr>
        <p:spPr>
          <a:xfrm rot="0">
            <a:off x="676656" y="7231380"/>
            <a:ext cx="7973568" cy="605028"/>
          </a:xfrm>
          <a:prstGeom prst="rect">
            <a:avLst/>
          </a:prstGeom>
        </p:spPr>
        <p:txBody>
          <a:bodyPr anchor="t" rtlCol="false" tIns="0" lIns="0" bIns="0" rIns="0">
            <a:spAutoFit/>
          </a:bodyPr>
          <a:lstStyle/>
          <a:p>
            <a:pPr algn="l">
              <a:lnSpc>
                <a:spcPts val="2280"/>
              </a:lnSpc>
            </a:pPr>
            <a:r>
              <a:rPr lang="en-US" sz="1900">
                <a:solidFill>
                  <a:srgbClr val="1E293B"/>
                </a:solidFill>
                <a:latin typeface="Calibri (MS)"/>
                <a:ea typeface="Calibri (MS)"/>
                <a:cs typeface="Calibri (MS)"/>
                <a:sym typeface="Calibri (MS)"/>
              </a:rPr>
              <a:t>Oui, si cela améliore la détection des menaces et automatise certaines tâches de surveillance tout en restant fiable.</a:t>
            </a:r>
          </a:p>
        </p:txBody>
      </p:sp>
      <p:grpSp>
        <p:nvGrpSpPr>
          <p:cNvPr name="Group 52" id="52"/>
          <p:cNvGrpSpPr/>
          <p:nvPr/>
        </p:nvGrpSpPr>
        <p:grpSpPr>
          <a:xfrm rot="0">
            <a:off x="9320527" y="1731007"/>
            <a:ext cx="8608057" cy="1987801"/>
            <a:chOff x="0" y="0"/>
            <a:chExt cx="11477409" cy="2650401"/>
          </a:xfrm>
        </p:grpSpPr>
        <p:sp>
          <p:nvSpPr>
            <p:cNvPr name="Freeform 53" id="53"/>
            <p:cNvSpPr/>
            <p:nvPr/>
          </p:nvSpPr>
          <p:spPr>
            <a:xfrm flipH="false" flipV="false" rot="0">
              <a:off x="0" y="0"/>
              <a:ext cx="11477371" cy="2650363"/>
            </a:xfrm>
            <a:custGeom>
              <a:avLst/>
              <a:gdLst/>
              <a:ahLst/>
              <a:cxnLst/>
              <a:rect r="r" b="b" t="t" l="l"/>
              <a:pathLst>
                <a:path h="2650363" w="11477371">
                  <a:moveTo>
                    <a:pt x="0" y="245364"/>
                  </a:moveTo>
                  <a:cubicBezTo>
                    <a:pt x="0" y="109855"/>
                    <a:pt x="109855" y="0"/>
                    <a:pt x="245364" y="0"/>
                  </a:cubicBezTo>
                  <a:lnTo>
                    <a:pt x="11232007" y="0"/>
                  </a:lnTo>
                  <a:cubicBezTo>
                    <a:pt x="11367515" y="0"/>
                    <a:pt x="11477371" y="109855"/>
                    <a:pt x="11477371" y="245364"/>
                  </a:cubicBezTo>
                  <a:lnTo>
                    <a:pt x="11477371" y="2404999"/>
                  </a:lnTo>
                  <a:cubicBezTo>
                    <a:pt x="11477371" y="2540508"/>
                    <a:pt x="11367515" y="2650363"/>
                    <a:pt x="11232007" y="2650363"/>
                  </a:cubicBezTo>
                  <a:lnTo>
                    <a:pt x="245364" y="2650363"/>
                  </a:lnTo>
                  <a:cubicBezTo>
                    <a:pt x="109855" y="2650363"/>
                    <a:pt x="0" y="2540508"/>
                    <a:pt x="0" y="2404999"/>
                  </a:cubicBezTo>
                  <a:close/>
                </a:path>
              </a:pathLst>
            </a:custGeom>
            <a:solidFill>
              <a:srgbClr val="FFFFFF"/>
            </a:solidFill>
            <a:ln w="12700" cap="sq">
              <a:solidFill>
                <a:srgbClr val="E2E8F0"/>
              </a:solidFill>
              <a:prstDash val="solid"/>
              <a:miter/>
            </a:ln>
          </p:spPr>
        </p:sp>
      </p:grpSp>
      <p:grpSp>
        <p:nvGrpSpPr>
          <p:cNvPr name="Group 54" id="54"/>
          <p:cNvGrpSpPr/>
          <p:nvPr/>
        </p:nvGrpSpPr>
        <p:grpSpPr>
          <a:xfrm rot="0">
            <a:off x="9533639" y="1944119"/>
            <a:ext cx="793499" cy="720347"/>
            <a:chOff x="0" y="0"/>
            <a:chExt cx="1057999" cy="960463"/>
          </a:xfrm>
        </p:grpSpPr>
        <p:sp>
          <p:nvSpPr>
            <p:cNvPr name="Freeform 55" id="55"/>
            <p:cNvSpPr/>
            <p:nvPr/>
          </p:nvSpPr>
          <p:spPr>
            <a:xfrm flipH="false" flipV="false" rot="0">
              <a:off x="0" y="0"/>
              <a:ext cx="1058037" cy="960501"/>
            </a:xfrm>
            <a:custGeom>
              <a:avLst/>
              <a:gdLst/>
              <a:ahLst/>
              <a:cxnLst/>
              <a:rect r="r" b="b" t="t" l="l"/>
              <a:pathLst>
                <a:path h="960501" w="1058037">
                  <a:moveTo>
                    <a:pt x="0" y="151638"/>
                  </a:moveTo>
                  <a:cubicBezTo>
                    <a:pt x="0" y="67945"/>
                    <a:pt x="67945" y="0"/>
                    <a:pt x="151638" y="0"/>
                  </a:cubicBezTo>
                  <a:lnTo>
                    <a:pt x="906399" y="0"/>
                  </a:lnTo>
                  <a:cubicBezTo>
                    <a:pt x="990092" y="0"/>
                    <a:pt x="1058037" y="67945"/>
                    <a:pt x="1058037" y="151638"/>
                  </a:cubicBezTo>
                  <a:lnTo>
                    <a:pt x="1058037" y="808863"/>
                  </a:lnTo>
                  <a:cubicBezTo>
                    <a:pt x="1058037" y="892556"/>
                    <a:pt x="990092" y="960501"/>
                    <a:pt x="906399" y="960501"/>
                  </a:cubicBezTo>
                  <a:lnTo>
                    <a:pt x="151638" y="960501"/>
                  </a:lnTo>
                  <a:cubicBezTo>
                    <a:pt x="67945" y="960501"/>
                    <a:pt x="0" y="892556"/>
                    <a:pt x="0" y="808863"/>
                  </a:cubicBezTo>
                  <a:close/>
                </a:path>
              </a:pathLst>
            </a:custGeom>
            <a:solidFill>
              <a:srgbClr val="E8541A"/>
            </a:solidFill>
            <a:ln w="25400" cap="sq">
              <a:solidFill>
                <a:srgbClr val="E8541A"/>
              </a:solidFill>
              <a:prstDash val="solid"/>
              <a:miter/>
            </a:ln>
          </p:spPr>
        </p:sp>
      </p:grpSp>
      <p:grpSp>
        <p:nvGrpSpPr>
          <p:cNvPr name="Group 56" id="56"/>
          <p:cNvGrpSpPr/>
          <p:nvPr/>
        </p:nvGrpSpPr>
        <p:grpSpPr>
          <a:xfrm rot="0">
            <a:off x="9546336" y="1956816"/>
            <a:ext cx="768096" cy="694944"/>
            <a:chOff x="0" y="0"/>
            <a:chExt cx="1024128" cy="926592"/>
          </a:xfrm>
        </p:grpSpPr>
        <p:sp>
          <p:nvSpPr>
            <p:cNvPr name="Freeform 57" id="57"/>
            <p:cNvSpPr/>
            <p:nvPr/>
          </p:nvSpPr>
          <p:spPr>
            <a:xfrm flipH="false" flipV="false" rot="0">
              <a:off x="0" y="0"/>
              <a:ext cx="1024128" cy="926592"/>
            </a:xfrm>
            <a:custGeom>
              <a:avLst/>
              <a:gdLst/>
              <a:ahLst/>
              <a:cxnLst/>
              <a:rect r="r" b="b" t="t" l="l"/>
              <a:pathLst>
                <a:path h="926592" w="1024128">
                  <a:moveTo>
                    <a:pt x="0" y="0"/>
                  </a:moveTo>
                  <a:lnTo>
                    <a:pt x="1024128" y="0"/>
                  </a:lnTo>
                  <a:lnTo>
                    <a:pt x="1024128" y="926592"/>
                  </a:lnTo>
                  <a:lnTo>
                    <a:pt x="0" y="926592"/>
                  </a:lnTo>
                  <a:close/>
                </a:path>
              </a:pathLst>
            </a:custGeom>
            <a:blipFill>
              <a:blip r:embed="rId2">
                <a:alphaModFix amt="0"/>
              </a:blip>
              <a:stretch>
                <a:fillRect l="-66084" t="0" r="-66084" b="0"/>
              </a:stretch>
            </a:blipFill>
          </p:spPr>
        </p:sp>
        <p:sp>
          <p:nvSpPr>
            <p:cNvPr name="TextBox 58" id="58"/>
            <p:cNvSpPr txBox="true"/>
            <p:nvPr/>
          </p:nvSpPr>
          <p:spPr>
            <a:xfrm>
              <a:off x="0" y="-38100"/>
              <a:ext cx="1024128" cy="96469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Q11</a:t>
              </a:r>
            </a:p>
          </p:txBody>
        </p:sp>
      </p:grpSp>
      <p:grpSp>
        <p:nvGrpSpPr>
          <p:cNvPr name="Group 59" id="59"/>
          <p:cNvGrpSpPr/>
          <p:nvPr/>
        </p:nvGrpSpPr>
        <p:grpSpPr>
          <a:xfrm rot="0">
            <a:off x="10460736" y="1956816"/>
            <a:ext cx="7205472" cy="694944"/>
            <a:chOff x="0" y="0"/>
            <a:chExt cx="9607296" cy="926592"/>
          </a:xfrm>
        </p:grpSpPr>
        <p:sp>
          <p:nvSpPr>
            <p:cNvPr name="Freeform 60" id="60"/>
            <p:cNvSpPr/>
            <p:nvPr/>
          </p:nvSpPr>
          <p:spPr>
            <a:xfrm flipH="false" flipV="false" rot="0">
              <a:off x="0" y="0"/>
              <a:ext cx="9607296" cy="926592"/>
            </a:xfrm>
            <a:custGeom>
              <a:avLst/>
              <a:gdLst/>
              <a:ahLst/>
              <a:cxnLst/>
              <a:rect r="r" b="b" t="t" l="l"/>
              <a:pathLst>
                <a:path h="926592" w="9607296">
                  <a:moveTo>
                    <a:pt x="0" y="0"/>
                  </a:moveTo>
                  <a:lnTo>
                    <a:pt x="9607296" y="0"/>
                  </a:lnTo>
                  <a:lnTo>
                    <a:pt x="9607296" y="926592"/>
                  </a:lnTo>
                  <a:lnTo>
                    <a:pt x="0" y="926592"/>
                  </a:lnTo>
                  <a:close/>
                </a:path>
              </a:pathLst>
            </a:custGeom>
            <a:blipFill>
              <a:blip r:embed="rId2">
                <a:alphaModFix amt="0"/>
              </a:blip>
              <a:stretch>
                <a:fillRect l="0" t="-152029" r="0" b="-152029"/>
              </a:stretch>
            </a:blipFill>
          </p:spPr>
        </p:sp>
        <p:sp>
          <p:nvSpPr>
            <p:cNvPr name="TextBox 61" id="61"/>
            <p:cNvSpPr txBox="true"/>
            <p:nvPr/>
          </p:nvSpPr>
          <p:spPr>
            <a:xfrm>
              <a:off x="0" y="-47625"/>
              <a:ext cx="9607296" cy="974217"/>
            </a:xfrm>
            <a:prstGeom prst="rect">
              <a:avLst/>
            </a:prstGeom>
          </p:spPr>
          <p:txBody>
            <a:bodyPr anchor="ctr" rtlCol="false" tIns="0" lIns="0" bIns="0" rIns="0"/>
            <a:lstStyle/>
            <a:p>
              <a:pPr algn="l">
                <a:lnSpc>
                  <a:spcPts val="2520"/>
                </a:lnSpc>
              </a:pPr>
              <a:r>
                <a:rPr lang="en-US" sz="2100" b="true">
                  <a:solidFill>
                    <a:srgbClr val="E8541A"/>
                  </a:solidFill>
                  <a:latin typeface="Calibri (MS) Bold"/>
                  <a:ea typeface="Calibri (MS) Bold"/>
                  <a:cs typeface="Calibri (MS) Bold"/>
                  <a:sym typeface="Calibri (MS) Bold"/>
                </a:rPr>
                <a:t>Quelles fonctionnalités jugez-vous indispensables ?</a:t>
              </a:r>
            </a:p>
          </p:txBody>
        </p:sp>
      </p:grpSp>
      <p:grpSp>
        <p:nvGrpSpPr>
          <p:cNvPr name="Group 62" id="62"/>
          <p:cNvGrpSpPr/>
          <p:nvPr/>
        </p:nvGrpSpPr>
        <p:grpSpPr>
          <a:xfrm rot="0">
            <a:off x="9533639" y="2730503"/>
            <a:ext cx="8181851" cy="61979"/>
            <a:chOff x="0" y="0"/>
            <a:chExt cx="10909135" cy="82639"/>
          </a:xfrm>
        </p:grpSpPr>
        <p:sp>
          <p:nvSpPr>
            <p:cNvPr name="Freeform 63" id="63"/>
            <p:cNvSpPr/>
            <p:nvPr/>
          </p:nvSpPr>
          <p:spPr>
            <a:xfrm flipH="false" flipV="false" rot="0">
              <a:off x="0" y="0"/>
              <a:ext cx="10909173" cy="82677"/>
            </a:xfrm>
            <a:custGeom>
              <a:avLst/>
              <a:gdLst/>
              <a:ahLst/>
              <a:cxnLst/>
              <a:rect r="r" b="b" t="t" l="l"/>
              <a:pathLst>
                <a:path h="82677" w="10909173">
                  <a:moveTo>
                    <a:pt x="0" y="0"/>
                  </a:moveTo>
                  <a:lnTo>
                    <a:pt x="10909173" y="0"/>
                  </a:lnTo>
                  <a:lnTo>
                    <a:pt x="10909173" y="82677"/>
                  </a:lnTo>
                  <a:lnTo>
                    <a:pt x="0" y="82677"/>
                  </a:lnTo>
                  <a:close/>
                </a:path>
              </a:pathLst>
            </a:custGeom>
            <a:solidFill>
              <a:srgbClr val="EEF2F7"/>
            </a:solidFill>
            <a:ln w="25400" cap="sq">
              <a:solidFill>
                <a:srgbClr val="EEF2F7"/>
              </a:solidFill>
              <a:prstDash val="solid"/>
              <a:miter/>
            </a:ln>
          </p:spPr>
        </p:sp>
      </p:grpSp>
      <p:sp>
        <p:nvSpPr>
          <p:cNvPr name="TextBox 64" id="64"/>
          <p:cNvSpPr txBox="true"/>
          <p:nvPr/>
        </p:nvSpPr>
        <p:spPr>
          <a:xfrm rot="0">
            <a:off x="9637776" y="2842260"/>
            <a:ext cx="7973568" cy="605028"/>
          </a:xfrm>
          <a:prstGeom prst="rect">
            <a:avLst/>
          </a:prstGeom>
        </p:spPr>
        <p:txBody>
          <a:bodyPr anchor="t" rtlCol="false" tIns="0" lIns="0" bIns="0" rIns="0">
            <a:spAutoFit/>
          </a:bodyPr>
          <a:lstStyle/>
          <a:p>
            <a:pPr algn="l">
              <a:lnSpc>
                <a:spcPts val="2280"/>
              </a:lnSpc>
            </a:pPr>
            <a:r>
              <a:rPr lang="en-US" sz="1900">
                <a:solidFill>
                  <a:srgbClr val="1E293B"/>
                </a:solidFill>
                <a:latin typeface="Calibri (MS)"/>
                <a:ea typeface="Calibri (MS)"/>
                <a:cs typeface="Calibri (MS)"/>
                <a:sym typeface="Calibri (MS)"/>
              </a:rPr>
              <a:t>Détection en temps réel, alertes automatiques, réduction des faux positifs et interface simple pour analyser rapidement les incidents.</a:t>
            </a:r>
          </a:p>
        </p:txBody>
      </p:sp>
      <p:grpSp>
        <p:nvGrpSpPr>
          <p:cNvPr name="Group 65" id="65"/>
          <p:cNvGrpSpPr/>
          <p:nvPr/>
        </p:nvGrpSpPr>
        <p:grpSpPr>
          <a:xfrm rot="0">
            <a:off x="9320527" y="3925567"/>
            <a:ext cx="8608057" cy="1987801"/>
            <a:chOff x="0" y="0"/>
            <a:chExt cx="11477409" cy="2650401"/>
          </a:xfrm>
        </p:grpSpPr>
        <p:sp>
          <p:nvSpPr>
            <p:cNvPr name="Freeform 66" id="66"/>
            <p:cNvSpPr/>
            <p:nvPr/>
          </p:nvSpPr>
          <p:spPr>
            <a:xfrm flipH="false" flipV="false" rot="0">
              <a:off x="0" y="0"/>
              <a:ext cx="11477371" cy="2650363"/>
            </a:xfrm>
            <a:custGeom>
              <a:avLst/>
              <a:gdLst/>
              <a:ahLst/>
              <a:cxnLst/>
              <a:rect r="r" b="b" t="t" l="l"/>
              <a:pathLst>
                <a:path h="2650363" w="11477371">
                  <a:moveTo>
                    <a:pt x="0" y="245364"/>
                  </a:moveTo>
                  <a:cubicBezTo>
                    <a:pt x="0" y="109855"/>
                    <a:pt x="109855" y="0"/>
                    <a:pt x="245364" y="0"/>
                  </a:cubicBezTo>
                  <a:lnTo>
                    <a:pt x="11232007" y="0"/>
                  </a:lnTo>
                  <a:cubicBezTo>
                    <a:pt x="11367515" y="0"/>
                    <a:pt x="11477371" y="109855"/>
                    <a:pt x="11477371" y="245364"/>
                  </a:cubicBezTo>
                  <a:lnTo>
                    <a:pt x="11477371" y="2404999"/>
                  </a:lnTo>
                  <a:cubicBezTo>
                    <a:pt x="11477371" y="2540508"/>
                    <a:pt x="11367515" y="2650363"/>
                    <a:pt x="11232007" y="2650363"/>
                  </a:cubicBezTo>
                  <a:lnTo>
                    <a:pt x="245364" y="2650363"/>
                  </a:lnTo>
                  <a:cubicBezTo>
                    <a:pt x="109855" y="2650363"/>
                    <a:pt x="0" y="2540508"/>
                    <a:pt x="0" y="2404999"/>
                  </a:cubicBezTo>
                  <a:close/>
                </a:path>
              </a:pathLst>
            </a:custGeom>
            <a:solidFill>
              <a:srgbClr val="FFFFFF"/>
            </a:solidFill>
            <a:ln w="12700" cap="sq">
              <a:solidFill>
                <a:srgbClr val="E2E8F0"/>
              </a:solidFill>
              <a:prstDash val="solid"/>
              <a:miter/>
            </a:ln>
          </p:spPr>
        </p:sp>
      </p:grpSp>
      <p:grpSp>
        <p:nvGrpSpPr>
          <p:cNvPr name="Group 67" id="67"/>
          <p:cNvGrpSpPr/>
          <p:nvPr/>
        </p:nvGrpSpPr>
        <p:grpSpPr>
          <a:xfrm rot="0">
            <a:off x="9533639" y="4138679"/>
            <a:ext cx="793499" cy="720347"/>
            <a:chOff x="0" y="0"/>
            <a:chExt cx="1057999" cy="960463"/>
          </a:xfrm>
        </p:grpSpPr>
        <p:sp>
          <p:nvSpPr>
            <p:cNvPr name="Freeform 68" id="68"/>
            <p:cNvSpPr/>
            <p:nvPr/>
          </p:nvSpPr>
          <p:spPr>
            <a:xfrm flipH="false" flipV="false" rot="0">
              <a:off x="0" y="0"/>
              <a:ext cx="1058037" cy="960501"/>
            </a:xfrm>
            <a:custGeom>
              <a:avLst/>
              <a:gdLst/>
              <a:ahLst/>
              <a:cxnLst/>
              <a:rect r="r" b="b" t="t" l="l"/>
              <a:pathLst>
                <a:path h="960501" w="1058037">
                  <a:moveTo>
                    <a:pt x="0" y="151638"/>
                  </a:moveTo>
                  <a:cubicBezTo>
                    <a:pt x="0" y="67945"/>
                    <a:pt x="67945" y="0"/>
                    <a:pt x="151638" y="0"/>
                  </a:cubicBezTo>
                  <a:lnTo>
                    <a:pt x="906399" y="0"/>
                  </a:lnTo>
                  <a:cubicBezTo>
                    <a:pt x="990092" y="0"/>
                    <a:pt x="1058037" y="67945"/>
                    <a:pt x="1058037" y="151638"/>
                  </a:cubicBezTo>
                  <a:lnTo>
                    <a:pt x="1058037" y="808863"/>
                  </a:lnTo>
                  <a:cubicBezTo>
                    <a:pt x="1058037" y="892556"/>
                    <a:pt x="990092" y="960501"/>
                    <a:pt x="906399" y="960501"/>
                  </a:cubicBezTo>
                  <a:lnTo>
                    <a:pt x="151638" y="960501"/>
                  </a:lnTo>
                  <a:cubicBezTo>
                    <a:pt x="67945" y="960501"/>
                    <a:pt x="0" y="892556"/>
                    <a:pt x="0" y="808863"/>
                  </a:cubicBezTo>
                  <a:close/>
                </a:path>
              </a:pathLst>
            </a:custGeom>
            <a:solidFill>
              <a:srgbClr val="B22222"/>
            </a:solidFill>
            <a:ln w="25400" cap="sq">
              <a:solidFill>
                <a:srgbClr val="B22222"/>
              </a:solidFill>
              <a:prstDash val="solid"/>
              <a:miter/>
            </a:ln>
          </p:spPr>
        </p:sp>
      </p:grpSp>
      <p:grpSp>
        <p:nvGrpSpPr>
          <p:cNvPr name="Group 69" id="69"/>
          <p:cNvGrpSpPr/>
          <p:nvPr/>
        </p:nvGrpSpPr>
        <p:grpSpPr>
          <a:xfrm rot="0">
            <a:off x="9546336" y="4151376"/>
            <a:ext cx="768096" cy="694944"/>
            <a:chOff x="0" y="0"/>
            <a:chExt cx="1024128" cy="926592"/>
          </a:xfrm>
        </p:grpSpPr>
        <p:sp>
          <p:nvSpPr>
            <p:cNvPr name="Freeform 70" id="70"/>
            <p:cNvSpPr/>
            <p:nvPr/>
          </p:nvSpPr>
          <p:spPr>
            <a:xfrm flipH="false" flipV="false" rot="0">
              <a:off x="0" y="0"/>
              <a:ext cx="1024128" cy="926592"/>
            </a:xfrm>
            <a:custGeom>
              <a:avLst/>
              <a:gdLst/>
              <a:ahLst/>
              <a:cxnLst/>
              <a:rect r="r" b="b" t="t" l="l"/>
              <a:pathLst>
                <a:path h="926592" w="1024128">
                  <a:moveTo>
                    <a:pt x="0" y="0"/>
                  </a:moveTo>
                  <a:lnTo>
                    <a:pt x="1024128" y="0"/>
                  </a:lnTo>
                  <a:lnTo>
                    <a:pt x="1024128" y="926592"/>
                  </a:lnTo>
                  <a:lnTo>
                    <a:pt x="0" y="926592"/>
                  </a:lnTo>
                  <a:close/>
                </a:path>
              </a:pathLst>
            </a:custGeom>
            <a:blipFill>
              <a:blip r:embed="rId2">
                <a:alphaModFix amt="0"/>
              </a:blip>
              <a:stretch>
                <a:fillRect l="-66084" t="0" r="-66084" b="0"/>
              </a:stretch>
            </a:blipFill>
          </p:spPr>
        </p:sp>
        <p:sp>
          <p:nvSpPr>
            <p:cNvPr name="TextBox 71" id="71"/>
            <p:cNvSpPr txBox="true"/>
            <p:nvPr/>
          </p:nvSpPr>
          <p:spPr>
            <a:xfrm>
              <a:off x="0" y="-38100"/>
              <a:ext cx="1024128" cy="96469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Q12</a:t>
              </a:r>
            </a:p>
          </p:txBody>
        </p:sp>
      </p:grpSp>
      <p:grpSp>
        <p:nvGrpSpPr>
          <p:cNvPr name="Group 72" id="72"/>
          <p:cNvGrpSpPr/>
          <p:nvPr/>
        </p:nvGrpSpPr>
        <p:grpSpPr>
          <a:xfrm rot="0">
            <a:off x="10460736" y="4151376"/>
            <a:ext cx="7205472" cy="694944"/>
            <a:chOff x="0" y="0"/>
            <a:chExt cx="9607296" cy="926592"/>
          </a:xfrm>
        </p:grpSpPr>
        <p:sp>
          <p:nvSpPr>
            <p:cNvPr name="Freeform 73" id="73"/>
            <p:cNvSpPr/>
            <p:nvPr/>
          </p:nvSpPr>
          <p:spPr>
            <a:xfrm flipH="false" flipV="false" rot="0">
              <a:off x="0" y="0"/>
              <a:ext cx="9607296" cy="926592"/>
            </a:xfrm>
            <a:custGeom>
              <a:avLst/>
              <a:gdLst/>
              <a:ahLst/>
              <a:cxnLst/>
              <a:rect r="r" b="b" t="t" l="l"/>
              <a:pathLst>
                <a:path h="926592" w="9607296">
                  <a:moveTo>
                    <a:pt x="0" y="0"/>
                  </a:moveTo>
                  <a:lnTo>
                    <a:pt x="9607296" y="0"/>
                  </a:lnTo>
                  <a:lnTo>
                    <a:pt x="9607296" y="926592"/>
                  </a:lnTo>
                  <a:lnTo>
                    <a:pt x="0" y="926592"/>
                  </a:lnTo>
                  <a:close/>
                </a:path>
              </a:pathLst>
            </a:custGeom>
            <a:blipFill>
              <a:blip r:embed="rId2">
                <a:alphaModFix amt="0"/>
              </a:blip>
              <a:stretch>
                <a:fillRect l="0" t="-152029" r="0" b="-152029"/>
              </a:stretch>
            </a:blipFill>
          </p:spPr>
        </p:sp>
        <p:sp>
          <p:nvSpPr>
            <p:cNvPr name="TextBox 74" id="74"/>
            <p:cNvSpPr txBox="true"/>
            <p:nvPr/>
          </p:nvSpPr>
          <p:spPr>
            <a:xfrm>
              <a:off x="0" y="-47625"/>
              <a:ext cx="9607296" cy="974217"/>
            </a:xfrm>
            <a:prstGeom prst="rect">
              <a:avLst/>
            </a:prstGeom>
          </p:spPr>
          <p:txBody>
            <a:bodyPr anchor="ctr" rtlCol="false" tIns="0" lIns="0" bIns="0" rIns="0"/>
            <a:lstStyle/>
            <a:p>
              <a:pPr algn="l">
                <a:lnSpc>
                  <a:spcPts val="2520"/>
                </a:lnSpc>
              </a:pPr>
              <a:r>
                <a:rPr lang="en-US" sz="2100" b="true">
                  <a:solidFill>
                    <a:srgbClr val="B22222"/>
                  </a:solidFill>
                  <a:latin typeface="Calibri (MS) Bold"/>
                  <a:ea typeface="Calibri (MS) Bold"/>
                  <a:cs typeface="Calibri (MS) Bold"/>
                  <a:sym typeface="Calibri (MS) Bold"/>
                </a:rPr>
                <a:t>Existe-t-il des contraintes à prendre en compte ?</a:t>
              </a:r>
            </a:p>
          </p:txBody>
        </p:sp>
      </p:grpSp>
      <p:grpSp>
        <p:nvGrpSpPr>
          <p:cNvPr name="Group 75" id="75"/>
          <p:cNvGrpSpPr/>
          <p:nvPr/>
        </p:nvGrpSpPr>
        <p:grpSpPr>
          <a:xfrm rot="0">
            <a:off x="9533639" y="4925063"/>
            <a:ext cx="8181851" cy="61979"/>
            <a:chOff x="0" y="0"/>
            <a:chExt cx="10909135" cy="82639"/>
          </a:xfrm>
        </p:grpSpPr>
        <p:sp>
          <p:nvSpPr>
            <p:cNvPr name="Freeform 76" id="76"/>
            <p:cNvSpPr/>
            <p:nvPr/>
          </p:nvSpPr>
          <p:spPr>
            <a:xfrm flipH="false" flipV="false" rot="0">
              <a:off x="0" y="0"/>
              <a:ext cx="10909173" cy="82677"/>
            </a:xfrm>
            <a:custGeom>
              <a:avLst/>
              <a:gdLst/>
              <a:ahLst/>
              <a:cxnLst/>
              <a:rect r="r" b="b" t="t" l="l"/>
              <a:pathLst>
                <a:path h="82677" w="10909173">
                  <a:moveTo>
                    <a:pt x="0" y="0"/>
                  </a:moveTo>
                  <a:lnTo>
                    <a:pt x="10909173" y="0"/>
                  </a:lnTo>
                  <a:lnTo>
                    <a:pt x="10909173" y="82677"/>
                  </a:lnTo>
                  <a:lnTo>
                    <a:pt x="0" y="82677"/>
                  </a:lnTo>
                  <a:close/>
                </a:path>
              </a:pathLst>
            </a:custGeom>
            <a:solidFill>
              <a:srgbClr val="EEF2F7"/>
            </a:solidFill>
            <a:ln w="25400" cap="sq">
              <a:solidFill>
                <a:srgbClr val="EEF2F7"/>
              </a:solidFill>
              <a:prstDash val="solid"/>
              <a:miter/>
            </a:ln>
          </p:spPr>
        </p:sp>
      </p:grpSp>
      <p:sp>
        <p:nvSpPr>
          <p:cNvPr name="TextBox 77" id="77"/>
          <p:cNvSpPr txBox="true"/>
          <p:nvPr/>
        </p:nvSpPr>
        <p:spPr>
          <a:xfrm rot="0">
            <a:off x="9637776" y="5036820"/>
            <a:ext cx="7973568" cy="605028"/>
          </a:xfrm>
          <a:prstGeom prst="rect">
            <a:avLst/>
          </a:prstGeom>
        </p:spPr>
        <p:txBody>
          <a:bodyPr anchor="t" rtlCol="false" tIns="0" lIns="0" bIns="0" rIns="0">
            <a:spAutoFit/>
          </a:bodyPr>
          <a:lstStyle/>
          <a:p>
            <a:pPr algn="l">
              <a:lnSpc>
                <a:spcPts val="2280"/>
              </a:lnSpc>
            </a:pPr>
            <a:r>
              <a:rPr lang="en-US" sz="1900">
                <a:solidFill>
                  <a:srgbClr val="1E293B"/>
                </a:solidFill>
                <a:latin typeface="Calibri (MS)"/>
                <a:ea typeface="Calibri (MS)"/>
                <a:cs typeface="Calibri (MS)"/>
                <a:sym typeface="Calibri (MS)"/>
              </a:rPr>
              <a:t>Budget, compatibilité avec l'infrastructure existante, performances du système et protection des données de l'entreprise.</a:t>
            </a:r>
          </a:p>
        </p:txBody>
      </p:sp>
      <p:grpSp>
        <p:nvGrpSpPr>
          <p:cNvPr name="Group 78" id="78"/>
          <p:cNvGrpSpPr/>
          <p:nvPr/>
        </p:nvGrpSpPr>
        <p:grpSpPr>
          <a:xfrm rot="0">
            <a:off x="9320527" y="6120127"/>
            <a:ext cx="8608057" cy="1987801"/>
            <a:chOff x="0" y="0"/>
            <a:chExt cx="11477409" cy="2650401"/>
          </a:xfrm>
        </p:grpSpPr>
        <p:sp>
          <p:nvSpPr>
            <p:cNvPr name="Freeform 79" id="79"/>
            <p:cNvSpPr/>
            <p:nvPr/>
          </p:nvSpPr>
          <p:spPr>
            <a:xfrm flipH="false" flipV="false" rot="0">
              <a:off x="0" y="0"/>
              <a:ext cx="11477371" cy="2650363"/>
            </a:xfrm>
            <a:custGeom>
              <a:avLst/>
              <a:gdLst/>
              <a:ahLst/>
              <a:cxnLst/>
              <a:rect r="r" b="b" t="t" l="l"/>
              <a:pathLst>
                <a:path h="2650363" w="11477371">
                  <a:moveTo>
                    <a:pt x="0" y="245364"/>
                  </a:moveTo>
                  <a:cubicBezTo>
                    <a:pt x="0" y="109855"/>
                    <a:pt x="109855" y="0"/>
                    <a:pt x="245364" y="0"/>
                  </a:cubicBezTo>
                  <a:lnTo>
                    <a:pt x="11232007" y="0"/>
                  </a:lnTo>
                  <a:cubicBezTo>
                    <a:pt x="11367515" y="0"/>
                    <a:pt x="11477371" y="109855"/>
                    <a:pt x="11477371" y="245364"/>
                  </a:cubicBezTo>
                  <a:lnTo>
                    <a:pt x="11477371" y="2404999"/>
                  </a:lnTo>
                  <a:cubicBezTo>
                    <a:pt x="11477371" y="2540508"/>
                    <a:pt x="11367515" y="2650363"/>
                    <a:pt x="11232007" y="2650363"/>
                  </a:cubicBezTo>
                  <a:lnTo>
                    <a:pt x="245364" y="2650363"/>
                  </a:lnTo>
                  <a:cubicBezTo>
                    <a:pt x="109855" y="2650363"/>
                    <a:pt x="0" y="2540508"/>
                    <a:pt x="0" y="2404999"/>
                  </a:cubicBezTo>
                  <a:close/>
                </a:path>
              </a:pathLst>
            </a:custGeom>
            <a:solidFill>
              <a:srgbClr val="FFFFFF"/>
            </a:solidFill>
            <a:ln w="12700" cap="sq">
              <a:solidFill>
                <a:srgbClr val="E2E8F0"/>
              </a:solidFill>
              <a:prstDash val="solid"/>
              <a:miter/>
            </a:ln>
          </p:spPr>
        </p:sp>
      </p:grpSp>
      <p:grpSp>
        <p:nvGrpSpPr>
          <p:cNvPr name="Group 80" id="80"/>
          <p:cNvGrpSpPr/>
          <p:nvPr/>
        </p:nvGrpSpPr>
        <p:grpSpPr>
          <a:xfrm rot="0">
            <a:off x="9533639" y="6333239"/>
            <a:ext cx="793499" cy="720347"/>
            <a:chOff x="0" y="0"/>
            <a:chExt cx="1057999" cy="960463"/>
          </a:xfrm>
        </p:grpSpPr>
        <p:sp>
          <p:nvSpPr>
            <p:cNvPr name="Freeform 81" id="81"/>
            <p:cNvSpPr/>
            <p:nvPr/>
          </p:nvSpPr>
          <p:spPr>
            <a:xfrm flipH="false" flipV="false" rot="0">
              <a:off x="0" y="0"/>
              <a:ext cx="1058037" cy="960501"/>
            </a:xfrm>
            <a:custGeom>
              <a:avLst/>
              <a:gdLst/>
              <a:ahLst/>
              <a:cxnLst/>
              <a:rect r="r" b="b" t="t" l="l"/>
              <a:pathLst>
                <a:path h="960501" w="1058037">
                  <a:moveTo>
                    <a:pt x="0" y="151638"/>
                  </a:moveTo>
                  <a:cubicBezTo>
                    <a:pt x="0" y="67945"/>
                    <a:pt x="67945" y="0"/>
                    <a:pt x="151638" y="0"/>
                  </a:cubicBezTo>
                  <a:lnTo>
                    <a:pt x="906399" y="0"/>
                  </a:lnTo>
                  <a:cubicBezTo>
                    <a:pt x="990092" y="0"/>
                    <a:pt x="1058037" y="67945"/>
                    <a:pt x="1058037" y="151638"/>
                  </a:cubicBezTo>
                  <a:lnTo>
                    <a:pt x="1058037" y="808863"/>
                  </a:lnTo>
                  <a:cubicBezTo>
                    <a:pt x="1058037" y="892556"/>
                    <a:pt x="990092" y="960501"/>
                    <a:pt x="906399" y="960501"/>
                  </a:cubicBezTo>
                  <a:lnTo>
                    <a:pt x="151638" y="960501"/>
                  </a:lnTo>
                  <a:cubicBezTo>
                    <a:pt x="67945" y="960501"/>
                    <a:pt x="0" y="892556"/>
                    <a:pt x="0" y="808863"/>
                  </a:cubicBezTo>
                  <a:close/>
                </a:path>
              </a:pathLst>
            </a:custGeom>
            <a:solidFill>
              <a:srgbClr val="B22222"/>
            </a:solidFill>
            <a:ln w="25400" cap="sq">
              <a:solidFill>
                <a:srgbClr val="B22222"/>
              </a:solidFill>
              <a:prstDash val="solid"/>
              <a:miter/>
            </a:ln>
          </p:spPr>
        </p:sp>
      </p:grpSp>
      <p:grpSp>
        <p:nvGrpSpPr>
          <p:cNvPr name="Group 82" id="82"/>
          <p:cNvGrpSpPr/>
          <p:nvPr/>
        </p:nvGrpSpPr>
        <p:grpSpPr>
          <a:xfrm rot="0">
            <a:off x="9546336" y="6345936"/>
            <a:ext cx="768096" cy="694944"/>
            <a:chOff x="0" y="0"/>
            <a:chExt cx="1024128" cy="926592"/>
          </a:xfrm>
        </p:grpSpPr>
        <p:sp>
          <p:nvSpPr>
            <p:cNvPr name="Freeform 83" id="83"/>
            <p:cNvSpPr/>
            <p:nvPr/>
          </p:nvSpPr>
          <p:spPr>
            <a:xfrm flipH="false" flipV="false" rot="0">
              <a:off x="0" y="0"/>
              <a:ext cx="1024128" cy="926592"/>
            </a:xfrm>
            <a:custGeom>
              <a:avLst/>
              <a:gdLst/>
              <a:ahLst/>
              <a:cxnLst/>
              <a:rect r="r" b="b" t="t" l="l"/>
              <a:pathLst>
                <a:path h="926592" w="1024128">
                  <a:moveTo>
                    <a:pt x="0" y="0"/>
                  </a:moveTo>
                  <a:lnTo>
                    <a:pt x="1024128" y="0"/>
                  </a:lnTo>
                  <a:lnTo>
                    <a:pt x="1024128" y="926592"/>
                  </a:lnTo>
                  <a:lnTo>
                    <a:pt x="0" y="926592"/>
                  </a:lnTo>
                  <a:close/>
                </a:path>
              </a:pathLst>
            </a:custGeom>
            <a:blipFill>
              <a:blip r:embed="rId2">
                <a:alphaModFix amt="0"/>
              </a:blip>
              <a:stretch>
                <a:fillRect l="-66084" t="0" r="-66084" b="0"/>
              </a:stretch>
            </a:blipFill>
          </p:spPr>
        </p:sp>
        <p:sp>
          <p:nvSpPr>
            <p:cNvPr name="TextBox 84" id="84"/>
            <p:cNvSpPr txBox="true"/>
            <p:nvPr/>
          </p:nvSpPr>
          <p:spPr>
            <a:xfrm>
              <a:off x="0" y="-38100"/>
              <a:ext cx="1024128" cy="96469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Q13</a:t>
              </a:r>
            </a:p>
          </p:txBody>
        </p:sp>
      </p:grpSp>
      <p:grpSp>
        <p:nvGrpSpPr>
          <p:cNvPr name="Group 85" id="85"/>
          <p:cNvGrpSpPr/>
          <p:nvPr/>
        </p:nvGrpSpPr>
        <p:grpSpPr>
          <a:xfrm rot="0">
            <a:off x="10460736" y="6345936"/>
            <a:ext cx="7205472" cy="694944"/>
            <a:chOff x="0" y="0"/>
            <a:chExt cx="9607296" cy="926592"/>
          </a:xfrm>
        </p:grpSpPr>
        <p:sp>
          <p:nvSpPr>
            <p:cNvPr name="Freeform 86" id="86"/>
            <p:cNvSpPr/>
            <p:nvPr/>
          </p:nvSpPr>
          <p:spPr>
            <a:xfrm flipH="false" flipV="false" rot="0">
              <a:off x="0" y="0"/>
              <a:ext cx="9607296" cy="926592"/>
            </a:xfrm>
            <a:custGeom>
              <a:avLst/>
              <a:gdLst/>
              <a:ahLst/>
              <a:cxnLst/>
              <a:rect r="r" b="b" t="t" l="l"/>
              <a:pathLst>
                <a:path h="926592" w="9607296">
                  <a:moveTo>
                    <a:pt x="0" y="0"/>
                  </a:moveTo>
                  <a:lnTo>
                    <a:pt x="9607296" y="0"/>
                  </a:lnTo>
                  <a:lnTo>
                    <a:pt x="9607296" y="926592"/>
                  </a:lnTo>
                  <a:lnTo>
                    <a:pt x="0" y="926592"/>
                  </a:lnTo>
                  <a:close/>
                </a:path>
              </a:pathLst>
            </a:custGeom>
            <a:blipFill>
              <a:blip r:embed="rId2">
                <a:alphaModFix amt="0"/>
              </a:blip>
              <a:stretch>
                <a:fillRect l="0" t="-152029" r="0" b="-152029"/>
              </a:stretch>
            </a:blipFill>
          </p:spPr>
        </p:sp>
        <p:sp>
          <p:nvSpPr>
            <p:cNvPr name="TextBox 87" id="87"/>
            <p:cNvSpPr txBox="true"/>
            <p:nvPr/>
          </p:nvSpPr>
          <p:spPr>
            <a:xfrm>
              <a:off x="0" y="-47625"/>
              <a:ext cx="9607296" cy="974217"/>
            </a:xfrm>
            <a:prstGeom prst="rect">
              <a:avLst/>
            </a:prstGeom>
          </p:spPr>
          <p:txBody>
            <a:bodyPr anchor="ctr" rtlCol="false" tIns="0" lIns="0" bIns="0" rIns="0"/>
            <a:lstStyle/>
            <a:p>
              <a:pPr algn="l">
                <a:lnSpc>
                  <a:spcPts val="2520"/>
                </a:lnSpc>
              </a:pPr>
              <a:r>
                <a:rPr lang="en-US" sz="2100" b="true">
                  <a:solidFill>
                    <a:srgbClr val="B22222"/>
                  </a:solidFill>
                  <a:latin typeface="Calibri (MS) Bold"/>
                  <a:ea typeface="Calibri (MS) Bold"/>
                  <a:cs typeface="Calibri (MS) Bold"/>
                  <a:sym typeface="Calibri (MS) Bold"/>
                </a:rPr>
                <a:t>Avez-vous des remarques complémentaires ?</a:t>
              </a:r>
            </a:p>
          </p:txBody>
        </p:sp>
      </p:grpSp>
      <p:grpSp>
        <p:nvGrpSpPr>
          <p:cNvPr name="Group 88" id="88"/>
          <p:cNvGrpSpPr/>
          <p:nvPr/>
        </p:nvGrpSpPr>
        <p:grpSpPr>
          <a:xfrm rot="0">
            <a:off x="9533639" y="7119623"/>
            <a:ext cx="8181851" cy="61979"/>
            <a:chOff x="0" y="0"/>
            <a:chExt cx="10909135" cy="82639"/>
          </a:xfrm>
        </p:grpSpPr>
        <p:sp>
          <p:nvSpPr>
            <p:cNvPr name="Freeform 89" id="89"/>
            <p:cNvSpPr/>
            <p:nvPr/>
          </p:nvSpPr>
          <p:spPr>
            <a:xfrm flipH="false" flipV="false" rot="0">
              <a:off x="0" y="0"/>
              <a:ext cx="10909173" cy="82677"/>
            </a:xfrm>
            <a:custGeom>
              <a:avLst/>
              <a:gdLst/>
              <a:ahLst/>
              <a:cxnLst/>
              <a:rect r="r" b="b" t="t" l="l"/>
              <a:pathLst>
                <a:path h="82677" w="10909173">
                  <a:moveTo>
                    <a:pt x="0" y="0"/>
                  </a:moveTo>
                  <a:lnTo>
                    <a:pt x="10909173" y="0"/>
                  </a:lnTo>
                  <a:lnTo>
                    <a:pt x="10909173" y="82677"/>
                  </a:lnTo>
                  <a:lnTo>
                    <a:pt x="0" y="82677"/>
                  </a:lnTo>
                  <a:close/>
                </a:path>
              </a:pathLst>
            </a:custGeom>
            <a:solidFill>
              <a:srgbClr val="EEF2F7"/>
            </a:solidFill>
            <a:ln w="25400" cap="sq">
              <a:solidFill>
                <a:srgbClr val="EEF2F7"/>
              </a:solidFill>
              <a:prstDash val="solid"/>
              <a:miter/>
            </a:ln>
          </p:spPr>
        </p:sp>
      </p:grpSp>
      <p:sp>
        <p:nvSpPr>
          <p:cNvPr name="TextBox 90" id="90"/>
          <p:cNvSpPr txBox="true"/>
          <p:nvPr/>
        </p:nvSpPr>
        <p:spPr>
          <a:xfrm rot="0">
            <a:off x="9637776" y="7231380"/>
            <a:ext cx="7973568" cy="605028"/>
          </a:xfrm>
          <a:prstGeom prst="rect">
            <a:avLst/>
          </a:prstGeom>
        </p:spPr>
        <p:txBody>
          <a:bodyPr anchor="t" rtlCol="false" tIns="0" lIns="0" bIns="0" rIns="0">
            <a:spAutoFit/>
          </a:bodyPr>
          <a:lstStyle/>
          <a:p>
            <a:pPr algn="l">
              <a:lnSpc>
                <a:spcPts val="2280"/>
              </a:lnSpc>
            </a:pPr>
            <a:r>
              <a:rPr lang="en-US" sz="1900">
                <a:solidFill>
                  <a:srgbClr val="1E293B"/>
                </a:solidFill>
                <a:latin typeface="Calibri (MS)"/>
                <a:ea typeface="Calibri (MS)"/>
                <a:cs typeface="Calibri (MS)"/>
                <a:sym typeface="Calibri (MS)"/>
              </a:rPr>
              <a:t>Avec l'évolution des cyberattaques, une solution IA pourrait renforcer la sécurité du réseau et améliorer la capacité de réaction face aux incidents.</a:t>
            </a:r>
          </a:p>
        </p:txBody>
      </p:sp>
      <p:grpSp>
        <p:nvGrpSpPr>
          <p:cNvPr name="Group 91" id="91"/>
          <p:cNvGrpSpPr/>
          <p:nvPr/>
        </p:nvGrpSpPr>
        <p:grpSpPr>
          <a:xfrm rot="0">
            <a:off x="353063" y="8491223"/>
            <a:ext cx="17581883" cy="1159259"/>
            <a:chOff x="0" y="0"/>
            <a:chExt cx="23442511" cy="1545679"/>
          </a:xfrm>
        </p:grpSpPr>
        <p:sp>
          <p:nvSpPr>
            <p:cNvPr name="Freeform 92" id="92"/>
            <p:cNvSpPr/>
            <p:nvPr/>
          </p:nvSpPr>
          <p:spPr>
            <a:xfrm flipH="false" flipV="false" rot="0">
              <a:off x="0" y="0"/>
              <a:ext cx="23442549" cy="1545717"/>
            </a:xfrm>
            <a:custGeom>
              <a:avLst/>
              <a:gdLst/>
              <a:ahLst/>
              <a:cxnLst/>
              <a:rect r="r" b="b" t="t" l="l"/>
              <a:pathLst>
                <a:path h="1545717" w="23442549">
                  <a:moveTo>
                    <a:pt x="0" y="249301"/>
                  </a:moveTo>
                  <a:cubicBezTo>
                    <a:pt x="0" y="111633"/>
                    <a:pt x="111633" y="0"/>
                    <a:pt x="249301" y="0"/>
                  </a:cubicBezTo>
                  <a:lnTo>
                    <a:pt x="23193248" y="0"/>
                  </a:lnTo>
                  <a:cubicBezTo>
                    <a:pt x="23330915" y="0"/>
                    <a:pt x="23442549" y="111633"/>
                    <a:pt x="23442549" y="249301"/>
                  </a:cubicBezTo>
                  <a:lnTo>
                    <a:pt x="23442549" y="1296416"/>
                  </a:lnTo>
                  <a:cubicBezTo>
                    <a:pt x="23442549" y="1434084"/>
                    <a:pt x="23330915" y="1545717"/>
                    <a:pt x="23193248" y="1545717"/>
                  </a:cubicBezTo>
                  <a:lnTo>
                    <a:pt x="249301" y="1545717"/>
                  </a:lnTo>
                  <a:cubicBezTo>
                    <a:pt x="111633" y="1545717"/>
                    <a:pt x="0" y="1434084"/>
                    <a:pt x="0" y="1296416"/>
                  </a:cubicBezTo>
                  <a:close/>
                </a:path>
              </a:pathLst>
            </a:custGeom>
            <a:solidFill>
              <a:srgbClr val="EEF4FF"/>
            </a:solidFill>
            <a:ln w="25400" cap="sq">
              <a:solidFill>
                <a:srgbClr val="1D4ED8"/>
              </a:solidFill>
              <a:prstDash val="solid"/>
              <a:miter/>
            </a:ln>
          </p:spPr>
        </p:sp>
      </p:grpSp>
      <p:grpSp>
        <p:nvGrpSpPr>
          <p:cNvPr name="Group 93" id="93"/>
          <p:cNvGrpSpPr/>
          <p:nvPr/>
        </p:nvGrpSpPr>
        <p:grpSpPr>
          <a:xfrm rot="0">
            <a:off x="694944" y="8650224"/>
            <a:ext cx="16898112" cy="914400"/>
            <a:chOff x="0" y="0"/>
            <a:chExt cx="22530816" cy="1219200"/>
          </a:xfrm>
        </p:grpSpPr>
        <p:sp>
          <p:nvSpPr>
            <p:cNvPr name="Freeform 94" id="94"/>
            <p:cNvSpPr/>
            <p:nvPr/>
          </p:nvSpPr>
          <p:spPr>
            <a:xfrm flipH="false" flipV="false" rot="0">
              <a:off x="0" y="0"/>
              <a:ext cx="22530815" cy="1219200"/>
            </a:xfrm>
            <a:custGeom>
              <a:avLst/>
              <a:gdLst/>
              <a:ahLst/>
              <a:cxnLst/>
              <a:rect r="r" b="b" t="t" l="l"/>
              <a:pathLst>
                <a:path h="1219200" w="22530815">
                  <a:moveTo>
                    <a:pt x="0" y="0"/>
                  </a:moveTo>
                  <a:lnTo>
                    <a:pt x="22530815" y="0"/>
                  </a:lnTo>
                  <a:lnTo>
                    <a:pt x="22530815" y="1219200"/>
                  </a:lnTo>
                  <a:lnTo>
                    <a:pt x="0" y="1219200"/>
                  </a:lnTo>
                  <a:close/>
                </a:path>
              </a:pathLst>
            </a:custGeom>
            <a:blipFill>
              <a:blip r:embed="rId2">
                <a:alphaModFix amt="0"/>
              </a:blip>
              <a:stretch>
                <a:fillRect l="0" t="-310083" r="0" b="-310083"/>
              </a:stretch>
            </a:blipFill>
          </p:spPr>
        </p:sp>
        <p:sp>
          <p:nvSpPr>
            <p:cNvPr name="TextBox 95" id="95"/>
            <p:cNvSpPr txBox="true"/>
            <p:nvPr/>
          </p:nvSpPr>
          <p:spPr>
            <a:xfrm>
              <a:off x="0" y="-38100"/>
              <a:ext cx="22530816" cy="1257300"/>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 Conclusion : L'entretien confirme un besoin réel d'automatisation et de détection intelligente des menaces. Un système IA de détection d'intrusions adapté à l'infrastructure de DakarTech Solutions représente une réponse pertinente aux limites identifiées.</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0F4FF"/>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634747"/>
            <a:chOff x="0" y="0"/>
            <a:chExt cx="24417871" cy="2179663"/>
          </a:xfrm>
        </p:grpSpPr>
        <p:sp>
          <p:nvSpPr>
            <p:cNvPr name="Freeform 3" id="3"/>
            <p:cNvSpPr/>
            <p:nvPr/>
          </p:nvSpPr>
          <p:spPr>
            <a:xfrm flipH="false" flipV="false" rot="0">
              <a:off x="0" y="0"/>
              <a:ext cx="24417910" cy="2179701"/>
            </a:xfrm>
            <a:custGeom>
              <a:avLst/>
              <a:gdLst/>
              <a:ahLst/>
              <a:cxnLst/>
              <a:rect r="r" b="b" t="t" l="l"/>
              <a:pathLst>
                <a:path h="2179701" w="24417910">
                  <a:moveTo>
                    <a:pt x="0" y="0"/>
                  </a:moveTo>
                  <a:lnTo>
                    <a:pt x="24417910" y="0"/>
                  </a:lnTo>
                  <a:lnTo>
                    <a:pt x="24417910" y="2179701"/>
                  </a:lnTo>
                  <a:lnTo>
                    <a:pt x="0" y="2179701"/>
                  </a:lnTo>
                  <a:close/>
                </a:path>
              </a:pathLst>
            </a:custGeom>
            <a:solidFill>
              <a:srgbClr val="1E3A5F"/>
            </a:solidFill>
            <a:ln w="25400" cap="sq">
              <a:solidFill>
                <a:srgbClr val="1E3A5F"/>
              </a:solidFill>
              <a:prstDash val="solid"/>
              <a:miter/>
            </a:ln>
          </p:spPr>
        </p:sp>
      </p:grpSp>
      <p:grpSp>
        <p:nvGrpSpPr>
          <p:cNvPr name="Group 4" id="4"/>
          <p:cNvGrpSpPr/>
          <p:nvPr/>
        </p:nvGrpSpPr>
        <p:grpSpPr>
          <a:xfrm rot="0">
            <a:off x="15349223" y="-1201417"/>
            <a:ext cx="4231643" cy="4231643"/>
            <a:chOff x="0" y="0"/>
            <a:chExt cx="5642191" cy="5642191"/>
          </a:xfrm>
        </p:grpSpPr>
        <p:sp>
          <p:nvSpPr>
            <p:cNvPr name="Freeform 5" id="5"/>
            <p:cNvSpPr/>
            <p:nvPr/>
          </p:nvSpPr>
          <p:spPr>
            <a:xfrm flipH="false" flipV="false" rot="0">
              <a:off x="0" y="0"/>
              <a:ext cx="5642229" cy="5642229"/>
            </a:xfrm>
            <a:custGeom>
              <a:avLst/>
              <a:gdLst/>
              <a:ahLst/>
              <a:cxnLst/>
              <a:rect r="r" b="b" t="t" l="l"/>
              <a:pathLst>
                <a:path h="5642229" w="5642229">
                  <a:moveTo>
                    <a:pt x="0" y="2821051"/>
                  </a:moveTo>
                  <a:cubicBezTo>
                    <a:pt x="0" y="1263015"/>
                    <a:pt x="1263015" y="0"/>
                    <a:pt x="2821051" y="0"/>
                  </a:cubicBezTo>
                  <a:cubicBezTo>
                    <a:pt x="4379087" y="0"/>
                    <a:pt x="5642229" y="1263015"/>
                    <a:pt x="5642229" y="2821051"/>
                  </a:cubicBezTo>
                  <a:cubicBezTo>
                    <a:pt x="5642229" y="4379087"/>
                    <a:pt x="4379087" y="5642229"/>
                    <a:pt x="2821051" y="5642229"/>
                  </a:cubicBezTo>
                  <a:cubicBezTo>
                    <a:pt x="1263015" y="5642229"/>
                    <a:pt x="0" y="4379087"/>
                    <a:pt x="0" y="2821051"/>
                  </a:cubicBezTo>
                  <a:close/>
                </a:path>
              </a:pathLst>
            </a:custGeom>
            <a:solidFill>
              <a:srgbClr val="3A7FC1">
                <a:alpha val="4706"/>
              </a:srgbClr>
            </a:solidFill>
            <a:ln w="25400" cap="sq">
              <a:solidFill>
                <a:srgbClr val="3A7FC1"/>
              </a:solidFill>
              <a:prstDash val="solid"/>
              <a:miter/>
            </a:ln>
          </p:spPr>
        </p:sp>
      </p:grpSp>
      <p:grpSp>
        <p:nvGrpSpPr>
          <p:cNvPr name="Group 6" id="6"/>
          <p:cNvGrpSpPr/>
          <p:nvPr/>
        </p:nvGrpSpPr>
        <p:grpSpPr>
          <a:xfrm rot="0">
            <a:off x="731520" y="109728"/>
            <a:ext cx="15544800" cy="841248"/>
            <a:chOff x="0" y="0"/>
            <a:chExt cx="20726400" cy="1121664"/>
          </a:xfrm>
        </p:grpSpPr>
        <p:sp>
          <p:nvSpPr>
            <p:cNvPr name="Freeform 7" id="7"/>
            <p:cNvSpPr/>
            <p:nvPr/>
          </p:nvSpPr>
          <p:spPr>
            <a:xfrm flipH="false" flipV="false" rot="0">
              <a:off x="0" y="0"/>
              <a:ext cx="20726400" cy="1121664"/>
            </a:xfrm>
            <a:custGeom>
              <a:avLst/>
              <a:gdLst/>
              <a:ahLst/>
              <a:cxnLst/>
              <a:rect r="r" b="b" t="t" l="l"/>
              <a:pathLst>
                <a:path h="1121664" w="20726400">
                  <a:moveTo>
                    <a:pt x="0" y="0"/>
                  </a:moveTo>
                  <a:lnTo>
                    <a:pt x="20726400" y="0"/>
                  </a:lnTo>
                  <a:lnTo>
                    <a:pt x="20726400" y="1121664"/>
                  </a:lnTo>
                  <a:lnTo>
                    <a:pt x="0" y="1121664"/>
                  </a:lnTo>
                  <a:close/>
                </a:path>
              </a:pathLst>
            </a:custGeom>
            <a:blipFill>
              <a:blip r:embed="rId2">
                <a:alphaModFix amt="0"/>
              </a:blip>
              <a:stretch>
                <a:fillRect l="0" t="-310049" r="0" b="-310049"/>
              </a:stretch>
            </a:blipFill>
          </p:spPr>
        </p:sp>
        <p:sp>
          <p:nvSpPr>
            <p:cNvPr name="TextBox 8" id="8"/>
            <p:cNvSpPr txBox="true"/>
            <p:nvPr/>
          </p:nvSpPr>
          <p:spPr>
            <a:xfrm>
              <a:off x="0" y="-9525"/>
              <a:ext cx="20726400" cy="1131189"/>
            </a:xfrm>
            <a:prstGeom prst="rect">
              <a:avLst/>
            </a:prstGeom>
          </p:spPr>
          <p:txBody>
            <a:bodyPr anchor="ctr" rtlCol="false" tIns="0" lIns="0" bIns="0" rIns="0"/>
            <a:lstStyle/>
            <a:p>
              <a:pPr algn="l">
                <a:lnSpc>
                  <a:spcPts val="5280"/>
                </a:lnSpc>
              </a:pPr>
              <a:r>
                <a:rPr lang="en-US" sz="4400" b="true">
                  <a:solidFill>
                    <a:srgbClr val="FFFFFF"/>
                  </a:solidFill>
                  <a:latin typeface="Cambria Bold"/>
                  <a:ea typeface="Cambria Bold"/>
                  <a:cs typeface="Cambria Bold"/>
                  <a:sym typeface="Cambria Bold"/>
                </a:rPr>
                <a:t>Expression du Besoin</a:t>
              </a:r>
            </a:p>
          </p:txBody>
        </p:sp>
      </p:grpSp>
      <p:grpSp>
        <p:nvGrpSpPr>
          <p:cNvPr name="Group 9" id="9"/>
          <p:cNvGrpSpPr/>
          <p:nvPr/>
        </p:nvGrpSpPr>
        <p:grpSpPr>
          <a:xfrm rot="0">
            <a:off x="731520" y="914400"/>
            <a:ext cx="15544800" cy="548640"/>
            <a:chOff x="0" y="0"/>
            <a:chExt cx="20726400" cy="731520"/>
          </a:xfrm>
        </p:grpSpPr>
        <p:sp>
          <p:nvSpPr>
            <p:cNvPr name="Freeform 10" id="10"/>
            <p:cNvSpPr/>
            <p:nvPr/>
          </p:nvSpPr>
          <p:spPr>
            <a:xfrm flipH="false" flipV="false" rot="0">
              <a:off x="0" y="0"/>
              <a:ext cx="20726400" cy="731520"/>
            </a:xfrm>
            <a:custGeom>
              <a:avLst/>
              <a:gdLst/>
              <a:ahLst/>
              <a:cxnLst/>
              <a:rect r="r" b="b" t="t" l="l"/>
              <a:pathLst>
                <a:path h="731520" w="20726400">
                  <a:moveTo>
                    <a:pt x="0" y="0"/>
                  </a:moveTo>
                  <a:lnTo>
                    <a:pt x="20726400" y="0"/>
                  </a:lnTo>
                  <a:lnTo>
                    <a:pt x="20726400" y="731520"/>
                  </a:lnTo>
                  <a:lnTo>
                    <a:pt x="0" y="731520"/>
                  </a:lnTo>
                  <a:close/>
                </a:path>
              </a:pathLst>
            </a:custGeom>
            <a:blipFill>
              <a:blip r:embed="rId2">
                <a:alphaModFix amt="0"/>
              </a:blip>
              <a:stretch>
                <a:fillRect l="0" t="-502076" r="0" b="-502076"/>
              </a:stretch>
            </a:blipFill>
          </p:spPr>
        </p:sp>
        <p:sp>
          <p:nvSpPr>
            <p:cNvPr name="TextBox 11" id="11"/>
            <p:cNvSpPr txBox="true"/>
            <p:nvPr/>
          </p:nvSpPr>
          <p:spPr>
            <a:xfrm>
              <a:off x="0" y="-47625"/>
              <a:ext cx="20726400" cy="779145"/>
            </a:xfrm>
            <a:prstGeom prst="rect">
              <a:avLst/>
            </a:prstGeom>
          </p:spPr>
          <p:txBody>
            <a:bodyPr anchor="ctr" rtlCol="false" tIns="0" lIns="0" bIns="0" rIns="0"/>
            <a:lstStyle/>
            <a:p>
              <a:pPr algn="l">
                <a:lnSpc>
                  <a:spcPts val="2520"/>
                </a:lnSpc>
              </a:pPr>
              <a:r>
                <a:rPr lang="en-US" sz="2100">
                  <a:solidFill>
                    <a:srgbClr val="CADCFC"/>
                  </a:solidFill>
                  <a:latin typeface="Calibri (MS)"/>
                  <a:ea typeface="Calibri (MS)"/>
                  <a:cs typeface="Calibri (MS)"/>
                  <a:sym typeface="Calibri (MS)"/>
                </a:rPr>
                <a:t>Conception d'un système de détection d'intrusions réseau basé sur l'IA</a:t>
              </a:r>
            </a:p>
          </p:txBody>
        </p:sp>
      </p:grpSp>
      <p:grpSp>
        <p:nvGrpSpPr>
          <p:cNvPr name="Group 12" id="12"/>
          <p:cNvGrpSpPr/>
          <p:nvPr/>
        </p:nvGrpSpPr>
        <p:grpSpPr>
          <a:xfrm rot="0">
            <a:off x="535943" y="1852679"/>
            <a:ext cx="4231643" cy="866651"/>
            <a:chOff x="0" y="0"/>
            <a:chExt cx="5642191" cy="1155535"/>
          </a:xfrm>
        </p:grpSpPr>
        <p:sp>
          <p:nvSpPr>
            <p:cNvPr name="Freeform 13" id="13"/>
            <p:cNvSpPr/>
            <p:nvPr/>
          </p:nvSpPr>
          <p:spPr>
            <a:xfrm flipH="false" flipV="false" rot="0">
              <a:off x="0" y="0"/>
              <a:ext cx="5642102" cy="1155446"/>
            </a:xfrm>
            <a:custGeom>
              <a:avLst/>
              <a:gdLst/>
              <a:ahLst/>
              <a:cxnLst/>
              <a:rect r="r" b="b" t="t" l="l"/>
              <a:pathLst>
                <a:path h="1155446" w="5642102">
                  <a:moveTo>
                    <a:pt x="0" y="200914"/>
                  </a:moveTo>
                  <a:cubicBezTo>
                    <a:pt x="0" y="89916"/>
                    <a:pt x="89916" y="0"/>
                    <a:pt x="200914" y="0"/>
                  </a:cubicBezTo>
                  <a:lnTo>
                    <a:pt x="5441188" y="0"/>
                  </a:lnTo>
                  <a:cubicBezTo>
                    <a:pt x="5552186" y="0"/>
                    <a:pt x="5642102" y="89916"/>
                    <a:pt x="5642102" y="200914"/>
                  </a:cubicBezTo>
                  <a:lnTo>
                    <a:pt x="5642102" y="954532"/>
                  </a:lnTo>
                  <a:cubicBezTo>
                    <a:pt x="5642102" y="1065530"/>
                    <a:pt x="5552186" y="1155446"/>
                    <a:pt x="5441188" y="1155446"/>
                  </a:cubicBezTo>
                  <a:lnTo>
                    <a:pt x="200914" y="1155446"/>
                  </a:lnTo>
                  <a:cubicBezTo>
                    <a:pt x="89916" y="1155573"/>
                    <a:pt x="0" y="1065530"/>
                    <a:pt x="0" y="954532"/>
                  </a:cubicBezTo>
                  <a:close/>
                </a:path>
              </a:pathLst>
            </a:custGeom>
            <a:solidFill>
              <a:srgbClr val="1E3A5F"/>
            </a:solidFill>
            <a:ln w="25400" cap="sq">
              <a:solidFill>
                <a:srgbClr val="1E3A5F"/>
              </a:solidFill>
              <a:prstDash val="solid"/>
              <a:miter/>
            </a:ln>
          </p:spPr>
        </p:sp>
      </p:grpSp>
      <p:grpSp>
        <p:nvGrpSpPr>
          <p:cNvPr name="Group 14" id="14"/>
          <p:cNvGrpSpPr/>
          <p:nvPr/>
        </p:nvGrpSpPr>
        <p:grpSpPr>
          <a:xfrm rot="0">
            <a:off x="548640" y="1865376"/>
            <a:ext cx="4206240" cy="841248"/>
            <a:chOff x="0" y="0"/>
            <a:chExt cx="5608320" cy="1121664"/>
          </a:xfrm>
        </p:grpSpPr>
        <p:sp>
          <p:nvSpPr>
            <p:cNvPr name="Freeform 15" id="15"/>
            <p:cNvSpPr/>
            <p:nvPr/>
          </p:nvSpPr>
          <p:spPr>
            <a:xfrm flipH="false" flipV="false" rot="0">
              <a:off x="0" y="0"/>
              <a:ext cx="5608320" cy="1121664"/>
            </a:xfrm>
            <a:custGeom>
              <a:avLst/>
              <a:gdLst/>
              <a:ahLst/>
              <a:cxnLst/>
              <a:rect r="r" b="b" t="t" l="l"/>
              <a:pathLst>
                <a:path h="1121664" w="5608320">
                  <a:moveTo>
                    <a:pt x="0" y="0"/>
                  </a:moveTo>
                  <a:lnTo>
                    <a:pt x="5608320" y="0"/>
                  </a:lnTo>
                  <a:lnTo>
                    <a:pt x="5608320" y="1121664"/>
                  </a:lnTo>
                  <a:lnTo>
                    <a:pt x="0" y="1121664"/>
                  </a:lnTo>
                  <a:close/>
                </a:path>
              </a:pathLst>
            </a:custGeom>
            <a:blipFill>
              <a:blip r:embed="rId2">
                <a:alphaModFix amt="0"/>
              </a:blip>
              <a:stretch>
                <a:fillRect l="0" t="-47425" r="0" b="-47425"/>
              </a:stretch>
            </a:blipFill>
          </p:spPr>
        </p:sp>
        <p:sp>
          <p:nvSpPr>
            <p:cNvPr name="TextBox 16" id="16"/>
            <p:cNvSpPr txBox="true"/>
            <p:nvPr/>
          </p:nvSpPr>
          <p:spPr>
            <a:xfrm>
              <a:off x="0" y="-19050"/>
              <a:ext cx="5608320" cy="1140714"/>
            </a:xfrm>
            <a:prstGeom prst="rect">
              <a:avLst/>
            </a:prstGeom>
          </p:spPr>
          <p:txBody>
            <a:bodyPr anchor="ctr" rtlCol="false" tIns="0" lIns="0" bIns="0" rIns="0"/>
            <a:lstStyle/>
            <a:p>
              <a:pPr algn="ctr">
                <a:lnSpc>
                  <a:spcPts val="3120"/>
                </a:lnSpc>
              </a:pPr>
              <a:r>
                <a:rPr lang="en-US" sz="2600" b="true">
                  <a:solidFill>
                    <a:srgbClr val="FFFFFF"/>
                  </a:solidFill>
                  <a:latin typeface="Cambria Bold"/>
                  <a:ea typeface="Cambria Bold"/>
                  <a:cs typeface="Cambria Bold"/>
                  <a:sym typeface="Cambria Bold"/>
                </a:rPr>
                <a:t>1. Contexte</a:t>
              </a:r>
            </a:p>
          </p:txBody>
        </p:sp>
      </p:grpSp>
      <p:grpSp>
        <p:nvGrpSpPr>
          <p:cNvPr name="Group 17" id="17"/>
          <p:cNvGrpSpPr/>
          <p:nvPr/>
        </p:nvGrpSpPr>
        <p:grpSpPr>
          <a:xfrm rot="0">
            <a:off x="538477" y="2806189"/>
            <a:ext cx="17211037" cy="3165853"/>
            <a:chOff x="0" y="0"/>
            <a:chExt cx="22948049" cy="4221137"/>
          </a:xfrm>
        </p:grpSpPr>
        <p:sp>
          <p:nvSpPr>
            <p:cNvPr name="Freeform 18" id="18"/>
            <p:cNvSpPr/>
            <p:nvPr/>
          </p:nvSpPr>
          <p:spPr>
            <a:xfrm flipH="false" flipV="false" rot="0">
              <a:off x="0" y="0"/>
              <a:ext cx="22948010" cy="4221099"/>
            </a:xfrm>
            <a:custGeom>
              <a:avLst/>
              <a:gdLst/>
              <a:ahLst/>
              <a:cxnLst/>
              <a:rect r="r" b="b" t="t" l="l"/>
              <a:pathLst>
                <a:path h="4221099" w="22948010">
                  <a:moveTo>
                    <a:pt x="0" y="245364"/>
                  </a:moveTo>
                  <a:cubicBezTo>
                    <a:pt x="0" y="109855"/>
                    <a:pt x="109855" y="0"/>
                    <a:pt x="245364" y="0"/>
                  </a:cubicBezTo>
                  <a:lnTo>
                    <a:pt x="22702647" y="0"/>
                  </a:lnTo>
                  <a:cubicBezTo>
                    <a:pt x="22838156" y="0"/>
                    <a:pt x="22948010" y="109855"/>
                    <a:pt x="22948010" y="245364"/>
                  </a:cubicBezTo>
                  <a:lnTo>
                    <a:pt x="22948010" y="3975735"/>
                  </a:lnTo>
                  <a:cubicBezTo>
                    <a:pt x="22948010" y="4111244"/>
                    <a:pt x="22838156" y="4221099"/>
                    <a:pt x="22702647" y="4221099"/>
                  </a:cubicBezTo>
                  <a:lnTo>
                    <a:pt x="245364" y="4221099"/>
                  </a:lnTo>
                  <a:cubicBezTo>
                    <a:pt x="109855" y="4221099"/>
                    <a:pt x="0" y="4111244"/>
                    <a:pt x="0" y="3975735"/>
                  </a:cubicBezTo>
                  <a:close/>
                </a:path>
              </a:pathLst>
            </a:custGeom>
            <a:solidFill>
              <a:srgbClr val="FFFFFF"/>
            </a:solidFill>
            <a:ln w="20320" cap="sq">
              <a:solidFill>
                <a:srgbClr val="D1DCF0"/>
              </a:solidFill>
              <a:prstDash val="solid"/>
              <a:miter/>
            </a:ln>
          </p:spPr>
        </p:sp>
      </p:grpSp>
      <p:grpSp>
        <p:nvGrpSpPr>
          <p:cNvPr name="Group 19" id="19"/>
          <p:cNvGrpSpPr/>
          <p:nvPr/>
        </p:nvGrpSpPr>
        <p:grpSpPr>
          <a:xfrm rot="0">
            <a:off x="535943" y="2803655"/>
            <a:ext cx="574043" cy="3170939"/>
            <a:chOff x="0" y="0"/>
            <a:chExt cx="765391" cy="4227919"/>
          </a:xfrm>
        </p:grpSpPr>
        <p:sp>
          <p:nvSpPr>
            <p:cNvPr name="Freeform 20" id="20"/>
            <p:cNvSpPr/>
            <p:nvPr/>
          </p:nvSpPr>
          <p:spPr>
            <a:xfrm flipH="false" flipV="false" rot="0">
              <a:off x="0" y="0"/>
              <a:ext cx="765429" cy="4227957"/>
            </a:xfrm>
            <a:custGeom>
              <a:avLst/>
              <a:gdLst/>
              <a:ahLst/>
              <a:cxnLst/>
              <a:rect r="r" b="b" t="t" l="l"/>
              <a:pathLst>
                <a:path h="4227957" w="765429">
                  <a:moveTo>
                    <a:pt x="0" y="0"/>
                  </a:moveTo>
                  <a:lnTo>
                    <a:pt x="765429" y="0"/>
                  </a:lnTo>
                  <a:lnTo>
                    <a:pt x="765429" y="4227957"/>
                  </a:lnTo>
                  <a:lnTo>
                    <a:pt x="0" y="4227957"/>
                  </a:lnTo>
                  <a:close/>
                </a:path>
              </a:pathLst>
            </a:custGeom>
            <a:solidFill>
              <a:srgbClr val="3A7FC1"/>
            </a:solidFill>
            <a:ln w="25400" cap="sq">
              <a:solidFill>
                <a:srgbClr val="3A7FC1"/>
              </a:solidFill>
              <a:prstDash val="solid"/>
              <a:miter/>
            </a:ln>
          </p:spPr>
        </p:sp>
      </p:grpSp>
      <p:grpSp>
        <p:nvGrpSpPr>
          <p:cNvPr name="Group 21" id="21"/>
          <p:cNvGrpSpPr/>
          <p:nvPr/>
        </p:nvGrpSpPr>
        <p:grpSpPr>
          <a:xfrm rot="0">
            <a:off x="1371600" y="3017520"/>
            <a:ext cx="16093440" cy="548640"/>
            <a:chOff x="0" y="0"/>
            <a:chExt cx="21457920" cy="731520"/>
          </a:xfrm>
        </p:grpSpPr>
        <p:sp>
          <p:nvSpPr>
            <p:cNvPr name="Freeform 22" id="22"/>
            <p:cNvSpPr/>
            <p:nvPr/>
          </p:nvSpPr>
          <p:spPr>
            <a:xfrm flipH="false" flipV="false" rot="0">
              <a:off x="0" y="0"/>
              <a:ext cx="21457920" cy="731520"/>
            </a:xfrm>
            <a:custGeom>
              <a:avLst/>
              <a:gdLst/>
              <a:ahLst/>
              <a:cxnLst/>
              <a:rect r="r" b="b" t="t" l="l"/>
              <a:pathLst>
                <a:path h="731520" w="21457920">
                  <a:moveTo>
                    <a:pt x="0" y="0"/>
                  </a:moveTo>
                  <a:lnTo>
                    <a:pt x="21457920" y="0"/>
                  </a:lnTo>
                  <a:lnTo>
                    <a:pt x="21457920" y="731520"/>
                  </a:lnTo>
                  <a:lnTo>
                    <a:pt x="0" y="731520"/>
                  </a:lnTo>
                  <a:close/>
                </a:path>
              </a:pathLst>
            </a:custGeom>
            <a:blipFill>
              <a:blip r:embed="rId2">
                <a:alphaModFix amt="0"/>
              </a:blip>
              <a:stretch>
                <a:fillRect l="0" t="-521561" r="0" b="-521561"/>
              </a:stretch>
            </a:blipFill>
          </p:spPr>
        </p:sp>
        <p:sp>
          <p:nvSpPr>
            <p:cNvPr name="TextBox 23" id="23"/>
            <p:cNvSpPr txBox="true"/>
            <p:nvPr/>
          </p:nvSpPr>
          <p:spPr>
            <a:xfrm>
              <a:off x="0" y="-47625"/>
              <a:ext cx="21457920" cy="779145"/>
            </a:xfrm>
            <a:prstGeom prst="rect">
              <a:avLst/>
            </a:prstGeom>
          </p:spPr>
          <p:txBody>
            <a:bodyPr anchor="ctr" rtlCol="false" tIns="0" lIns="0" bIns="0" rIns="0"/>
            <a:lstStyle/>
            <a:p>
              <a:pPr algn="l">
                <a:lnSpc>
                  <a:spcPts val="2760"/>
                </a:lnSpc>
              </a:pPr>
              <a:r>
                <a:rPr lang="en-US" sz="2300" b="true">
                  <a:solidFill>
                    <a:srgbClr val="2E6DB4"/>
                  </a:solidFill>
                  <a:latin typeface="Calibri (MS) Bold"/>
                  <a:ea typeface="Calibri (MS) Bold"/>
                  <a:cs typeface="Calibri (MS) Bold"/>
                  <a:sym typeface="Calibri (MS) Bold"/>
                </a:rPr>
                <a:t>Situation actuelle :</a:t>
              </a:r>
            </a:p>
          </p:txBody>
        </p:sp>
      </p:grpSp>
      <p:grpSp>
        <p:nvGrpSpPr>
          <p:cNvPr name="Group 24" id="24"/>
          <p:cNvGrpSpPr/>
          <p:nvPr/>
        </p:nvGrpSpPr>
        <p:grpSpPr>
          <a:xfrm rot="0">
            <a:off x="1371600" y="3657600"/>
            <a:ext cx="16002000" cy="2157984"/>
            <a:chOff x="0" y="0"/>
            <a:chExt cx="21336000" cy="2877312"/>
          </a:xfrm>
        </p:grpSpPr>
        <p:sp>
          <p:nvSpPr>
            <p:cNvPr name="Freeform 25" id="25"/>
            <p:cNvSpPr/>
            <p:nvPr/>
          </p:nvSpPr>
          <p:spPr>
            <a:xfrm flipH="false" flipV="false" rot="0">
              <a:off x="0" y="0"/>
              <a:ext cx="21336000" cy="2877312"/>
            </a:xfrm>
            <a:custGeom>
              <a:avLst/>
              <a:gdLst/>
              <a:ahLst/>
              <a:cxnLst/>
              <a:rect r="r" b="b" t="t" l="l"/>
              <a:pathLst>
                <a:path h="2877312" w="21336000">
                  <a:moveTo>
                    <a:pt x="0" y="0"/>
                  </a:moveTo>
                  <a:lnTo>
                    <a:pt x="21336000" y="0"/>
                  </a:lnTo>
                  <a:lnTo>
                    <a:pt x="21336000" y="2877312"/>
                  </a:lnTo>
                  <a:lnTo>
                    <a:pt x="0" y="2877312"/>
                  </a:lnTo>
                  <a:close/>
                </a:path>
              </a:pathLst>
            </a:custGeom>
            <a:blipFill>
              <a:blip r:embed="rId2">
                <a:alphaModFix amt="0"/>
              </a:blip>
              <a:stretch>
                <a:fillRect l="0" t="-94486" r="0" b="-94486"/>
              </a:stretch>
            </a:blipFill>
          </p:spPr>
        </p:sp>
        <p:sp>
          <p:nvSpPr>
            <p:cNvPr name="TextBox 26" id="26"/>
            <p:cNvSpPr txBox="true"/>
            <p:nvPr/>
          </p:nvSpPr>
          <p:spPr>
            <a:xfrm>
              <a:off x="0" y="-47625"/>
              <a:ext cx="21336000" cy="2924937"/>
            </a:xfrm>
            <a:prstGeom prst="rect">
              <a:avLst/>
            </a:prstGeom>
          </p:spPr>
          <p:txBody>
            <a:bodyPr anchor="ctr" rtlCol="false" tIns="0" lIns="0" bIns="0" rIns="0"/>
            <a:lstStyle/>
            <a:p>
              <a:pPr algn="l">
                <a:lnSpc>
                  <a:spcPts val="2640"/>
                </a:lnSpc>
              </a:pPr>
              <a:r>
                <a:rPr lang="en-US" sz="2200">
                  <a:solidFill>
                    <a:srgbClr val="1E293B"/>
                  </a:solidFill>
                  <a:latin typeface="Calibri (MS)"/>
                  <a:ea typeface="Calibri (MS)"/>
                  <a:cs typeface="Calibri (MS)"/>
                  <a:sym typeface="Calibri (MS)"/>
                </a:rPr>
                <a:t>L'entreprise fait face à des problèmes de sécurité réseau qui exposent son infrastructure informatique à des risques d'intrusion, de vol de données et de perturbation de ses services. Cette situation est aggravée par des vulnérabilités potentielles dans la configuration du réseau, un manque de surveillance en temps réel et une détection insuffisante des activités suspectes.</a:t>
              </a:r>
            </a:p>
          </p:txBody>
        </p:sp>
      </p:grpSp>
      <p:grpSp>
        <p:nvGrpSpPr>
          <p:cNvPr name="Group 27" id="27"/>
          <p:cNvGrpSpPr/>
          <p:nvPr/>
        </p:nvGrpSpPr>
        <p:grpSpPr>
          <a:xfrm rot="0">
            <a:off x="535943" y="6168647"/>
            <a:ext cx="5146043" cy="866651"/>
            <a:chOff x="0" y="0"/>
            <a:chExt cx="6861391" cy="1155535"/>
          </a:xfrm>
        </p:grpSpPr>
        <p:sp>
          <p:nvSpPr>
            <p:cNvPr name="Freeform 28" id="28"/>
            <p:cNvSpPr/>
            <p:nvPr/>
          </p:nvSpPr>
          <p:spPr>
            <a:xfrm flipH="false" flipV="false" rot="0">
              <a:off x="0" y="0"/>
              <a:ext cx="6861302" cy="1155446"/>
            </a:xfrm>
            <a:custGeom>
              <a:avLst/>
              <a:gdLst/>
              <a:ahLst/>
              <a:cxnLst/>
              <a:rect r="r" b="b" t="t" l="l"/>
              <a:pathLst>
                <a:path h="1155446" w="6861302">
                  <a:moveTo>
                    <a:pt x="0" y="200914"/>
                  </a:moveTo>
                  <a:cubicBezTo>
                    <a:pt x="0" y="89916"/>
                    <a:pt x="89916" y="0"/>
                    <a:pt x="200914" y="0"/>
                  </a:cubicBezTo>
                  <a:lnTo>
                    <a:pt x="6660388" y="0"/>
                  </a:lnTo>
                  <a:cubicBezTo>
                    <a:pt x="6771386" y="0"/>
                    <a:pt x="6861302" y="89916"/>
                    <a:pt x="6861302" y="200914"/>
                  </a:cubicBezTo>
                  <a:lnTo>
                    <a:pt x="6861302" y="954532"/>
                  </a:lnTo>
                  <a:cubicBezTo>
                    <a:pt x="6861302" y="1065530"/>
                    <a:pt x="6771386" y="1155446"/>
                    <a:pt x="6660388" y="1155446"/>
                  </a:cubicBezTo>
                  <a:lnTo>
                    <a:pt x="200914" y="1155446"/>
                  </a:lnTo>
                  <a:cubicBezTo>
                    <a:pt x="89916" y="1155573"/>
                    <a:pt x="0" y="1065530"/>
                    <a:pt x="0" y="954532"/>
                  </a:cubicBezTo>
                  <a:close/>
                </a:path>
              </a:pathLst>
            </a:custGeom>
            <a:solidFill>
              <a:srgbClr val="1E3A5F"/>
            </a:solidFill>
            <a:ln w="25400" cap="sq">
              <a:solidFill>
                <a:srgbClr val="1E3A5F"/>
              </a:solidFill>
              <a:prstDash val="solid"/>
              <a:miter/>
            </a:ln>
          </p:spPr>
        </p:sp>
      </p:grpSp>
      <p:grpSp>
        <p:nvGrpSpPr>
          <p:cNvPr name="Group 29" id="29"/>
          <p:cNvGrpSpPr/>
          <p:nvPr/>
        </p:nvGrpSpPr>
        <p:grpSpPr>
          <a:xfrm rot="0">
            <a:off x="548640" y="6181344"/>
            <a:ext cx="5120640" cy="841248"/>
            <a:chOff x="0" y="0"/>
            <a:chExt cx="6827520" cy="1121664"/>
          </a:xfrm>
        </p:grpSpPr>
        <p:sp>
          <p:nvSpPr>
            <p:cNvPr name="Freeform 30" id="30"/>
            <p:cNvSpPr/>
            <p:nvPr/>
          </p:nvSpPr>
          <p:spPr>
            <a:xfrm flipH="false" flipV="false" rot="0">
              <a:off x="0" y="0"/>
              <a:ext cx="6827520" cy="1121664"/>
            </a:xfrm>
            <a:custGeom>
              <a:avLst/>
              <a:gdLst/>
              <a:ahLst/>
              <a:cxnLst/>
              <a:rect r="r" b="b" t="t" l="l"/>
              <a:pathLst>
                <a:path h="1121664" w="6827520">
                  <a:moveTo>
                    <a:pt x="0" y="0"/>
                  </a:moveTo>
                  <a:lnTo>
                    <a:pt x="6827520" y="0"/>
                  </a:lnTo>
                  <a:lnTo>
                    <a:pt x="6827520" y="1121664"/>
                  </a:lnTo>
                  <a:lnTo>
                    <a:pt x="0" y="1121664"/>
                  </a:lnTo>
                  <a:close/>
                </a:path>
              </a:pathLst>
            </a:custGeom>
            <a:blipFill>
              <a:blip r:embed="rId2">
                <a:alphaModFix amt="0"/>
              </a:blip>
              <a:stretch>
                <a:fillRect l="0" t="-68604" r="0" b="-68604"/>
              </a:stretch>
            </a:blipFill>
          </p:spPr>
        </p:sp>
        <p:sp>
          <p:nvSpPr>
            <p:cNvPr name="TextBox 31" id="31"/>
            <p:cNvSpPr txBox="true"/>
            <p:nvPr/>
          </p:nvSpPr>
          <p:spPr>
            <a:xfrm>
              <a:off x="0" y="-19050"/>
              <a:ext cx="6827520" cy="1140714"/>
            </a:xfrm>
            <a:prstGeom prst="rect">
              <a:avLst/>
            </a:prstGeom>
          </p:spPr>
          <p:txBody>
            <a:bodyPr anchor="ctr" rtlCol="false" tIns="0" lIns="0" bIns="0" rIns="0"/>
            <a:lstStyle/>
            <a:p>
              <a:pPr algn="ctr">
                <a:lnSpc>
                  <a:spcPts val="3120"/>
                </a:lnSpc>
              </a:pPr>
              <a:r>
                <a:rPr lang="en-US" sz="2600" b="true">
                  <a:solidFill>
                    <a:srgbClr val="FFFFFF"/>
                  </a:solidFill>
                  <a:latin typeface="Cambria Bold"/>
                  <a:ea typeface="Cambria Bold"/>
                  <a:cs typeface="Cambria Bold"/>
                  <a:sym typeface="Cambria Bold"/>
                </a:rPr>
                <a:t>2. Problématique</a:t>
              </a:r>
            </a:p>
          </p:txBody>
        </p:sp>
      </p:grpSp>
      <p:grpSp>
        <p:nvGrpSpPr>
          <p:cNvPr name="Group 32" id="32"/>
          <p:cNvGrpSpPr/>
          <p:nvPr/>
        </p:nvGrpSpPr>
        <p:grpSpPr>
          <a:xfrm rot="0">
            <a:off x="538477" y="7122157"/>
            <a:ext cx="17211037" cy="1337053"/>
            <a:chOff x="0" y="0"/>
            <a:chExt cx="22948049" cy="1782737"/>
          </a:xfrm>
        </p:grpSpPr>
        <p:sp>
          <p:nvSpPr>
            <p:cNvPr name="Freeform 33" id="33"/>
            <p:cNvSpPr/>
            <p:nvPr/>
          </p:nvSpPr>
          <p:spPr>
            <a:xfrm flipH="false" flipV="false" rot="0">
              <a:off x="0" y="0"/>
              <a:ext cx="22948137" cy="1782826"/>
            </a:xfrm>
            <a:custGeom>
              <a:avLst/>
              <a:gdLst/>
              <a:ahLst/>
              <a:cxnLst/>
              <a:rect r="r" b="b" t="t" l="l"/>
              <a:pathLst>
                <a:path h="1782826" w="22948137">
                  <a:moveTo>
                    <a:pt x="0" y="247650"/>
                  </a:moveTo>
                  <a:cubicBezTo>
                    <a:pt x="0" y="110871"/>
                    <a:pt x="110871" y="0"/>
                    <a:pt x="247650" y="0"/>
                  </a:cubicBezTo>
                  <a:lnTo>
                    <a:pt x="22700487" y="0"/>
                  </a:lnTo>
                  <a:cubicBezTo>
                    <a:pt x="22837267" y="0"/>
                    <a:pt x="22948137" y="110871"/>
                    <a:pt x="22948137" y="247650"/>
                  </a:cubicBezTo>
                  <a:lnTo>
                    <a:pt x="22948137" y="1535176"/>
                  </a:lnTo>
                  <a:cubicBezTo>
                    <a:pt x="22948137" y="1671955"/>
                    <a:pt x="22837267" y="1782826"/>
                    <a:pt x="22700487" y="1782826"/>
                  </a:cubicBezTo>
                  <a:lnTo>
                    <a:pt x="247650" y="1782826"/>
                  </a:lnTo>
                  <a:cubicBezTo>
                    <a:pt x="110871" y="1782826"/>
                    <a:pt x="0" y="1671955"/>
                    <a:pt x="0" y="1535176"/>
                  </a:cubicBezTo>
                  <a:close/>
                </a:path>
              </a:pathLst>
            </a:custGeom>
            <a:solidFill>
              <a:srgbClr val="EEF4FF"/>
            </a:solidFill>
            <a:ln w="20320" cap="sq">
              <a:solidFill>
                <a:srgbClr val="1D4ED8"/>
              </a:solidFill>
              <a:prstDash val="solid"/>
              <a:miter/>
            </a:ln>
          </p:spPr>
        </p:sp>
      </p:grpSp>
      <p:grpSp>
        <p:nvGrpSpPr>
          <p:cNvPr name="Group 34" id="34"/>
          <p:cNvGrpSpPr/>
          <p:nvPr/>
        </p:nvGrpSpPr>
        <p:grpSpPr>
          <a:xfrm rot="0">
            <a:off x="535943" y="7119623"/>
            <a:ext cx="574043" cy="1342139"/>
            <a:chOff x="0" y="0"/>
            <a:chExt cx="765391" cy="1789519"/>
          </a:xfrm>
        </p:grpSpPr>
        <p:sp>
          <p:nvSpPr>
            <p:cNvPr name="Freeform 35" id="35"/>
            <p:cNvSpPr/>
            <p:nvPr/>
          </p:nvSpPr>
          <p:spPr>
            <a:xfrm flipH="false" flipV="false" rot="0">
              <a:off x="0" y="0"/>
              <a:ext cx="765429" cy="1789557"/>
            </a:xfrm>
            <a:custGeom>
              <a:avLst/>
              <a:gdLst/>
              <a:ahLst/>
              <a:cxnLst/>
              <a:rect r="r" b="b" t="t" l="l"/>
              <a:pathLst>
                <a:path h="1789557" w="765429">
                  <a:moveTo>
                    <a:pt x="0" y="0"/>
                  </a:moveTo>
                  <a:lnTo>
                    <a:pt x="765429" y="0"/>
                  </a:lnTo>
                  <a:lnTo>
                    <a:pt x="765429" y="1789557"/>
                  </a:lnTo>
                  <a:lnTo>
                    <a:pt x="0" y="1789557"/>
                  </a:lnTo>
                  <a:close/>
                </a:path>
              </a:pathLst>
            </a:custGeom>
            <a:solidFill>
              <a:srgbClr val="1D4ED8"/>
            </a:solidFill>
            <a:ln w="25400" cap="sq">
              <a:solidFill>
                <a:srgbClr val="1D4ED8"/>
              </a:solidFill>
              <a:prstDash val="solid"/>
              <a:miter/>
            </a:ln>
          </p:spPr>
        </p:sp>
      </p:grpSp>
      <p:grpSp>
        <p:nvGrpSpPr>
          <p:cNvPr name="Group 36" id="36"/>
          <p:cNvGrpSpPr/>
          <p:nvPr/>
        </p:nvGrpSpPr>
        <p:grpSpPr>
          <a:xfrm rot="0">
            <a:off x="1371600" y="7205472"/>
            <a:ext cx="16093440" cy="1133856"/>
            <a:chOff x="0" y="0"/>
            <a:chExt cx="21457920" cy="1511808"/>
          </a:xfrm>
        </p:grpSpPr>
        <p:sp>
          <p:nvSpPr>
            <p:cNvPr name="Freeform 37" id="37"/>
            <p:cNvSpPr/>
            <p:nvPr/>
          </p:nvSpPr>
          <p:spPr>
            <a:xfrm flipH="false" flipV="false" rot="0">
              <a:off x="0" y="0"/>
              <a:ext cx="21457920" cy="1511808"/>
            </a:xfrm>
            <a:custGeom>
              <a:avLst/>
              <a:gdLst/>
              <a:ahLst/>
              <a:cxnLst/>
              <a:rect r="r" b="b" t="t" l="l"/>
              <a:pathLst>
                <a:path h="1511808" w="21457920">
                  <a:moveTo>
                    <a:pt x="0" y="0"/>
                  </a:moveTo>
                  <a:lnTo>
                    <a:pt x="21457920" y="0"/>
                  </a:lnTo>
                  <a:lnTo>
                    <a:pt x="21457920" y="1511808"/>
                  </a:lnTo>
                  <a:lnTo>
                    <a:pt x="0" y="1511808"/>
                  </a:lnTo>
                  <a:close/>
                </a:path>
              </a:pathLst>
            </a:custGeom>
            <a:blipFill>
              <a:blip r:embed="rId2">
                <a:alphaModFix amt="0"/>
              </a:blip>
              <a:stretch>
                <a:fillRect l="0" t="-226561" r="0" b="-226561"/>
              </a:stretch>
            </a:blipFill>
          </p:spPr>
        </p:sp>
        <p:sp>
          <p:nvSpPr>
            <p:cNvPr name="TextBox 38" id="38"/>
            <p:cNvSpPr txBox="true"/>
            <p:nvPr/>
          </p:nvSpPr>
          <p:spPr>
            <a:xfrm>
              <a:off x="0" y="-47625"/>
              <a:ext cx="21457920" cy="1559433"/>
            </a:xfrm>
            <a:prstGeom prst="rect">
              <a:avLst/>
            </a:prstGeom>
          </p:spPr>
          <p:txBody>
            <a:bodyPr anchor="ctr" rtlCol="false" tIns="0" lIns="0" bIns="0" rIns="0"/>
            <a:lstStyle/>
            <a:p>
              <a:pPr algn="l">
                <a:lnSpc>
                  <a:spcPts val="2640"/>
                </a:lnSpc>
              </a:pPr>
              <a:r>
                <a:rPr lang="en-US" sz="2200">
                  <a:solidFill>
                    <a:srgbClr val="1E293B"/>
                  </a:solidFill>
                  <a:latin typeface="Calibri (MS)"/>
                  <a:ea typeface="Calibri (MS)"/>
                  <a:cs typeface="Calibri (MS)"/>
                  <a:sym typeface="Calibri (MS)"/>
                </a:rPr>
                <a:t>Le principal problème est </a:t>
              </a:r>
              <a:r>
                <a:rPr lang="en-US" sz="2200" b="true">
                  <a:solidFill>
                    <a:srgbClr val="1E3A5F"/>
                  </a:solidFill>
                  <a:latin typeface="Calibri (MS) Bold"/>
                  <a:ea typeface="Calibri (MS) Bold"/>
                  <a:cs typeface="Calibri (MS) Bold"/>
                  <a:sym typeface="Calibri (MS) Bold"/>
                </a:rPr>
                <a:t>l'absence d'un mécanisme fiable </a:t>
              </a:r>
              <a:r>
                <a:rPr lang="en-US" sz="2200">
                  <a:solidFill>
                    <a:srgbClr val="1E293B"/>
                  </a:solidFill>
                  <a:latin typeface="Calibri (MS)"/>
                  <a:ea typeface="Calibri (MS)"/>
                  <a:cs typeface="Calibri (MS)"/>
                  <a:sym typeface="Calibri (MS)"/>
                </a:rPr>
                <a:t>permettant d'identifier en temps réel les comportements anormaux dans le trafic réseau, ce qui </a:t>
              </a:r>
              <a:r>
                <a:rPr lang="en-US" sz="2200" b="true">
                  <a:solidFill>
                    <a:srgbClr val="1E3A5F"/>
                  </a:solidFill>
                  <a:latin typeface="Calibri (MS) Bold"/>
                  <a:ea typeface="Calibri (MS) Bold"/>
                  <a:cs typeface="Calibri (MS) Bold"/>
                  <a:sym typeface="Calibri (MS) Bold"/>
                </a:rPr>
                <a:t>limite la capacité de réaction face aux menaces.</a:t>
              </a:r>
            </a:p>
          </p:txBody>
        </p:sp>
      </p:grpSp>
      <p:grpSp>
        <p:nvGrpSpPr>
          <p:cNvPr name="Group 39" id="39"/>
          <p:cNvGrpSpPr/>
          <p:nvPr/>
        </p:nvGrpSpPr>
        <p:grpSpPr>
          <a:xfrm rot="0">
            <a:off x="548640" y="8631936"/>
            <a:ext cx="7315200" cy="548640"/>
            <a:chOff x="0" y="0"/>
            <a:chExt cx="9753600" cy="731520"/>
          </a:xfrm>
        </p:grpSpPr>
        <p:sp>
          <p:nvSpPr>
            <p:cNvPr name="Freeform 40" id="40"/>
            <p:cNvSpPr/>
            <p:nvPr/>
          </p:nvSpPr>
          <p:spPr>
            <a:xfrm flipH="false" flipV="false" rot="0">
              <a:off x="0" y="0"/>
              <a:ext cx="9753600" cy="731520"/>
            </a:xfrm>
            <a:custGeom>
              <a:avLst/>
              <a:gdLst/>
              <a:ahLst/>
              <a:cxnLst/>
              <a:rect r="r" b="b" t="t" l="l"/>
              <a:pathLst>
                <a:path h="731520" w="9753600">
                  <a:moveTo>
                    <a:pt x="0" y="0"/>
                  </a:moveTo>
                  <a:lnTo>
                    <a:pt x="9753600" y="0"/>
                  </a:lnTo>
                  <a:lnTo>
                    <a:pt x="9753600" y="731520"/>
                  </a:lnTo>
                  <a:lnTo>
                    <a:pt x="0" y="731520"/>
                  </a:lnTo>
                  <a:close/>
                </a:path>
              </a:pathLst>
            </a:custGeom>
            <a:blipFill>
              <a:blip r:embed="rId2">
                <a:alphaModFix amt="0"/>
              </a:blip>
              <a:stretch>
                <a:fillRect l="0" t="-209800" r="0" b="-209800"/>
              </a:stretch>
            </a:blipFill>
          </p:spPr>
        </p:sp>
        <p:sp>
          <p:nvSpPr>
            <p:cNvPr name="TextBox 41" id="41"/>
            <p:cNvSpPr txBox="true"/>
            <p:nvPr/>
          </p:nvSpPr>
          <p:spPr>
            <a:xfrm>
              <a:off x="0" y="-47625"/>
              <a:ext cx="9753600" cy="779145"/>
            </a:xfrm>
            <a:prstGeom prst="rect">
              <a:avLst/>
            </a:prstGeom>
          </p:spPr>
          <p:txBody>
            <a:bodyPr anchor="ctr" rtlCol="false" tIns="0" lIns="0" bIns="0" rIns="0"/>
            <a:lstStyle/>
            <a:p>
              <a:pPr algn="l">
                <a:lnSpc>
                  <a:spcPts val="2520"/>
                </a:lnSpc>
              </a:pPr>
              <a:r>
                <a:rPr lang="en-US" b="true" sz="2100" i="true">
                  <a:solidFill>
                    <a:srgbClr val="64748B"/>
                  </a:solidFill>
                  <a:latin typeface="Calibri (MS) Bold Italics"/>
                  <a:ea typeface="Calibri (MS) Bold Italics"/>
                  <a:cs typeface="Calibri (MS) Bold Italics"/>
                  <a:sym typeface="Calibri (MS) Bold Italics"/>
                </a:rPr>
                <a:t>Questions clés identifiées :</a:t>
              </a:r>
            </a:p>
          </p:txBody>
        </p:sp>
      </p:grpSp>
      <p:grpSp>
        <p:nvGrpSpPr>
          <p:cNvPr name="Group 42" id="42"/>
          <p:cNvGrpSpPr/>
          <p:nvPr/>
        </p:nvGrpSpPr>
        <p:grpSpPr>
          <a:xfrm rot="0">
            <a:off x="538477" y="9243565"/>
            <a:ext cx="5598157" cy="1446781"/>
            <a:chOff x="0" y="0"/>
            <a:chExt cx="7464209" cy="1929041"/>
          </a:xfrm>
        </p:grpSpPr>
        <p:sp>
          <p:nvSpPr>
            <p:cNvPr name="Freeform 43" id="43"/>
            <p:cNvSpPr/>
            <p:nvPr/>
          </p:nvSpPr>
          <p:spPr>
            <a:xfrm flipH="false" flipV="false" rot="0">
              <a:off x="0" y="0"/>
              <a:ext cx="7464299" cy="1929130"/>
            </a:xfrm>
            <a:custGeom>
              <a:avLst/>
              <a:gdLst/>
              <a:ahLst/>
              <a:cxnLst/>
              <a:rect r="r" b="b" t="t" l="l"/>
              <a:pathLst>
                <a:path h="1929130" w="7464299">
                  <a:moveTo>
                    <a:pt x="0" y="222631"/>
                  </a:moveTo>
                  <a:cubicBezTo>
                    <a:pt x="0" y="99695"/>
                    <a:pt x="99695" y="0"/>
                    <a:pt x="222631" y="0"/>
                  </a:cubicBezTo>
                  <a:lnTo>
                    <a:pt x="7241667" y="0"/>
                  </a:lnTo>
                  <a:cubicBezTo>
                    <a:pt x="7364603" y="0"/>
                    <a:pt x="7464299" y="99695"/>
                    <a:pt x="7464299" y="222631"/>
                  </a:cubicBezTo>
                  <a:lnTo>
                    <a:pt x="7464299" y="1706499"/>
                  </a:lnTo>
                  <a:cubicBezTo>
                    <a:pt x="7464299" y="1829435"/>
                    <a:pt x="7364603" y="1929130"/>
                    <a:pt x="7241667" y="1929130"/>
                  </a:cubicBezTo>
                  <a:lnTo>
                    <a:pt x="222631" y="1929130"/>
                  </a:lnTo>
                  <a:cubicBezTo>
                    <a:pt x="99695" y="1929003"/>
                    <a:pt x="0" y="1829435"/>
                    <a:pt x="0" y="1706499"/>
                  </a:cubicBezTo>
                  <a:close/>
                </a:path>
              </a:pathLst>
            </a:custGeom>
            <a:solidFill>
              <a:srgbClr val="FFFFFF"/>
            </a:solidFill>
            <a:ln w="20320" cap="sq">
              <a:solidFill>
                <a:srgbClr val="3A7FC1"/>
              </a:solidFill>
              <a:prstDash val="solid"/>
              <a:miter/>
            </a:ln>
          </p:spPr>
        </p:sp>
      </p:grpSp>
      <p:grpSp>
        <p:nvGrpSpPr>
          <p:cNvPr name="Group 44" id="44"/>
          <p:cNvGrpSpPr/>
          <p:nvPr/>
        </p:nvGrpSpPr>
        <p:grpSpPr>
          <a:xfrm rot="0">
            <a:off x="718823" y="9350759"/>
            <a:ext cx="866651" cy="574043"/>
            <a:chOff x="0" y="0"/>
            <a:chExt cx="1155535" cy="765391"/>
          </a:xfrm>
        </p:grpSpPr>
        <p:sp>
          <p:nvSpPr>
            <p:cNvPr name="Freeform 45" id="45"/>
            <p:cNvSpPr/>
            <p:nvPr/>
          </p:nvSpPr>
          <p:spPr>
            <a:xfrm flipH="false" flipV="false" rot="0">
              <a:off x="0" y="0"/>
              <a:ext cx="1155446" cy="765302"/>
            </a:xfrm>
            <a:custGeom>
              <a:avLst/>
              <a:gdLst/>
              <a:ahLst/>
              <a:cxnLst/>
              <a:rect r="r" b="b" t="t" l="l"/>
              <a:pathLst>
                <a:path h="765302" w="1155446">
                  <a:moveTo>
                    <a:pt x="0" y="127508"/>
                  </a:moveTo>
                  <a:cubicBezTo>
                    <a:pt x="0" y="57150"/>
                    <a:pt x="57150" y="0"/>
                    <a:pt x="127508" y="0"/>
                  </a:cubicBezTo>
                  <a:lnTo>
                    <a:pt x="1027938" y="0"/>
                  </a:lnTo>
                  <a:cubicBezTo>
                    <a:pt x="1098423" y="0"/>
                    <a:pt x="1155446" y="57150"/>
                    <a:pt x="1155446" y="127508"/>
                  </a:cubicBezTo>
                  <a:lnTo>
                    <a:pt x="1155446" y="637794"/>
                  </a:lnTo>
                  <a:cubicBezTo>
                    <a:pt x="1155446" y="708279"/>
                    <a:pt x="1098296" y="765302"/>
                    <a:pt x="1027938" y="765302"/>
                  </a:cubicBezTo>
                  <a:lnTo>
                    <a:pt x="127508" y="765302"/>
                  </a:lnTo>
                  <a:cubicBezTo>
                    <a:pt x="57150" y="765429"/>
                    <a:pt x="0" y="708279"/>
                    <a:pt x="0" y="637794"/>
                  </a:cubicBezTo>
                  <a:close/>
                </a:path>
              </a:pathLst>
            </a:custGeom>
            <a:solidFill>
              <a:srgbClr val="3A7FC1"/>
            </a:solidFill>
            <a:ln w="25400" cap="sq">
              <a:solidFill>
                <a:srgbClr val="3A7FC1"/>
              </a:solidFill>
              <a:prstDash val="solid"/>
              <a:miter/>
            </a:ln>
          </p:spPr>
        </p:sp>
      </p:grpSp>
      <p:grpSp>
        <p:nvGrpSpPr>
          <p:cNvPr name="Group 46" id="46"/>
          <p:cNvGrpSpPr/>
          <p:nvPr/>
        </p:nvGrpSpPr>
        <p:grpSpPr>
          <a:xfrm rot="0">
            <a:off x="731520" y="9363456"/>
            <a:ext cx="841248" cy="548640"/>
            <a:chOff x="0" y="0"/>
            <a:chExt cx="1121664" cy="731520"/>
          </a:xfrm>
        </p:grpSpPr>
        <p:sp>
          <p:nvSpPr>
            <p:cNvPr name="Freeform 47" id="47"/>
            <p:cNvSpPr/>
            <p:nvPr/>
          </p:nvSpPr>
          <p:spPr>
            <a:xfrm flipH="false" flipV="false" rot="0">
              <a:off x="0" y="0"/>
              <a:ext cx="1121664" cy="731520"/>
            </a:xfrm>
            <a:custGeom>
              <a:avLst/>
              <a:gdLst/>
              <a:ahLst/>
              <a:cxnLst/>
              <a:rect r="r" b="b" t="t" l="l"/>
              <a:pathLst>
                <a:path h="731520" w="1121664">
                  <a:moveTo>
                    <a:pt x="0" y="0"/>
                  </a:moveTo>
                  <a:lnTo>
                    <a:pt x="1121664" y="0"/>
                  </a:lnTo>
                  <a:lnTo>
                    <a:pt x="1121664" y="731520"/>
                  </a:lnTo>
                  <a:lnTo>
                    <a:pt x="0" y="731520"/>
                  </a:lnTo>
                  <a:close/>
                </a:path>
              </a:pathLst>
            </a:custGeom>
            <a:blipFill>
              <a:blip r:embed="rId2">
                <a:alphaModFix amt="0"/>
              </a:blip>
              <a:stretch>
                <a:fillRect l="-33676" t="0" r="-33676" b="0"/>
              </a:stretch>
            </a:blipFill>
          </p:spPr>
        </p:sp>
        <p:sp>
          <p:nvSpPr>
            <p:cNvPr name="TextBox 48" id="48"/>
            <p:cNvSpPr txBox="true"/>
            <p:nvPr/>
          </p:nvSpPr>
          <p:spPr>
            <a:xfrm>
              <a:off x="0" y="-38100"/>
              <a:ext cx="1121664" cy="76962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Q1</a:t>
              </a:r>
            </a:p>
          </p:txBody>
        </p:sp>
      </p:grpSp>
      <p:grpSp>
        <p:nvGrpSpPr>
          <p:cNvPr name="Group 49" id="49"/>
          <p:cNvGrpSpPr/>
          <p:nvPr/>
        </p:nvGrpSpPr>
        <p:grpSpPr>
          <a:xfrm rot="0">
            <a:off x="1682496" y="9326880"/>
            <a:ext cx="4297680" cy="1207008"/>
            <a:chOff x="0" y="0"/>
            <a:chExt cx="5730240" cy="1609344"/>
          </a:xfrm>
        </p:grpSpPr>
        <p:sp>
          <p:nvSpPr>
            <p:cNvPr name="Freeform 50" id="50"/>
            <p:cNvSpPr/>
            <p:nvPr/>
          </p:nvSpPr>
          <p:spPr>
            <a:xfrm flipH="false" flipV="false" rot="0">
              <a:off x="0" y="0"/>
              <a:ext cx="5730240" cy="1609344"/>
            </a:xfrm>
            <a:custGeom>
              <a:avLst/>
              <a:gdLst/>
              <a:ahLst/>
              <a:cxnLst/>
              <a:rect r="r" b="b" t="t" l="l"/>
              <a:pathLst>
                <a:path h="1609344" w="5730240">
                  <a:moveTo>
                    <a:pt x="0" y="0"/>
                  </a:moveTo>
                  <a:lnTo>
                    <a:pt x="5730240" y="0"/>
                  </a:lnTo>
                  <a:lnTo>
                    <a:pt x="5730240" y="1609344"/>
                  </a:lnTo>
                  <a:lnTo>
                    <a:pt x="0" y="1609344"/>
                  </a:lnTo>
                  <a:close/>
                </a:path>
              </a:pathLst>
            </a:custGeom>
            <a:blipFill>
              <a:blip r:embed="rId2">
                <a:alphaModFix amt="0"/>
              </a:blip>
              <a:stretch>
                <a:fillRect l="0" t="-19378" r="0" b="-19378"/>
              </a:stretch>
            </a:blipFill>
          </p:spPr>
        </p:sp>
        <p:sp>
          <p:nvSpPr>
            <p:cNvPr name="TextBox 51" id="51"/>
            <p:cNvSpPr txBox="true"/>
            <p:nvPr/>
          </p:nvSpPr>
          <p:spPr>
            <a:xfrm>
              <a:off x="0" y="-38100"/>
              <a:ext cx="5730240" cy="1647444"/>
            </a:xfrm>
            <a:prstGeom prst="rect">
              <a:avLst/>
            </a:prstGeom>
          </p:spPr>
          <p:txBody>
            <a:bodyPr anchor="ctr" rtlCol="false" tIns="0" lIns="0" bIns="0" rIns="0"/>
            <a:lstStyle/>
            <a:p>
              <a:pPr algn="l">
                <a:lnSpc>
                  <a:spcPts val="2039"/>
                </a:lnSpc>
              </a:pPr>
              <a:r>
                <a:rPr lang="en-US" sz="1700">
                  <a:solidFill>
                    <a:srgbClr val="1E293B"/>
                  </a:solidFill>
                  <a:latin typeface="Calibri (MS)"/>
                  <a:ea typeface="Calibri (MS)"/>
                  <a:cs typeface="Calibri (MS)"/>
                  <a:sym typeface="Calibri (MS)"/>
                </a:rPr>
                <a:t>Quels sont les principaux éléments qui échappent actuellement à la détection des attaques ?</a:t>
              </a:r>
            </a:p>
          </p:txBody>
        </p:sp>
      </p:grpSp>
      <p:grpSp>
        <p:nvGrpSpPr>
          <p:cNvPr name="Group 52" id="52"/>
          <p:cNvGrpSpPr/>
          <p:nvPr/>
        </p:nvGrpSpPr>
        <p:grpSpPr>
          <a:xfrm rot="0">
            <a:off x="6335773" y="9243565"/>
            <a:ext cx="5598157" cy="1446781"/>
            <a:chOff x="0" y="0"/>
            <a:chExt cx="7464209" cy="1929041"/>
          </a:xfrm>
        </p:grpSpPr>
        <p:sp>
          <p:nvSpPr>
            <p:cNvPr name="Freeform 53" id="53"/>
            <p:cNvSpPr/>
            <p:nvPr/>
          </p:nvSpPr>
          <p:spPr>
            <a:xfrm flipH="false" flipV="false" rot="0">
              <a:off x="0" y="0"/>
              <a:ext cx="7464299" cy="1929130"/>
            </a:xfrm>
            <a:custGeom>
              <a:avLst/>
              <a:gdLst/>
              <a:ahLst/>
              <a:cxnLst/>
              <a:rect r="r" b="b" t="t" l="l"/>
              <a:pathLst>
                <a:path h="1929130" w="7464299">
                  <a:moveTo>
                    <a:pt x="0" y="222631"/>
                  </a:moveTo>
                  <a:cubicBezTo>
                    <a:pt x="0" y="99695"/>
                    <a:pt x="99695" y="0"/>
                    <a:pt x="222631" y="0"/>
                  </a:cubicBezTo>
                  <a:lnTo>
                    <a:pt x="7241667" y="0"/>
                  </a:lnTo>
                  <a:cubicBezTo>
                    <a:pt x="7364603" y="0"/>
                    <a:pt x="7464299" y="99695"/>
                    <a:pt x="7464299" y="222631"/>
                  </a:cubicBezTo>
                  <a:lnTo>
                    <a:pt x="7464299" y="1706499"/>
                  </a:lnTo>
                  <a:cubicBezTo>
                    <a:pt x="7464299" y="1829435"/>
                    <a:pt x="7364603" y="1929130"/>
                    <a:pt x="7241667" y="1929130"/>
                  </a:cubicBezTo>
                  <a:lnTo>
                    <a:pt x="222631" y="1929130"/>
                  </a:lnTo>
                  <a:cubicBezTo>
                    <a:pt x="99695" y="1929003"/>
                    <a:pt x="0" y="1829435"/>
                    <a:pt x="0" y="1706499"/>
                  </a:cubicBezTo>
                  <a:close/>
                </a:path>
              </a:pathLst>
            </a:custGeom>
            <a:solidFill>
              <a:srgbClr val="FFFFFF"/>
            </a:solidFill>
            <a:ln w="20320" cap="sq">
              <a:solidFill>
                <a:srgbClr val="2E6DB4"/>
              </a:solidFill>
              <a:prstDash val="solid"/>
              <a:miter/>
            </a:ln>
          </p:spPr>
        </p:sp>
      </p:grpSp>
      <p:grpSp>
        <p:nvGrpSpPr>
          <p:cNvPr name="Group 54" id="54"/>
          <p:cNvGrpSpPr/>
          <p:nvPr/>
        </p:nvGrpSpPr>
        <p:grpSpPr>
          <a:xfrm rot="0">
            <a:off x="6516119" y="9350759"/>
            <a:ext cx="866651" cy="574043"/>
            <a:chOff x="0" y="0"/>
            <a:chExt cx="1155535" cy="765391"/>
          </a:xfrm>
        </p:grpSpPr>
        <p:sp>
          <p:nvSpPr>
            <p:cNvPr name="Freeform 55" id="55"/>
            <p:cNvSpPr/>
            <p:nvPr/>
          </p:nvSpPr>
          <p:spPr>
            <a:xfrm flipH="false" flipV="false" rot="0">
              <a:off x="0" y="0"/>
              <a:ext cx="1155446" cy="765302"/>
            </a:xfrm>
            <a:custGeom>
              <a:avLst/>
              <a:gdLst/>
              <a:ahLst/>
              <a:cxnLst/>
              <a:rect r="r" b="b" t="t" l="l"/>
              <a:pathLst>
                <a:path h="765302" w="1155446">
                  <a:moveTo>
                    <a:pt x="0" y="127508"/>
                  </a:moveTo>
                  <a:cubicBezTo>
                    <a:pt x="0" y="57150"/>
                    <a:pt x="57150" y="0"/>
                    <a:pt x="127508" y="0"/>
                  </a:cubicBezTo>
                  <a:lnTo>
                    <a:pt x="1027938" y="0"/>
                  </a:lnTo>
                  <a:cubicBezTo>
                    <a:pt x="1098423" y="0"/>
                    <a:pt x="1155446" y="57150"/>
                    <a:pt x="1155446" y="127508"/>
                  </a:cubicBezTo>
                  <a:lnTo>
                    <a:pt x="1155446" y="637794"/>
                  </a:lnTo>
                  <a:cubicBezTo>
                    <a:pt x="1155446" y="708279"/>
                    <a:pt x="1098296" y="765302"/>
                    <a:pt x="1027938" y="765302"/>
                  </a:cubicBezTo>
                  <a:lnTo>
                    <a:pt x="127508" y="765302"/>
                  </a:lnTo>
                  <a:cubicBezTo>
                    <a:pt x="57150" y="765429"/>
                    <a:pt x="0" y="708279"/>
                    <a:pt x="0" y="637794"/>
                  </a:cubicBezTo>
                  <a:close/>
                </a:path>
              </a:pathLst>
            </a:custGeom>
            <a:solidFill>
              <a:srgbClr val="2E6DB4"/>
            </a:solidFill>
            <a:ln w="25400" cap="sq">
              <a:solidFill>
                <a:srgbClr val="2E6DB4"/>
              </a:solidFill>
              <a:prstDash val="solid"/>
              <a:miter/>
            </a:ln>
          </p:spPr>
        </p:sp>
      </p:grpSp>
      <p:grpSp>
        <p:nvGrpSpPr>
          <p:cNvPr name="Group 56" id="56"/>
          <p:cNvGrpSpPr/>
          <p:nvPr/>
        </p:nvGrpSpPr>
        <p:grpSpPr>
          <a:xfrm rot="0">
            <a:off x="6528816" y="9363456"/>
            <a:ext cx="841248" cy="548640"/>
            <a:chOff x="0" y="0"/>
            <a:chExt cx="1121664" cy="731520"/>
          </a:xfrm>
        </p:grpSpPr>
        <p:sp>
          <p:nvSpPr>
            <p:cNvPr name="Freeform 57" id="57"/>
            <p:cNvSpPr/>
            <p:nvPr/>
          </p:nvSpPr>
          <p:spPr>
            <a:xfrm flipH="false" flipV="false" rot="0">
              <a:off x="0" y="0"/>
              <a:ext cx="1121664" cy="731520"/>
            </a:xfrm>
            <a:custGeom>
              <a:avLst/>
              <a:gdLst/>
              <a:ahLst/>
              <a:cxnLst/>
              <a:rect r="r" b="b" t="t" l="l"/>
              <a:pathLst>
                <a:path h="731520" w="1121664">
                  <a:moveTo>
                    <a:pt x="0" y="0"/>
                  </a:moveTo>
                  <a:lnTo>
                    <a:pt x="1121664" y="0"/>
                  </a:lnTo>
                  <a:lnTo>
                    <a:pt x="1121664" y="731520"/>
                  </a:lnTo>
                  <a:lnTo>
                    <a:pt x="0" y="731520"/>
                  </a:lnTo>
                  <a:close/>
                </a:path>
              </a:pathLst>
            </a:custGeom>
            <a:blipFill>
              <a:blip r:embed="rId2">
                <a:alphaModFix amt="0"/>
              </a:blip>
              <a:stretch>
                <a:fillRect l="-33676" t="0" r="-33676" b="0"/>
              </a:stretch>
            </a:blipFill>
          </p:spPr>
        </p:sp>
        <p:sp>
          <p:nvSpPr>
            <p:cNvPr name="TextBox 58" id="58"/>
            <p:cNvSpPr txBox="true"/>
            <p:nvPr/>
          </p:nvSpPr>
          <p:spPr>
            <a:xfrm>
              <a:off x="0" y="-38100"/>
              <a:ext cx="1121664" cy="76962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Q2</a:t>
              </a:r>
            </a:p>
          </p:txBody>
        </p:sp>
      </p:grpSp>
      <p:grpSp>
        <p:nvGrpSpPr>
          <p:cNvPr name="Group 59" id="59"/>
          <p:cNvGrpSpPr/>
          <p:nvPr/>
        </p:nvGrpSpPr>
        <p:grpSpPr>
          <a:xfrm rot="0">
            <a:off x="7479792" y="9326880"/>
            <a:ext cx="4297680" cy="1207008"/>
            <a:chOff x="0" y="0"/>
            <a:chExt cx="5730240" cy="1609344"/>
          </a:xfrm>
        </p:grpSpPr>
        <p:sp>
          <p:nvSpPr>
            <p:cNvPr name="Freeform 60" id="60"/>
            <p:cNvSpPr/>
            <p:nvPr/>
          </p:nvSpPr>
          <p:spPr>
            <a:xfrm flipH="false" flipV="false" rot="0">
              <a:off x="0" y="0"/>
              <a:ext cx="5730240" cy="1609344"/>
            </a:xfrm>
            <a:custGeom>
              <a:avLst/>
              <a:gdLst/>
              <a:ahLst/>
              <a:cxnLst/>
              <a:rect r="r" b="b" t="t" l="l"/>
              <a:pathLst>
                <a:path h="1609344" w="5730240">
                  <a:moveTo>
                    <a:pt x="0" y="0"/>
                  </a:moveTo>
                  <a:lnTo>
                    <a:pt x="5730240" y="0"/>
                  </a:lnTo>
                  <a:lnTo>
                    <a:pt x="5730240" y="1609344"/>
                  </a:lnTo>
                  <a:lnTo>
                    <a:pt x="0" y="1609344"/>
                  </a:lnTo>
                  <a:close/>
                </a:path>
              </a:pathLst>
            </a:custGeom>
            <a:blipFill>
              <a:blip r:embed="rId2">
                <a:alphaModFix amt="0"/>
              </a:blip>
              <a:stretch>
                <a:fillRect l="0" t="-19378" r="0" b="-19378"/>
              </a:stretch>
            </a:blipFill>
          </p:spPr>
        </p:sp>
        <p:sp>
          <p:nvSpPr>
            <p:cNvPr name="TextBox 61" id="61"/>
            <p:cNvSpPr txBox="true"/>
            <p:nvPr/>
          </p:nvSpPr>
          <p:spPr>
            <a:xfrm>
              <a:off x="0" y="-38100"/>
              <a:ext cx="5730240" cy="1647444"/>
            </a:xfrm>
            <a:prstGeom prst="rect">
              <a:avLst/>
            </a:prstGeom>
          </p:spPr>
          <p:txBody>
            <a:bodyPr anchor="ctr" rtlCol="false" tIns="0" lIns="0" bIns="0" rIns="0"/>
            <a:lstStyle/>
            <a:p>
              <a:pPr algn="l">
                <a:lnSpc>
                  <a:spcPts val="2039"/>
                </a:lnSpc>
              </a:pPr>
              <a:r>
                <a:rPr lang="en-US" sz="1700">
                  <a:solidFill>
                    <a:srgbClr val="1E293B"/>
                  </a:solidFill>
                  <a:latin typeface="Calibri (MS)"/>
                  <a:ea typeface="Calibri (MS)"/>
                  <a:cs typeface="Calibri (MS)"/>
                  <a:sym typeface="Calibri (MS)"/>
                </a:rPr>
                <a:t>Comment un système basé sur l'IA peut-il nous aider à anticiper les éventuelles attaques ?</a:t>
              </a:r>
            </a:p>
          </p:txBody>
        </p:sp>
      </p:grpSp>
      <p:grpSp>
        <p:nvGrpSpPr>
          <p:cNvPr name="Group 62" id="62"/>
          <p:cNvGrpSpPr/>
          <p:nvPr/>
        </p:nvGrpSpPr>
        <p:grpSpPr>
          <a:xfrm rot="0">
            <a:off x="12133069" y="9243565"/>
            <a:ext cx="5598157" cy="1446781"/>
            <a:chOff x="0" y="0"/>
            <a:chExt cx="7464209" cy="1929041"/>
          </a:xfrm>
        </p:grpSpPr>
        <p:sp>
          <p:nvSpPr>
            <p:cNvPr name="Freeform 63" id="63"/>
            <p:cNvSpPr/>
            <p:nvPr/>
          </p:nvSpPr>
          <p:spPr>
            <a:xfrm flipH="false" flipV="false" rot="0">
              <a:off x="0" y="0"/>
              <a:ext cx="7464299" cy="1929130"/>
            </a:xfrm>
            <a:custGeom>
              <a:avLst/>
              <a:gdLst/>
              <a:ahLst/>
              <a:cxnLst/>
              <a:rect r="r" b="b" t="t" l="l"/>
              <a:pathLst>
                <a:path h="1929130" w="7464299">
                  <a:moveTo>
                    <a:pt x="0" y="222631"/>
                  </a:moveTo>
                  <a:cubicBezTo>
                    <a:pt x="0" y="99695"/>
                    <a:pt x="99695" y="0"/>
                    <a:pt x="222631" y="0"/>
                  </a:cubicBezTo>
                  <a:lnTo>
                    <a:pt x="7241667" y="0"/>
                  </a:lnTo>
                  <a:cubicBezTo>
                    <a:pt x="7364603" y="0"/>
                    <a:pt x="7464299" y="99695"/>
                    <a:pt x="7464299" y="222631"/>
                  </a:cubicBezTo>
                  <a:lnTo>
                    <a:pt x="7464299" y="1706499"/>
                  </a:lnTo>
                  <a:cubicBezTo>
                    <a:pt x="7464299" y="1829435"/>
                    <a:pt x="7364603" y="1929130"/>
                    <a:pt x="7241667" y="1929130"/>
                  </a:cubicBezTo>
                  <a:lnTo>
                    <a:pt x="222631" y="1929130"/>
                  </a:lnTo>
                  <a:cubicBezTo>
                    <a:pt x="99695" y="1929003"/>
                    <a:pt x="0" y="1829435"/>
                    <a:pt x="0" y="1706499"/>
                  </a:cubicBezTo>
                  <a:close/>
                </a:path>
              </a:pathLst>
            </a:custGeom>
            <a:solidFill>
              <a:srgbClr val="FFFFFF"/>
            </a:solidFill>
            <a:ln w="20320" cap="sq">
              <a:solidFill>
                <a:srgbClr val="1E3A5F"/>
              </a:solidFill>
              <a:prstDash val="solid"/>
              <a:miter/>
            </a:ln>
          </p:spPr>
        </p:sp>
      </p:grpSp>
      <p:grpSp>
        <p:nvGrpSpPr>
          <p:cNvPr name="Group 64" id="64"/>
          <p:cNvGrpSpPr/>
          <p:nvPr/>
        </p:nvGrpSpPr>
        <p:grpSpPr>
          <a:xfrm rot="0">
            <a:off x="12313415" y="9350759"/>
            <a:ext cx="866651" cy="574043"/>
            <a:chOff x="0" y="0"/>
            <a:chExt cx="1155535" cy="765391"/>
          </a:xfrm>
        </p:grpSpPr>
        <p:sp>
          <p:nvSpPr>
            <p:cNvPr name="Freeform 65" id="65"/>
            <p:cNvSpPr/>
            <p:nvPr/>
          </p:nvSpPr>
          <p:spPr>
            <a:xfrm flipH="false" flipV="false" rot="0">
              <a:off x="0" y="0"/>
              <a:ext cx="1155446" cy="765302"/>
            </a:xfrm>
            <a:custGeom>
              <a:avLst/>
              <a:gdLst/>
              <a:ahLst/>
              <a:cxnLst/>
              <a:rect r="r" b="b" t="t" l="l"/>
              <a:pathLst>
                <a:path h="765302" w="1155446">
                  <a:moveTo>
                    <a:pt x="0" y="127508"/>
                  </a:moveTo>
                  <a:cubicBezTo>
                    <a:pt x="0" y="57150"/>
                    <a:pt x="57150" y="0"/>
                    <a:pt x="127508" y="0"/>
                  </a:cubicBezTo>
                  <a:lnTo>
                    <a:pt x="1027938" y="0"/>
                  </a:lnTo>
                  <a:cubicBezTo>
                    <a:pt x="1098423" y="0"/>
                    <a:pt x="1155446" y="57150"/>
                    <a:pt x="1155446" y="127508"/>
                  </a:cubicBezTo>
                  <a:lnTo>
                    <a:pt x="1155446" y="637794"/>
                  </a:lnTo>
                  <a:cubicBezTo>
                    <a:pt x="1155446" y="708279"/>
                    <a:pt x="1098296" y="765302"/>
                    <a:pt x="1027938" y="765302"/>
                  </a:cubicBezTo>
                  <a:lnTo>
                    <a:pt x="127508" y="765302"/>
                  </a:lnTo>
                  <a:cubicBezTo>
                    <a:pt x="57150" y="765429"/>
                    <a:pt x="0" y="708279"/>
                    <a:pt x="0" y="637794"/>
                  </a:cubicBezTo>
                  <a:close/>
                </a:path>
              </a:pathLst>
            </a:custGeom>
            <a:solidFill>
              <a:srgbClr val="1E3A5F"/>
            </a:solidFill>
            <a:ln w="25400" cap="sq">
              <a:solidFill>
                <a:srgbClr val="1E3A5F"/>
              </a:solidFill>
              <a:prstDash val="solid"/>
              <a:miter/>
            </a:ln>
          </p:spPr>
        </p:sp>
      </p:grpSp>
      <p:grpSp>
        <p:nvGrpSpPr>
          <p:cNvPr name="Group 66" id="66"/>
          <p:cNvGrpSpPr/>
          <p:nvPr/>
        </p:nvGrpSpPr>
        <p:grpSpPr>
          <a:xfrm rot="0">
            <a:off x="12326112" y="9363456"/>
            <a:ext cx="841248" cy="548640"/>
            <a:chOff x="0" y="0"/>
            <a:chExt cx="1121664" cy="731520"/>
          </a:xfrm>
        </p:grpSpPr>
        <p:sp>
          <p:nvSpPr>
            <p:cNvPr name="Freeform 67" id="67"/>
            <p:cNvSpPr/>
            <p:nvPr/>
          </p:nvSpPr>
          <p:spPr>
            <a:xfrm flipH="false" flipV="false" rot="0">
              <a:off x="0" y="0"/>
              <a:ext cx="1121664" cy="731520"/>
            </a:xfrm>
            <a:custGeom>
              <a:avLst/>
              <a:gdLst/>
              <a:ahLst/>
              <a:cxnLst/>
              <a:rect r="r" b="b" t="t" l="l"/>
              <a:pathLst>
                <a:path h="731520" w="1121664">
                  <a:moveTo>
                    <a:pt x="0" y="0"/>
                  </a:moveTo>
                  <a:lnTo>
                    <a:pt x="1121664" y="0"/>
                  </a:lnTo>
                  <a:lnTo>
                    <a:pt x="1121664" y="731520"/>
                  </a:lnTo>
                  <a:lnTo>
                    <a:pt x="0" y="731520"/>
                  </a:lnTo>
                  <a:close/>
                </a:path>
              </a:pathLst>
            </a:custGeom>
            <a:blipFill>
              <a:blip r:embed="rId2">
                <a:alphaModFix amt="0"/>
              </a:blip>
              <a:stretch>
                <a:fillRect l="-33676" t="0" r="-33676" b="0"/>
              </a:stretch>
            </a:blipFill>
          </p:spPr>
        </p:sp>
        <p:sp>
          <p:nvSpPr>
            <p:cNvPr name="TextBox 68" id="68"/>
            <p:cNvSpPr txBox="true"/>
            <p:nvPr/>
          </p:nvSpPr>
          <p:spPr>
            <a:xfrm>
              <a:off x="0" y="-38100"/>
              <a:ext cx="1121664" cy="76962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Q3</a:t>
              </a:r>
            </a:p>
          </p:txBody>
        </p:sp>
      </p:grpSp>
      <p:grpSp>
        <p:nvGrpSpPr>
          <p:cNvPr name="Group 69" id="69"/>
          <p:cNvGrpSpPr/>
          <p:nvPr/>
        </p:nvGrpSpPr>
        <p:grpSpPr>
          <a:xfrm rot="0">
            <a:off x="13277088" y="9326880"/>
            <a:ext cx="4297680" cy="1207008"/>
            <a:chOff x="0" y="0"/>
            <a:chExt cx="5730240" cy="1609344"/>
          </a:xfrm>
        </p:grpSpPr>
        <p:sp>
          <p:nvSpPr>
            <p:cNvPr name="Freeform 70" id="70"/>
            <p:cNvSpPr/>
            <p:nvPr/>
          </p:nvSpPr>
          <p:spPr>
            <a:xfrm flipH="false" flipV="false" rot="0">
              <a:off x="0" y="0"/>
              <a:ext cx="5730240" cy="1609344"/>
            </a:xfrm>
            <a:custGeom>
              <a:avLst/>
              <a:gdLst/>
              <a:ahLst/>
              <a:cxnLst/>
              <a:rect r="r" b="b" t="t" l="l"/>
              <a:pathLst>
                <a:path h="1609344" w="5730240">
                  <a:moveTo>
                    <a:pt x="0" y="0"/>
                  </a:moveTo>
                  <a:lnTo>
                    <a:pt x="5730240" y="0"/>
                  </a:lnTo>
                  <a:lnTo>
                    <a:pt x="5730240" y="1609344"/>
                  </a:lnTo>
                  <a:lnTo>
                    <a:pt x="0" y="1609344"/>
                  </a:lnTo>
                  <a:close/>
                </a:path>
              </a:pathLst>
            </a:custGeom>
            <a:blipFill>
              <a:blip r:embed="rId2">
                <a:alphaModFix amt="0"/>
              </a:blip>
              <a:stretch>
                <a:fillRect l="0" t="-19378" r="0" b="-19378"/>
              </a:stretch>
            </a:blipFill>
          </p:spPr>
        </p:sp>
        <p:sp>
          <p:nvSpPr>
            <p:cNvPr name="TextBox 71" id="71"/>
            <p:cNvSpPr txBox="true"/>
            <p:nvPr/>
          </p:nvSpPr>
          <p:spPr>
            <a:xfrm>
              <a:off x="0" y="-38100"/>
              <a:ext cx="5730240" cy="1647444"/>
            </a:xfrm>
            <a:prstGeom prst="rect">
              <a:avLst/>
            </a:prstGeom>
          </p:spPr>
          <p:txBody>
            <a:bodyPr anchor="ctr" rtlCol="false" tIns="0" lIns="0" bIns="0" rIns="0"/>
            <a:lstStyle/>
            <a:p>
              <a:pPr algn="l">
                <a:lnSpc>
                  <a:spcPts val="2039"/>
                </a:lnSpc>
              </a:pPr>
              <a:r>
                <a:rPr lang="en-US" sz="1700">
                  <a:solidFill>
                    <a:srgbClr val="1E293B"/>
                  </a:solidFill>
                  <a:latin typeface="Calibri (MS)"/>
                  <a:ea typeface="Calibri (MS)"/>
                  <a:cs typeface="Calibri (MS)"/>
                  <a:sym typeface="Calibri (MS)"/>
                </a:rPr>
                <a:t>Quelles données doivent être fournies à un système d'IA afin de permettre la détection et l'anticipation des attaques réseau ?</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0F4FF"/>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634747"/>
            <a:chOff x="0" y="0"/>
            <a:chExt cx="24417871" cy="2179663"/>
          </a:xfrm>
        </p:grpSpPr>
        <p:sp>
          <p:nvSpPr>
            <p:cNvPr name="Freeform 3" id="3"/>
            <p:cNvSpPr/>
            <p:nvPr/>
          </p:nvSpPr>
          <p:spPr>
            <a:xfrm flipH="false" flipV="false" rot="0">
              <a:off x="0" y="0"/>
              <a:ext cx="24417910" cy="2179701"/>
            </a:xfrm>
            <a:custGeom>
              <a:avLst/>
              <a:gdLst/>
              <a:ahLst/>
              <a:cxnLst/>
              <a:rect r="r" b="b" t="t" l="l"/>
              <a:pathLst>
                <a:path h="2179701" w="24417910">
                  <a:moveTo>
                    <a:pt x="0" y="0"/>
                  </a:moveTo>
                  <a:lnTo>
                    <a:pt x="24417910" y="0"/>
                  </a:lnTo>
                  <a:lnTo>
                    <a:pt x="24417910" y="2179701"/>
                  </a:lnTo>
                  <a:lnTo>
                    <a:pt x="0" y="2179701"/>
                  </a:lnTo>
                  <a:close/>
                </a:path>
              </a:pathLst>
            </a:custGeom>
            <a:solidFill>
              <a:srgbClr val="1E3A5F"/>
            </a:solidFill>
            <a:ln w="25400" cap="sq">
              <a:solidFill>
                <a:srgbClr val="1E3A5F"/>
              </a:solidFill>
              <a:prstDash val="solid"/>
              <a:miter/>
            </a:ln>
          </p:spPr>
        </p:sp>
      </p:grpSp>
      <p:grpSp>
        <p:nvGrpSpPr>
          <p:cNvPr name="Group 4" id="4"/>
          <p:cNvGrpSpPr/>
          <p:nvPr/>
        </p:nvGrpSpPr>
        <p:grpSpPr>
          <a:xfrm rot="0">
            <a:off x="15349223" y="-1201417"/>
            <a:ext cx="4231643" cy="4231643"/>
            <a:chOff x="0" y="0"/>
            <a:chExt cx="5642191" cy="5642191"/>
          </a:xfrm>
        </p:grpSpPr>
        <p:sp>
          <p:nvSpPr>
            <p:cNvPr name="Freeform 5" id="5"/>
            <p:cNvSpPr/>
            <p:nvPr/>
          </p:nvSpPr>
          <p:spPr>
            <a:xfrm flipH="false" flipV="false" rot="0">
              <a:off x="0" y="0"/>
              <a:ext cx="5642229" cy="5642229"/>
            </a:xfrm>
            <a:custGeom>
              <a:avLst/>
              <a:gdLst/>
              <a:ahLst/>
              <a:cxnLst/>
              <a:rect r="r" b="b" t="t" l="l"/>
              <a:pathLst>
                <a:path h="5642229" w="5642229">
                  <a:moveTo>
                    <a:pt x="0" y="2821051"/>
                  </a:moveTo>
                  <a:cubicBezTo>
                    <a:pt x="0" y="1263015"/>
                    <a:pt x="1263015" y="0"/>
                    <a:pt x="2821051" y="0"/>
                  </a:cubicBezTo>
                  <a:cubicBezTo>
                    <a:pt x="4379087" y="0"/>
                    <a:pt x="5642229" y="1263015"/>
                    <a:pt x="5642229" y="2821051"/>
                  </a:cubicBezTo>
                  <a:cubicBezTo>
                    <a:pt x="5642229" y="4379087"/>
                    <a:pt x="4379087" y="5642229"/>
                    <a:pt x="2821051" y="5642229"/>
                  </a:cubicBezTo>
                  <a:cubicBezTo>
                    <a:pt x="1263015" y="5642229"/>
                    <a:pt x="0" y="4379087"/>
                    <a:pt x="0" y="2821051"/>
                  </a:cubicBezTo>
                  <a:close/>
                </a:path>
              </a:pathLst>
            </a:custGeom>
            <a:solidFill>
              <a:srgbClr val="E8541A">
                <a:alpha val="4706"/>
              </a:srgbClr>
            </a:solidFill>
            <a:ln w="25400" cap="sq">
              <a:solidFill>
                <a:srgbClr val="E8541A"/>
              </a:solidFill>
              <a:prstDash val="solid"/>
              <a:miter/>
            </a:ln>
          </p:spPr>
        </p:sp>
      </p:grpSp>
      <p:grpSp>
        <p:nvGrpSpPr>
          <p:cNvPr name="Group 6" id="6"/>
          <p:cNvGrpSpPr/>
          <p:nvPr/>
        </p:nvGrpSpPr>
        <p:grpSpPr>
          <a:xfrm rot="0">
            <a:off x="731520" y="109728"/>
            <a:ext cx="15544800" cy="841248"/>
            <a:chOff x="0" y="0"/>
            <a:chExt cx="20726400" cy="1121664"/>
          </a:xfrm>
        </p:grpSpPr>
        <p:sp>
          <p:nvSpPr>
            <p:cNvPr name="Freeform 7" id="7"/>
            <p:cNvSpPr/>
            <p:nvPr/>
          </p:nvSpPr>
          <p:spPr>
            <a:xfrm flipH="false" flipV="false" rot="0">
              <a:off x="0" y="0"/>
              <a:ext cx="20726400" cy="1121664"/>
            </a:xfrm>
            <a:custGeom>
              <a:avLst/>
              <a:gdLst/>
              <a:ahLst/>
              <a:cxnLst/>
              <a:rect r="r" b="b" t="t" l="l"/>
              <a:pathLst>
                <a:path h="1121664" w="20726400">
                  <a:moveTo>
                    <a:pt x="0" y="0"/>
                  </a:moveTo>
                  <a:lnTo>
                    <a:pt x="20726400" y="0"/>
                  </a:lnTo>
                  <a:lnTo>
                    <a:pt x="20726400" y="1121664"/>
                  </a:lnTo>
                  <a:lnTo>
                    <a:pt x="0" y="1121664"/>
                  </a:lnTo>
                  <a:close/>
                </a:path>
              </a:pathLst>
            </a:custGeom>
            <a:blipFill>
              <a:blip r:embed="rId2">
                <a:alphaModFix amt="0"/>
              </a:blip>
              <a:stretch>
                <a:fillRect l="0" t="-310049" r="0" b="-310049"/>
              </a:stretch>
            </a:blipFill>
          </p:spPr>
        </p:sp>
        <p:sp>
          <p:nvSpPr>
            <p:cNvPr name="TextBox 8" id="8"/>
            <p:cNvSpPr txBox="true"/>
            <p:nvPr/>
          </p:nvSpPr>
          <p:spPr>
            <a:xfrm>
              <a:off x="0" y="-9525"/>
              <a:ext cx="20726400" cy="1131189"/>
            </a:xfrm>
            <a:prstGeom prst="rect">
              <a:avLst/>
            </a:prstGeom>
          </p:spPr>
          <p:txBody>
            <a:bodyPr anchor="ctr" rtlCol="false" tIns="0" lIns="0" bIns="0" rIns="0"/>
            <a:lstStyle/>
            <a:p>
              <a:pPr algn="l">
                <a:lnSpc>
                  <a:spcPts val="5280"/>
                </a:lnSpc>
              </a:pPr>
              <a:r>
                <a:rPr lang="en-US" sz="4400" b="true">
                  <a:solidFill>
                    <a:srgbClr val="FFFFFF"/>
                  </a:solidFill>
                  <a:latin typeface="Cambria Bold"/>
                  <a:ea typeface="Cambria Bold"/>
                  <a:cs typeface="Cambria Bold"/>
                  <a:sym typeface="Cambria Bold"/>
                </a:rPr>
                <a:t>Expression du Besoin</a:t>
              </a:r>
            </a:p>
          </p:txBody>
        </p:sp>
      </p:grpSp>
      <p:grpSp>
        <p:nvGrpSpPr>
          <p:cNvPr name="Group 9" id="9"/>
          <p:cNvGrpSpPr/>
          <p:nvPr/>
        </p:nvGrpSpPr>
        <p:grpSpPr>
          <a:xfrm rot="0">
            <a:off x="731520" y="914400"/>
            <a:ext cx="15544800" cy="548640"/>
            <a:chOff x="0" y="0"/>
            <a:chExt cx="20726400" cy="731520"/>
          </a:xfrm>
        </p:grpSpPr>
        <p:sp>
          <p:nvSpPr>
            <p:cNvPr name="Freeform 10" id="10"/>
            <p:cNvSpPr/>
            <p:nvPr/>
          </p:nvSpPr>
          <p:spPr>
            <a:xfrm flipH="false" flipV="false" rot="0">
              <a:off x="0" y="0"/>
              <a:ext cx="20726400" cy="731520"/>
            </a:xfrm>
            <a:custGeom>
              <a:avLst/>
              <a:gdLst/>
              <a:ahLst/>
              <a:cxnLst/>
              <a:rect r="r" b="b" t="t" l="l"/>
              <a:pathLst>
                <a:path h="731520" w="20726400">
                  <a:moveTo>
                    <a:pt x="0" y="0"/>
                  </a:moveTo>
                  <a:lnTo>
                    <a:pt x="20726400" y="0"/>
                  </a:lnTo>
                  <a:lnTo>
                    <a:pt x="20726400" y="731520"/>
                  </a:lnTo>
                  <a:lnTo>
                    <a:pt x="0" y="731520"/>
                  </a:lnTo>
                  <a:close/>
                </a:path>
              </a:pathLst>
            </a:custGeom>
            <a:blipFill>
              <a:blip r:embed="rId2">
                <a:alphaModFix amt="0"/>
              </a:blip>
              <a:stretch>
                <a:fillRect l="0" t="-502076" r="0" b="-502076"/>
              </a:stretch>
            </a:blipFill>
          </p:spPr>
        </p:sp>
        <p:sp>
          <p:nvSpPr>
            <p:cNvPr name="TextBox 11" id="11"/>
            <p:cNvSpPr txBox="true"/>
            <p:nvPr/>
          </p:nvSpPr>
          <p:spPr>
            <a:xfrm>
              <a:off x="0" y="-47625"/>
              <a:ext cx="20726400" cy="779145"/>
            </a:xfrm>
            <a:prstGeom prst="rect">
              <a:avLst/>
            </a:prstGeom>
          </p:spPr>
          <p:txBody>
            <a:bodyPr anchor="ctr" rtlCol="false" tIns="0" lIns="0" bIns="0" rIns="0"/>
            <a:lstStyle/>
            <a:p>
              <a:pPr algn="l">
                <a:lnSpc>
                  <a:spcPts val="2520"/>
                </a:lnSpc>
              </a:pPr>
              <a:r>
                <a:rPr lang="en-US" sz="2100">
                  <a:solidFill>
                    <a:srgbClr val="CADCFC"/>
                  </a:solidFill>
                  <a:latin typeface="Calibri (MS)"/>
                  <a:ea typeface="Calibri (MS)"/>
                  <a:cs typeface="Calibri (MS)"/>
                  <a:sym typeface="Calibri (MS)"/>
                </a:rPr>
                <a:t>Conception d'un système de détection d'intrusions réseau basé sur l'IA</a:t>
              </a:r>
            </a:p>
          </p:txBody>
        </p:sp>
      </p:grpSp>
      <p:grpSp>
        <p:nvGrpSpPr>
          <p:cNvPr name="Group 12" id="12"/>
          <p:cNvGrpSpPr/>
          <p:nvPr/>
        </p:nvGrpSpPr>
        <p:grpSpPr>
          <a:xfrm rot="0">
            <a:off x="535943" y="1852679"/>
            <a:ext cx="5511803" cy="866651"/>
            <a:chOff x="0" y="0"/>
            <a:chExt cx="7349071" cy="1155535"/>
          </a:xfrm>
        </p:grpSpPr>
        <p:sp>
          <p:nvSpPr>
            <p:cNvPr name="Freeform 13" id="13"/>
            <p:cNvSpPr/>
            <p:nvPr/>
          </p:nvSpPr>
          <p:spPr>
            <a:xfrm flipH="false" flipV="false" rot="0">
              <a:off x="0" y="0"/>
              <a:ext cx="7348982" cy="1155446"/>
            </a:xfrm>
            <a:custGeom>
              <a:avLst/>
              <a:gdLst/>
              <a:ahLst/>
              <a:cxnLst/>
              <a:rect r="r" b="b" t="t" l="l"/>
              <a:pathLst>
                <a:path h="1155446" w="7348982">
                  <a:moveTo>
                    <a:pt x="0" y="200914"/>
                  </a:moveTo>
                  <a:cubicBezTo>
                    <a:pt x="0" y="89916"/>
                    <a:pt x="89916" y="0"/>
                    <a:pt x="200914" y="0"/>
                  </a:cubicBezTo>
                  <a:lnTo>
                    <a:pt x="7148068" y="0"/>
                  </a:lnTo>
                  <a:cubicBezTo>
                    <a:pt x="7259066" y="0"/>
                    <a:pt x="7348982" y="89916"/>
                    <a:pt x="7348982" y="200914"/>
                  </a:cubicBezTo>
                  <a:lnTo>
                    <a:pt x="7348982" y="954532"/>
                  </a:lnTo>
                  <a:cubicBezTo>
                    <a:pt x="7348982" y="1065530"/>
                    <a:pt x="7259066" y="1155446"/>
                    <a:pt x="7148068" y="1155446"/>
                  </a:cubicBezTo>
                  <a:lnTo>
                    <a:pt x="200914" y="1155446"/>
                  </a:lnTo>
                  <a:cubicBezTo>
                    <a:pt x="89916" y="1155573"/>
                    <a:pt x="0" y="1065530"/>
                    <a:pt x="0" y="954532"/>
                  </a:cubicBezTo>
                  <a:close/>
                </a:path>
              </a:pathLst>
            </a:custGeom>
            <a:solidFill>
              <a:srgbClr val="1E3A5F"/>
            </a:solidFill>
            <a:ln w="25400" cap="sq">
              <a:solidFill>
                <a:srgbClr val="1E3A5F"/>
              </a:solidFill>
              <a:prstDash val="solid"/>
              <a:miter/>
            </a:ln>
          </p:spPr>
        </p:sp>
      </p:grpSp>
      <p:grpSp>
        <p:nvGrpSpPr>
          <p:cNvPr name="Group 14" id="14"/>
          <p:cNvGrpSpPr/>
          <p:nvPr/>
        </p:nvGrpSpPr>
        <p:grpSpPr>
          <a:xfrm rot="0">
            <a:off x="548640" y="1865376"/>
            <a:ext cx="5486400" cy="841248"/>
            <a:chOff x="0" y="0"/>
            <a:chExt cx="7315200" cy="1121664"/>
          </a:xfrm>
        </p:grpSpPr>
        <p:sp>
          <p:nvSpPr>
            <p:cNvPr name="Freeform 15" id="15"/>
            <p:cNvSpPr/>
            <p:nvPr/>
          </p:nvSpPr>
          <p:spPr>
            <a:xfrm flipH="false" flipV="false" rot="0">
              <a:off x="0" y="0"/>
              <a:ext cx="7315200" cy="1121664"/>
            </a:xfrm>
            <a:custGeom>
              <a:avLst/>
              <a:gdLst/>
              <a:ahLst/>
              <a:cxnLst/>
              <a:rect r="r" b="b" t="t" l="l"/>
              <a:pathLst>
                <a:path h="1121664" w="7315200">
                  <a:moveTo>
                    <a:pt x="0" y="0"/>
                  </a:moveTo>
                  <a:lnTo>
                    <a:pt x="7315200" y="0"/>
                  </a:lnTo>
                  <a:lnTo>
                    <a:pt x="7315200" y="1121664"/>
                  </a:lnTo>
                  <a:lnTo>
                    <a:pt x="0" y="1121664"/>
                  </a:lnTo>
                  <a:close/>
                </a:path>
              </a:pathLst>
            </a:custGeom>
            <a:blipFill>
              <a:blip r:embed="rId2">
                <a:alphaModFix amt="0"/>
              </a:blip>
              <a:stretch>
                <a:fillRect l="0" t="-77076" r="0" b="-77076"/>
              </a:stretch>
            </a:blipFill>
          </p:spPr>
        </p:sp>
        <p:sp>
          <p:nvSpPr>
            <p:cNvPr name="TextBox 16" id="16"/>
            <p:cNvSpPr txBox="true"/>
            <p:nvPr/>
          </p:nvSpPr>
          <p:spPr>
            <a:xfrm>
              <a:off x="0" y="-19050"/>
              <a:ext cx="7315200" cy="1140714"/>
            </a:xfrm>
            <a:prstGeom prst="rect">
              <a:avLst/>
            </a:prstGeom>
          </p:spPr>
          <p:txBody>
            <a:bodyPr anchor="ctr" rtlCol="false" tIns="0" lIns="0" bIns="0" rIns="0"/>
            <a:lstStyle/>
            <a:p>
              <a:pPr algn="ctr">
                <a:lnSpc>
                  <a:spcPts val="3120"/>
                </a:lnSpc>
              </a:pPr>
              <a:r>
                <a:rPr lang="en-US" sz="2600" b="true">
                  <a:solidFill>
                    <a:srgbClr val="FFFFFF"/>
                  </a:solidFill>
                  <a:latin typeface="Cambria Bold"/>
                  <a:ea typeface="Cambria Bold"/>
                  <a:cs typeface="Cambria Bold"/>
                  <a:sym typeface="Cambria Bold"/>
                </a:rPr>
                <a:t>3. Solution proposée</a:t>
              </a:r>
            </a:p>
          </p:txBody>
        </p:sp>
      </p:grpSp>
      <p:grpSp>
        <p:nvGrpSpPr>
          <p:cNvPr name="Group 17" id="17"/>
          <p:cNvGrpSpPr/>
          <p:nvPr/>
        </p:nvGrpSpPr>
        <p:grpSpPr>
          <a:xfrm rot="0">
            <a:off x="535943" y="2803655"/>
            <a:ext cx="17216123" cy="2677163"/>
            <a:chOff x="0" y="0"/>
            <a:chExt cx="22954831" cy="3569551"/>
          </a:xfrm>
        </p:grpSpPr>
        <p:sp>
          <p:nvSpPr>
            <p:cNvPr name="Freeform 18" id="18"/>
            <p:cNvSpPr/>
            <p:nvPr/>
          </p:nvSpPr>
          <p:spPr>
            <a:xfrm flipH="false" flipV="false" rot="0">
              <a:off x="0" y="0"/>
              <a:ext cx="22954996" cy="3569716"/>
            </a:xfrm>
            <a:custGeom>
              <a:avLst/>
              <a:gdLst/>
              <a:ahLst/>
              <a:cxnLst/>
              <a:rect r="r" b="b" t="t" l="l"/>
              <a:pathLst>
                <a:path h="3569716" w="22954996">
                  <a:moveTo>
                    <a:pt x="0" y="246253"/>
                  </a:moveTo>
                  <a:cubicBezTo>
                    <a:pt x="0" y="110236"/>
                    <a:pt x="110236" y="0"/>
                    <a:pt x="246253" y="0"/>
                  </a:cubicBezTo>
                  <a:lnTo>
                    <a:pt x="22708743" y="0"/>
                  </a:lnTo>
                  <a:cubicBezTo>
                    <a:pt x="22844759" y="0"/>
                    <a:pt x="22954996" y="110236"/>
                    <a:pt x="22954996" y="246253"/>
                  </a:cubicBezTo>
                  <a:lnTo>
                    <a:pt x="22954996" y="3323463"/>
                  </a:lnTo>
                  <a:cubicBezTo>
                    <a:pt x="22954996" y="3459480"/>
                    <a:pt x="22844759" y="3569716"/>
                    <a:pt x="22708743" y="3569716"/>
                  </a:cubicBezTo>
                  <a:lnTo>
                    <a:pt x="246253" y="3569716"/>
                  </a:lnTo>
                  <a:cubicBezTo>
                    <a:pt x="110236" y="3569589"/>
                    <a:pt x="0" y="3459353"/>
                    <a:pt x="0" y="3323336"/>
                  </a:cubicBezTo>
                  <a:close/>
                </a:path>
              </a:pathLst>
            </a:custGeom>
            <a:solidFill>
              <a:srgbClr val="EEF4FF"/>
            </a:solidFill>
            <a:ln w="25400" cap="sq">
              <a:solidFill>
                <a:srgbClr val="1D4ED8"/>
              </a:solidFill>
              <a:prstDash val="solid"/>
              <a:miter/>
            </a:ln>
          </p:spPr>
        </p:sp>
      </p:grpSp>
      <p:grpSp>
        <p:nvGrpSpPr>
          <p:cNvPr name="Group 19" id="19"/>
          <p:cNvGrpSpPr/>
          <p:nvPr/>
        </p:nvGrpSpPr>
        <p:grpSpPr>
          <a:xfrm rot="0">
            <a:off x="535943" y="2803655"/>
            <a:ext cx="610619" cy="2677163"/>
            <a:chOff x="0" y="0"/>
            <a:chExt cx="814159" cy="3569551"/>
          </a:xfrm>
        </p:grpSpPr>
        <p:sp>
          <p:nvSpPr>
            <p:cNvPr name="Freeform 20" id="20"/>
            <p:cNvSpPr/>
            <p:nvPr/>
          </p:nvSpPr>
          <p:spPr>
            <a:xfrm flipH="false" flipV="false" rot="0">
              <a:off x="0" y="0"/>
              <a:ext cx="814197" cy="3569589"/>
            </a:xfrm>
            <a:custGeom>
              <a:avLst/>
              <a:gdLst/>
              <a:ahLst/>
              <a:cxnLst/>
              <a:rect r="r" b="b" t="t" l="l"/>
              <a:pathLst>
                <a:path h="3569589" w="814197">
                  <a:moveTo>
                    <a:pt x="0" y="0"/>
                  </a:moveTo>
                  <a:lnTo>
                    <a:pt x="814197" y="0"/>
                  </a:lnTo>
                  <a:lnTo>
                    <a:pt x="814197" y="3569589"/>
                  </a:lnTo>
                  <a:lnTo>
                    <a:pt x="0" y="3569589"/>
                  </a:lnTo>
                  <a:close/>
                </a:path>
              </a:pathLst>
            </a:custGeom>
            <a:solidFill>
              <a:srgbClr val="1D4ED8"/>
            </a:solidFill>
            <a:ln w="25400" cap="sq">
              <a:solidFill>
                <a:srgbClr val="1D4ED8"/>
              </a:solidFill>
              <a:prstDash val="solid"/>
              <a:miter/>
            </a:ln>
          </p:spPr>
        </p:sp>
      </p:grpSp>
      <p:grpSp>
        <p:nvGrpSpPr>
          <p:cNvPr name="Group 21" id="21"/>
          <p:cNvGrpSpPr/>
          <p:nvPr/>
        </p:nvGrpSpPr>
        <p:grpSpPr>
          <a:xfrm rot="0">
            <a:off x="1426464" y="2962656"/>
            <a:ext cx="16002000" cy="2340864"/>
            <a:chOff x="0" y="0"/>
            <a:chExt cx="21336000" cy="3121152"/>
          </a:xfrm>
        </p:grpSpPr>
        <p:sp>
          <p:nvSpPr>
            <p:cNvPr name="Freeform 22" id="22"/>
            <p:cNvSpPr/>
            <p:nvPr/>
          </p:nvSpPr>
          <p:spPr>
            <a:xfrm flipH="false" flipV="false" rot="0">
              <a:off x="0" y="0"/>
              <a:ext cx="21336000" cy="3121152"/>
            </a:xfrm>
            <a:custGeom>
              <a:avLst/>
              <a:gdLst/>
              <a:ahLst/>
              <a:cxnLst/>
              <a:rect r="r" b="b" t="t" l="l"/>
              <a:pathLst>
                <a:path h="3121152" w="21336000">
                  <a:moveTo>
                    <a:pt x="0" y="0"/>
                  </a:moveTo>
                  <a:lnTo>
                    <a:pt x="21336000" y="0"/>
                  </a:lnTo>
                  <a:lnTo>
                    <a:pt x="21336000" y="3121152"/>
                  </a:lnTo>
                  <a:lnTo>
                    <a:pt x="0" y="3121152"/>
                  </a:lnTo>
                  <a:close/>
                </a:path>
              </a:pathLst>
            </a:custGeom>
            <a:blipFill>
              <a:blip r:embed="rId2">
                <a:alphaModFix amt="0"/>
              </a:blip>
              <a:stretch>
                <a:fillRect l="0" t="-83198" r="0" b="-83198"/>
              </a:stretch>
            </a:blipFill>
          </p:spPr>
        </p:sp>
        <p:sp>
          <p:nvSpPr>
            <p:cNvPr name="TextBox 23" id="23"/>
            <p:cNvSpPr txBox="true"/>
            <p:nvPr/>
          </p:nvSpPr>
          <p:spPr>
            <a:xfrm>
              <a:off x="0" y="-38100"/>
              <a:ext cx="21336000" cy="3159252"/>
            </a:xfrm>
            <a:prstGeom prst="rect">
              <a:avLst/>
            </a:prstGeom>
          </p:spPr>
          <p:txBody>
            <a:bodyPr anchor="ctr" rtlCol="false" tIns="0" lIns="0" bIns="0" rIns="0"/>
            <a:lstStyle/>
            <a:p>
              <a:pPr algn="l">
                <a:lnSpc>
                  <a:spcPts val="2879"/>
                </a:lnSpc>
              </a:pPr>
              <a:r>
                <a:rPr lang="en-US" sz="2400">
                  <a:solidFill>
                    <a:srgbClr val="1E293B"/>
                  </a:solidFill>
                  <a:latin typeface="Calibri (MS)"/>
                  <a:ea typeface="Calibri (MS)"/>
                  <a:cs typeface="Calibri (MS)"/>
                  <a:sym typeface="Calibri (MS)"/>
                </a:rPr>
                <a:t>Développer et déployer un </a:t>
              </a:r>
              <a:r>
                <a:rPr lang="en-US" sz="2400" b="true">
                  <a:solidFill>
                    <a:srgbClr val="1E3A5F"/>
                  </a:solidFill>
                  <a:latin typeface="Calibri (MS) Bold"/>
                  <a:ea typeface="Calibri (MS) Bold"/>
                  <a:cs typeface="Calibri (MS) Bold"/>
                  <a:sym typeface="Calibri (MS) Bold"/>
                </a:rPr>
                <a:t>modèle d'intelligence artificielle </a:t>
              </a:r>
              <a:r>
                <a:rPr lang="en-US" sz="2400">
                  <a:solidFill>
                    <a:srgbClr val="1E293B"/>
                  </a:solidFill>
                  <a:latin typeface="Calibri (MS)"/>
                  <a:ea typeface="Calibri (MS)"/>
                  <a:cs typeface="Calibri (MS)"/>
                  <a:sym typeface="Calibri (MS)"/>
                </a:rPr>
                <a:t>basé sur l'apprentissage supervisé, avec une approche de </a:t>
              </a:r>
              <a:r>
                <a:rPr lang="en-US" sz="2400" b="true">
                  <a:solidFill>
                    <a:srgbClr val="1E3A5F"/>
                  </a:solidFill>
                  <a:latin typeface="Calibri (MS) Bold"/>
                  <a:ea typeface="Calibri (MS) Bold"/>
                  <a:cs typeface="Calibri (MS) Bold"/>
                  <a:sym typeface="Calibri (MS) Bold"/>
                </a:rPr>
                <a:t>classification</a:t>
              </a:r>
              <a:r>
                <a:rPr lang="en-US" sz="2400">
                  <a:solidFill>
                    <a:srgbClr val="1E293B"/>
                  </a:solidFill>
                  <a:latin typeface="Calibri (MS)"/>
                  <a:ea typeface="Calibri (MS)"/>
                  <a:cs typeface="Calibri (MS)"/>
                  <a:sym typeface="Calibri (MS)"/>
                </a:rPr>
                <a:t>, afin d'identifier automatiquement les comportements malveillants dans le trafic réseau et de renforcer la réactivité face aux menaces en temps réel.</a:t>
              </a:r>
            </a:p>
          </p:txBody>
        </p:sp>
      </p:grpSp>
      <p:grpSp>
        <p:nvGrpSpPr>
          <p:cNvPr name="Group 24" id="24"/>
          <p:cNvGrpSpPr/>
          <p:nvPr/>
        </p:nvGrpSpPr>
        <p:grpSpPr>
          <a:xfrm rot="0">
            <a:off x="548640" y="5669280"/>
            <a:ext cx="7315200" cy="585216"/>
            <a:chOff x="0" y="0"/>
            <a:chExt cx="9753600" cy="780288"/>
          </a:xfrm>
        </p:grpSpPr>
        <p:sp>
          <p:nvSpPr>
            <p:cNvPr name="Freeform 25" id="25"/>
            <p:cNvSpPr/>
            <p:nvPr/>
          </p:nvSpPr>
          <p:spPr>
            <a:xfrm flipH="false" flipV="false" rot="0">
              <a:off x="0" y="0"/>
              <a:ext cx="9753600" cy="780288"/>
            </a:xfrm>
            <a:custGeom>
              <a:avLst/>
              <a:gdLst/>
              <a:ahLst/>
              <a:cxnLst/>
              <a:rect r="r" b="b" t="t" l="l"/>
              <a:pathLst>
                <a:path h="780288" w="9753600">
                  <a:moveTo>
                    <a:pt x="0" y="0"/>
                  </a:moveTo>
                  <a:lnTo>
                    <a:pt x="9753600" y="0"/>
                  </a:lnTo>
                  <a:lnTo>
                    <a:pt x="9753600" y="780288"/>
                  </a:lnTo>
                  <a:lnTo>
                    <a:pt x="0" y="780288"/>
                  </a:lnTo>
                  <a:close/>
                </a:path>
              </a:pathLst>
            </a:custGeom>
            <a:blipFill>
              <a:blip r:embed="rId2">
                <a:alphaModFix amt="0"/>
              </a:blip>
              <a:stretch>
                <a:fillRect l="0" t="-193562" r="0" b="-193562"/>
              </a:stretch>
            </a:blipFill>
          </p:spPr>
        </p:sp>
        <p:sp>
          <p:nvSpPr>
            <p:cNvPr name="TextBox 26" id="26"/>
            <p:cNvSpPr txBox="true"/>
            <p:nvPr/>
          </p:nvSpPr>
          <p:spPr>
            <a:xfrm>
              <a:off x="0" y="-47625"/>
              <a:ext cx="9753600" cy="827913"/>
            </a:xfrm>
            <a:prstGeom prst="rect">
              <a:avLst/>
            </a:prstGeom>
          </p:spPr>
          <p:txBody>
            <a:bodyPr anchor="ctr" rtlCol="false" tIns="0" lIns="0" bIns="0" rIns="0"/>
            <a:lstStyle/>
            <a:p>
              <a:pPr algn="l">
                <a:lnSpc>
                  <a:spcPts val="2520"/>
                </a:lnSpc>
              </a:pPr>
              <a:r>
                <a:rPr lang="en-US" b="true" sz="2100" i="true">
                  <a:solidFill>
                    <a:srgbClr val="64748B"/>
                  </a:solidFill>
                  <a:latin typeface="Calibri (MS) Bold Italics"/>
                  <a:ea typeface="Calibri (MS) Bold Italics"/>
                  <a:cs typeface="Calibri (MS) Bold Italics"/>
                  <a:sym typeface="Calibri (MS) Bold Italics"/>
                </a:rPr>
                <a:t>Piliers de la solution :</a:t>
              </a:r>
            </a:p>
          </p:txBody>
        </p:sp>
      </p:grpSp>
      <p:grpSp>
        <p:nvGrpSpPr>
          <p:cNvPr name="Group 27" id="27"/>
          <p:cNvGrpSpPr/>
          <p:nvPr/>
        </p:nvGrpSpPr>
        <p:grpSpPr>
          <a:xfrm rot="0">
            <a:off x="541020" y="6320028"/>
            <a:ext cx="5593080" cy="3453384"/>
            <a:chOff x="0" y="0"/>
            <a:chExt cx="7457440" cy="4604512"/>
          </a:xfrm>
        </p:grpSpPr>
        <p:sp>
          <p:nvSpPr>
            <p:cNvPr name="Freeform 28" id="28"/>
            <p:cNvSpPr/>
            <p:nvPr/>
          </p:nvSpPr>
          <p:spPr>
            <a:xfrm flipH="false" flipV="false" rot="0">
              <a:off x="0" y="0"/>
              <a:ext cx="7457440" cy="4604512"/>
            </a:xfrm>
            <a:custGeom>
              <a:avLst/>
              <a:gdLst/>
              <a:ahLst/>
              <a:cxnLst/>
              <a:rect r="r" b="b" t="t" l="l"/>
              <a:pathLst>
                <a:path h="4604512" w="7457440">
                  <a:moveTo>
                    <a:pt x="0" y="293878"/>
                  </a:moveTo>
                  <a:cubicBezTo>
                    <a:pt x="0" y="131572"/>
                    <a:pt x="131572" y="0"/>
                    <a:pt x="293878" y="0"/>
                  </a:cubicBezTo>
                  <a:lnTo>
                    <a:pt x="7163562" y="0"/>
                  </a:lnTo>
                  <a:cubicBezTo>
                    <a:pt x="7325868" y="0"/>
                    <a:pt x="7457440" y="131572"/>
                    <a:pt x="7457440" y="293878"/>
                  </a:cubicBezTo>
                  <a:lnTo>
                    <a:pt x="7457440" y="4310634"/>
                  </a:lnTo>
                  <a:cubicBezTo>
                    <a:pt x="7457440" y="4472940"/>
                    <a:pt x="7325868" y="4604512"/>
                    <a:pt x="7163562" y="4604512"/>
                  </a:cubicBezTo>
                  <a:lnTo>
                    <a:pt x="293878" y="4604512"/>
                  </a:lnTo>
                  <a:cubicBezTo>
                    <a:pt x="131572" y="4604512"/>
                    <a:pt x="0" y="4472940"/>
                    <a:pt x="0" y="4310634"/>
                  </a:cubicBezTo>
                  <a:close/>
                </a:path>
              </a:pathLst>
            </a:custGeom>
            <a:solidFill>
              <a:srgbClr val="FFFFFF"/>
            </a:solidFill>
            <a:ln w="15240" cap="sq">
              <a:solidFill>
                <a:srgbClr val="D1DCF0"/>
              </a:solidFill>
              <a:prstDash val="solid"/>
              <a:miter/>
            </a:ln>
          </p:spPr>
        </p:sp>
      </p:grpSp>
      <p:grpSp>
        <p:nvGrpSpPr>
          <p:cNvPr name="Group 29" id="29"/>
          <p:cNvGrpSpPr/>
          <p:nvPr/>
        </p:nvGrpSpPr>
        <p:grpSpPr>
          <a:xfrm rot="0">
            <a:off x="535943" y="6314951"/>
            <a:ext cx="5603243" cy="1122683"/>
            <a:chOff x="0" y="0"/>
            <a:chExt cx="7470991" cy="1496911"/>
          </a:xfrm>
        </p:grpSpPr>
        <p:sp>
          <p:nvSpPr>
            <p:cNvPr name="Freeform 30" id="30"/>
            <p:cNvSpPr/>
            <p:nvPr/>
          </p:nvSpPr>
          <p:spPr>
            <a:xfrm flipH="false" flipV="false" rot="0">
              <a:off x="0" y="0"/>
              <a:ext cx="7470902" cy="1496822"/>
            </a:xfrm>
            <a:custGeom>
              <a:avLst/>
              <a:gdLst/>
              <a:ahLst/>
              <a:cxnLst/>
              <a:rect r="r" b="b" t="t" l="l"/>
              <a:pathLst>
                <a:path h="1496822" w="7470902">
                  <a:moveTo>
                    <a:pt x="0" y="299339"/>
                  </a:moveTo>
                  <a:cubicBezTo>
                    <a:pt x="0" y="133985"/>
                    <a:pt x="133985" y="0"/>
                    <a:pt x="299339" y="0"/>
                  </a:cubicBezTo>
                  <a:lnTo>
                    <a:pt x="7171563" y="0"/>
                  </a:lnTo>
                  <a:cubicBezTo>
                    <a:pt x="7336917" y="0"/>
                    <a:pt x="7470902" y="133985"/>
                    <a:pt x="7470902" y="299339"/>
                  </a:cubicBezTo>
                  <a:lnTo>
                    <a:pt x="7470902" y="1197483"/>
                  </a:lnTo>
                  <a:cubicBezTo>
                    <a:pt x="7470902" y="1362837"/>
                    <a:pt x="7336917" y="1496822"/>
                    <a:pt x="7171563" y="1496822"/>
                  </a:cubicBezTo>
                  <a:lnTo>
                    <a:pt x="299339" y="1496822"/>
                  </a:lnTo>
                  <a:cubicBezTo>
                    <a:pt x="133985" y="1496949"/>
                    <a:pt x="0" y="1362837"/>
                    <a:pt x="0" y="1197483"/>
                  </a:cubicBezTo>
                  <a:close/>
                </a:path>
              </a:pathLst>
            </a:custGeom>
            <a:solidFill>
              <a:srgbClr val="3A7FC1"/>
            </a:solidFill>
            <a:ln w="25400" cap="sq">
              <a:solidFill>
                <a:srgbClr val="3A7FC1"/>
              </a:solidFill>
              <a:prstDash val="solid"/>
              <a:miter/>
            </a:ln>
          </p:spPr>
        </p:sp>
      </p:grpSp>
      <p:grpSp>
        <p:nvGrpSpPr>
          <p:cNvPr name="Group 31" id="31"/>
          <p:cNvGrpSpPr/>
          <p:nvPr/>
        </p:nvGrpSpPr>
        <p:grpSpPr>
          <a:xfrm rot="0">
            <a:off x="731520" y="6400800"/>
            <a:ext cx="5212080" cy="914400"/>
            <a:chOff x="0" y="0"/>
            <a:chExt cx="6949440" cy="1219200"/>
          </a:xfrm>
        </p:grpSpPr>
        <p:sp>
          <p:nvSpPr>
            <p:cNvPr name="Freeform 32" id="32"/>
            <p:cNvSpPr/>
            <p:nvPr/>
          </p:nvSpPr>
          <p:spPr>
            <a:xfrm flipH="false" flipV="false" rot="0">
              <a:off x="0" y="0"/>
              <a:ext cx="6949440" cy="1219200"/>
            </a:xfrm>
            <a:custGeom>
              <a:avLst/>
              <a:gdLst/>
              <a:ahLst/>
              <a:cxnLst/>
              <a:rect r="r" b="b" t="t" l="l"/>
              <a:pathLst>
                <a:path h="1219200" w="6949440">
                  <a:moveTo>
                    <a:pt x="0" y="0"/>
                  </a:moveTo>
                  <a:lnTo>
                    <a:pt x="6949440" y="0"/>
                  </a:lnTo>
                  <a:lnTo>
                    <a:pt x="6949440" y="1219200"/>
                  </a:lnTo>
                  <a:lnTo>
                    <a:pt x="0" y="1219200"/>
                  </a:lnTo>
                  <a:close/>
                </a:path>
              </a:pathLst>
            </a:custGeom>
            <a:blipFill>
              <a:blip r:embed="rId2">
                <a:alphaModFix amt="0"/>
              </a:blip>
              <a:stretch>
                <a:fillRect l="0" t="-61064" r="0" b="-61064"/>
              </a:stretch>
            </a:blipFill>
          </p:spPr>
        </p:sp>
        <p:sp>
          <p:nvSpPr>
            <p:cNvPr name="TextBox 33" id="33"/>
            <p:cNvSpPr txBox="true"/>
            <p:nvPr/>
          </p:nvSpPr>
          <p:spPr>
            <a:xfrm>
              <a:off x="0" y="-47625"/>
              <a:ext cx="6949440" cy="1266825"/>
            </a:xfrm>
            <a:prstGeom prst="rect">
              <a:avLst/>
            </a:prstGeom>
          </p:spPr>
          <p:txBody>
            <a:bodyPr anchor="ctr" rtlCol="false" tIns="0" lIns="0" bIns="0" rIns="0"/>
            <a:lstStyle/>
            <a:p>
              <a:pPr algn="l">
                <a:lnSpc>
                  <a:spcPts val="2760"/>
                </a:lnSpc>
              </a:pPr>
              <a:r>
                <a:rPr lang="en-US" sz="2300" b="true">
                  <a:solidFill>
                    <a:srgbClr val="FFFFFF"/>
                  </a:solidFill>
                  <a:latin typeface="Calibri (MS) Bold"/>
                  <a:ea typeface="Calibri (MS) Bold"/>
                  <a:cs typeface="Calibri (MS) Bold"/>
                  <a:sym typeface="Calibri (MS) Bold"/>
                </a:rPr>
                <a:t>🤖  IA &amp; Machine Learning</a:t>
              </a:r>
            </a:p>
          </p:txBody>
        </p:sp>
      </p:grpSp>
      <p:grpSp>
        <p:nvGrpSpPr>
          <p:cNvPr name="Group 34" id="34"/>
          <p:cNvGrpSpPr/>
          <p:nvPr/>
        </p:nvGrpSpPr>
        <p:grpSpPr>
          <a:xfrm rot="0">
            <a:off x="822960" y="7534656"/>
            <a:ext cx="5029200" cy="2121408"/>
            <a:chOff x="0" y="0"/>
            <a:chExt cx="6705600" cy="2828544"/>
          </a:xfrm>
        </p:grpSpPr>
        <p:sp>
          <p:nvSpPr>
            <p:cNvPr name="Freeform 35" id="35"/>
            <p:cNvSpPr/>
            <p:nvPr/>
          </p:nvSpPr>
          <p:spPr>
            <a:xfrm flipH="false" flipV="false" rot="0">
              <a:off x="0" y="0"/>
              <a:ext cx="6705600" cy="2828544"/>
            </a:xfrm>
            <a:custGeom>
              <a:avLst/>
              <a:gdLst/>
              <a:ahLst/>
              <a:cxnLst/>
              <a:rect r="r" b="b" t="t" l="l"/>
              <a:pathLst>
                <a:path h="2828544" w="6705600">
                  <a:moveTo>
                    <a:pt x="0" y="0"/>
                  </a:moveTo>
                  <a:lnTo>
                    <a:pt x="6705600" y="0"/>
                  </a:lnTo>
                  <a:lnTo>
                    <a:pt x="6705600" y="2828544"/>
                  </a:lnTo>
                  <a:lnTo>
                    <a:pt x="0" y="2828544"/>
                  </a:lnTo>
                  <a:close/>
                </a:path>
              </a:pathLst>
            </a:custGeom>
            <a:blipFill>
              <a:blip r:embed="rId2">
                <a:alphaModFix amt="0"/>
              </a:blip>
              <a:stretch>
                <a:fillRect l="-4120" t="0" r="-4120" b="0"/>
              </a:stretch>
            </a:blipFill>
          </p:spPr>
        </p:sp>
        <p:sp>
          <p:nvSpPr>
            <p:cNvPr name="TextBox 36" id="36"/>
            <p:cNvSpPr txBox="true"/>
            <p:nvPr/>
          </p:nvSpPr>
          <p:spPr>
            <a:xfrm>
              <a:off x="0" y="-38100"/>
              <a:ext cx="6705600" cy="2866644"/>
            </a:xfrm>
            <a:prstGeom prst="rect">
              <a:avLst/>
            </a:prstGeom>
          </p:spPr>
          <p:txBody>
            <a:bodyPr anchor="ctr" rtlCol="false" tIns="0" lIns="0" bIns="0" rIns="0"/>
            <a:lstStyle/>
            <a:p>
              <a:pPr algn="l">
                <a:lnSpc>
                  <a:spcPts val="2400"/>
                </a:lnSpc>
              </a:pPr>
              <a:r>
                <a:rPr lang="en-US" sz="2000">
                  <a:solidFill>
                    <a:srgbClr val="1E293B"/>
                  </a:solidFill>
                  <a:latin typeface="Calibri (MS)"/>
                  <a:ea typeface="Calibri (MS)"/>
                  <a:cs typeface="Calibri (MS)"/>
                  <a:sym typeface="Calibri (MS)"/>
                </a:rPr>
                <a:t>Apprentissage supervisé pour classifier automatiquement le trafic réseau en trafic normal ou malveillant.</a:t>
              </a:r>
            </a:p>
          </p:txBody>
        </p:sp>
      </p:grpSp>
      <p:grpSp>
        <p:nvGrpSpPr>
          <p:cNvPr name="Group 37" id="37"/>
          <p:cNvGrpSpPr/>
          <p:nvPr/>
        </p:nvGrpSpPr>
        <p:grpSpPr>
          <a:xfrm rot="0">
            <a:off x="6338316" y="6320028"/>
            <a:ext cx="5593080" cy="3453384"/>
            <a:chOff x="0" y="0"/>
            <a:chExt cx="7457440" cy="4604512"/>
          </a:xfrm>
        </p:grpSpPr>
        <p:sp>
          <p:nvSpPr>
            <p:cNvPr name="Freeform 38" id="38"/>
            <p:cNvSpPr/>
            <p:nvPr/>
          </p:nvSpPr>
          <p:spPr>
            <a:xfrm flipH="false" flipV="false" rot="0">
              <a:off x="0" y="0"/>
              <a:ext cx="7457440" cy="4604512"/>
            </a:xfrm>
            <a:custGeom>
              <a:avLst/>
              <a:gdLst/>
              <a:ahLst/>
              <a:cxnLst/>
              <a:rect r="r" b="b" t="t" l="l"/>
              <a:pathLst>
                <a:path h="4604512" w="7457440">
                  <a:moveTo>
                    <a:pt x="0" y="293878"/>
                  </a:moveTo>
                  <a:cubicBezTo>
                    <a:pt x="0" y="131572"/>
                    <a:pt x="131572" y="0"/>
                    <a:pt x="293878" y="0"/>
                  </a:cubicBezTo>
                  <a:lnTo>
                    <a:pt x="7163562" y="0"/>
                  </a:lnTo>
                  <a:cubicBezTo>
                    <a:pt x="7325868" y="0"/>
                    <a:pt x="7457440" y="131572"/>
                    <a:pt x="7457440" y="293878"/>
                  </a:cubicBezTo>
                  <a:lnTo>
                    <a:pt x="7457440" y="4310634"/>
                  </a:lnTo>
                  <a:cubicBezTo>
                    <a:pt x="7457440" y="4472940"/>
                    <a:pt x="7325868" y="4604512"/>
                    <a:pt x="7163562" y="4604512"/>
                  </a:cubicBezTo>
                  <a:lnTo>
                    <a:pt x="293878" y="4604512"/>
                  </a:lnTo>
                  <a:cubicBezTo>
                    <a:pt x="131572" y="4604512"/>
                    <a:pt x="0" y="4472940"/>
                    <a:pt x="0" y="4310634"/>
                  </a:cubicBezTo>
                  <a:close/>
                </a:path>
              </a:pathLst>
            </a:custGeom>
            <a:solidFill>
              <a:srgbClr val="FFFFFF"/>
            </a:solidFill>
            <a:ln w="15240" cap="sq">
              <a:solidFill>
                <a:srgbClr val="D1DCF0"/>
              </a:solidFill>
              <a:prstDash val="solid"/>
              <a:miter/>
            </a:ln>
          </p:spPr>
        </p:sp>
      </p:grpSp>
      <p:grpSp>
        <p:nvGrpSpPr>
          <p:cNvPr name="Group 39" id="39"/>
          <p:cNvGrpSpPr/>
          <p:nvPr/>
        </p:nvGrpSpPr>
        <p:grpSpPr>
          <a:xfrm rot="0">
            <a:off x="6333239" y="6314951"/>
            <a:ext cx="5603243" cy="1122683"/>
            <a:chOff x="0" y="0"/>
            <a:chExt cx="7470991" cy="1496911"/>
          </a:xfrm>
        </p:grpSpPr>
        <p:sp>
          <p:nvSpPr>
            <p:cNvPr name="Freeform 40" id="40"/>
            <p:cNvSpPr/>
            <p:nvPr/>
          </p:nvSpPr>
          <p:spPr>
            <a:xfrm flipH="false" flipV="false" rot="0">
              <a:off x="0" y="0"/>
              <a:ext cx="7470902" cy="1496822"/>
            </a:xfrm>
            <a:custGeom>
              <a:avLst/>
              <a:gdLst/>
              <a:ahLst/>
              <a:cxnLst/>
              <a:rect r="r" b="b" t="t" l="l"/>
              <a:pathLst>
                <a:path h="1496822" w="7470902">
                  <a:moveTo>
                    <a:pt x="0" y="299339"/>
                  </a:moveTo>
                  <a:cubicBezTo>
                    <a:pt x="0" y="133985"/>
                    <a:pt x="133985" y="0"/>
                    <a:pt x="299339" y="0"/>
                  </a:cubicBezTo>
                  <a:lnTo>
                    <a:pt x="7171563" y="0"/>
                  </a:lnTo>
                  <a:cubicBezTo>
                    <a:pt x="7336917" y="0"/>
                    <a:pt x="7470902" y="133985"/>
                    <a:pt x="7470902" y="299339"/>
                  </a:cubicBezTo>
                  <a:lnTo>
                    <a:pt x="7470902" y="1197483"/>
                  </a:lnTo>
                  <a:cubicBezTo>
                    <a:pt x="7470902" y="1362837"/>
                    <a:pt x="7336917" y="1496822"/>
                    <a:pt x="7171563" y="1496822"/>
                  </a:cubicBezTo>
                  <a:lnTo>
                    <a:pt x="299339" y="1496822"/>
                  </a:lnTo>
                  <a:cubicBezTo>
                    <a:pt x="133985" y="1496949"/>
                    <a:pt x="0" y="1362837"/>
                    <a:pt x="0" y="1197483"/>
                  </a:cubicBezTo>
                  <a:close/>
                </a:path>
              </a:pathLst>
            </a:custGeom>
            <a:solidFill>
              <a:srgbClr val="2E6DB4"/>
            </a:solidFill>
            <a:ln w="25400" cap="sq">
              <a:solidFill>
                <a:srgbClr val="2E6DB4"/>
              </a:solidFill>
              <a:prstDash val="solid"/>
              <a:miter/>
            </a:ln>
          </p:spPr>
        </p:sp>
      </p:grpSp>
      <p:grpSp>
        <p:nvGrpSpPr>
          <p:cNvPr name="Group 41" id="41"/>
          <p:cNvGrpSpPr/>
          <p:nvPr/>
        </p:nvGrpSpPr>
        <p:grpSpPr>
          <a:xfrm rot="0">
            <a:off x="6528816" y="6400800"/>
            <a:ext cx="5212080" cy="914400"/>
            <a:chOff x="0" y="0"/>
            <a:chExt cx="6949440" cy="1219200"/>
          </a:xfrm>
        </p:grpSpPr>
        <p:sp>
          <p:nvSpPr>
            <p:cNvPr name="Freeform 42" id="42"/>
            <p:cNvSpPr/>
            <p:nvPr/>
          </p:nvSpPr>
          <p:spPr>
            <a:xfrm flipH="false" flipV="false" rot="0">
              <a:off x="0" y="0"/>
              <a:ext cx="6949440" cy="1219200"/>
            </a:xfrm>
            <a:custGeom>
              <a:avLst/>
              <a:gdLst/>
              <a:ahLst/>
              <a:cxnLst/>
              <a:rect r="r" b="b" t="t" l="l"/>
              <a:pathLst>
                <a:path h="1219200" w="6949440">
                  <a:moveTo>
                    <a:pt x="0" y="0"/>
                  </a:moveTo>
                  <a:lnTo>
                    <a:pt x="6949440" y="0"/>
                  </a:lnTo>
                  <a:lnTo>
                    <a:pt x="6949440" y="1219200"/>
                  </a:lnTo>
                  <a:lnTo>
                    <a:pt x="0" y="1219200"/>
                  </a:lnTo>
                  <a:close/>
                </a:path>
              </a:pathLst>
            </a:custGeom>
            <a:blipFill>
              <a:blip r:embed="rId2">
                <a:alphaModFix amt="0"/>
              </a:blip>
              <a:stretch>
                <a:fillRect l="0" t="-61064" r="0" b="-61064"/>
              </a:stretch>
            </a:blipFill>
          </p:spPr>
        </p:sp>
        <p:sp>
          <p:nvSpPr>
            <p:cNvPr name="TextBox 43" id="43"/>
            <p:cNvSpPr txBox="true"/>
            <p:nvPr/>
          </p:nvSpPr>
          <p:spPr>
            <a:xfrm>
              <a:off x="0" y="-47625"/>
              <a:ext cx="6949440" cy="1266825"/>
            </a:xfrm>
            <a:prstGeom prst="rect">
              <a:avLst/>
            </a:prstGeom>
          </p:spPr>
          <p:txBody>
            <a:bodyPr anchor="ctr" rtlCol="false" tIns="0" lIns="0" bIns="0" rIns="0"/>
            <a:lstStyle/>
            <a:p>
              <a:pPr algn="l">
                <a:lnSpc>
                  <a:spcPts val="2760"/>
                </a:lnSpc>
              </a:pPr>
              <a:r>
                <a:rPr lang="en-US" sz="2300" b="true">
                  <a:solidFill>
                    <a:srgbClr val="FFFFFF"/>
                  </a:solidFill>
                  <a:latin typeface="Calibri (MS) Bold"/>
                  <a:ea typeface="Calibri (MS) Bold"/>
                  <a:cs typeface="Calibri (MS) Bold"/>
                  <a:sym typeface="Calibri (MS) Bold"/>
                </a:rPr>
                <a:t>⚡  Détection en temps réel</a:t>
              </a:r>
            </a:p>
          </p:txBody>
        </p:sp>
      </p:grpSp>
      <p:grpSp>
        <p:nvGrpSpPr>
          <p:cNvPr name="Group 44" id="44"/>
          <p:cNvGrpSpPr/>
          <p:nvPr/>
        </p:nvGrpSpPr>
        <p:grpSpPr>
          <a:xfrm rot="0">
            <a:off x="6620256" y="7534656"/>
            <a:ext cx="5029200" cy="2121408"/>
            <a:chOff x="0" y="0"/>
            <a:chExt cx="6705600" cy="2828544"/>
          </a:xfrm>
        </p:grpSpPr>
        <p:sp>
          <p:nvSpPr>
            <p:cNvPr name="Freeform 45" id="45"/>
            <p:cNvSpPr/>
            <p:nvPr/>
          </p:nvSpPr>
          <p:spPr>
            <a:xfrm flipH="false" flipV="false" rot="0">
              <a:off x="0" y="0"/>
              <a:ext cx="6705600" cy="2828544"/>
            </a:xfrm>
            <a:custGeom>
              <a:avLst/>
              <a:gdLst/>
              <a:ahLst/>
              <a:cxnLst/>
              <a:rect r="r" b="b" t="t" l="l"/>
              <a:pathLst>
                <a:path h="2828544" w="6705600">
                  <a:moveTo>
                    <a:pt x="0" y="0"/>
                  </a:moveTo>
                  <a:lnTo>
                    <a:pt x="6705600" y="0"/>
                  </a:lnTo>
                  <a:lnTo>
                    <a:pt x="6705600" y="2828544"/>
                  </a:lnTo>
                  <a:lnTo>
                    <a:pt x="0" y="2828544"/>
                  </a:lnTo>
                  <a:close/>
                </a:path>
              </a:pathLst>
            </a:custGeom>
            <a:blipFill>
              <a:blip r:embed="rId2">
                <a:alphaModFix amt="0"/>
              </a:blip>
              <a:stretch>
                <a:fillRect l="-4120" t="0" r="-4120" b="0"/>
              </a:stretch>
            </a:blipFill>
          </p:spPr>
        </p:sp>
        <p:sp>
          <p:nvSpPr>
            <p:cNvPr name="TextBox 46" id="46"/>
            <p:cNvSpPr txBox="true"/>
            <p:nvPr/>
          </p:nvSpPr>
          <p:spPr>
            <a:xfrm>
              <a:off x="0" y="-38100"/>
              <a:ext cx="6705600" cy="2866644"/>
            </a:xfrm>
            <a:prstGeom prst="rect">
              <a:avLst/>
            </a:prstGeom>
          </p:spPr>
          <p:txBody>
            <a:bodyPr anchor="ctr" rtlCol="false" tIns="0" lIns="0" bIns="0" rIns="0"/>
            <a:lstStyle/>
            <a:p>
              <a:pPr algn="l">
                <a:lnSpc>
                  <a:spcPts val="2400"/>
                </a:lnSpc>
              </a:pPr>
              <a:r>
                <a:rPr lang="en-US" sz="2000">
                  <a:solidFill>
                    <a:srgbClr val="1E293B"/>
                  </a:solidFill>
                  <a:latin typeface="Calibri (MS)"/>
                  <a:ea typeface="Calibri (MS)"/>
                  <a:cs typeface="Calibri (MS)"/>
                  <a:sym typeface="Calibri (MS)"/>
                </a:rPr>
                <a:t>Analyse continue du trafic réseau pour identifier instantanément les comportements anormaux.</a:t>
              </a:r>
            </a:p>
          </p:txBody>
        </p:sp>
      </p:grpSp>
      <p:grpSp>
        <p:nvGrpSpPr>
          <p:cNvPr name="Group 47" id="47"/>
          <p:cNvGrpSpPr/>
          <p:nvPr/>
        </p:nvGrpSpPr>
        <p:grpSpPr>
          <a:xfrm rot="0">
            <a:off x="12135612" y="6320028"/>
            <a:ext cx="5593080" cy="3453384"/>
            <a:chOff x="0" y="0"/>
            <a:chExt cx="7457440" cy="4604512"/>
          </a:xfrm>
        </p:grpSpPr>
        <p:sp>
          <p:nvSpPr>
            <p:cNvPr name="Freeform 48" id="48"/>
            <p:cNvSpPr/>
            <p:nvPr/>
          </p:nvSpPr>
          <p:spPr>
            <a:xfrm flipH="false" flipV="false" rot="0">
              <a:off x="0" y="0"/>
              <a:ext cx="7457440" cy="4604512"/>
            </a:xfrm>
            <a:custGeom>
              <a:avLst/>
              <a:gdLst/>
              <a:ahLst/>
              <a:cxnLst/>
              <a:rect r="r" b="b" t="t" l="l"/>
              <a:pathLst>
                <a:path h="4604512" w="7457440">
                  <a:moveTo>
                    <a:pt x="0" y="293878"/>
                  </a:moveTo>
                  <a:cubicBezTo>
                    <a:pt x="0" y="131572"/>
                    <a:pt x="131572" y="0"/>
                    <a:pt x="293878" y="0"/>
                  </a:cubicBezTo>
                  <a:lnTo>
                    <a:pt x="7163562" y="0"/>
                  </a:lnTo>
                  <a:cubicBezTo>
                    <a:pt x="7325868" y="0"/>
                    <a:pt x="7457440" y="131572"/>
                    <a:pt x="7457440" y="293878"/>
                  </a:cubicBezTo>
                  <a:lnTo>
                    <a:pt x="7457440" y="4310634"/>
                  </a:lnTo>
                  <a:cubicBezTo>
                    <a:pt x="7457440" y="4472940"/>
                    <a:pt x="7325868" y="4604512"/>
                    <a:pt x="7163562" y="4604512"/>
                  </a:cubicBezTo>
                  <a:lnTo>
                    <a:pt x="293878" y="4604512"/>
                  </a:lnTo>
                  <a:cubicBezTo>
                    <a:pt x="131572" y="4604512"/>
                    <a:pt x="0" y="4472940"/>
                    <a:pt x="0" y="4310634"/>
                  </a:cubicBezTo>
                  <a:close/>
                </a:path>
              </a:pathLst>
            </a:custGeom>
            <a:solidFill>
              <a:srgbClr val="FFFFFF"/>
            </a:solidFill>
            <a:ln w="15240" cap="sq">
              <a:solidFill>
                <a:srgbClr val="D1DCF0"/>
              </a:solidFill>
              <a:prstDash val="solid"/>
              <a:miter/>
            </a:ln>
          </p:spPr>
        </p:sp>
      </p:grpSp>
      <p:grpSp>
        <p:nvGrpSpPr>
          <p:cNvPr name="Group 49" id="49"/>
          <p:cNvGrpSpPr/>
          <p:nvPr/>
        </p:nvGrpSpPr>
        <p:grpSpPr>
          <a:xfrm rot="0">
            <a:off x="12130535" y="6314951"/>
            <a:ext cx="5603243" cy="1122683"/>
            <a:chOff x="0" y="0"/>
            <a:chExt cx="7470991" cy="1496911"/>
          </a:xfrm>
        </p:grpSpPr>
        <p:sp>
          <p:nvSpPr>
            <p:cNvPr name="Freeform 50" id="50"/>
            <p:cNvSpPr/>
            <p:nvPr/>
          </p:nvSpPr>
          <p:spPr>
            <a:xfrm flipH="false" flipV="false" rot="0">
              <a:off x="0" y="0"/>
              <a:ext cx="7470902" cy="1496822"/>
            </a:xfrm>
            <a:custGeom>
              <a:avLst/>
              <a:gdLst/>
              <a:ahLst/>
              <a:cxnLst/>
              <a:rect r="r" b="b" t="t" l="l"/>
              <a:pathLst>
                <a:path h="1496822" w="7470902">
                  <a:moveTo>
                    <a:pt x="0" y="299339"/>
                  </a:moveTo>
                  <a:cubicBezTo>
                    <a:pt x="0" y="133985"/>
                    <a:pt x="133985" y="0"/>
                    <a:pt x="299339" y="0"/>
                  </a:cubicBezTo>
                  <a:lnTo>
                    <a:pt x="7171563" y="0"/>
                  </a:lnTo>
                  <a:cubicBezTo>
                    <a:pt x="7336917" y="0"/>
                    <a:pt x="7470902" y="133985"/>
                    <a:pt x="7470902" y="299339"/>
                  </a:cubicBezTo>
                  <a:lnTo>
                    <a:pt x="7470902" y="1197483"/>
                  </a:lnTo>
                  <a:cubicBezTo>
                    <a:pt x="7470902" y="1362837"/>
                    <a:pt x="7336917" y="1496822"/>
                    <a:pt x="7171563" y="1496822"/>
                  </a:cubicBezTo>
                  <a:lnTo>
                    <a:pt x="299339" y="1496822"/>
                  </a:lnTo>
                  <a:cubicBezTo>
                    <a:pt x="133985" y="1496949"/>
                    <a:pt x="0" y="1362837"/>
                    <a:pt x="0" y="1197483"/>
                  </a:cubicBezTo>
                  <a:close/>
                </a:path>
              </a:pathLst>
            </a:custGeom>
            <a:solidFill>
              <a:srgbClr val="1E3A5F"/>
            </a:solidFill>
            <a:ln w="25400" cap="sq">
              <a:solidFill>
                <a:srgbClr val="1E3A5F"/>
              </a:solidFill>
              <a:prstDash val="solid"/>
              <a:miter/>
            </a:ln>
          </p:spPr>
        </p:sp>
      </p:grpSp>
      <p:grpSp>
        <p:nvGrpSpPr>
          <p:cNvPr name="Group 51" id="51"/>
          <p:cNvGrpSpPr/>
          <p:nvPr/>
        </p:nvGrpSpPr>
        <p:grpSpPr>
          <a:xfrm rot="0">
            <a:off x="12326112" y="6400800"/>
            <a:ext cx="5212080" cy="914400"/>
            <a:chOff x="0" y="0"/>
            <a:chExt cx="6949440" cy="1219200"/>
          </a:xfrm>
        </p:grpSpPr>
        <p:sp>
          <p:nvSpPr>
            <p:cNvPr name="Freeform 52" id="52"/>
            <p:cNvSpPr/>
            <p:nvPr/>
          </p:nvSpPr>
          <p:spPr>
            <a:xfrm flipH="false" flipV="false" rot="0">
              <a:off x="0" y="0"/>
              <a:ext cx="6949440" cy="1219200"/>
            </a:xfrm>
            <a:custGeom>
              <a:avLst/>
              <a:gdLst/>
              <a:ahLst/>
              <a:cxnLst/>
              <a:rect r="r" b="b" t="t" l="l"/>
              <a:pathLst>
                <a:path h="1219200" w="6949440">
                  <a:moveTo>
                    <a:pt x="0" y="0"/>
                  </a:moveTo>
                  <a:lnTo>
                    <a:pt x="6949440" y="0"/>
                  </a:lnTo>
                  <a:lnTo>
                    <a:pt x="6949440" y="1219200"/>
                  </a:lnTo>
                  <a:lnTo>
                    <a:pt x="0" y="1219200"/>
                  </a:lnTo>
                  <a:close/>
                </a:path>
              </a:pathLst>
            </a:custGeom>
            <a:blipFill>
              <a:blip r:embed="rId2">
                <a:alphaModFix amt="0"/>
              </a:blip>
              <a:stretch>
                <a:fillRect l="0" t="-61064" r="0" b="-61064"/>
              </a:stretch>
            </a:blipFill>
          </p:spPr>
        </p:sp>
        <p:sp>
          <p:nvSpPr>
            <p:cNvPr name="TextBox 53" id="53"/>
            <p:cNvSpPr txBox="true"/>
            <p:nvPr/>
          </p:nvSpPr>
          <p:spPr>
            <a:xfrm>
              <a:off x="0" y="-47625"/>
              <a:ext cx="6949440" cy="1266825"/>
            </a:xfrm>
            <a:prstGeom prst="rect">
              <a:avLst/>
            </a:prstGeom>
          </p:spPr>
          <p:txBody>
            <a:bodyPr anchor="ctr" rtlCol="false" tIns="0" lIns="0" bIns="0" rIns="0"/>
            <a:lstStyle/>
            <a:p>
              <a:pPr algn="l">
                <a:lnSpc>
                  <a:spcPts val="2760"/>
                </a:lnSpc>
              </a:pPr>
              <a:r>
                <a:rPr lang="en-US" sz="2300" b="true">
                  <a:solidFill>
                    <a:srgbClr val="FFFFFF"/>
                  </a:solidFill>
                  <a:latin typeface="Calibri (MS) Bold"/>
                  <a:ea typeface="Calibri (MS) Bold"/>
                  <a:cs typeface="Calibri (MS) Bold"/>
                  <a:sym typeface="Calibri (MS) Bold"/>
                </a:rPr>
                <a:t>🛡️  Réactivité renforcée</a:t>
              </a:r>
            </a:p>
          </p:txBody>
        </p:sp>
      </p:grpSp>
      <p:grpSp>
        <p:nvGrpSpPr>
          <p:cNvPr name="Group 54" id="54"/>
          <p:cNvGrpSpPr/>
          <p:nvPr/>
        </p:nvGrpSpPr>
        <p:grpSpPr>
          <a:xfrm rot="0">
            <a:off x="12417552" y="7534656"/>
            <a:ext cx="5029200" cy="2121408"/>
            <a:chOff x="0" y="0"/>
            <a:chExt cx="6705600" cy="2828544"/>
          </a:xfrm>
        </p:grpSpPr>
        <p:sp>
          <p:nvSpPr>
            <p:cNvPr name="Freeform 55" id="55"/>
            <p:cNvSpPr/>
            <p:nvPr/>
          </p:nvSpPr>
          <p:spPr>
            <a:xfrm flipH="false" flipV="false" rot="0">
              <a:off x="0" y="0"/>
              <a:ext cx="6705600" cy="2828544"/>
            </a:xfrm>
            <a:custGeom>
              <a:avLst/>
              <a:gdLst/>
              <a:ahLst/>
              <a:cxnLst/>
              <a:rect r="r" b="b" t="t" l="l"/>
              <a:pathLst>
                <a:path h="2828544" w="6705600">
                  <a:moveTo>
                    <a:pt x="0" y="0"/>
                  </a:moveTo>
                  <a:lnTo>
                    <a:pt x="6705600" y="0"/>
                  </a:lnTo>
                  <a:lnTo>
                    <a:pt x="6705600" y="2828544"/>
                  </a:lnTo>
                  <a:lnTo>
                    <a:pt x="0" y="2828544"/>
                  </a:lnTo>
                  <a:close/>
                </a:path>
              </a:pathLst>
            </a:custGeom>
            <a:blipFill>
              <a:blip r:embed="rId2">
                <a:alphaModFix amt="0"/>
              </a:blip>
              <a:stretch>
                <a:fillRect l="-4120" t="0" r="-4120" b="0"/>
              </a:stretch>
            </a:blipFill>
          </p:spPr>
        </p:sp>
        <p:sp>
          <p:nvSpPr>
            <p:cNvPr name="TextBox 56" id="56"/>
            <p:cNvSpPr txBox="true"/>
            <p:nvPr/>
          </p:nvSpPr>
          <p:spPr>
            <a:xfrm>
              <a:off x="0" y="-38100"/>
              <a:ext cx="6705600" cy="2866644"/>
            </a:xfrm>
            <a:prstGeom prst="rect">
              <a:avLst/>
            </a:prstGeom>
          </p:spPr>
          <p:txBody>
            <a:bodyPr anchor="ctr" rtlCol="false" tIns="0" lIns="0" bIns="0" rIns="0"/>
            <a:lstStyle/>
            <a:p>
              <a:pPr algn="l">
                <a:lnSpc>
                  <a:spcPts val="2400"/>
                </a:lnSpc>
              </a:pPr>
              <a:r>
                <a:rPr lang="en-US" sz="2000">
                  <a:solidFill>
                    <a:srgbClr val="1E293B"/>
                  </a:solidFill>
                  <a:latin typeface="Calibri (MS)"/>
                  <a:ea typeface="Calibri (MS)"/>
                  <a:cs typeface="Calibri (MS)"/>
                  <a:sym typeface="Calibri (MS)"/>
                </a:rPr>
                <a:t>Alertes automatiques et réponse rapide face aux intrusions pour réduire le temps d'exposition aux menaces.</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0F4FF"/>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525019"/>
            <a:chOff x="0" y="0"/>
            <a:chExt cx="24417871" cy="2033359"/>
          </a:xfrm>
        </p:grpSpPr>
        <p:sp>
          <p:nvSpPr>
            <p:cNvPr name="Freeform 3" id="3"/>
            <p:cNvSpPr/>
            <p:nvPr/>
          </p:nvSpPr>
          <p:spPr>
            <a:xfrm flipH="false" flipV="false" rot="0">
              <a:off x="0" y="0"/>
              <a:ext cx="24417910" cy="2033397"/>
            </a:xfrm>
            <a:custGeom>
              <a:avLst/>
              <a:gdLst/>
              <a:ahLst/>
              <a:cxnLst/>
              <a:rect r="r" b="b" t="t" l="l"/>
              <a:pathLst>
                <a:path h="2033397" w="24417910">
                  <a:moveTo>
                    <a:pt x="0" y="0"/>
                  </a:moveTo>
                  <a:lnTo>
                    <a:pt x="24417910" y="0"/>
                  </a:lnTo>
                  <a:lnTo>
                    <a:pt x="24417910" y="2033397"/>
                  </a:lnTo>
                  <a:lnTo>
                    <a:pt x="0" y="2033397"/>
                  </a:lnTo>
                  <a:close/>
                </a:path>
              </a:pathLst>
            </a:custGeom>
            <a:solidFill>
              <a:srgbClr val="1E3A5F"/>
            </a:solidFill>
            <a:ln w="25400" cap="sq">
              <a:solidFill>
                <a:srgbClr val="1E3A5F"/>
              </a:solidFill>
              <a:prstDash val="solid"/>
              <a:miter/>
            </a:ln>
          </p:spPr>
        </p:sp>
      </p:grpSp>
      <p:grpSp>
        <p:nvGrpSpPr>
          <p:cNvPr name="Group 4" id="4"/>
          <p:cNvGrpSpPr/>
          <p:nvPr/>
        </p:nvGrpSpPr>
        <p:grpSpPr>
          <a:xfrm rot="0">
            <a:off x="15349223" y="-1201417"/>
            <a:ext cx="4231643" cy="4231643"/>
            <a:chOff x="0" y="0"/>
            <a:chExt cx="5642191" cy="5642191"/>
          </a:xfrm>
        </p:grpSpPr>
        <p:sp>
          <p:nvSpPr>
            <p:cNvPr name="Freeform 5" id="5"/>
            <p:cNvSpPr/>
            <p:nvPr/>
          </p:nvSpPr>
          <p:spPr>
            <a:xfrm flipH="false" flipV="false" rot="0">
              <a:off x="0" y="0"/>
              <a:ext cx="5642229" cy="5642229"/>
            </a:xfrm>
            <a:custGeom>
              <a:avLst/>
              <a:gdLst/>
              <a:ahLst/>
              <a:cxnLst/>
              <a:rect r="r" b="b" t="t" l="l"/>
              <a:pathLst>
                <a:path h="5642229" w="5642229">
                  <a:moveTo>
                    <a:pt x="0" y="2821051"/>
                  </a:moveTo>
                  <a:cubicBezTo>
                    <a:pt x="0" y="1263015"/>
                    <a:pt x="1263015" y="0"/>
                    <a:pt x="2821051" y="0"/>
                  </a:cubicBezTo>
                  <a:cubicBezTo>
                    <a:pt x="4379087" y="0"/>
                    <a:pt x="5642229" y="1263015"/>
                    <a:pt x="5642229" y="2821051"/>
                  </a:cubicBezTo>
                  <a:cubicBezTo>
                    <a:pt x="5642229" y="4379087"/>
                    <a:pt x="4379087" y="5642229"/>
                    <a:pt x="2821051" y="5642229"/>
                  </a:cubicBezTo>
                  <a:cubicBezTo>
                    <a:pt x="1263015" y="5642229"/>
                    <a:pt x="0" y="4379087"/>
                    <a:pt x="0" y="2821051"/>
                  </a:cubicBezTo>
                  <a:close/>
                </a:path>
              </a:pathLst>
            </a:custGeom>
            <a:solidFill>
              <a:srgbClr val="3A7FC1">
                <a:alpha val="4706"/>
              </a:srgbClr>
            </a:solidFill>
            <a:ln w="25400" cap="sq">
              <a:solidFill>
                <a:srgbClr val="3A7FC1"/>
              </a:solidFill>
              <a:prstDash val="solid"/>
              <a:miter/>
            </a:ln>
          </p:spPr>
        </p:sp>
      </p:grpSp>
      <p:grpSp>
        <p:nvGrpSpPr>
          <p:cNvPr name="Group 6" id="6"/>
          <p:cNvGrpSpPr/>
          <p:nvPr/>
        </p:nvGrpSpPr>
        <p:grpSpPr>
          <a:xfrm rot="0">
            <a:off x="731520" y="109728"/>
            <a:ext cx="15361920" cy="841248"/>
            <a:chOff x="0" y="0"/>
            <a:chExt cx="20482560" cy="1121664"/>
          </a:xfrm>
        </p:grpSpPr>
        <p:sp>
          <p:nvSpPr>
            <p:cNvPr name="Freeform 7" id="7"/>
            <p:cNvSpPr/>
            <p:nvPr/>
          </p:nvSpPr>
          <p:spPr>
            <a:xfrm flipH="false" flipV="false" rot="0">
              <a:off x="0" y="0"/>
              <a:ext cx="20482561" cy="1121664"/>
            </a:xfrm>
            <a:custGeom>
              <a:avLst/>
              <a:gdLst/>
              <a:ahLst/>
              <a:cxnLst/>
              <a:rect r="r" b="b" t="t" l="l"/>
              <a:pathLst>
                <a:path h="1121664" w="20482561">
                  <a:moveTo>
                    <a:pt x="0" y="0"/>
                  </a:moveTo>
                  <a:lnTo>
                    <a:pt x="20482561" y="0"/>
                  </a:lnTo>
                  <a:lnTo>
                    <a:pt x="20482561" y="1121664"/>
                  </a:lnTo>
                  <a:lnTo>
                    <a:pt x="0" y="1121664"/>
                  </a:lnTo>
                  <a:close/>
                </a:path>
              </a:pathLst>
            </a:custGeom>
            <a:blipFill>
              <a:blip r:embed="rId2">
                <a:alphaModFix amt="0"/>
              </a:blip>
              <a:stretch>
                <a:fillRect l="0" t="-305813" r="0" b="-305813"/>
              </a:stretch>
            </a:blipFill>
          </p:spPr>
        </p:sp>
        <p:sp>
          <p:nvSpPr>
            <p:cNvPr name="TextBox 8" id="8"/>
            <p:cNvSpPr txBox="true"/>
            <p:nvPr/>
          </p:nvSpPr>
          <p:spPr>
            <a:xfrm>
              <a:off x="0" y="-9525"/>
              <a:ext cx="20482560" cy="1131189"/>
            </a:xfrm>
            <a:prstGeom prst="rect">
              <a:avLst/>
            </a:prstGeom>
          </p:spPr>
          <p:txBody>
            <a:bodyPr anchor="ctr" rtlCol="false" tIns="0" lIns="0" bIns="0" rIns="0"/>
            <a:lstStyle/>
            <a:p>
              <a:pPr algn="l">
                <a:lnSpc>
                  <a:spcPts val="5040"/>
                </a:lnSpc>
              </a:pPr>
              <a:r>
                <a:rPr lang="en-US" sz="4200" b="true">
                  <a:solidFill>
                    <a:srgbClr val="FFFFFF"/>
                  </a:solidFill>
                  <a:latin typeface="Cambria Bold"/>
                  <a:ea typeface="Cambria Bold"/>
                  <a:cs typeface="Cambria Bold"/>
                  <a:sym typeface="Cambria Bold"/>
                </a:rPr>
                <a:t>Dictionnaire de Données — IDS basé IA</a:t>
              </a:r>
            </a:p>
          </p:txBody>
        </p:sp>
      </p:grpSp>
      <p:grpSp>
        <p:nvGrpSpPr>
          <p:cNvPr name="Group 9" id="9"/>
          <p:cNvGrpSpPr/>
          <p:nvPr/>
        </p:nvGrpSpPr>
        <p:grpSpPr>
          <a:xfrm rot="0">
            <a:off x="731520" y="914400"/>
            <a:ext cx="15361920" cy="512064"/>
            <a:chOff x="0" y="0"/>
            <a:chExt cx="20482560" cy="682752"/>
          </a:xfrm>
        </p:grpSpPr>
        <p:sp>
          <p:nvSpPr>
            <p:cNvPr name="Freeform 10" id="10"/>
            <p:cNvSpPr/>
            <p:nvPr/>
          </p:nvSpPr>
          <p:spPr>
            <a:xfrm flipH="false" flipV="false" rot="0">
              <a:off x="0" y="0"/>
              <a:ext cx="20482561" cy="682752"/>
            </a:xfrm>
            <a:custGeom>
              <a:avLst/>
              <a:gdLst/>
              <a:ahLst/>
              <a:cxnLst/>
              <a:rect r="r" b="b" t="t" l="l"/>
              <a:pathLst>
                <a:path h="682752" w="20482561">
                  <a:moveTo>
                    <a:pt x="0" y="0"/>
                  </a:moveTo>
                  <a:lnTo>
                    <a:pt x="20482561" y="0"/>
                  </a:lnTo>
                  <a:lnTo>
                    <a:pt x="20482561" y="682752"/>
                  </a:lnTo>
                  <a:lnTo>
                    <a:pt x="0" y="682752"/>
                  </a:lnTo>
                  <a:close/>
                </a:path>
              </a:pathLst>
            </a:custGeom>
            <a:blipFill>
              <a:blip r:embed="rId2">
                <a:alphaModFix amt="0"/>
              </a:blip>
              <a:stretch>
                <a:fillRect l="0" t="-534551" r="0" b="-534551"/>
              </a:stretch>
            </a:blipFill>
          </p:spPr>
        </p:sp>
        <p:sp>
          <p:nvSpPr>
            <p:cNvPr name="TextBox 11" id="11"/>
            <p:cNvSpPr txBox="true"/>
            <p:nvPr/>
          </p:nvSpPr>
          <p:spPr>
            <a:xfrm>
              <a:off x="0" y="-38100"/>
              <a:ext cx="20482560" cy="720852"/>
            </a:xfrm>
            <a:prstGeom prst="rect">
              <a:avLst/>
            </a:prstGeom>
          </p:spPr>
          <p:txBody>
            <a:bodyPr anchor="ctr" rtlCol="false" tIns="0" lIns="0" bIns="0" rIns="0"/>
            <a:lstStyle/>
            <a:p>
              <a:pPr algn="l">
                <a:lnSpc>
                  <a:spcPts val="2400"/>
                </a:lnSpc>
              </a:pPr>
              <a:r>
                <a:rPr lang="en-US" sz="2000">
                  <a:solidFill>
                    <a:srgbClr val="CADCFC"/>
                  </a:solidFill>
                  <a:latin typeface="Calibri (MS)"/>
                  <a:ea typeface="Calibri (MS)"/>
                  <a:cs typeface="Calibri (MS)"/>
                  <a:sym typeface="Calibri (MS)"/>
                </a:rPr>
                <a:t>Système de Détection d'Intrusion  ·  Variables Input / Output enrichies</a:t>
              </a:r>
            </a:p>
          </p:txBody>
        </p:sp>
      </p:grpSp>
      <p:grpSp>
        <p:nvGrpSpPr>
          <p:cNvPr name="Group 12" id="12"/>
          <p:cNvGrpSpPr/>
          <p:nvPr/>
        </p:nvGrpSpPr>
        <p:grpSpPr>
          <a:xfrm rot="0">
            <a:off x="389639" y="1633223"/>
            <a:ext cx="17508731" cy="793499"/>
            <a:chOff x="0" y="0"/>
            <a:chExt cx="23344975" cy="1057999"/>
          </a:xfrm>
        </p:grpSpPr>
        <p:sp>
          <p:nvSpPr>
            <p:cNvPr name="Freeform 13" id="13"/>
            <p:cNvSpPr/>
            <p:nvPr/>
          </p:nvSpPr>
          <p:spPr>
            <a:xfrm flipH="false" flipV="false" rot="0">
              <a:off x="0" y="0"/>
              <a:ext cx="23345014" cy="1057910"/>
            </a:xfrm>
            <a:custGeom>
              <a:avLst/>
              <a:gdLst/>
              <a:ahLst/>
              <a:cxnLst/>
              <a:rect r="r" b="b" t="t" l="l"/>
              <a:pathLst>
                <a:path h="1057910" w="23345014">
                  <a:moveTo>
                    <a:pt x="0" y="151130"/>
                  </a:moveTo>
                  <a:cubicBezTo>
                    <a:pt x="0" y="67691"/>
                    <a:pt x="67691" y="0"/>
                    <a:pt x="151130" y="0"/>
                  </a:cubicBezTo>
                  <a:lnTo>
                    <a:pt x="23193883" y="0"/>
                  </a:lnTo>
                  <a:cubicBezTo>
                    <a:pt x="23277322" y="0"/>
                    <a:pt x="23345014" y="67691"/>
                    <a:pt x="23345014" y="151130"/>
                  </a:cubicBezTo>
                  <a:lnTo>
                    <a:pt x="23345014" y="906780"/>
                  </a:lnTo>
                  <a:cubicBezTo>
                    <a:pt x="23345014" y="990219"/>
                    <a:pt x="23277322" y="1057910"/>
                    <a:pt x="23193883" y="1057910"/>
                  </a:cubicBezTo>
                  <a:lnTo>
                    <a:pt x="151130" y="1057910"/>
                  </a:lnTo>
                  <a:cubicBezTo>
                    <a:pt x="67691" y="1058037"/>
                    <a:pt x="0" y="990346"/>
                    <a:pt x="0" y="906907"/>
                  </a:cubicBezTo>
                  <a:close/>
                </a:path>
              </a:pathLst>
            </a:custGeom>
            <a:solidFill>
              <a:srgbClr val="1E3A5F"/>
            </a:solidFill>
            <a:ln w="25400" cap="sq">
              <a:solidFill>
                <a:srgbClr val="1E3A5F"/>
              </a:solidFill>
              <a:prstDash val="solid"/>
              <a:miter/>
            </a:ln>
          </p:spPr>
        </p:sp>
      </p:grpSp>
      <p:grpSp>
        <p:nvGrpSpPr>
          <p:cNvPr name="Group 14" id="14"/>
          <p:cNvGrpSpPr/>
          <p:nvPr/>
        </p:nvGrpSpPr>
        <p:grpSpPr>
          <a:xfrm rot="0">
            <a:off x="397259" y="1640843"/>
            <a:ext cx="17493491" cy="778259"/>
            <a:chOff x="0" y="0"/>
            <a:chExt cx="23324655" cy="1037679"/>
          </a:xfrm>
        </p:grpSpPr>
        <p:sp>
          <p:nvSpPr>
            <p:cNvPr name="Freeform 15" id="15"/>
            <p:cNvSpPr/>
            <p:nvPr/>
          </p:nvSpPr>
          <p:spPr>
            <a:xfrm flipH="false" flipV="false" rot="0">
              <a:off x="0" y="0"/>
              <a:ext cx="23324693" cy="1037717"/>
            </a:xfrm>
            <a:custGeom>
              <a:avLst/>
              <a:gdLst/>
              <a:ahLst/>
              <a:cxnLst/>
              <a:rect r="r" b="b" t="t" l="l"/>
              <a:pathLst>
                <a:path h="1037717" w="23324693">
                  <a:moveTo>
                    <a:pt x="0" y="0"/>
                  </a:moveTo>
                  <a:lnTo>
                    <a:pt x="23324693" y="0"/>
                  </a:lnTo>
                  <a:lnTo>
                    <a:pt x="23324693" y="1037717"/>
                  </a:lnTo>
                  <a:lnTo>
                    <a:pt x="0" y="1037717"/>
                  </a:lnTo>
                  <a:close/>
                </a:path>
              </a:pathLst>
            </a:custGeom>
            <a:solidFill>
              <a:srgbClr val="1E3A5F"/>
            </a:solidFill>
            <a:ln w="10160" cap="sq">
              <a:solidFill>
                <a:srgbClr val="D1DCF0"/>
              </a:solidFill>
              <a:prstDash val="solid"/>
              <a:miter/>
            </a:ln>
          </p:spPr>
        </p:sp>
      </p:grpSp>
      <p:grpSp>
        <p:nvGrpSpPr>
          <p:cNvPr name="Group 16" id="16"/>
          <p:cNvGrpSpPr/>
          <p:nvPr/>
        </p:nvGrpSpPr>
        <p:grpSpPr>
          <a:xfrm rot="0">
            <a:off x="548640" y="1719072"/>
            <a:ext cx="3255264" cy="658368"/>
            <a:chOff x="0" y="0"/>
            <a:chExt cx="4340352" cy="877824"/>
          </a:xfrm>
        </p:grpSpPr>
        <p:sp>
          <p:nvSpPr>
            <p:cNvPr name="Freeform 17" id="17"/>
            <p:cNvSpPr/>
            <p:nvPr/>
          </p:nvSpPr>
          <p:spPr>
            <a:xfrm flipH="false" flipV="false" rot="0">
              <a:off x="0" y="0"/>
              <a:ext cx="4340352" cy="877824"/>
            </a:xfrm>
            <a:custGeom>
              <a:avLst/>
              <a:gdLst/>
              <a:ahLst/>
              <a:cxnLst/>
              <a:rect r="r" b="b" t="t" l="l"/>
              <a:pathLst>
                <a:path h="877824" w="4340352">
                  <a:moveTo>
                    <a:pt x="0" y="0"/>
                  </a:moveTo>
                  <a:lnTo>
                    <a:pt x="4340352" y="0"/>
                  </a:lnTo>
                  <a:lnTo>
                    <a:pt x="4340352" y="877824"/>
                  </a:lnTo>
                  <a:lnTo>
                    <a:pt x="0" y="877824"/>
                  </a:lnTo>
                  <a:close/>
                </a:path>
              </a:pathLst>
            </a:custGeom>
            <a:blipFill>
              <a:blip r:embed="rId2">
                <a:alphaModFix amt="0"/>
              </a:blip>
              <a:stretch>
                <a:fillRect l="0" t="-46342" r="0" b="-46342"/>
              </a:stretch>
            </a:blipFill>
          </p:spPr>
        </p:sp>
        <p:sp>
          <p:nvSpPr>
            <p:cNvPr name="TextBox 18" id="18"/>
            <p:cNvSpPr txBox="true"/>
            <p:nvPr/>
          </p:nvSpPr>
          <p:spPr>
            <a:xfrm>
              <a:off x="0" y="-9525"/>
              <a:ext cx="4340352" cy="887349"/>
            </a:xfrm>
            <a:prstGeom prst="rect">
              <a:avLst/>
            </a:prstGeom>
          </p:spPr>
          <p:txBody>
            <a:bodyPr anchor="ctr" rtlCol="false" tIns="0" lIns="0" bIns="0" rIns="0"/>
            <a:lstStyle/>
            <a:p>
              <a:pPr algn="l">
                <a:lnSpc>
                  <a:spcPts val="2400"/>
                </a:lnSpc>
              </a:pPr>
              <a:r>
                <a:rPr lang="en-US" sz="2000" b="true">
                  <a:solidFill>
                    <a:srgbClr val="FFFFFF"/>
                  </a:solidFill>
                  <a:latin typeface="Cambria Bold"/>
                  <a:ea typeface="Cambria Bold"/>
                  <a:cs typeface="Cambria Bold"/>
                  <a:sym typeface="Cambria Bold"/>
                </a:rPr>
                <a:t>Variable</a:t>
              </a:r>
            </a:p>
          </p:txBody>
        </p:sp>
      </p:grpSp>
      <p:grpSp>
        <p:nvGrpSpPr>
          <p:cNvPr name="Group 19" id="19"/>
          <p:cNvGrpSpPr/>
          <p:nvPr/>
        </p:nvGrpSpPr>
        <p:grpSpPr>
          <a:xfrm rot="0">
            <a:off x="3986784" y="1719072"/>
            <a:ext cx="2286000" cy="658368"/>
            <a:chOff x="0" y="0"/>
            <a:chExt cx="3048000" cy="877824"/>
          </a:xfrm>
        </p:grpSpPr>
        <p:sp>
          <p:nvSpPr>
            <p:cNvPr name="Freeform 20" id="20"/>
            <p:cNvSpPr/>
            <p:nvPr/>
          </p:nvSpPr>
          <p:spPr>
            <a:xfrm flipH="false" flipV="false" rot="0">
              <a:off x="0" y="0"/>
              <a:ext cx="3048000" cy="877824"/>
            </a:xfrm>
            <a:custGeom>
              <a:avLst/>
              <a:gdLst/>
              <a:ahLst/>
              <a:cxnLst/>
              <a:rect r="r" b="b" t="t" l="l"/>
              <a:pathLst>
                <a:path h="877824" w="3048000">
                  <a:moveTo>
                    <a:pt x="0" y="0"/>
                  </a:moveTo>
                  <a:lnTo>
                    <a:pt x="3048000" y="0"/>
                  </a:lnTo>
                  <a:lnTo>
                    <a:pt x="3048000" y="877824"/>
                  </a:lnTo>
                  <a:lnTo>
                    <a:pt x="0" y="877824"/>
                  </a:lnTo>
                  <a:close/>
                </a:path>
              </a:pathLst>
            </a:custGeom>
            <a:blipFill>
              <a:blip r:embed="rId2">
                <a:alphaModFix amt="0"/>
              </a:blip>
              <a:stretch>
                <a:fillRect l="0" t="-17656" r="0" b="-17656"/>
              </a:stretch>
            </a:blipFill>
          </p:spPr>
        </p:sp>
        <p:sp>
          <p:nvSpPr>
            <p:cNvPr name="TextBox 21" id="21"/>
            <p:cNvSpPr txBox="true"/>
            <p:nvPr/>
          </p:nvSpPr>
          <p:spPr>
            <a:xfrm>
              <a:off x="0" y="-9525"/>
              <a:ext cx="3048000" cy="887349"/>
            </a:xfrm>
            <a:prstGeom prst="rect">
              <a:avLst/>
            </a:prstGeom>
          </p:spPr>
          <p:txBody>
            <a:bodyPr anchor="ctr" rtlCol="false" tIns="0" lIns="0" bIns="0" rIns="0"/>
            <a:lstStyle/>
            <a:p>
              <a:pPr algn="ctr">
                <a:lnSpc>
                  <a:spcPts val="2400"/>
                </a:lnSpc>
              </a:pPr>
              <a:r>
                <a:rPr lang="en-US" sz="2000" b="true">
                  <a:solidFill>
                    <a:srgbClr val="FFFFFF"/>
                  </a:solidFill>
                  <a:latin typeface="Cambria Bold"/>
                  <a:ea typeface="Cambria Bold"/>
                  <a:cs typeface="Cambria Bold"/>
                  <a:sym typeface="Cambria Bold"/>
                </a:rPr>
                <a:t>Type / Format</a:t>
              </a:r>
            </a:p>
          </p:txBody>
        </p:sp>
      </p:grpSp>
      <p:grpSp>
        <p:nvGrpSpPr>
          <p:cNvPr name="Group 22" id="22"/>
          <p:cNvGrpSpPr/>
          <p:nvPr/>
        </p:nvGrpSpPr>
        <p:grpSpPr>
          <a:xfrm rot="0">
            <a:off x="6455664" y="1719072"/>
            <a:ext cx="5029200" cy="658368"/>
            <a:chOff x="0" y="0"/>
            <a:chExt cx="6705600" cy="877824"/>
          </a:xfrm>
        </p:grpSpPr>
        <p:sp>
          <p:nvSpPr>
            <p:cNvPr name="Freeform 23" id="23"/>
            <p:cNvSpPr/>
            <p:nvPr/>
          </p:nvSpPr>
          <p:spPr>
            <a:xfrm flipH="false" flipV="false" rot="0">
              <a:off x="0" y="0"/>
              <a:ext cx="6705600" cy="877824"/>
            </a:xfrm>
            <a:custGeom>
              <a:avLst/>
              <a:gdLst/>
              <a:ahLst/>
              <a:cxnLst/>
              <a:rect r="r" b="b" t="t" l="l"/>
              <a:pathLst>
                <a:path h="877824" w="6705600">
                  <a:moveTo>
                    <a:pt x="0" y="0"/>
                  </a:moveTo>
                  <a:lnTo>
                    <a:pt x="6705600" y="0"/>
                  </a:lnTo>
                  <a:lnTo>
                    <a:pt x="6705600" y="877824"/>
                  </a:lnTo>
                  <a:lnTo>
                    <a:pt x="0" y="877824"/>
                  </a:lnTo>
                  <a:close/>
                </a:path>
              </a:pathLst>
            </a:custGeom>
            <a:blipFill>
              <a:blip r:embed="rId2">
                <a:alphaModFix amt="0"/>
              </a:blip>
              <a:stretch>
                <a:fillRect l="0" t="-98844" r="0" b="-98844"/>
              </a:stretch>
            </a:blipFill>
          </p:spPr>
        </p:sp>
        <p:sp>
          <p:nvSpPr>
            <p:cNvPr name="TextBox 24" id="24"/>
            <p:cNvSpPr txBox="true"/>
            <p:nvPr/>
          </p:nvSpPr>
          <p:spPr>
            <a:xfrm>
              <a:off x="0" y="-9525"/>
              <a:ext cx="6705600" cy="887349"/>
            </a:xfrm>
            <a:prstGeom prst="rect">
              <a:avLst/>
            </a:prstGeom>
          </p:spPr>
          <p:txBody>
            <a:bodyPr anchor="ctr" rtlCol="false" tIns="0" lIns="0" bIns="0" rIns="0"/>
            <a:lstStyle/>
            <a:p>
              <a:pPr algn="l">
                <a:lnSpc>
                  <a:spcPts val="2400"/>
                </a:lnSpc>
              </a:pPr>
              <a:r>
                <a:rPr lang="en-US" sz="2000" b="true">
                  <a:solidFill>
                    <a:srgbClr val="FFFFFF"/>
                  </a:solidFill>
                  <a:latin typeface="Cambria Bold"/>
                  <a:ea typeface="Cambria Bold"/>
                  <a:cs typeface="Cambria Bold"/>
                  <a:sym typeface="Cambria Bold"/>
                </a:rPr>
                <a:t>Description</a:t>
              </a:r>
            </a:p>
          </p:txBody>
        </p:sp>
      </p:grpSp>
      <p:grpSp>
        <p:nvGrpSpPr>
          <p:cNvPr name="Group 25" id="25"/>
          <p:cNvGrpSpPr/>
          <p:nvPr/>
        </p:nvGrpSpPr>
        <p:grpSpPr>
          <a:xfrm rot="0">
            <a:off x="11667744" y="1719072"/>
            <a:ext cx="1865376" cy="658368"/>
            <a:chOff x="0" y="0"/>
            <a:chExt cx="2487168" cy="877824"/>
          </a:xfrm>
        </p:grpSpPr>
        <p:sp>
          <p:nvSpPr>
            <p:cNvPr name="Freeform 26" id="26"/>
            <p:cNvSpPr/>
            <p:nvPr/>
          </p:nvSpPr>
          <p:spPr>
            <a:xfrm flipH="false" flipV="false" rot="0">
              <a:off x="0" y="0"/>
              <a:ext cx="2487168" cy="877824"/>
            </a:xfrm>
            <a:custGeom>
              <a:avLst/>
              <a:gdLst/>
              <a:ahLst/>
              <a:cxnLst/>
              <a:rect r="r" b="b" t="t" l="l"/>
              <a:pathLst>
                <a:path h="877824" w="2487168">
                  <a:moveTo>
                    <a:pt x="0" y="0"/>
                  </a:moveTo>
                  <a:lnTo>
                    <a:pt x="2487168" y="0"/>
                  </a:lnTo>
                  <a:lnTo>
                    <a:pt x="2487168" y="877824"/>
                  </a:lnTo>
                  <a:lnTo>
                    <a:pt x="0" y="877824"/>
                  </a:lnTo>
                  <a:close/>
                </a:path>
              </a:pathLst>
            </a:custGeom>
            <a:blipFill>
              <a:blip r:embed="rId2">
                <a:alphaModFix amt="0"/>
              </a:blip>
              <a:stretch>
                <a:fillRect l="0" t="-5207" r="0" b="-5207"/>
              </a:stretch>
            </a:blipFill>
          </p:spPr>
        </p:sp>
        <p:sp>
          <p:nvSpPr>
            <p:cNvPr name="TextBox 27" id="27"/>
            <p:cNvSpPr txBox="true"/>
            <p:nvPr/>
          </p:nvSpPr>
          <p:spPr>
            <a:xfrm>
              <a:off x="0" y="-9525"/>
              <a:ext cx="2487168" cy="887349"/>
            </a:xfrm>
            <a:prstGeom prst="rect">
              <a:avLst/>
            </a:prstGeom>
          </p:spPr>
          <p:txBody>
            <a:bodyPr anchor="ctr" rtlCol="false" tIns="0" lIns="0" bIns="0" rIns="0"/>
            <a:lstStyle/>
            <a:p>
              <a:pPr algn="ctr">
                <a:lnSpc>
                  <a:spcPts val="2400"/>
                </a:lnSpc>
              </a:pPr>
              <a:r>
                <a:rPr lang="en-US" sz="2000" b="true">
                  <a:solidFill>
                    <a:srgbClr val="FFFFFF"/>
                  </a:solidFill>
                  <a:latin typeface="Cambria Bold"/>
                  <a:ea typeface="Cambria Bold"/>
                  <a:cs typeface="Cambria Bold"/>
                  <a:sym typeface="Cambria Bold"/>
                </a:rPr>
                <a:t>Qualit./Quantit.</a:t>
              </a:r>
            </a:p>
          </p:txBody>
        </p:sp>
      </p:grpSp>
      <p:grpSp>
        <p:nvGrpSpPr>
          <p:cNvPr name="Group 28" id="28"/>
          <p:cNvGrpSpPr/>
          <p:nvPr/>
        </p:nvGrpSpPr>
        <p:grpSpPr>
          <a:xfrm rot="0">
            <a:off x="13716000" y="1719072"/>
            <a:ext cx="1426464" cy="658368"/>
            <a:chOff x="0" y="0"/>
            <a:chExt cx="1901952" cy="877824"/>
          </a:xfrm>
        </p:grpSpPr>
        <p:sp>
          <p:nvSpPr>
            <p:cNvPr name="Freeform 29" id="29"/>
            <p:cNvSpPr/>
            <p:nvPr/>
          </p:nvSpPr>
          <p:spPr>
            <a:xfrm flipH="false" flipV="false" rot="0">
              <a:off x="0" y="0"/>
              <a:ext cx="1901952" cy="877824"/>
            </a:xfrm>
            <a:custGeom>
              <a:avLst/>
              <a:gdLst/>
              <a:ahLst/>
              <a:cxnLst/>
              <a:rect r="r" b="b" t="t" l="l"/>
              <a:pathLst>
                <a:path h="877824" w="1901952">
                  <a:moveTo>
                    <a:pt x="0" y="0"/>
                  </a:moveTo>
                  <a:lnTo>
                    <a:pt x="1901952" y="0"/>
                  </a:lnTo>
                  <a:lnTo>
                    <a:pt x="1901952" y="877824"/>
                  </a:lnTo>
                  <a:lnTo>
                    <a:pt x="0" y="877824"/>
                  </a:lnTo>
                  <a:close/>
                </a:path>
              </a:pathLst>
            </a:custGeom>
            <a:blipFill>
              <a:blip r:embed="rId2">
                <a:alphaModFix amt="0"/>
              </a:blip>
              <a:stretch>
                <a:fillRect l="-9217" t="0" r="-9217" b="0"/>
              </a:stretch>
            </a:blipFill>
          </p:spPr>
        </p:sp>
        <p:sp>
          <p:nvSpPr>
            <p:cNvPr name="TextBox 30" id="30"/>
            <p:cNvSpPr txBox="true"/>
            <p:nvPr/>
          </p:nvSpPr>
          <p:spPr>
            <a:xfrm>
              <a:off x="0" y="-9525"/>
              <a:ext cx="1901952" cy="887349"/>
            </a:xfrm>
            <a:prstGeom prst="rect">
              <a:avLst/>
            </a:prstGeom>
          </p:spPr>
          <p:txBody>
            <a:bodyPr anchor="ctr" rtlCol="false" tIns="0" lIns="0" bIns="0" rIns="0"/>
            <a:lstStyle/>
            <a:p>
              <a:pPr algn="ctr">
                <a:lnSpc>
                  <a:spcPts val="2400"/>
                </a:lnSpc>
              </a:pPr>
              <a:r>
                <a:rPr lang="en-US" sz="2000" b="true">
                  <a:solidFill>
                    <a:srgbClr val="FFFFFF"/>
                  </a:solidFill>
                  <a:latin typeface="Cambria Bold"/>
                  <a:ea typeface="Cambria Bold"/>
                  <a:cs typeface="Cambria Bold"/>
                  <a:sym typeface="Cambria Bold"/>
                </a:rPr>
                <a:t>I/O</a:t>
              </a:r>
            </a:p>
          </p:txBody>
        </p:sp>
      </p:grpSp>
      <p:grpSp>
        <p:nvGrpSpPr>
          <p:cNvPr name="Group 31" id="31"/>
          <p:cNvGrpSpPr/>
          <p:nvPr/>
        </p:nvGrpSpPr>
        <p:grpSpPr>
          <a:xfrm rot="0">
            <a:off x="15325344" y="1719072"/>
            <a:ext cx="1865376" cy="658368"/>
            <a:chOff x="0" y="0"/>
            <a:chExt cx="2487168" cy="877824"/>
          </a:xfrm>
        </p:grpSpPr>
        <p:sp>
          <p:nvSpPr>
            <p:cNvPr name="Freeform 32" id="32"/>
            <p:cNvSpPr/>
            <p:nvPr/>
          </p:nvSpPr>
          <p:spPr>
            <a:xfrm flipH="false" flipV="false" rot="0">
              <a:off x="0" y="0"/>
              <a:ext cx="2487168" cy="877824"/>
            </a:xfrm>
            <a:custGeom>
              <a:avLst/>
              <a:gdLst/>
              <a:ahLst/>
              <a:cxnLst/>
              <a:rect r="r" b="b" t="t" l="l"/>
              <a:pathLst>
                <a:path h="877824" w="2487168">
                  <a:moveTo>
                    <a:pt x="0" y="0"/>
                  </a:moveTo>
                  <a:lnTo>
                    <a:pt x="2487168" y="0"/>
                  </a:lnTo>
                  <a:lnTo>
                    <a:pt x="2487168" y="877824"/>
                  </a:lnTo>
                  <a:lnTo>
                    <a:pt x="0" y="877824"/>
                  </a:lnTo>
                  <a:close/>
                </a:path>
              </a:pathLst>
            </a:custGeom>
            <a:blipFill>
              <a:blip r:embed="rId2">
                <a:alphaModFix amt="0"/>
              </a:blip>
              <a:stretch>
                <a:fillRect l="0" t="-5207" r="0" b="-5207"/>
              </a:stretch>
            </a:blipFill>
          </p:spPr>
        </p:sp>
        <p:sp>
          <p:nvSpPr>
            <p:cNvPr name="TextBox 33" id="33"/>
            <p:cNvSpPr txBox="true"/>
            <p:nvPr/>
          </p:nvSpPr>
          <p:spPr>
            <a:xfrm>
              <a:off x="0" y="-9525"/>
              <a:ext cx="2487168" cy="887349"/>
            </a:xfrm>
            <a:prstGeom prst="rect">
              <a:avLst/>
            </a:prstGeom>
          </p:spPr>
          <p:txBody>
            <a:bodyPr anchor="ctr" rtlCol="false" tIns="0" lIns="0" bIns="0" rIns="0"/>
            <a:lstStyle/>
            <a:p>
              <a:pPr algn="ctr">
                <a:lnSpc>
                  <a:spcPts val="2400"/>
                </a:lnSpc>
              </a:pPr>
              <a:r>
                <a:rPr lang="en-US" sz="2000" b="true">
                  <a:solidFill>
                    <a:srgbClr val="FFFFFF"/>
                  </a:solidFill>
                  <a:latin typeface="Cambria Bold"/>
                  <a:ea typeface="Cambria Bold"/>
                  <a:cs typeface="Cambria Bold"/>
                  <a:sym typeface="Cambria Bold"/>
                </a:rPr>
                <a:t>Catégorie</a:t>
              </a:r>
            </a:p>
          </p:txBody>
        </p:sp>
      </p:grpSp>
      <p:grpSp>
        <p:nvGrpSpPr>
          <p:cNvPr name="Group 34" id="34"/>
          <p:cNvGrpSpPr/>
          <p:nvPr/>
        </p:nvGrpSpPr>
        <p:grpSpPr>
          <a:xfrm rot="0">
            <a:off x="397259" y="2408939"/>
            <a:ext cx="17493491" cy="778259"/>
            <a:chOff x="0" y="0"/>
            <a:chExt cx="23324655" cy="1037679"/>
          </a:xfrm>
        </p:grpSpPr>
        <p:sp>
          <p:nvSpPr>
            <p:cNvPr name="Freeform 35" id="35"/>
            <p:cNvSpPr/>
            <p:nvPr/>
          </p:nvSpPr>
          <p:spPr>
            <a:xfrm flipH="false" flipV="false" rot="0">
              <a:off x="0" y="0"/>
              <a:ext cx="23324693" cy="1037717"/>
            </a:xfrm>
            <a:custGeom>
              <a:avLst/>
              <a:gdLst/>
              <a:ahLst/>
              <a:cxnLst/>
              <a:rect r="r" b="b" t="t" l="l"/>
              <a:pathLst>
                <a:path h="1037717" w="23324693">
                  <a:moveTo>
                    <a:pt x="0" y="0"/>
                  </a:moveTo>
                  <a:lnTo>
                    <a:pt x="23324693" y="0"/>
                  </a:lnTo>
                  <a:lnTo>
                    <a:pt x="23324693" y="1037717"/>
                  </a:lnTo>
                  <a:lnTo>
                    <a:pt x="0" y="1037717"/>
                  </a:lnTo>
                  <a:close/>
                </a:path>
              </a:pathLst>
            </a:custGeom>
            <a:solidFill>
              <a:srgbClr val="F0F5FB"/>
            </a:solidFill>
            <a:ln w="10160" cap="sq">
              <a:solidFill>
                <a:srgbClr val="D1DCF0"/>
              </a:solidFill>
              <a:prstDash val="solid"/>
              <a:miter/>
            </a:ln>
          </p:spPr>
        </p:sp>
      </p:grpSp>
      <p:grpSp>
        <p:nvGrpSpPr>
          <p:cNvPr name="Group 36" id="36"/>
          <p:cNvGrpSpPr/>
          <p:nvPr/>
        </p:nvGrpSpPr>
        <p:grpSpPr>
          <a:xfrm rot="0">
            <a:off x="397259" y="2408939"/>
            <a:ext cx="17493491" cy="778259"/>
            <a:chOff x="0" y="0"/>
            <a:chExt cx="23324655" cy="1037679"/>
          </a:xfrm>
        </p:grpSpPr>
        <p:sp>
          <p:nvSpPr>
            <p:cNvPr name="Freeform 37" id="37"/>
            <p:cNvSpPr/>
            <p:nvPr/>
          </p:nvSpPr>
          <p:spPr>
            <a:xfrm flipH="false" flipV="false" rot="0">
              <a:off x="0" y="0"/>
              <a:ext cx="23324693" cy="1037717"/>
            </a:xfrm>
            <a:custGeom>
              <a:avLst/>
              <a:gdLst/>
              <a:ahLst/>
              <a:cxnLst/>
              <a:rect r="r" b="b" t="t" l="l"/>
              <a:pathLst>
                <a:path h="1037717" w="23324693">
                  <a:moveTo>
                    <a:pt x="0" y="0"/>
                  </a:moveTo>
                  <a:lnTo>
                    <a:pt x="23324693" y="0"/>
                  </a:lnTo>
                  <a:lnTo>
                    <a:pt x="23324693" y="1037717"/>
                  </a:lnTo>
                  <a:lnTo>
                    <a:pt x="0" y="1037717"/>
                  </a:lnTo>
                  <a:close/>
                </a:path>
              </a:pathLst>
            </a:custGeom>
            <a:solidFill>
              <a:srgbClr val="F0F5FB"/>
            </a:solidFill>
            <a:ln w="10160" cap="sq">
              <a:solidFill>
                <a:srgbClr val="D1DCF0"/>
              </a:solidFill>
              <a:prstDash val="solid"/>
              <a:miter/>
            </a:ln>
          </p:spPr>
        </p:sp>
      </p:grpSp>
      <p:grpSp>
        <p:nvGrpSpPr>
          <p:cNvPr name="Group 38" id="38"/>
          <p:cNvGrpSpPr/>
          <p:nvPr/>
        </p:nvGrpSpPr>
        <p:grpSpPr>
          <a:xfrm rot="0">
            <a:off x="548640" y="2487168"/>
            <a:ext cx="3255264" cy="658368"/>
            <a:chOff x="0" y="0"/>
            <a:chExt cx="4340352" cy="877824"/>
          </a:xfrm>
        </p:grpSpPr>
        <p:sp>
          <p:nvSpPr>
            <p:cNvPr name="Freeform 39" id="39"/>
            <p:cNvSpPr/>
            <p:nvPr/>
          </p:nvSpPr>
          <p:spPr>
            <a:xfrm flipH="false" flipV="false" rot="0">
              <a:off x="0" y="0"/>
              <a:ext cx="4340352" cy="877824"/>
            </a:xfrm>
            <a:custGeom>
              <a:avLst/>
              <a:gdLst/>
              <a:ahLst/>
              <a:cxnLst/>
              <a:rect r="r" b="b" t="t" l="l"/>
              <a:pathLst>
                <a:path h="877824" w="4340352">
                  <a:moveTo>
                    <a:pt x="0" y="0"/>
                  </a:moveTo>
                  <a:lnTo>
                    <a:pt x="4340352" y="0"/>
                  </a:lnTo>
                  <a:lnTo>
                    <a:pt x="4340352" y="877824"/>
                  </a:lnTo>
                  <a:lnTo>
                    <a:pt x="0" y="877824"/>
                  </a:lnTo>
                  <a:close/>
                </a:path>
              </a:pathLst>
            </a:custGeom>
            <a:blipFill>
              <a:blip r:embed="rId2">
                <a:alphaModFix amt="0"/>
              </a:blip>
              <a:stretch>
                <a:fillRect l="0" t="-46342" r="0" b="-46342"/>
              </a:stretch>
            </a:blipFill>
          </p:spPr>
        </p:sp>
        <p:sp>
          <p:nvSpPr>
            <p:cNvPr name="TextBox 40" id="40"/>
            <p:cNvSpPr txBox="true"/>
            <p:nvPr/>
          </p:nvSpPr>
          <p:spPr>
            <a:xfrm>
              <a:off x="0" y="-38100"/>
              <a:ext cx="4340352" cy="915924"/>
            </a:xfrm>
            <a:prstGeom prst="rect">
              <a:avLst/>
            </a:prstGeom>
          </p:spPr>
          <p:txBody>
            <a:bodyPr anchor="ctr" rtlCol="false" tIns="0" lIns="0" bIns="0" rIns="0"/>
            <a:lstStyle/>
            <a:p>
              <a:pPr algn="l">
                <a:lnSpc>
                  <a:spcPts val="2280"/>
                </a:lnSpc>
              </a:pPr>
              <a:r>
                <a:rPr lang="en-US" sz="1900" b="true">
                  <a:solidFill>
                    <a:srgbClr val="1E3A5F"/>
                  </a:solidFill>
                  <a:latin typeface="Calibri (MS) Bold"/>
                  <a:ea typeface="Calibri (MS) Bold"/>
                  <a:cs typeface="Calibri (MS) Bold"/>
                  <a:sym typeface="Calibri (MS) Bold"/>
                </a:rPr>
                <a:t>IP_source</a:t>
              </a:r>
            </a:p>
          </p:txBody>
        </p:sp>
      </p:grpSp>
      <p:grpSp>
        <p:nvGrpSpPr>
          <p:cNvPr name="Group 41" id="41"/>
          <p:cNvGrpSpPr/>
          <p:nvPr/>
        </p:nvGrpSpPr>
        <p:grpSpPr>
          <a:xfrm rot="0">
            <a:off x="3986784" y="2487168"/>
            <a:ext cx="2286000" cy="658368"/>
            <a:chOff x="0" y="0"/>
            <a:chExt cx="3048000" cy="877824"/>
          </a:xfrm>
        </p:grpSpPr>
        <p:sp>
          <p:nvSpPr>
            <p:cNvPr name="Freeform 42" id="42"/>
            <p:cNvSpPr/>
            <p:nvPr/>
          </p:nvSpPr>
          <p:spPr>
            <a:xfrm flipH="false" flipV="false" rot="0">
              <a:off x="0" y="0"/>
              <a:ext cx="3048000" cy="877824"/>
            </a:xfrm>
            <a:custGeom>
              <a:avLst/>
              <a:gdLst/>
              <a:ahLst/>
              <a:cxnLst/>
              <a:rect r="r" b="b" t="t" l="l"/>
              <a:pathLst>
                <a:path h="877824" w="3048000">
                  <a:moveTo>
                    <a:pt x="0" y="0"/>
                  </a:moveTo>
                  <a:lnTo>
                    <a:pt x="3048000" y="0"/>
                  </a:lnTo>
                  <a:lnTo>
                    <a:pt x="3048000" y="877824"/>
                  </a:lnTo>
                  <a:lnTo>
                    <a:pt x="0" y="877824"/>
                  </a:lnTo>
                  <a:close/>
                </a:path>
              </a:pathLst>
            </a:custGeom>
            <a:blipFill>
              <a:blip r:embed="rId2">
                <a:alphaModFix amt="0"/>
              </a:blip>
              <a:stretch>
                <a:fillRect l="0" t="-17656" r="0" b="-17656"/>
              </a:stretch>
            </a:blipFill>
          </p:spPr>
        </p:sp>
        <p:sp>
          <p:nvSpPr>
            <p:cNvPr name="TextBox 43" id="43"/>
            <p:cNvSpPr txBox="true"/>
            <p:nvPr/>
          </p:nvSpPr>
          <p:spPr>
            <a:xfrm>
              <a:off x="0" y="-38100"/>
              <a:ext cx="3048000" cy="915924"/>
            </a:xfrm>
            <a:prstGeom prst="rect">
              <a:avLst/>
            </a:prstGeom>
          </p:spPr>
          <p:txBody>
            <a:bodyPr anchor="ctr" rtlCol="false" tIns="0" lIns="0" bIns="0" rIns="0"/>
            <a:lstStyle/>
            <a:p>
              <a:pPr algn="ctr">
                <a:lnSpc>
                  <a:spcPts val="2280"/>
                </a:lnSpc>
              </a:pPr>
              <a:r>
                <a:rPr lang="en-US" sz="1900">
                  <a:solidFill>
                    <a:srgbClr val="1E293B"/>
                  </a:solidFill>
                  <a:latin typeface="Calibri (MS)"/>
                  <a:ea typeface="Calibri (MS)"/>
                  <a:cs typeface="Calibri (MS)"/>
                  <a:sym typeface="Calibri (MS)"/>
                </a:rPr>
                <a:t>Alphanum. (IPv4)</a:t>
              </a:r>
            </a:p>
          </p:txBody>
        </p:sp>
      </p:grpSp>
      <p:grpSp>
        <p:nvGrpSpPr>
          <p:cNvPr name="Group 44" id="44"/>
          <p:cNvGrpSpPr/>
          <p:nvPr/>
        </p:nvGrpSpPr>
        <p:grpSpPr>
          <a:xfrm rot="0">
            <a:off x="6455664" y="2487168"/>
            <a:ext cx="5029200" cy="658368"/>
            <a:chOff x="0" y="0"/>
            <a:chExt cx="6705600" cy="877824"/>
          </a:xfrm>
        </p:grpSpPr>
        <p:sp>
          <p:nvSpPr>
            <p:cNvPr name="Freeform 45" id="45"/>
            <p:cNvSpPr/>
            <p:nvPr/>
          </p:nvSpPr>
          <p:spPr>
            <a:xfrm flipH="false" flipV="false" rot="0">
              <a:off x="0" y="0"/>
              <a:ext cx="6705600" cy="877824"/>
            </a:xfrm>
            <a:custGeom>
              <a:avLst/>
              <a:gdLst/>
              <a:ahLst/>
              <a:cxnLst/>
              <a:rect r="r" b="b" t="t" l="l"/>
              <a:pathLst>
                <a:path h="877824" w="6705600">
                  <a:moveTo>
                    <a:pt x="0" y="0"/>
                  </a:moveTo>
                  <a:lnTo>
                    <a:pt x="6705600" y="0"/>
                  </a:lnTo>
                  <a:lnTo>
                    <a:pt x="6705600" y="877824"/>
                  </a:lnTo>
                  <a:lnTo>
                    <a:pt x="0" y="877824"/>
                  </a:lnTo>
                  <a:close/>
                </a:path>
              </a:pathLst>
            </a:custGeom>
            <a:blipFill>
              <a:blip r:embed="rId2">
                <a:alphaModFix amt="0"/>
              </a:blip>
              <a:stretch>
                <a:fillRect l="0" t="-98844" r="0" b="-98844"/>
              </a:stretch>
            </a:blipFill>
          </p:spPr>
        </p:sp>
        <p:sp>
          <p:nvSpPr>
            <p:cNvPr name="TextBox 46" id="46"/>
            <p:cNvSpPr txBox="true"/>
            <p:nvPr/>
          </p:nvSpPr>
          <p:spPr>
            <a:xfrm>
              <a:off x="0" y="-38100"/>
              <a:ext cx="6705600" cy="915924"/>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Adresse IP source de la connexion</a:t>
              </a:r>
            </a:p>
          </p:txBody>
        </p:sp>
      </p:grpSp>
      <p:grpSp>
        <p:nvGrpSpPr>
          <p:cNvPr name="Group 47" id="47"/>
          <p:cNvGrpSpPr/>
          <p:nvPr/>
        </p:nvGrpSpPr>
        <p:grpSpPr>
          <a:xfrm rot="0">
            <a:off x="11667744" y="2487168"/>
            <a:ext cx="1865376" cy="658368"/>
            <a:chOff x="0" y="0"/>
            <a:chExt cx="2487168" cy="877824"/>
          </a:xfrm>
        </p:grpSpPr>
        <p:sp>
          <p:nvSpPr>
            <p:cNvPr name="Freeform 48" id="48"/>
            <p:cNvSpPr/>
            <p:nvPr/>
          </p:nvSpPr>
          <p:spPr>
            <a:xfrm flipH="false" flipV="false" rot="0">
              <a:off x="0" y="0"/>
              <a:ext cx="2487168" cy="877824"/>
            </a:xfrm>
            <a:custGeom>
              <a:avLst/>
              <a:gdLst/>
              <a:ahLst/>
              <a:cxnLst/>
              <a:rect r="r" b="b" t="t" l="l"/>
              <a:pathLst>
                <a:path h="877824" w="2487168">
                  <a:moveTo>
                    <a:pt x="0" y="0"/>
                  </a:moveTo>
                  <a:lnTo>
                    <a:pt x="2487168" y="0"/>
                  </a:lnTo>
                  <a:lnTo>
                    <a:pt x="2487168" y="877824"/>
                  </a:lnTo>
                  <a:lnTo>
                    <a:pt x="0" y="877824"/>
                  </a:lnTo>
                  <a:close/>
                </a:path>
              </a:pathLst>
            </a:custGeom>
            <a:blipFill>
              <a:blip r:embed="rId2">
                <a:alphaModFix amt="0"/>
              </a:blip>
              <a:stretch>
                <a:fillRect l="0" t="-5207" r="0" b="-5207"/>
              </a:stretch>
            </a:blipFill>
          </p:spPr>
        </p:sp>
        <p:sp>
          <p:nvSpPr>
            <p:cNvPr name="TextBox 49" id="49"/>
            <p:cNvSpPr txBox="true"/>
            <p:nvPr/>
          </p:nvSpPr>
          <p:spPr>
            <a:xfrm>
              <a:off x="0" y="-38100"/>
              <a:ext cx="2487168" cy="915924"/>
            </a:xfrm>
            <a:prstGeom prst="rect">
              <a:avLst/>
            </a:prstGeom>
          </p:spPr>
          <p:txBody>
            <a:bodyPr anchor="ctr" rtlCol="false" tIns="0" lIns="0" bIns="0" rIns="0"/>
            <a:lstStyle/>
            <a:p>
              <a:pPr algn="ctr">
                <a:lnSpc>
                  <a:spcPts val="2280"/>
                </a:lnSpc>
              </a:pPr>
              <a:r>
                <a:rPr lang="en-US" sz="1900">
                  <a:solidFill>
                    <a:srgbClr val="1E293B"/>
                  </a:solidFill>
                  <a:latin typeface="Calibri (MS)"/>
                  <a:ea typeface="Calibri (MS)"/>
                  <a:cs typeface="Calibri (MS)"/>
                  <a:sym typeface="Calibri (MS)"/>
                </a:rPr>
                <a:t>Qualitatif</a:t>
              </a:r>
            </a:p>
          </p:txBody>
        </p:sp>
      </p:grpSp>
      <p:grpSp>
        <p:nvGrpSpPr>
          <p:cNvPr name="Group 50" id="50"/>
          <p:cNvGrpSpPr/>
          <p:nvPr/>
        </p:nvGrpSpPr>
        <p:grpSpPr>
          <a:xfrm rot="0">
            <a:off x="13819375" y="2535679"/>
            <a:ext cx="1146553" cy="524761"/>
            <a:chOff x="0" y="0"/>
            <a:chExt cx="1528737" cy="699681"/>
          </a:xfrm>
        </p:grpSpPr>
        <p:sp>
          <p:nvSpPr>
            <p:cNvPr name="Freeform 51" id="51"/>
            <p:cNvSpPr/>
            <p:nvPr/>
          </p:nvSpPr>
          <p:spPr>
            <a:xfrm flipH="false" flipV="false" rot="0">
              <a:off x="0" y="0"/>
              <a:ext cx="1528699" cy="699643"/>
            </a:xfrm>
            <a:custGeom>
              <a:avLst/>
              <a:gdLst/>
              <a:ahLst/>
              <a:cxnLst/>
              <a:rect r="r" b="b" t="t" l="l"/>
              <a:pathLst>
                <a:path h="699643" w="1528699">
                  <a:moveTo>
                    <a:pt x="0" y="174879"/>
                  </a:moveTo>
                  <a:cubicBezTo>
                    <a:pt x="0" y="78359"/>
                    <a:pt x="78359" y="0"/>
                    <a:pt x="174879" y="0"/>
                  </a:cubicBezTo>
                  <a:lnTo>
                    <a:pt x="1353820" y="0"/>
                  </a:lnTo>
                  <a:cubicBezTo>
                    <a:pt x="1450467" y="0"/>
                    <a:pt x="1528699" y="78359"/>
                    <a:pt x="1528699" y="174879"/>
                  </a:cubicBezTo>
                  <a:lnTo>
                    <a:pt x="1528699" y="524764"/>
                  </a:lnTo>
                  <a:cubicBezTo>
                    <a:pt x="1528699" y="621411"/>
                    <a:pt x="1450340" y="699643"/>
                    <a:pt x="1353820" y="699643"/>
                  </a:cubicBezTo>
                  <a:lnTo>
                    <a:pt x="174879" y="699643"/>
                  </a:lnTo>
                  <a:cubicBezTo>
                    <a:pt x="78359" y="699643"/>
                    <a:pt x="0" y="621411"/>
                    <a:pt x="0" y="524764"/>
                  </a:cubicBezTo>
                  <a:close/>
                </a:path>
              </a:pathLst>
            </a:custGeom>
            <a:solidFill>
              <a:srgbClr val="DBEAFE"/>
            </a:solidFill>
            <a:ln w="12700" cap="sq">
              <a:solidFill>
                <a:srgbClr val="3B82F6"/>
              </a:solidFill>
              <a:prstDash val="solid"/>
              <a:miter/>
            </a:ln>
          </p:spPr>
        </p:sp>
      </p:grpSp>
      <p:grpSp>
        <p:nvGrpSpPr>
          <p:cNvPr name="Group 52" id="52"/>
          <p:cNvGrpSpPr/>
          <p:nvPr/>
        </p:nvGrpSpPr>
        <p:grpSpPr>
          <a:xfrm rot="0">
            <a:off x="13825728" y="2542032"/>
            <a:ext cx="1133856" cy="512064"/>
            <a:chOff x="0" y="0"/>
            <a:chExt cx="1511808" cy="682752"/>
          </a:xfrm>
        </p:grpSpPr>
        <p:sp>
          <p:nvSpPr>
            <p:cNvPr name="Freeform 53" id="53"/>
            <p:cNvSpPr/>
            <p:nvPr/>
          </p:nvSpPr>
          <p:spPr>
            <a:xfrm flipH="false" flipV="false" rot="0">
              <a:off x="0" y="0"/>
              <a:ext cx="1511808" cy="682752"/>
            </a:xfrm>
            <a:custGeom>
              <a:avLst/>
              <a:gdLst/>
              <a:ahLst/>
              <a:cxnLst/>
              <a:rect r="r" b="b" t="t" l="l"/>
              <a:pathLst>
                <a:path h="682752" w="1511808">
                  <a:moveTo>
                    <a:pt x="0" y="0"/>
                  </a:moveTo>
                  <a:lnTo>
                    <a:pt x="1511808" y="0"/>
                  </a:lnTo>
                  <a:lnTo>
                    <a:pt x="1511808" y="682752"/>
                  </a:lnTo>
                  <a:lnTo>
                    <a:pt x="0" y="682752"/>
                  </a:lnTo>
                  <a:close/>
                </a:path>
              </a:pathLst>
            </a:custGeom>
            <a:blipFill>
              <a:blip r:embed="rId2">
                <a:alphaModFix amt="0"/>
              </a:blip>
              <a:stretch>
                <a:fillRect l="-7943" t="0" r="-7943" b="0"/>
              </a:stretch>
            </a:blipFill>
          </p:spPr>
        </p:sp>
        <p:sp>
          <p:nvSpPr>
            <p:cNvPr name="TextBox 54" id="54"/>
            <p:cNvSpPr txBox="true"/>
            <p:nvPr/>
          </p:nvSpPr>
          <p:spPr>
            <a:xfrm>
              <a:off x="0" y="-38100"/>
              <a:ext cx="1511808" cy="720852"/>
            </a:xfrm>
            <a:prstGeom prst="rect">
              <a:avLst/>
            </a:prstGeom>
          </p:spPr>
          <p:txBody>
            <a:bodyPr anchor="ctr" rtlCol="false" tIns="0" lIns="0" bIns="0" rIns="0"/>
            <a:lstStyle/>
            <a:p>
              <a:pPr algn="ctr">
                <a:lnSpc>
                  <a:spcPts val="2039"/>
                </a:lnSpc>
              </a:pPr>
              <a:r>
                <a:rPr lang="en-US" sz="1700" b="true">
                  <a:solidFill>
                    <a:srgbClr val="1D4ED8"/>
                  </a:solidFill>
                  <a:latin typeface="Calibri (MS) Bold"/>
                  <a:ea typeface="Calibri (MS) Bold"/>
                  <a:cs typeface="Calibri (MS) Bold"/>
                  <a:sym typeface="Calibri (MS) Bold"/>
                </a:rPr>
                <a:t>Input</a:t>
              </a:r>
            </a:p>
          </p:txBody>
        </p:sp>
      </p:grpSp>
      <p:grpSp>
        <p:nvGrpSpPr>
          <p:cNvPr name="Group 55" id="55"/>
          <p:cNvGrpSpPr/>
          <p:nvPr/>
        </p:nvGrpSpPr>
        <p:grpSpPr>
          <a:xfrm rot="0">
            <a:off x="15355567" y="2517391"/>
            <a:ext cx="1731769" cy="561337"/>
            <a:chOff x="0" y="0"/>
            <a:chExt cx="2309025" cy="748449"/>
          </a:xfrm>
        </p:grpSpPr>
        <p:sp>
          <p:nvSpPr>
            <p:cNvPr name="Freeform 56" id="56"/>
            <p:cNvSpPr/>
            <p:nvPr/>
          </p:nvSpPr>
          <p:spPr>
            <a:xfrm flipH="false" flipV="false" rot="0">
              <a:off x="0" y="0"/>
              <a:ext cx="2309114" cy="748538"/>
            </a:xfrm>
            <a:custGeom>
              <a:avLst/>
              <a:gdLst/>
              <a:ahLst/>
              <a:cxnLst/>
              <a:rect r="r" b="b" t="t" l="l"/>
              <a:pathLst>
                <a:path h="748538" w="2309114">
                  <a:moveTo>
                    <a:pt x="0" y="199644"/>
                  </a:moveTo>
                  <a:cubicBezTo>
                    <a:pt x="0" y="89408"/>
                    <a:pt x="89408" y="0"/>
                    <a:pt x="199644" y="0"/>
                  </a:cubicBezTo>
                  <a:lnTo>
                    <a:pt x="2109470" y="0"/>
                  </a:lnTo>
                  <a:cubicBezTo>
                    <a:pt x="2219706" y="0"/>
                    <a:pt x="2309114" y="89408"/>
                    <a:pt x="2309114" y="199644"/>
                  </a:cubicBezTo>
                  <a:lnTo>
                    <a:pt x="2309114" y="548894"/>
                  </a:lnTo>
                  <a:cubicBezTo>
                    <a:pt x="2309114" y="659130"/>
                    <a:pt x="2219706" y="748538"/>
                    <a:pt x="2109470" y="748538"/>
                  </a:cubicBezTo>
                  <a:lnTo>
                    <a:pt x="199644" y="748538"/>
                  </a:lnTo>
                  <a:cubicBezTo>
                    <a:pt x="89408" y="748411"/>
                    <a:pt x="0" y="659130"/>
                    <a:pt x="0" y="548894"/>
                  </a:cubicBezTo>
                  <a:close/>
                </a:path>
              </a:pathLst>
            </a:custGeom>
            <a:solidFill>
              <a:srgbClr val="EEF4FF"/>
            </a:solidFill>
            <a:ln w="12700" cap="sq">
              <a:solidFill>
                <a:srgbClr val="1D4ED8"/>
              </a:solidFill>
              <a:prstDash val="solid"/>
              <a:miter/>
            </a:ln>
          </p:spPr>
        </p:sp>
      </p:grpSp>
      <p:grpSp>
        <p:nvGrpSpPr>
          <p:cNvPr name="Group 57" id="57"/>
          <p:cNvGrpSpPr/>
          <p:nvPr/>
        </p:nvGrpSpPr>
        <p:grpSpPr>
          <a:xfrm rot="0">
            <a:off x="15361920" y="2523744"/>
            <a:ext cx="1719072" cy="548640"/>
            <a:chOff x="0" y="0"/>
            <a:chExt cx="2292096" cy="731520"/>
          </a:xfrm>
        </p:grpSpPr>
        <p:sp>
          <p:nvSpPr>
            <p:cNvPr name="Freeform 58" id="58"/>
            <p:cNvSpPr/>
            <p:nvPr/>
          </p:nvSpPr>
          <p:spPr>
            <a:xfrm flipH="false" flipV="false" rot="0">
              <a:off x="0" y="0"/>
              <a:ext cx="2292096" cy="731520"/>
            </a:xfrm>
            <a:custGeom>
              <a:avLst/>
              <a:gdLst/>
              <a:ahLst/>
              <a:cxnLst/>
              <a:rect r="r" b="b" t="t" l="l"/>
              <a:pathLst>
                <a:path h="731520" w="2292096">
                  <a:moveTo>
                    <a:pt x="0" y="0"/>
                  </a:moveTo>
                  <a:lnTo>
                    <a:pt x="2292096" y="0"/>
                  </a:lnTo>
                  <a:lnTo>
                    <a:pt x="2292096" y="731520"/>
                  </a:lnTo>
                  <a:lnTo>
                    <a:pt x="0" y="731520"/>
                  </a:lnTo>
                  <a:close/>
                </a:path>
              </a:pathLst>
            </a:custGeom>
            <a:blipFill>
              <a:blip r:embed="rId2">
                <a:alphaModFix amt="0"/>
              </a:blip>
              <a:stretch>
                <a:fillRect l="0" t="-11053" r="0" b="-11053"/>
              </a:stretch>
            </a:blipFill>
          </p:spPr>
        </p:sp>
        <p:sp>
          <p:nvSpPr>
            <p:cNvPr name="TextBox 59" id="59"/>
            <p:cNvSpPr txBox="true"/>
            <p:nvPr/>
          </p:nvSpPr>
          <p:spPr>
            <a:xfrm>
              <a:off x="0" y="-38100"/>
              <a:ext cx="2292096" cy="769620"/>
            </a:xfrm>
            <a:prstGeom prst="rect">
              <a:avLst/>
            </a:prstGeom>
          </p:spPr>
          <p:txBody>
            <a:bodyPr anchor="ctr" rtlCol="false" tIns="0" lIns="0" bIns="0" rIns="0"/>
            <a:lstStyle/>
            <a:p>
              <a:pPr algn="ctr">
                <a:lnSpc>
                  <a:spcPts val="2039"/>
                </a:lnSpc>
              </a:pPr>
              <a:r>
                <a:rPr lang="en-US" sz="1700" b="true">
                  <a:solidFill>
                    <a:srgbClr val="1D4ED8"/>
                  </a:solidFill>
                  <a:latin typeface="Calibri (MS) Bold"/>
                  <a:ea typeface="Calibri (MS) Bold"/>
                  <a:cs typeface="Calibri (MS) Bold"/>
                  <a:sym typeface="Calibri (MS) Bold"/>
                </a:rPr>
                <a:t>Réseau</a:t>
              </a:r>
            </a:p>
          </p:txBody>
        </p:sp>
      </p:grpSp>
      <p:grpSp>
        <p:nvGrpSpPr>
          <p:cNvPr name="Group 60" id="60"/>
          <p:cNvGrpSpPr/>
          <p:nvPr/>
        </p:nvGrpSpPr>
        <p:grpSpPr>
          <a:xfrm rot="0">
            <a:off x="397259" y="3177035"/>
            <a:ext cx="17493491" cy="778259"/>
            <a:chOff x="0" y="0"/>
            <a:chExt cx="23324655" cy="1037679"/>
          </a:xfrm>
        </p:grpSpPr>
        <p:sp>
          <p:nvSpPr>
            <p:cNvPr name="Freeform 61" id="61"/>
            <p:cNvSpPr/>
            <p:nvPr/>
          </p:nvSpPr>
          <p:spPr>
            <a:xfrm flipH="false" flipV="false" rot="0">
              <a:off x="0" y="0"/>
              <a:ext cx="23324693" cy="1037717"/>
            </a:xfrm>
            <a:custGeom>
              <a:avLst/>
              <a:gdLst/>
              <a:ahLst/>
              <a:cxnLst/>
              <a:rect r="r" b="b" t="t" l="l"/>
              <a:pathLst>
                <a:path h="1037717" w="23324693">
                  <a:moveTo>
                    <a:pt x="0" y="0"/>
                  </a:moveTo>
                  <a:lnTo>
                    <a:pt x="23324693" y="0"/>
                  </a:lnTo>
                  <a:lnTo>
                    <a:pt x="23324693" y="1037717"/>
                  </a:lnTo>
                  <a:lnTo>
                    <a:pt x="0" y="1037717"/>
                  </a:lnTo>
                  <a:close/>
                </a:path>
              </a:pathLst>
            </a:custGeom>
            <a:solidFill>
              <a:srgbClr val="FFFFFF"/>
            </a:solidFill>
            <a:ln w="10160" cap="sq">
              <a:solidFill>
                <a:srgbClr val="D1DCF0"/>
              </a:solidFill>
              <a:prstDash val="solid"/>
              <a:miter/>
            </a:ln>
          </p:spPr>
        </p:sp>
      </p:grpSp>
      <p:grpSp>
        <p:nvGrpSpPr>
          <p:cNvPr name="Group 62" id="62"/>
          <p:cNvGrpSpPr/>
          <p:nvPr/>
        </p:nvGrpSpPr>
        <p:grpSpPr>
          <a:xfrm rot="0">
            <a:off x="397259" y="3177035"/>
            <a:ext cx="17493491" cy="778259"/>
            <a:chOff x="0" y="0"/>
            <a:chExt cx="23324655" cy="1037679"/>
          </a:xfrm>
        </p:grpSpPr>
        <p:sp>
          <p:nvSpPr>
            <p:cNvPr name="Freeform 63" id="63"/>
            <p:cNvSpPr/>
            <p:nvPr/>
          </p:nvSpPr>
          <p:spPr>
            <a:xfrm flipH="false" flipV="false" rot="0">
              <a:off x="0" y="0"/>
              <a:ext cx="23324693" cy="1037717"/>
            </a:xfrm>
            <a:custGeom>
              <a:avLst/>
              <a:gdLst/>
              <a:ahLst/>
              <a:cxnLst/>
              <a:rect r="r" b="b" t="t" l="l"/>
              <a:pathLst>
                <a:path h="1037717" w="23324693">
                  <a:moveTo>
                    <a:pt x="0" y="0"/>
                  </a:moveTo>
                  <a:lnTo>
                    <a:pt x="23324693" y="0"/>
                  </a:lnTo>
                  <a:lnTo>
                    <a:pt x="23324693" y="1037717"/>
                  </a:lnTo>
                  <a:lnTo>
                    <a:pt x="0" y="1037717"/>
                  </a:lnTo>
                  <a:close/>
                </a:path>
              </a:pathLst>
            </a:custGeom>
            <a:solidFill>
              <a:srgbClr val="F0F5FB"/>
            </a:solidFill>
            <a:ln w="10160" cap="sq">
              <a:solidFill>
                <a:srgbClr val="D1DCF0"/>
              </a:solidFill>
              <a:prstDash val="solid"/>
              <a:miter/>
            </a:ln>
          </p:spPr>
        </p:sp>
      </p:grpSp>
      <p:grpSp>
        <p:nvGrpSpPr>
          <p:cNvPr name="Group 64" id="64"/>
          <p:cNvGrpSpPr/>
          <p:nvPr/>
        </p:nvGrpSpPr>
        <p:grpSpPr>
          <a:xfrm rot="0">
            <a:off x="548640" y="3255264"/>
            <a:ext cx="3255264" cy="658368"/>
            <a:chOff x="0" y="0"/>
            <a:chExt cx="4340352" cy="877824"/>
          </a:xfrm>
        </p:grpSpPr>
        <p:sp>
          <p:nvSpPr>
            <p:cNvPr name="Freeform 65" id="65"/>
            <p:cNvSpPr/>
            <p:nvPr/>
          </p:nvSpPr>
          <p:spPr>
            <a:xfrm flipH="false" flipV="false" rot="0">
              <a:off x="0" y="0"/>
              <a:ext cx="4340352" cy="877824"/>
            </a:xfrm>
            <a:custGeom>
              <a:avLst/>
              <a:gdLst/>
              <a:ahLst/>
              <a:cxnLst/>
              <a:rect r="r" b="b" t="t" l="l"/>
              <a:pathLst>
                <a:path h="877824" w="4340352">
                  <a:moveTo>
                    <a:pt x="0" y="0"/>
                  </a:moveTo>
                  <a:lnTo>
                    <a:pt x="4340352" y="0"/>
                  </a:lnTo>
                  <a:lnTo>
                    <a:pt x="4340352" y="877824"/>
                  </a:lnTo>
                  <a:lnTo>
                    <a:pt x="0" y="877824"/>
                  </a:lnTo>
                  <a:close/>
                </a:path>
              </a:pathLst>
            </a:custGeom>
            <a:blipFill>
              <a:blip r:embed="rId2">
                <a:alphaModFix amt="0"/>
              </a:blip>
              <a:stretch>
                <a:fillRect l="0" t="-46342" r="0" b="-46342"/>
              </a:stretch>
            </a:blipFill>
          </p:spPr>
        </p:sp>
        <p:sp>
          <p:nvSpPr>
            <p:cNvPr name="TextBox 66" id="66"/>
            <p:cNvSpPr txBox="true"/>
            <p:nvPr/>
          </p:nvSpPr>
          <p:spPr>
            <a:xfrm>
              <a:off x="0" y="-38100"/>
              <a:ext cx="4340352" cy="915924"/>
            </a:xfrm>
            <a:prstGeom prst="rect">
              <a:avLst/>
            </a:prstGeom>
          </p:spPr>
          <p:txBody>
            <a:bodyPr anchor="ctr" rtlCol="false" tIns="0" lIns="0" bIns="0" rIns="0"/>
            <a:lstStyle/>
            <a:p>
              <a:pPr algn="l">
                <a:lnSpc>
                  <a:spcPts val="2280"/>
                </a:lnSpc>
              </a:pPr>
              <a:r>
                <a:rPr lang="en-US" sz="1900" b="true">
                  <a:solidFill>
                    <a:srgbClr val="1E3A5F"/>
                  </a:solidFill>
                  <a:latin typeface="Calibri (MS) Bold"/>
                  <a:ea typeface="Calibri (MS) Bold"/>
                  <a:cs typeface="Calibri (MS) Bold"/>
                  <a:sym typeface="Calibri (MS) Bold"/>
                </a:rPr>
                <a:t>IP_destination</a:t>
              </a:r>
            </a:p>
          </p:txBody>
        </p:sp>
      </p:grpSp>
      <p:grpSp>
        <p:nvGrpSpPr>
          <p:cNvPr name="Group 67" id="67"/>
          <p:cNvGrpSpPr/>
          <p:nvPr/>
        </p:nvGrpSpPr>
        <p:grpSpPr>
          <a:xfrm rot="0">
            <a:off x="3986784" y="3255264"/>
            <a:ext cx="2286000" cy="658368"/>
            <a:chOff x="0" y="0"/>
            <a:chExt cx="3048000" cy="877824"/>
          </a:xfrm>
        </p:grpSpPr>
        <p:sp>
          <p:nvSpPr>
            <p:cNvPr name="Freeform 68" id="68"/>
            <p:cNvSpPr/>
            <p:nvPr/>
          </p:nvSpPr>
          <p:spPr>
            <a:xfrm flipH="false" flipV="false" rot="0">
              <a:off x="0" y="0"/>
              <a:ext cx="3048000" cy="877824"/>
            </a:xfrm>
            <a:custGeom>
              <a:avLst/>
              <a:gdLst/>
              <a:ahLst/>
              <a:cxnLst/>
              <a:rect r="r" b="b" t="t" l="l"/>
              <a:pathLst>
                <a:path h="877824" w="3048000">
                  <a:moveTo>
                    <a:pt x="0" y="0"/>
                  </a:moveTo>
                  <a:lnTo>
                    <a:pt x="3048000" y="0"/>
                  </a:lnTo>
                  <a:lnTo>
                    <a:pt x="3048000" y="877824"/>
                  </a:lnTo>
                  <a:lnTo>
                    <a:pt x="0" y="877824"/>
                  </a:lnTo>
                  <a:close/>
                </a:path>
              </a:pathLst>
            </a:custGeom>
            <a:blipFill>
              <a:blip r:embed="rId2">
                <a:alphaModFix amt="0"/>
              </a:blip>
              <a:stretch>
                <a:fillRect l="0" t="-17656" r="0" b="-17656"/>
              </a:stretch>
            </a:blipFill>
          </p:spPr>
        </p:sp>
        <p:sp>
          <p:nvSpPr>
            <p:cNvPr name="TextBox 69" id="69"/>
            <p:cNvSpPr txBox="true"/>
            <p:nvPr/>
          </p:nvSpPr>
          <p:spPr>
            <a:xfrm>
              <a:off x="0" y="-38100"/>
              <a:ext cx="3048000" cy="915924"/>
            </a:xfrm>
            <a:prstGeom prst="rect">
              <a:avLst/>
            </a:prstGeom>
          </p:spPr>
          <p:txBody>
            <a:bodyPr anchor="ctr" rtlCol="false" tIns="0" lIns="0" bIns="0" rIns="0"/>
            <a:lstStyle/>
            <a:p>
              <a:pPr algn="ctr">
                <a:lnSpc>
                  <a:spcPts val="2280"/>
                </a:lnSpc>
              </a:pPr>
              <a:r>
                <a:rPr lang="en-US" sz="1900">
                  <a:solidFill>
                    <a:srgbClr val="1E293B"/>
                  </a:solidFill>
                  <a:latin typeface="Calibri (MS)"/>
                  <a:ea typeface="Calibri (MS)"/>
                  <a:cs typeface="Calibri (MS)"/>
                  <a:sym typeface="Calibri (MS)"/>
                </a:rPr>
                <a:t>Alphanum. (IPv4)</a:t>
              </a:r>
            </a:p>
          </p:txBody>
        </p:sp>
      </p:grpSp>
      <p:grpSp>
        <p:nvGrpSpPr>
          <p:cNvPr name="Group 70" id="70"/>
          <p:cNvGrpSpPr/>
          <p:nvPr/>
        </p:nvGrpSpPr>
        <p:grpSpPr>
          <a:xfrm rot="0">
            <a:off x="6455664" y="3255264"/>
            <a:ext cx="5029200" cy="658368"/>
            <a:chOff x="0" y="0"/>
            <a:chExt cx="6705600" cy="877824"/>
          </a:xfrm>
        </p:grpSpPr>
        <p:sp>
          <p:nvSpPr>
            <p:cNvPr name="Freeform 71" id="71"/>
            <p:cNvSpPr/>
            <p:nvPr/>
          </p:nvSpPr>
          <p:spPr>
            <a:xfrm flipH="false" flipV="false" rot="0">
              <a:off x="0" y="0"/>
              <a:ext cx="6705600" cy="877824"/>
            </a:xfrm>
            <a:custGeom>
              <a:avLst/>
              <a:gdLst/>
              <a:ahLst/>
              <a:cxnLst/>
              <a:rect r="r" b="b" t="t" l="l"/>
              <a:pathLst>
                <a:path h="877824" w="6705600">
                  <a:moveTo>
                    <a:pt x="0" y="0"/>
                  </a:moveTo>
                  <a:lnTo>
                    <a:pt x="6705600" y="0"/>
                  </a:lnTo>
                  <a:lnTo>
                    <a:pt x="6705600" y="877824"/>
                  </a:lnTo>
                  <a:lnTo>
                    <a:pt x="0" y="877824"/>
                  </a:lnTo>
                  <a:close/>
                </a:path>
              </a:pathLst>
            </a:custGeom>
            <a:blipFill>
              <a:blip r:embed="rId2">
                <a:alphaModFix amt="0"/>
              </a:blip>
              <a:stretch>
                <a:fillRect l="0" t="-98844" r="0" b="-98844"/>
              </a:stretch>
            </a:blipFill>
          </p:spPr>
        </p:sp>
        <p:sp>
          <p:nvSpPr>
            <p:cNvPr name="TextBox 72" id="72"/>
            <p:cNvSpPr txBox="true"/>
            <p:nvPr/>
          </p:nvSpPr>
          <p:spPr>
            <a:xfrm>
              <a:off x="0" y="-38100"/>
              <a:ext cx="6705600" cy="915924"/>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Adresse IP destination de la connexion</a:t>
              </a:r>
            </a:p>
          </p:txBody>
        </p:sp>
      </p:grpSp>
      <p:grpSp>
        <p:nvGrpSpPr>
          <p:cNvPr name="Group 73" id="73"/>
          <p:cNvGrpSpPr/>
          <p:nvPr/>
        </p:nvGrpSpPr>
        <p:grpSpPr>
          <a:xfrm rot="0">
            <a:off x="11667744" y="3255264"/>
            <a:ext cx="1865376" cy="658368"/>
            <a:chOff x="0" y="0"/>
            <a:chExt cx="2487168" cy="877824"/>
          </a:xfrm>
        </p:grpSpPr>
        <p:sp>
          <p:nvSpPr>
            <p:cNvPr name="Freeform 74" id="74"/>
            <p:cNvSpPr/>
            <p:nvPr/>
          </p:nvSpPr>
          <p:spPr>
            <a:xfrm flipH="false" flipV="false" rot="0">
              <a:off x="0" y="0"/>
              <a:ext cx="2487168" cy="877824"/>
            </a:xfrm>
            <a:custGeom>
              <a:avLst/>
              <a:gdLst/>
              <a:ahLst/>
              <a:cxnLst/>
              <a:rect r="r" b="b" t="t" l="l"/>
              <a:pathLst>
                <a:path h="877824" w="2487168">
                  <a:moveTo>
                    <a:pt x="0" y="0"/>
                  </a:moveTo>
                  <a:lnTo>
                    <a:pt x="2487168" y="0"/>
                  </a:lnTo>
                  <a:lnTo>
                    <a:pt x="2487168" y="877824"/>
                  </a:lnTo>
                  <a:lnTo>
                    <a:pt x="0" y="877824"/>
                  </a:lnTo>
                  <a:close/>
                </a:path>
              </a:pathLst>
            </a:custGeom>
            <a:blipFill>
              <a:blip r:embed="rId2">
                <a:alphaModFix amt="0"/>
              </a:blip>
              <a:stretch>
                <a:fillRect l="0" t="-5207" r="0" b="-5207"/>
              </a:stretch>
            </a:blipFill>
          </p:spPr>
        </p:sp>
        <p:sp>
          <p:nvSpPr>
            <p:cNvPr name="TextBox 75" id="75"/>
            <p:cNvSpPr txBox="true"/>
            <p:nvPr/>
          </p:nvSpPr>
          <p:spPr>
            <a:xfrm>
              <a:off x="0" y="-38100"/>
              <a:ext cx="2487168" cy="915924"/>
            </a:xfrm>
            <a:prstGeom prst="rect">
              <a:avLst/>
            </a:prstGeom>
          </p:spPr>
          <p:txBody>
            <a:bodyPr anchor="ctr" rtlCol="false" tIns="0" lIns="0" bIns="0" rIns="0"/>
            <a:lstStyle/>
            <a:p>
              <a:pPr algn="ctr">
                <a:lnSpc>
                  <a:spcPts val="2280"/>
                </a:lnSpc>
              </a:pPr>
              <a:r>
                <a:rPr lang="en-US" sz="1900">
                  <a:solidFill>
                    <a:srgbClr val="1E293B"/>
                  </a:solidFill>
                  <a:latin typeface="Calibri (MS)"/>
                  <a:ea typeface="Calibri (MS)"/>
                  <a:cs typeface="Calibri (MS)"/>
                  <a:sym typeface="Calibri (MS)"/>
                </a:rPr>
                <a:t>Qualitatif</a:t>
              </a:r>
            </a:p>
          </p:txBody>
        </p:sp>
      </p:grpSp>
      <p:grpSp>
        <p:nvGrpSpPr>
          <p:cNvPr name="Group 76" id="76"/>
          <p:cNvGrpSpPr/>
          <p:nvPr/>
        </p:nvGrpSpPr>
        <p:grpSpPr>
          <a:xfrm rot="0">
            <a:off x="13819375" y="3303775"/>
            <a:ext cx="1146553" cy="524761"/>
            <a:chOff x="0" y="0"/>
            <a:chExt cx="1528737" cy="699681"/>
          </a:xfrm>
        </p:grpSpPr>
        <p:sp>
          <p:nvSpPr>
            <p:cNvPr name="Freeform 77" id="77"/>
            <p:cNvSpPr/>
            <p:nvPr/>
          </p:nvSpPr>
          <p:spPr>
            <a:xfrm flipH="false" flipV="false" rot="0">
              <a:off x="0" y="0"/>
              <a:ext cx="1528699" cy="699643"/>
            </a:xfrm>
            <a:custGeom>
              <a:avLst/>
              <a:gdLst/>
              <a:ahLst/>
              <a:cxnLst/>
              <a:rect r="r" b="b" t="t" l="l"/>
              <a:pathLst>
                <a:path h="699643" w="1528699">
                  <a:moveTo>
                    <a:pt x="0" y="174879"/>
                  </a:moveTo>
                  <a:cubicBezTo>
                    <a:pt x="0" y="78359"/>
                    <a:pt x="78359" y="0"/>
                    <a:pt x="174879" y="0"/>
                  </a:cubicBezTo>
                  <a:lnTo>
                    <a:pt x="1353820" y="0"/>
                  </a:lnTo>
                  <a:cubicBezTo>
                    <a:pt x="1450467" y="0"/>
                    <a:pt x="1528699" y="78359"/>
                    <a:pt x="1528699" y="174879"/>
                  </a:cubicBezTo>
                  <a:lnTo>
                    <a:pt x="1528699" y="524764"/>
                  </a:lnTo>
                  <a:cubicBezTo>
                    <a:pt x="1528699" y="621411"/>
                    <a:pt x="1450340" y="699643"/>
                    <a:pt x="1353820" y="699643"/>
                  </a:cubicBezTo>
                  <a:lnTo>
                    <a:pt x="174879" y="699643"/>
                  </a:lnTo>
                  <a:cubicBezTo>
                    <a:pt x="78359" y="699643"/>
                    <a:pt x="0" y="621411"/>
                    <a:pt x="0" y="524764"/>
                  </a:cubicBezTo>
                  <a:close/>
                </a:path>
              </a:pathLst>
            </a:custGeom>
            <a:solidFill>
              <a:srgbClr val="DBEAFE"/>
            </a:solidFill>
            <a:ln w="12700" cap="sq">
              <a:solidFill>
                <a:srgbClr val="3B82F6"/>
              </a:solidFill>
              <a:prstDash val="solid"/>
              <a:miter/>
            </a:ln>
          </p:spPr>
        </p:sp>
      </p:grpSp>
      <p:grpSp>
        <p:nvGrpSpPr>
          <p:cNvPr name="Group 78" id="78"/>
          <p:cNvGrpSpPr/>
          <p:nvPr/>
        </p:nvGrpSpPr>
        <p:grpSpPr>
          <a:xfrm rot="0">
            <a:off x="13825728" y="3310128"/>
            <a:ext cx="1133856" cy="512064"/>
            <a:chOff x="0" y="0"/>
            <a:chExt cx="1511808" cy="682752"/>
          </a:xfrm>
        </p:grpSpPr>
        <p:sp>
          <p:nvSpPr>
            <p:cNvPr name="Freeform 79" id="79"/>
            <p:cNvSpPr/>
            <p:nvPr/>
          </p:nvSpPr>
          <p:spPr>
            <a:xfrm flipH="false" flipV="false" rot="0">
              <a:off x="0" y="0"/>
              <a:ext cx="1511808" cy="682752"/>
            </a:xfrm>
            <a:custGeom>
              <a:avLst/>
              <a:gdLst/>
              <a:ahLst/>
              <a:cxnLst/>
              <a:rect r="r" b="b" t="t" l="l"/>
              <a:pathLst>
                <a:path h="682752" w="1511808">
                  <a:moveTo>
                    <a:pt x="0" y="0"/>
                  </a:moveTo>
                  <a:lnTo>
                    <a:pt x="1511808" y="0"/>
                  </a:lnTo>
                  <a:lnTo>
                    <a:pt x="1511808" y="682752"/>
                  </a:lnTo>
                  <a:lnTo>
                    <a:pt x="0" y="682752"/>
                  </a:lnTo>
                  <a:close/>
                </a:path>
              </a:pathLst>
            </a:custGeom>
            <a:blipFill>
              <a:blip r:embed="rId2">
                <a:alphaModFix amt="0"/>
              </a:blip>
              <a:stretch>
                <a:fillRect l="-7943" t="0" r="-7943" b="0"/>
              </a:stretch>
            </a:blipFill>
          </p:spPr>
        </p:sp>
        <p:sp>
          <p:nvSpPr>
            <p:cNvPr name="TextBox 80" id="80"/>
            <p:cNvSpPr txBox="true"/>
            <p:nvPr/>
          </p:nvSpPr>
          <p:spPr>
            <a:xfrm>
              <a:off x="0" y="-38100"/>
              <a:ext cx="1511808" cy="720852"/>
            </a:xfrm>
            <a:prstGeom prst="rect">
              <a:avLst/>
            </a:prstGeom>
          </p:spPr>
          <p:txBody>
            <a:bodyPr anchor="ctr" rtlCol="false" tIns="0" lIns="0" bIns="0" rIns="0"/>
            <a:lstStyle/>
            <a:p>
              <a:pPr algn="ctr">
                <a:lnSpc>
                  <a:spcPts val="2039"/>
                </a:lnSpc>
              </a:pPr>
              <a:r>
                <a:rPr lang="en-US" sz="1700" b="true">
                  <a:solidFill>
                    <a:srgbClr val="1D4ED8"/>
                  </a:solidFill>
                  <a:latin typeface="Calibri (MS) Bold"/>
                  <a:ea typeface="Calibri (MS) Bold"/>
                  <a:cs typeface="Calibri (MS) Bold"/>
                  <a:sym typeface="Calibri (MS) Bold"/>
                </a:rPr>
                <a:t>Input</a:t>
              </a:r>
            </a:p>
          </p:txBody>
        </p:sp>
      </p:grpSp>
      <p:grpSp>
        <p:nvGrpSpPr>
          <p:cNvPr name="Group 81" id="81"/>
          <p:cNvGrpSpPr/>
          <p:nvPr/>
        </p:nvGrpSpPr>
        <p:grpSpPr>
          <a:xfrm rot="0">
            <a:off x="15355567" y="3285487"/>
            <a:ext cx="1731769" cy="561337"/>
            <a:chOff x="0" y="0"/>
            <a:chExt cx="2309025" cy="748449"/>
          </a:xfrm>
        </p:grpSpPr>
        <p:sp>
          <p:nvSpPr>
            <p:cNvPr name="Freeform 82" id="82"/>
            <p:cNvSpPr/>
            <p:nvPr/>
          </p:nvSpPr>
          <p:spPr>
            <a:xfrm flipH="false" flipV="false" rot="0">
              <a:off x="0" y="0"/>
              <a:ext cx="2309114" cy="748538"/>
            </a:xfrm>
            <a:custGeom>
              <a:avLst/>
              <a:gdLst/>
              <a:ahLst/>
              <a:cxnLst/>
              <a:rect r="r" b="b" t="t" l="l"/>
              <a:pathLst>
                <a:path h="748538" w="2309114">
                  <a:moveTo>
                    <a:pt x="0" y="199644"/>
                  </a:moveTo>
                  <a:cubicBezTo>
                    <a:pt x="0" y="89408"/>
                    <a:pt x="89408" y="0"/>
                    <a:pt x="199644" y="0"/>
                  </a:cubicBezTo>
                  <a:lnTo>
                    <a:pt x="2109470" y="0"/>
                  </a:lnTo>
                  <a:cubicBezTo>
                    <a:pt x="2219706" y="0"/>
                    <a:pt x="2309114" y="89408"/>
                    <a:pt x="2309114" y="199644"/>
                  </a:cubicBezTo>
                  <a:lnTo>
                    <a:pt x="2309114" y="548894"/>
                  </a:lnTo>
                  <a:cubicBezTo>
                    <a:pt x="2309114" y="659130"/>
                    <a:pt x="2219706" y="748538"/>
                    <a:pt x="2109470" y="748538"/>
                  </a:cubicBezTo>
                  <a:lnTo>
                    <a:pt x="199644" y="748538"/>
                  </a:lnTo>
                  <a:cubicBezTo>
                    <a:pt x="89408" y="748411"/>
                    <a:pt x="0" y="659130"/>
                    <a:pt x="0" y="548894"/>
                  </a:cubicBezTo>
                  <a:close/>
                </a:path>
              </a:pathLst>
            </a:custGeom>
            <a:solidFill>
              <a:srgbClr val="EEF4FF"/>
            </a:solidFill>
            <a:ln w="12700" cap="sq">
              <a:solidFill>
                <a:srgbClr val="1D4ED8"/>
              </a:solidFill>
              <a:prstDash val="solid"/>
              <a:miter/>
            </a:ln>
          </p:spPr>
        </p:sp>
      </p:grpSp>
      <p:grpSp>
        <p:nvGrpSpPr>
          <p:cNvPr name="Group 83" id="83"/>
          <p:cNvGrpSpPr/>
          <p:nvPr/>
        </p:nvGrpSpPr>
        <p:grpSpPr>
          <a:xfrm rot="0">
            <a:off x="15361920" y="3291840"/>
            <a:ext cx="1719072" cy="548640"/>
            <a:chOff x="0" y="0"/>
            <a:chExt cx="2292096" cy="731520"/>
          </a:xfrm>
        </p:grpSpPr>
        <p:sp>
          <p:nvSpPr>
            <p:cNvPr name="Freeform 84" id="84"/>
            <p:cNvSpPr/>
            <p:nvPr/>
          </p:nvSpPr>
          <p:spPr>
            <a:xfrm flipH="false" flipV="false" rot="0">
              <a:off x="0" y="0"/>
              <a:ext cx="2292096" cy="731520"/>
            </a:xfrm>
            <a:custGeom>
              <a:avLst/>
              <a:gdLst/>
              <a:ahLst/>
              <a:cxnLst/>
              <a:rect r="r" b="b" t="t" l="l"/>
              <a:pathLst>
                <a:path h="731520" w="2292096">
                  <a:moveTo>
                    <a:pt x="0" y="0"/>
                  </a:moveTo>
                  <a:lnTo>
                    <a:pt x="2292096" y="0"/>
                  </a:lnTo>
                  <a:lnTo>
                    <a:pt x="2292096" y="731520"/>
                  </a:lnTo>
                  <a:lnTo>
                    <a:pt x="0" y="731520"/>
                  </a:lnTo>
                  <a:close/>
                </a:path>
              </a:pathLst>
            </a:custGeom>
            <a:blipFill>
              <a:blip r:embed="rId2">
                <a:alphaModFix amt="0"/>
              </a:blip>
              <a:stretch>
                <a:fillRect l="0" t="-11053" r="0" b="-11053"/>
              </a:stretch>
            </a:blipFill>
          </p:spPr>
        </p:sp>
        <p:sp>
          <p:nvSpPr>
            <p:cNvPr name="TextBox 85" id="85"/>
            <p:cNvSpPr txBox="true"/>
            <p:nvPr/>
          </p:nvSpPr>
          <p:spPr>
            <a:xfrm>
              <a:off x="0" y="-38100"/>
              <a:ext cx="2292096" cy="769620"/>
            </a:xfrm>
            <a:prstGeom prst="rect">
              <a:avLst/>
            </a:prstGeom>
          </p:spPr>
          <p:txBody>
            <a:bodyPr anchor="ctr" rtlCol="false" tIns="0" lIns="0" bIns="0" rIns="0"/>
            <a:lstStyle/>
            <a:p>
              <a:pPr algn="ctr">
                <a:lnSpc>
                  <a:spcPts val="2039"/>
                </a:lnSpc>
              </a:pPr>
              <a:r>
                <a:rPr lang="en-US" sz="1700" b="true">
                  <a:solidFill>
                    <a:srgbClr val="1D4ED8"/>
                  </a:solidFill>
                  <a:latin typeface="Calibri (MS) Bold"/>
                  <a:ea typeface="Calibri (MS) Bold"/>
                  <a:cs typeface="Calibri (MS) Bold"/>
                  <a:sym typeface="Calibri (MS) Bold"/>
                </a:rPr>
                <a:t>Réseau</a:t>
              </a:r>
            </a:p>
          </p:txBody>
        </p:sp>
      </p:grpSp>
      <p:grpSp>
        <p:nvGrpSpPr>
          <p:cNvPr name="Group 86" id="86"/>
          <p:cNvGrpSpPr/>
          <p:nvPr/>
        </p:nvGrpSpPr>
        <p:grpSpPr>
          <a:xfrm rot="0">
            <a:off x="397259" y="3945131"/>
            <a:ext cx="17493491" cy="778259"/>
            <a:chOff x="0" y="0"/>
            <a:chExt cx="23324655" cy="1037679"/>
          </a:xfrm>
        </p:grpSpPr>
        <p:sp>
          <p:nvSpPr>
            <p:cNvPr name="Freeform 87" id="87"/>
            <p:cNvSpPr/>
            <p:nvPr/>
          </p:nvSpPr>
          <p:spPr>
            <a:xfrm flipH="false" flipV="false" rot="0">
              <a:off x="0" y="0"/>
              <a:ext cx="23324693" cy="1037717"/>
            </a:xfrm>
            <a:custGeom>
              <a:avLst/>
              <a:gdLst/>
              <a:ahLst/>
              <a:cxnLst/>
              <a:rect r="r" b="b" t="t" l="l"/>
              <a:pathLst>
                <a:path h="1037717" w="23324693">
                  <a:moveTo>
                    <a:pt x="0" y="0"/>
                  </a:moveTo>
                  <a:lnTo>
                    <a:pt x="23324693" y="0"/>
                  </a:lnTo>
                  <a:lnTo>
                    <a:pt x="23324693" y="1037717"/>
                  </a:lnTo>
                  <a:lnTo>
                    <a:pt x="0" y="1037717"/>
                  </a:lnTo>
                  <a:close/>
                </a:path>
              </a:pathLst>
            </a:custGeom>
            <a:solidFill>
              <a:srgbClr val="F0F5FB"/>
            </a:solidFill>
            <a:ln w="10160" cap="sq">
              <a:solidFill>
                <a:srgbClr val="D1DCF0"/>
              </a:solidFill>
              <a:prstDash val="solid"/>
              <a:miter/>
            </a:ln>
          </p:spPr>
        </p:sp>
      </p:grpSp>
      <p:grpSp>
        <p:nvGrpSpPr>
          <p:cNvPr name="Group 88" id="88"/>
          <p:cNvGrpSpPr/>
          <p:nvPr/>
        </p:nvGrpSpPr>
        <p:grpSpPr>
          <a:xfrm rot="0">
            <a:off x="397259" y="3945131"/>
            <a:ext cx="17493491" cy="778259"/>
            <a:chOff x="0" y="0"/>
            <a:chExt cx="23324655" cy="1037679"/>
          </a:xfrm>
        </p:grpSpPr>
        <p:sp>
          <p:nvSpPr>
            <p:cNvPr name="Freeform 89" id="89"/>
            <p:cNvSpPr/>
            <p:nvPr/>
          </p:nvSpPr>
          <p:spPr>
            <a:xfrm flipH="false" flipV="false" rot="0">
              <a:off x="0" y="0"/>
              <a:ext cx="23324693" cy="1037717"/>
            </a:xfrm>
            <a:custGeom>
              <a:avLst/>
              <a:gdLst/>
              <a:ahLst/>
              <a:cxnLst/>
              <a:rect r="r" b="b" t="t" l="l"/>
              <a:pathLst>
                <a:path h="1037717" w="23324693">
                  <a:moveTo>
                    <a:pt x="0" y="0"/>
                  </a:moveTo>
                  <a:lnTo>
                    <a:pt x="23324693" y="0"/>
                  </a:lnTo>
                  <a:lnTo>
                    <a:pt x="23324693" y="1037717"/>
                  </a:lnTo>
                  <a:lnTo>
                    <a:pt x="0" y="1037717"/>
                  </a:lnTo>
                  <a:close/>
                </a:path>
              </a:pathLst>
            </a:custGeom>
            <a:solidFill>
              <a:srgbClr val="F0F5FB"/>
            </a:solidFill>
            <a:ln w="10160" cap="sq">
              <a:solidFill>
                <a:srgbClr val="D1DCF0"/>
              </a:solidFill>
              <a:prstDash val="solid"/>
              <a:miter/>
            </a:ln>
          </p:spPr>
        </p:sp>
      </p:grpSp>
      <p:grpSp>
        <p:nvGrpSpPr>
          <p:cNvPr name="Group 90" id="90"/>
          <p:cNvGrpSpPr/>
          <p:nvPr/>
        </p:nvGrpSpPr>
        <p:grpSpPr>
          <a:xfrm rot="0">
            <a:off x="548640" y="4023360"/>
            <a:ext cx="3255264" cy="658368"/>
            <a:chOff x="0" y="0"/>
            <a:chExt cx="4340352" cy="877824"/>
          </a:xfrm>
        </p:grpSpPr>
        <p:sp>
          <p:nvSpPr>
            <p:cNvPr name="Freeform 91" id="91"/>
            <p:cNvSpPr/>
            <p:nvPr/>
          </p:nvSpPr>
          <p:spPr>
            <a:xfrm flipH="false" flipV="false" rot="0">
              <a:off x="0" y="0"/>
              <a:ext cx="4340352" cy="877824"/>
            </a:xfrm>
            <a:custGeom>
              <a:avLst/>
              <a:gdLst/>
              <a:ahLst/>
              <a:cxnLst/>
              <a:rect r="r" b="b" t="t" l="l"/>
              <a:pathLst>
                <a:path h="877824" w="4340352">
                  <a:moveTo>
                    <a:pt x="0" y="0"/>
                  </a:moveTo>
                  <a:lnTo>
                    <a:pt x="4340352" y="0"/>
                  </a:lnTo>
                  <a:lnTo>
                    <a:pt x="4340352" y="877824"/>
                  </a:lnTo>
                  <a:lnTo>
                    <a:pt x="0" y="877824"/>
                  </a:lnTo>
                  <a:close/>
                </a:path>
              </a:pathLst>
            </a:custGeom>
            <a:blipFill>
              <a:blip r:embed="rId2">
                <a:alphaModFix amt="0"/>
              </a:blip>
              <a:stretch>
                <a:fillRect l="0" t="-46342" r="0" b="-46342"/>
              </a:stretch>
            </a:blipFill>
          </p:spPr>
        </p:sp>
        <p:sp>
          <p:nvSpPr>
            <p:cNvPr name="TextBox 92" id="92"/>
            <p:cNvSpPr txBox="true"/>
            <p:nvPr/>
          </p:nvSpPr>
          <p:spPr>
            <a:xfrm>
              <a:off x="0" y="-38100"/>
              <a:ext cx="4340352" cy="915924"/>
            </a:xfrm>
            <a:prstGeom prst="rect">
              <a:avLst/>
            </a:prstGeom>
          </p:spPr>
          <p:txBody>
            <a:bodyPr anchor="ctr" rtlCol="false" tIns="0" lIns="0" bIns="0" rIns="0"/>
            <a:lstStyle/>
            <a:p>
              <a:pPr algn="l">
                <a:lnSpc>
                  <a:spcPts val="2280"/>
                </a:lnSpc>
              </a:pPr>
              <a:r>
                <a:rPr lang="en-US" sz="1900" b="true">
                  <a:solidFill>
                    <a:srgbClr val="1E3A5F"/>
                  </a:solidFill>
                  <a:latin typeface="Calibri (MS) Bold"/>
                  <a:ea typeface="Calibri (MS) Bold"/>
                  <a:cs typeface="Calibri (MS) Bold"/>
                  <a:sym typeface="Calibri (MS) Bold"/>
                </a:rPr>
                <a:t>Port_source</a:t>
              </a:r>
            </a:p>
          </p:txBody>
        </p:sp>
      </p:grpSp>
      <p:grpSp>
        <p:nvGrpSpPr>
          <p:cNvPr name="Group 93" id="93"/>
          <p:cNvGrpSpPr/>
          <p:nvPr/>
        </p:nvGrpSpPr>
        <p:grpSpPr>
          <a:xfrm rot="0">
            <a:off x="3986784" y="4023360"/>
            <a:ext cx="2286000" cy="658368"/>
            <a:chOff x="0" y="0"/>
            <a:chExt cx="3048000" cy="877824"/>
          </a:xfrm>
        </p:grpSpPr>
        <p:sp>
          <p:nvSpPr>
            <p:cNvPr name="Freeform 94" id="94"/>
            <p:cNvSpPr/>
            <p:nvPr/>
          </p:nvSpPr>
          <p:spPr>
            <a:xfrm flipH="false" flipV="false" rot="0">
              <a:off x="0" y="0"/>
              <a:ext cx="3048000" cy="877824"/>
            </a:xfrm>
            <a:custGeom>
              <a:avLst/>
              <a:gdLst/>
              <a:ahLst/>
              <a:cxnLst/>
              <a:rect r="r" b="b" t="t" l="l"/>
              <a:pathLst>
                <a:path h="877824" w="3048000">
                  <a:moveTo>
                    <a:pt x="0" y="0"/>
                  </a:moveTo>
                  <a:lnTo>
                    <a:pt x="3048000" y="0"/>
                  </a:lnTo>
                  <a:lnTo>
                    <a:pt x="3048000" y="877824"/>
                  </a:lnTo>
                  <a:lnTo>
                    <a:pt x="0" y="877824"/>
                  </a:lnTo>
                  <a:close/>
                </a:path>
              </a:pathLst>
            </a:custGeom>
            <a:blipFill>
              <a:blip r:embed="rId2">
                <a:alphaModFix amt="0"/>
              </a:blip>
              <a:stretch>
                <a:fillRect l="0" t="-17656" r="0" b="-17656"/>
              </a:stretch>
            </a:blipFill>
          </p:spPr>
        </p:sp>
        <p:sp>
          <p:nvSpPr>
            <p:cNvPr name="TextBox 95" id="95"/>
            <p:cNvSpPr txBox="true"/>
            <p:nvPr/>
          </p:nvSpPr>
          <p:spPr>
            <a:xfrm>
              <a:off x="0" y="-38100"/>
              <a:ext cx="3048000" cy="915924"/>
            </a:xfrm>
            <a:prstGeom prst="rect">
              <a:avLst/>
            </a:prstGeom>
          </p:spPr>
          <p:txBody>
            <a:bodyPr anchor="ctr" rtlCol="false" tIns="0" lIns="0" bIns="0" rIns="0"/>
            <a:lstStyle/>
            <a:p>
              <a:pPr algn="ctr">
                <a:lnSpc>
                  <a:spcPts val="2280"/>
                </a:lnSpc>
              </a:pPr>
              <a:r>
                <a:rPr lang="en-US" sz="1900">
                  <a:solidFill>
                    <a:srgbClr val="1E293B"/>
                  </a:solidFill>
                  <a:latin typeface="Calibri (MS)"/>
                  <a:ea typeface="Calibri (MS)"/>
                  <a:cs typeface="Calibri (MS)"/>
                  <a:sym typeface="Calibri (MS)"/>
                </a:rPr>
                <a:t>Numérique</a:t>
              </a:r>
            </a:p>
          </p:txBody>
        </p:sp>
      </p:grpSp>
      <p:grpSp>
        <p:nvGrpSpPr>
          <p:cNvPr name="Group 96" id="96"/>
          <p:cNvGrpSpPr/>
          <p:nvPr/>
        </p:nvGrpSpPr>
        <p:grpSpPr>
          <a:xfrm rot="0">
            <a:off x="6455664" y="4023360"/>
            <a:ext cx="5029200" cy="658368"/>
            <a:chOff x="0" y="0"/>
            <a:chExt cx="6705600" cy="877824"/>
          </a:xfrm>
        </p:grpSpPr>
        <p:sp>
          <p:nvSpPr>
            <p:cNvPr name="Freeform 97" id="97"/>
            <p:cNvSpPr/>
            <p:nvPr/>
          </p:nvSpPr>
          <p:spPr>
            <a:xfrm flipH="false" flipV="false" rot="0">
              <a:off x="0" y="0"/>
              <a:ext cx="6705600" cy="877824"/>
            </a:xfrm>
            <a:custGeom>
              <a:avLst/>
              <a:gdLst/>
              <a:ahLst/>
              <a:cxnLst/>
              <a:rect r="r" b="b" t="t" l="l"/>
              <a:pathLst>
                <a:path h="877824" w="6705600">
                  <a:moveTo>
                    <a:pt x="0" y="0"/>
                  </a:moveTo>
                  <a:lnTo>
                    <a:pt x="6705600" y="0"/>
                  </a:lnTo>
                  <a:lnTo>
                    <a:pt x="6705600" y="877824"/>
                  </a:lnTo>
                  <a:lnTo>
                    <a:pt x="0" y="877824"/>
                  </a:lnTo>
                  <a:close/>
                </a:path>
              </a:pathLst>
            </a:custGeom>
            <a:blipFill>
              <a:blip r:embed="rId2">
                <a:alphaModFix amt="0"/>
              </a:blip>
              <a:stretch>
                <a:fillRect l="0" t="-98844" r="0" b="-98844"/>
              </a:stretch>
            </a:blipFill>
          </p:spPr>
        </p:sp>
        <p:sp>
          <p:nvSpPr>
            <p:cNvPr name="TextBox 98" id="98"/>
            <p:cNvSpPr txBox="true"/>
            <p:nvPr/>
          </p:nvSpPr>
          <p:spPr>
            <a:xfrm>
              <a:off x="0" y="-38100"/>
              <a:ext cx="6705600" cy="915924"/>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Port TCP/UDP source (0–65535)</a:t>
              </a:r>
            </a:p>
          </p:txBody>
        </p:sp>
      </p:grpSp>
      <p:grpSp>
        <p:nvGrpSpPr>
          <p:cNvPr name="Group 99" id="99"/>
          <p:cNvGrpSpPr/>
          <p:nvPr/>
        </p:nvGrpSpPr>
        <p:grpSpPr>
          <a:xfrm rot="0">
            <a:off x="11667744" y="4023360"/>
            <a:ext cx="1865376" cy="658368"/>
            <a:chOff x="0" y="0"/>
            <a:chExt cx="2487168" cy="877824"/>
          </a:xfrm>
        </p:grpSpPr>
        <p:sp>
          <p:nvSpPr>
            <p:cNvPr name="Freeform 100" id="100"/>
            <p:cNvSpPr/>
            <p:nvPr/>
          </p:nvSpPr>
          <p:spPr>
            <a:xfrm flipH="false" flipV="false" rot="0">
              <a:off x="0" y="0"/>
              <a:ext cx="2487168" cy="877824"/>
            </a:xfrm>
            <a:custGeom>
              <a:avLst/>
              <a:gdLst/>
              <a:ahLst/>
              <a:cxnLst/>
              <a:rect r="r" b="b" t="t" l="l"/>
              <a:pathLst>
                <a:path h="877824" w="2487168">
                  <a:moveTo>
                    <a:pt x="0" y="0"/>
                  </a:moveTo>
                  <a:lnTo>
                    <a:pt x="2487168" y="0"/>
                  </a:lnTo>
                  <a:lnTo>
                    <a:pt x="2487168" y="877824"/>
                  </a:lnTo>
                  <a:lnTo>
                    <a:pt x="0" y="877824"/>
                  </a:lnTo>
                  <a:close/>
                </a:path>
              </a:pathLst>
            </a:custGeom>
            <a:blipFill>
              <a:blip r:embed="rId2">
                <a:alphaModFix amt="0"/>
              </a:blip>
              <a:stretch>
                <a:fillRect l="0" t="-5207" r="0" b="-5207"/>
              </a:stretch>
            </a:blipFill>
          </p:spPr>
        </p:sp>
        <p:sp>
          <p:nvSpPr>
            <p:cNvPr name="TextBox 101" id="101"/>
            <p:cNvSpPr txBox="true"/>
            <p:nvPr/>
          </p:nvSpPr>
          <p:spPr>
            <a:xfrm>
              <a:off x="0" y="-38100"/>
              <a:ext cx="2487168" cy="915924"/>
            </a:xfrm>
            <a:prstGeom prst="rect">
              <a:avLst/>
            </a:prstGeom>
          </p:spPr>
          <p:txBody>
            <a:bodyPr anchor="ctr" rtlCol="false" tIns="0" lIns="0" bIns="0" rIns="0"/>
            <a:lstStyle/>
            <a:p>
              <a:pPr algn="ctr">
                <a:lnSpc>
                  <a:spcPts val="2280"/>
                </a:lnSpc>
              </a:pPr>
              <a:r>
                <a:rPr lang="en-US" sz="1900">
                  <a:solidFill>
                    <a:srgbClr val="1E293B"/>
                  </a:solidFill>
                  <a:latin typeface="Calibri (MS)"/>
                  <a:ea typeface="Calibri (MS)"/>
                  <a:cs typeface="Calibri (MS)"/>
                  <a:sym typeface="Calibri (MS)"/>
                </a:rPr>
                <a:t>Quantitatif</a:t>
              </a:r>
            </a:p>
          </p:txBody>
        </p:sp>
      </p:grpSp>
      <p:grpSp>
        <p:nvGrpSpPr>
          <p:cNvPr name="Group 102" id="102"/>
          <p:cNvGrpSpPr/>
          <p:nvPr/>
        </p:nvGrpSpPr>
        <p:grpSpPr>
          <a:xfrm rot="0">
            <a:off x="13819375" y="4071871"/>
            <a:ext cx="1146553" cy="524761"/>
            <a:chOff x="0" y="0"/>
            <a:chExt cx="1528737" cy="699681"/>
          </a:xfrm>
        </p:grpSpPr>
        <p:sp>
          <p:nvSpPr>
            <p:cNvPr name="Freeform 103" id="103"/>
            <p:cNvSpPr/>
            <p:nvPr/>
          </p:nvSpPr>
          <p:spPr>
            <a:xfrm flipH="false" flipV="false" rot="0">
              <a:off x="0" y="0"/>
              <a:ext cx="1528699" cy="699643"/>
            </a:xfrm>
            <a:custGeom>
              <a:avLst/>
              <a:gdLst/>
              <a:ahLst/>
              <a:cxnLst/>
              <a:rect r="r" b="b" t="t" l="l"/>
              <a:pathLst>
                <a:path h="699643" w="1528699">
                  <a:moveTo>
                    <a:pt x="0" y="174879"/>
                  </a:moveTo>
                  <a:cubicBezTo>
                    <a:pt x="0" y="78359"/>
                    <a:pt x="78359" y="0"/>
                    <a:pt x="174879" y="0"/>
                  </a:cubicBezTo>
                  <a:lnTo>
                    <a:pt x="1353820" y="0"/>
                  </a:lnTo>
                  <a:cubicBezTo>
                    <a:pt x="1450467" y="0"/>
                    <a:pt x="1528699" y="78359"/>
                    <a:pt x="1528699" y="174879"/>
                  </a:cubicBezTo>
                  <a:lnTo>
                    <a:pt x="1528699" y="524764"/>
                  </a:lnTo>
                  <a:cubicBezTo>
                    <a:pt x="1528699" y="621411"/>
                    <a:pt x="1450340" y="699643"/>
                    <a:pt x="1353820" y="699643"/>
                  </a:cubicBezTo>
                  <a:lnTo>
                    <a:pt x="174879" y="699643"/>
                  </a:lnTo>
                  <a:cubicBezTo>
                    <a:pt x="78359" y="699643"/>
                    <a:pt x="0" y="621411"/>
                    <a:pt x="0" y="524764"/>
                  </a:cubicBezTo>
                  <a:close/>
                </a:path>
              </a:pathLst>
            </a:custGeom>
            <a:solidFill>
              <a:srgbClr val="DBEAFE"/>
            </a:solidFill>
            <a:ln w="12700" cap="sq">
              <a:solidFill>
                <a:srgbClr val="3B82F6"/>
              </a:solidFill>
              <a:prstDash val="solid"/>
              <a:miter/>
            </a:ln>
          </p:spPr>
        </p:sp>
      </p:grpSp>
      <p:grpSp>
        <p:nvGrpSpPr>
          <p:cNvPr name="Group 104" id="104"/>
          <p:cNvGrpSpPr/>
          <p:nvPr/>
        </p:nvGrpSpPr>
        <p:grpSpPr>
          <a:xfrm rot="0">
            <a:off x="13825728" y="4078224"/>
            <a:ext cx="1133856" cy="512064"/>
            <a:chOff x="0" y="0"/>
            <a:chExt cx="1511808" cy="682752"/>
          </a:xfrm>
        </p:grpSpPr>
        <p:sp>
          <p:nvSpPr>
            <p:cNvPr name="Freeform 105" id="105"/>
            <p:cNvSpPr/>
            <p:nvPr/>
          </p:nvSpPr>
          <p:spPr>
            <a:xfrm flipH="false" flipV="false" rot="0">
              <a:off x="0" y="0"/>
              <a:ext cx="1511808" cy="682752"/>
            </a:xfrm>
            <a:custGeom>
              <a:avLst/>
              <a:gdLst/>
              <a:ahLst/>
              <a:cxnLst/>
              <a:rect r="r" b="b" t="t" l="l"/>
              <a:pathLst>
                <a:path h="682752" w="1511808">
                  <a:moveTo>
                    <a:pt x="0" y="0"/>
                  </a:moveTo>
                  <a:lnTo>
                    <a:pt x="1511808" y="0"/>
                  </a:lnTo>
                  <a:lnTo>
                    <a:pt x="1511808" y="682752"/>
                  </a:lnTo>
                  <a:lnTo>
                    <a:pt x="0" y="682752"/>
                  </a:lnTo>
                  <a:close/>
                </a:path>
              </a:pathLst>
            </a:custGeom>
            <a:blipFill>
              <a:blip r:embed="rId2">
                <a:alphaModFix amt="0"/>
              </a:blip>
              <a:stretch>
                <a:fillRect l="-7943" t="0" r="-7943" b="0"/>
              </a:stretch>
            </a:blipFill>
          </p:spPr>
        </p:sp>
        <p:sp>
          <p:nvSpPr>
            <p:cNvPr name="TextBox 106" id="106"/>
            <p:cNvSpPr txBox="true"/>
            <p:nvPr/>
          </p:nvSpPr>
          <p:spPr>
            <a:xfrm>
              <a:off x="0" y="-38100"/>
              <a:ext cx="1511808" cy="720852"/>
            </a:xfrm>
            <a:prstGeom prst="rect">
              <a:avLst/>
            </a:prstGeom>
          </p:spPr>
          <p:txBody>
            <a:bodyPr anchor="ctr" rtlCol="false" tIns="0" lIns="0" bIns="0" rIns="0"/>
            <a:lstStyle/>
            <a:p>
              <a:pPr algn="ctr">
                <a:lnSpc>
                  <a:spcPts val="2039"/>
                </a:lnSpc>
              </a:pPr>
              <a:r>
                <a:rPr lang="en-US" sz="1700" b="true">
                  <a:solidFill>
                    <a:srgbClr val="1D4ED8"/>
                  </a:solidFill>
                  <a:latin typeface="Calibri (MS) Bold"/>
                  <a:ea typeface="Calibri (MS) Bold"/>
                  <a:cs typeface="Calibri (MS) Bold"/>
                  <a:sym typeface="Calibri (MS) Bold"/>
                </a:rPr>
                <a:t>Input</a:t>
              </a:r>
            </a:p>
          </p:txBody>
        </p:sp>
      </p:grpSp>
      <p:grpSp>
        <p:nvGrpSpPr>
          <p:cNvPr name="Group 107" id="107"/>
          <p:cNvGrpSpPr/>
          <p:nvPr/>
        </p:nvGrpSpPr>
        <p:grpSpPr>
          <a:xfrm rot="0">
            <a:off x="15355567" y="4053583"/>
            <a:ext cx="1731769" cy="561337"/>
            <a:chOff x="0" y="0"/>
            <a:chExt cx="2309025" cy="748449"/>
          </a:xfrm>
        </p:grpSpPr>
        <p:sp>
          <p:nvSpPr>
            <p:cNvPr name="Freeform 108" id="108"/>
            <p:cNvSpPr/>
            <p:nvPr/>
          </p:nvSpPr>
          <p:spPr>
            <a:xfrm flipH="false" flipV="false" rot="0">
              <a:off x="0" y="0"/>
              <a:ext cx="2309114" cy="748538"/>
            </a:xfrm>
            <a:custGeom>
              <a:avLst/>
              <a:gdLst/>
              <a:ahLst/>
              <a:cxnLst/>
              <a:rect r="r" b="b" t="t" l="l"/>
              <a:pathLst>
                <a:path h="748538" w="2309114">
                  <a:moveTo>
                    <a:pt x="0" y="199644"/>
                  </a:moveTo>
                  <a:cubicBezTo>
                    <a:pt x="0" y="89408"/>
                    <a:pt x="89408" y="0"/>
                    <a:pt x="199644" y="0"/>
                  </a:cubicBezTo>
                  <a:lnTo>
                    <a:pt x="2109470" y="0"/>
                  </a:lnTo>
                  <a:cubicBezTo>
                    <a:pt x="2219706" y="0"/>
                    <a:pt x="2309114" y="89408"/>
                    <a:pt x="2309114" y="199644"/>
                  </a:cubicBezTo>
                  <a:lnTo>
                    <a:pt x="2309114" y="548894"/>
                  </a:lnTo>
                  <a:cubicBezTo>
                    <a:pt x="2309114" y="659130"/>
                    <a:pt x="2219706" y="748538"/>
                    <a:pt x="2109470" y="748538"/>
                  </a:cubicBezTo>
                  <a:lnTo>
                    <a:pt x="199644" y="748538"/>
                  </a:lnTo>
                  <a:cubicBezTo>
                    <a:pt x="89408" y="748411"/>
                    <a:pt x="0" y="659130"/>
                    <a:pt x="0" y="548894"/>
                  </a:cubicBezTo>
                  <a:close/>
                </a:path>
              </a:pathLst>
            </a:custGeom>
            <a:solidFill>
              <a:srgbClr val="EEF4FF"/>
            </a:solidFill>
            <a:ln w="12700" cap="sq">
              <a:solidFill>
                <a:srgbClr val="1D4ED8"/>
              </a:solidFill>
              <a:prstDash val="solid"/>
              <a:miter/>
            </a:ln>
          </p:spPr>
        </p:sp>
      </p:grpSp>
      <p:grpSp>
        <p:nvGrpSpPr>
          <p:cNvPr name="Group 109" id="109"/>
          <p:cNvGrpSpPr/>
          <p:nvPr/>
        </p:nvGrpSpPr>
        <p:grpSpPr>
          <a:xfrm rot="0">
            <a:off x="15361920" y="4059936"/>
            <a:ext cx="1719072" cy="548640"/>
            <a:chOff x="0" y="0"/>
            <a:chExt cx="2292096" cy="731520"/>
          </a:xfrm>
        </p:grpSpPr>
        <p:sp>
          <p:nvSpPr>
            <p:cNvPr name="Freeform 110" id="110"/>
            <p:cNvSpPr/>
            <p:nvPr/>
          </p:nvSpPr>
          <p:spPr>
            <a:xfrm flipH="false" flipV="false" rot="0">
              <a:off x="0" y="0"/>
              <a:ext cx="2292096" cy="731520"/>
            </a:xfrm>
            <a:custGeom>
              <a:avLst/>
              <a:gdLst/>
              <a:ahLst/>
              <a:cxnLst/>
              <a:rect r="r" b="b" t="t" l="l"/>
              <a:pathLst>
                <a:path h="731520" w="2292096">
                  <a:moveTo>
                    <a:pt x="0" y="0"/>
                  </a:moveTo>
                  <a:lnTo>
                    <a:pt x="2292096" y="0"/>
                  </a:lnTo>
                  <a:lnTo>
                    <a:pt x="2292096" y="731520"/>
                  </a:lnTo>
                  <a:lnTo>
                    <a:pt x="0" y="731520"/>
                  </a:lnTo>
                  <a:close/>
                </a:path>
              </a:pathLst>
            </a:custGeom>
            <a:blipFill>
              <a:blip r:embed="rId2">
                <a:alphaModFix amt="0"/>
              </a:blip>
              <a:stretch>
                <a:fillRect l="0" t="-11053" r="0" b="-11053"/>
              </a:stretch>
            </a:blipFill>
          </p:spPr>
        </p:sp>
        <p:sp>
          <p:nvSpPr>
            <p:cNvPr name="TextBox 111" id="111"/>
            <p:cNvSpPr txBox="true"/>
            <p:nvPr/>
          </p:nvSpPr>
          <p:spPr>
            <a:xfrm>
              <a:off x="0" y="-38100"/>
              <a:ext cx="2292096" cy="769620"/>
            </a:xfrm>
            <a:prstGeom prst="rect">
              <a:avLst/>
            </a:prstGeom>
          </p:spPr>
          <p:txBody>
            <a:bodyPr anchor="ctr" rtlCol="false" tIns="0" lIns="0" bIns="0" rIns="0"/>
            <a:lstStyle/>
            <a:p>
              <a:pPr algn="ctr">
                <a:lnSpc>
                  <a:spcPts val="2039"/>
                </a:lnSpc>
              </a:pPr>
              <a:r>
                <a:rPr lang="en-US" sz="1700" b="true">
                  <a:solidFill>
                    <a:srgbClr val="1D4ED8"/>
                  </a:solidFill>
                  <a:latin typeface="Calibri (MS) Bold"/>
                  <a:ea typeface="Calibri (MS) Bold"/>
                  <a:cs typeface="Calibri (MS) Bold"/>
                  <a:sym typeface="Calibri (MS) Bold"/>
                </a:rPr>
                <a:t>Réseau</a:t>
              </a:r>
            </a:p>
          </p:txBody>
        </p:sp>
      </p:grpSp>
      <p:grpSp>
        <p:nvGrpSpPr>
          <p:cNvPr name="Group 112" id="112"/>
          <p:cNvGrpSpPr/>
          <p:nvPr/>
        </p:nvGrpSpPr>
        <p:grpSpPr>
          <a:xfrm rot="0">
            <a:off x="397259" y="4713227"/>
            <a:ext cx="17493491" cy="778259"/>
            <a:chOff x="0" y="0"/>
            <a:chExt cx="23324655" cy="1037679"/>
          </a:xfrm>
        </p:grpSpPr>
        <p:sp>
          <p:nvSpPr>
            <p:cNvPr name="Freeform 113" id="113"/>
            <p:cNvSpPr/>
            <p:nvPr/>
          </p:nvSpPr>
          <p:spPr>
            <a:xfrm flipH="false" flipV="false" rot="0">
              <a:off x="0" y="0"/>
              <a:ext cx="23324693" cy="1037717"/>
            </a:xfrm>
            <a:custGeom>
              <a:avLst/>
              <a:gdLst/>
              <a:ahLst/>
              <a:cxnLst/>
              <a:rect r="r" b="b" t="t" l="l"/>
              <a:pathLst>
                <a:path h="1037717" w="23324693">
                  <a:moveTo>
                    <a:pt x="0" y="0"/>
                  </a:moveTo>
                  <a:lnTo>
                    <a:pt x="23324693" y="0"/>
                  </a:lnTo>
                  <a:lnTo>
                    <a:pt x="23324693" y="1037717"/>
                  </a:lnTo>
                  <a:lnTo>
                    <a:pt x="0" y="1037717"/>
                  </a:lnTo>
                  <a:close/>
                </a:path>
              </a:pathLst>
            </a:custGeom>
            <a:solidFill>
              <a:srgbClr val="FFFFFF"/>
            </a:solidFill>
            <a:ln w="10160" cap="sq">
              <a:solidFill>
                <a:srgbClr val="D1DCF0"/>
              </a:solidFill>
              <a:prstDash val="solid"/>
              <a:miter/>
            </a:ln>
          </p:spPr>
        </p:sp>
      </p:grpSp>
      <p:grpSp>
        <p:nvGrpSpPr>
          <p:cNvPr name="Group 114" id="114"/>
          <p:cNvGrpSpPr/>
          <p:nvPr/>
        </p:nvGrpSpPr>
        <p:grpSpPr>
          <a:xfrm rot="0">
            <a:off x="397259" y="4713227"/>
            <a:ext cx="17493491" cy="778259"/>
            <a:chOff x="0" y="0"/>
            <a:chExt cx="23324655" cy="1037679"/>
          </a:xfrm>
        </p:grpSpPr>
        <p:sp>
          <p:nvSpPr>
            <p:cNvPr name="Freeform 115" id="115"/>
            <p:cNvSpPr/>
            <p:nvPr/>
          </p:nvSpPr>
          <p:spPr>
            <a:xfrm flipH="false" flipV="false" rot="0">
              <a:off x="0" y="0"/>
              <a:ext cx="23324693" cy="1037717"/>
            </a:xfrm>
            <a:custGeom>
              <a:avLst/>
              <a:gdLst/>
              <a:ahLst/>
              <a:cxnLst/>
              <a:rect r="r" b="b" t="t" l="l"/>
              <a:pathLst>
                <a:path h="1037717" w="23324693">
                  <a:moveTo>
                    <a:pt x="0" y="0"/>
                  </a:moveTo>
                  <a:lnTo>
                    <a:pt x="23324693" y="0"/>
                  </a:lnTo>
                  <a:lnTo>
                    <a:pt x="23324693" y="1037717"/>
                  </a:lnTo>
                  <a:lnTo>
                    <a:pt x="0" y="1037717"/>
                  </a:lnTo>
                  <a:close/>
                </a:path>
              </a:pathLst>
            </a:custGeom>
            <a:solidFill>
              <a:srgbClr val="F0F5FB"/>
            </a:solidFill>
            <a:ln w="10160" cap="sq">
              <a:solidFill>
                <a:srgbClr val="D1DCF0"/>
              </a:solidFill>
              <a:prstDash val="solid"/>
              <a:miter/>
            </a:ln>
          </p:spPr>
        </p:sp>
      </p:grpSp>
      <p:grpSp>
        <p:nvGrpSpPr>
          <p:cNvPr name="Group 116" id="116"/>
          <p:cNvGrpSpPr/>
          <p:nvPr/>
        </p:nvGrpSpPr>
        <p:grpSpPr>
          <a:xfrm rot="0">
            <a:off x="548640" y="4791456"/>
            <a:ext cx="3255264" cy="658368"/>
            <a:chOff x="0" y="0"/>
            <a:chExt cx="4340352" cy="877824"/>
          </a:xfrm>
        </p:grpSpPr>
        <p:sp>
          <p:nvSpPr>
            <p:cNvPr name="Freeform 117" id="117"/>
            <p:cNvSpPr/>
            <p:nvPr/>
          </p:nvSpPr>
          <p:spPr>
            <a:xfrm flipH="false" flipV="false" rot="0">
              <a:off x="0" y="0"/>
              <a:ext cx="4340352" cy="877824"/>
            </a:xfrm>
            <a:custGeom>
              <a:avLst/>
              <a:gdLst/>
              <a:ahLst/>
              <a:cxnLst/>
              <a:rect r="r" b="b" t="t" l="l"/>
              <a:pathLst>
                <a:path h="877824" w="4340352">
                  <a:moveTo>
                    <a:pt x="0" y="0"/>
                  </a:moveTo>
                  <a:lnTo>
                    <a:pt x="4340352" y="0"/>
                  </a:lnTo>
                  <a:lnTo>
                    <a:pt x="4340352" y="877824"/>
                  </a:lnTo>
                  <a:lnTo>
                    <a:pt x="0" y="877824"/>
                  </a:lnTo>
                  <a:close/>
                </a:path>
              </a:pathLst>
            </a:custGeom>
            <a:blipFill>
              <a:blip r:embed="rId2">
                <a:alphaModFix amt="0"/>
              </a:blip>
              <a:stretch>
                <a:fillRect l="0" t="-46342" r="0" b="-46342"/>
              </a:stretch>
            </a:blipFill>
          </p:spPr>
        </p:sp>
        <p:sp>
          <p:nvSpPr>
            <p:cNvPr name="TextBox 118" id="118"/>
            <p:cNvSpPr txBox="true"/>
            <p:nvPr/>
          </p:nvSpPr>
          <p:spPr>
            <a:xfrm>
              <a:off x="0" y="-38100"/>
              <a:ext cx="4340352" cy="915924"/>
            </a:xfrm>
            <a:prstGeom prst="rect">
              <a:avLst/>
            </a:prstGeom>
          </p:spPr>
          <p:txBody>
            <a:bodyPr anchor="ctr" rtlCol="false" tIns="0" lIns="0" bIns="0" rIns="0"/>
            <a:lstStyle/>
            <a:p>
              <a:pPr algn="l">
                <a:lnSpc>
                  <a:spcPts val="2280"/>
                </a:lnSpc>
              </a:pPr>
              <a:r>
                <a:rPr lang="en-US" sz="1900" b="true">
                  <a:solidFill>
                    <a:srgbClr val="1E3A5F"/>
                  </a:solidFill>
                  <a:latin typeface="Calibri (MS) Bold"/>
                  <a:ea typeface="Calibri (MS) Bold"/>
                  <a:cs typeface="Calibri (MS) Bold"/>
                  <a:sym typeface="Calibri (MS) Bold"/>
                </a:rPr>
                <a:t>Port_destination</a:t>
              </a:r>
            </a:p>
          </p:txBody>
        </p:sp>
      </p:grpSp>
      <p:grpSp>
        <p:nvGrpSpPr>
          <p:cNvPr name="Group 119" id="119"/>
          <p:cNvGrpSpPr/>
          <p:nvPr/>
        </p:nvGrpSpPr>
        <p:grpSpPr>
          <a:xfrm rot="0">
            <a:off x="3986784" y="4791456"/>
            <a:ext cx="2286000" cy="658368"/>
            <a:chOff x="0" y="0"/>
            <a:chExt cx="3048000" cy="877824"/>
          </a:xfrm>
        </p:grpSpPr>
        <p:sp>
          <p:nvSpPr>
            <p:cNvPr name="Freeform 120" id="120"/>
            <p:cNvSpPr/>
            <p:nvPr/>
          </p:nvSpPr>
          <p:spPr>
            <a:xfrm flipH="false" flipV="false" rot="0">
              <a:off x="0" y="0"/>
              <a:ext cx="3048000" cy="877824"/>
            </a:xfrm>
            <a:custGeom>
              <a:avLst/>
              <a:gdLst/>
              <a:ahLst/>
              <a:cxnLst/>
              <a:rect r="r" b="b" t="t" l="l"/>
              <a:pathLst>
                <a:path h="877824" w="3048000">
                  <a:moveTo>
                    <a:pt x="0" y="0"/>
                  </a:moveTo>
                  <a:lnTo>
                    <a:pt x="3048000" y="0"/>
                  </a:lnTo>
                  <a:lnTo>
                    <a:pt x="3048000" y="877824"/>
                  </a:lnTo>
                  <a:lnTo>
                    <a:pt x="0" y="877824"/>
                  </a:lnTo>
                  <a:close/>
                </a:path>
              </a:pathLst>
            </a:custGeom>
            <a:blipFill>
              <a:blip r:embed="rId2">
                <a:alphaModFix amt="0"/>
              </a:blip>
              <a:stretch>
                <a:fillRect l="0" t="-17656" r="0" b="-17656"/>
              </a:stretch>
            </a:blipFill>
          </p:spPr>
        </p:sp>
        <p:sp>
          <p:nvSpPr>
            <p:cNvPr name="TextBox 121" id="121"/>
            <p:cNvSpPr txBox="true"/>
            <p:nvPr/>
          </p:nvSpPr>
          <p:spPr>
            <a:xfrm>
              <a:off x="0" y="-38100"/>
              <a:ext cx="3048000" cy="915924"/>
            </a:xfrm>
            <a:prstGeom prst="rect">
              <a:avLst/>
            </a:prstGeom>
          </p:spPr>
          <p:txBody>
            <a:bodyPr anchor="ctr" rtlCol="false" tIns="0" lIns="0" bIns="0" rIns="0"/>
            <a:lstStyle/>
            <a:p>
              <a:pPr algn="ctr">
                <a:lnSpc>
                  <a:spcPts val="2280"/>
                </a:lnSpc>
              </a:pPr>
              <a:r>
                <a:rPr lang="en-US" sz="1900">
                  <a:solidFill>
                    <a:srgbClr val="1E293B"/>
                  </a:solidFill>
                  <a:latin typeface="Calibri (MS)"/>
                  <a:ea typeface="Calibri (MS)"/>
                  <a:cs typeface="Calibri (MS)"/>
                  <a:sym typeface="Calibri (MS)"/>
                </a:rPr>
                <a:t>Numérique</a:t>
              </a:r>
            </a:p>
          </p:txBody>
        </p:sp>
      </p:grpSp>
      <p:grpSp>
        <p:nvGrpSpPr>
          <p:cNvPr name="Group 122" id="122"/>
          <p:cNvGrpSpPr/>
          <p:nvPr/>
        </p:nvGrpSpPr>
        <p:grpSpPr>
          <a:xfrm rot="0">
            <a:off x="6455664" y="4791456"/>
            <a:ext cx="5029200" cy="658368"/>
            <a:chOff x="0" y="0"/>
            <a:chExt cx="6705600" cy="877824"/>
          </a:xfrm>
        </p:grpSpPr>
        <p:sp>
          <p:nvSpPr>
            <p:cNvPr name="Freeform 123" id="123"/>
            <p:cNvSpPr/>
            <p:nvPr/>
          </p:nvSpPr>
          <p:spPr>
            <a:xfrm flipH="false" flipV="false" rot="0">
              <a:off x="0" y="0"/>
              <a:ext cx="6705600" cy="877824"/>
            </a:xfrm>
            <a:custGeom>
              <a:avLst/>
              <a:gdLst/>
              <a:ahLst/>
              <a:cxnLst/>
              <a:rect r="r" b="b" t="t" l="l"/>
              <a:pathLst>
                <a:path h="877824" w="6705600">
                  <a:moveTo>
                    <a:pt x="0" y="0"/>
                  </a:moveTo>
                  <a:lnTo>
                    <a:pt x="6705600" y="0"/>
                  </a:lnTo>
                  <a:lnTo>
                    <a:pt x="6705600" y="877824"/>
                  </a:lnTo>
                  <a:lnTo>
                    <a:pt x="0" y="877824"/>
                  </a:lnTo>
                  <a:close/>
                </a:path>
              </a:pathLst>
            </a:custGeom>
            <a:blipFill>
              <a:blip r:embed="rId2">
                <a:alphaModFix amt="0"/>
              </a:blip>
              <a:stretch>
                <a:fillRect l="0" t="-98844" r="0" b="-98844"/>
              </a:stretch>
            </a:blipFill>
          </p:spPr>
        </p:sp>
        <p:sp>
          <p:nvSpPr>
            <p:cNvPr name="TextBox 124" id="124"/>
            <p:cNvSpPr txBox="true"/>
            <p:nvPr/>
          </p:nvSpPr>
          <p:spPr>
            <a:xfrm>
              <a:off x="0" y="-38100"/>
              <a:ext cx="6705600" cy="915924"/>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Port TCP/UDP destination (0–65535)</a:t>
              </a:r>
            </a:p>
          </p:txBody>
        </p:sp>
      </p:grpSp>
      <p:grpSp>
        <p:nvGrpSpPr>
          <p:cNvPr name="Group 125" id="125"/>
          <p:cNvGrpSpPr/>
          <p:nvPr/>
        </p:nvGrpSpPr>
        <p:grpSpPr>
          <a:xfrm rot="0">
            <a:off x="11667744" y="4791456"/>
            <a:ext cx="1865376" cy="658368"/>
            <a:chOff x="0" y="0"/>
            <a:chExt cx="2487168" cy="877824"/>
          </a:xfrm>
        </p:grpSpPr>
        <p:sp>
          <p:nvSpPr>
            <p:cNvPr name="Freeform 126" id="126"/>
            <p:cNvSpPr/>
            <p:nvPr/>
          </p:nvSpPr>
          <p:spPr>
            <a:xfrm flipH="false" flipV="false" rot="0">
              <a:off x="0" y="0"/>
              <a:ext cx="2487168" cy="877824"/>
            </a:xfrm>
            <a:custGeom>
              <a:avLst/>
              <a:gdLst/>
              <a:ahLst/>
              <a:cxnLst/>
              <a:rect r="r" b="b" t="t" l="l"/>
              <a:pathLst>
                <a:path h="877824" w="2487168">
                  <a:moveTo>
                    <a:pt x="0" y="0"/>
                  </a:moveTo>
                  <a:lnTo>
                    <a:pt x="2487168" y="0"/>
                  </a:lnTo>
                  <a:lnTo>
                    <a:pt x="2487168" y="877824"/>
                  </a:lnTo>
                  <a:lnTo>
                    <a:pt x="0" y="877824"/>
                  </a:lnTo>
                  <a:close/>
                </a:path>
              </a:pathLst>
            </a:custGeom>
            <a:blipFill>
              <a:blip r:embed="rId2">
                <a:alphaModFix amt="0"/>
              </a:blip>
              <a:stretch>
                <a:fillRect l="0" t="-5207" r="0" b="-5207"/>
              </a:stretch>
            </a:blipFill>
          </p:spPr>
        </p:sp>
        <p:sp>
          <p:nvSpPr>
            <p:cNvPr name="TextBox 127" id="127"/>
            <p:cNvSpPr txBox="true"/>
            <p:nvPr/>
          </p:nvSpPr>
          <p:spPr>
            <a:xfrm>
              <a:off x="0" y="-38100"/>
              <a:ext cx="2487168" cy="915924"/>
            </a:xfrm>
            <a:prstGeom prst="rect">
              <a:avLst/>
            </a:prstGeom>
          </p:spPr>
          <p:txBody>
            <a:bodyPr anchor="ctr" rtlCol="false" tIns="0" lIns="0" bIns="0" rIns="0"/>
            <a:lstStyle/>
            <a:p>
              <a:pPr algn="ctr">
                <a:lnSpc>
                  <a:spcPts val="2280"/>
                </a:lnSpc>
              </a:pPr>
              <a:r>
                <a:rPr lang="en-US" sz="1900">
                  <a:solidFill>
                    <a:srgbClr val="1E293B"/>
                  </a:solidFill>
                  <a:latin typeface="Calibri (MS)"/>
                  <a:ea typeface="Calibri (MS)"/>
                  <a:cs typeface="Calibri (MS)"/>
                  <a:sym typeface="Calibri (MS)"/>
                </a:rPr>
                <a:t>Quantitatif</a:t>
              </a:r>
            </a:p>
          </p:txBody>
        </p:sp>
      </p:grpSp>
      <p:grpSp>
        <p:nvGrpSpPr>
          <p:cNvPr name="Group 128" id="128"/>
          <p:cNvGrpSpPr/>
          <p:nvPr/>
        </p:nvGrpSpPr>
        <p:grpSpPr>
          <a:xfrm rot="0">
            <a:off x="13819375" y="4839967"/>
            <a:ext cx="1146553" cy="524761"/>
            <a:chOff x="0" y="0"/>
            <a:chExt cx="1528737" cy="699681"/>
          </a:xfrm>
        </p:grpSpPr>
        <p:sp>
          <p:nvSpPr>
            <p:cNvPr name="Freeform 129" id="129"/>
            <p:cNvSpPr/>
            <p:nvPr/>
          </p:nvSpPr>
          <p:spPr>
            <a:xfrm flipH="false" flipV="false" rot="0">
              <a:off x="0" y="0"/>
              <a:ext cx="1528699" cy="699643"/>
            </a:xfrm>
            <a:custGeom>
              <a:avLst/>
              <a:gdLst/>
              <a:ahLst/>
              <a:cxnLst/>
              <a:rect r="r" b="b" t="t" l="l"/>
              <a:pathLst>
                <a:path h="699643" w="1528699">
                  <a:moveTo>
                    <a:pt x="0" y="174879"/>
                  </a:moveTo>
                  <a:cubicBezTo>
                    <a:pt x="0" y="78359"/>
                    <a:pt x="78359" y="0"/>
                    <a:pt x="174879" y="0"/>
                  </a:cubicBezTo>
                  <a:lnTo>
                    <a:pt x="1353820" y="0"/>
                  </a:lnTo>
                  <a:cubicBezTo>
                    <a:pt x="1450467" y="0"/>
                    <a:pt x="1528699" y="78359"/>
                    <a:pt x="1528699" y="174879"/>
                  </a:cubicBezTo>
                  <a:lnTo>
                    <a:pt x="1528699" y="524764"/>
                  </a:lnTo>
                  <a:cubicBezTo>
                    <a:pt x="1528699" y="621411"/>
                    <a:pt x="1450340" y="699643"/>
                    <a:pt x="1353820" y="699643"/>
                  </a:cubicBezTo>
                  <a:lnTo>
                    <a:pt x="174879" y="699643"/>
                  </a:lnTo>
                  <a:cubicBezTo>
                    <a:pt x="78359" y="699643"/>
                    <a:pt x="0" y="621411"/>
                    <a:pt x="0" y="524764"/>
                  </a:cubicBezTo>
                  <a:close/>
                </a:path>
              </a:pathLst>
            </a:custGeom>
            <a:solidFill>
              <a:srgbClr val="DBEAFE"/>
            </a:solidFill>
            <a:ln w="12700" cap="sq">
              <a:solidFill>
                <a:srgbClr val="3B82F6"/>
              </a:solidFill>
              <a:prstDash val="solid"/>
              <a:miter/>
            </a:ln>
          </p:spPr>
        </p:sp>
      </p:grpSp>
      <p:grpSp>
        <p:nvGrpSpPr>
          <p:cNvPr name="Group 130" id="130"/>
          <p:cNvGrpSpPr/>
          <p:nvPr/>
        </p:nvGrpSpPr>
        <p:grpSpPr>
          <a:xfrm rot="0">
            <a:off x="13825728" y="4846320"/>
            <a:ext cx="1133856" cy="512064"/>
            <a:chOff x="0" y="0"/>
            <a:chExt cx="1511808" cy="682752"/>
          </a:xfrm>
        </p:grpSpPr>
        <p:sp>
          <p:nvSpPr>
            <p:cNvPr name="Freeform 131" id="131"/>
            <p:cNvSpPr/>
            <p:nvPr/>
          </p:nvSpPr>
          <p:spPr>
            <a:xfrm flipH="false" flipV="false" rot="0">
              <a:off x="0" y="0"/>
              <a:ext cx="1511808" cy="682752"/>
            </a:xfrm>
            <a:custGeom>
              <a:avLst/>
              <a:gdLst/>
              <a:ahLst/>
              <a:cxnLst/>
              <a:rect r="r" b="b" t="t" l="l"/>
              <a:pathLst>
                <a:path h="682752" w="1511808">
                  <a:moveTo>
                    <a:pt x="0" y="0"/>
                  </a:moveTo>
                  <a:lnTo>
                    <a:pt x="1511808" y="0"/>
                  </a:lnTo>
                  <a:lnTo>
                    <a:pt x="1511808" y="682752"/>
                  </a:lnTo>
                  <a:lnTo>
                    <a:pt x="0" y="682752"/>
                  </a:lnTo>
                  <a:close/>
                </a:path>
              </a:pathLst>
            </a:custGeom>
            <a:blipFill>
              <a:blip r:embed="rId2">
                <a:alphaModFix amt="0"/>
              </a:blip>
              <a:stretch>
                <a:fillRect l="-7943" t="0" r="-7943" b="0"/>
              </a:stretch>
            </a:blipFill>
          </p:spPr>
        </p:sp>
        <p:sp>
          <p:nvSpPr>
            <p:cNvPr name="TextBox 132" id="132"/>
            <p:cNvSpPr txBox="true"/>
            <p:nvPr/>
          </p:nvSpPr>
          <p:spPr>
            <a:xfrm>
              <a:off x="0" y="-38100"/>
              <a:ext cx="1511808" cy="720852"/>
            </a:xfrm>
            <a:prstGeom prst="rect">
              <a:avLst/>
            </a:prstGeom>
          </p:spPr>
          <p:txBody>
            <a:bodyPr anchor="ctr" rtlCol="false" tIns="0" lIns="0" bIns="0" rIns="0"/>
            <a:lstStyle/>
            <a:p>
              <a:pPr algn="ctr">
                <a:lnSpc>
                  <a:spcPts val="2039"/>
                </a:lnSpc>
              </a:pPr>
              <a:r>
                <a:rPr lang="en-US" sz="1700" b="true">
                  <a:solidFill>
                    <a:srgbClr val="1D4ED8"/>
                  </a:solidFill>
                  <a:latin typeface="Calibri (MS) Bold"/>
                  <a:ea typeface="Calibri (MS) Bold"/>
                  <a:cs typeface="Calibri (MS) Bold"/>
                  <a:sym typeface="Calibri (MS) Bold"/>
                </a:rPr>
                <a:t>Input</a:t>
              </a:r>
            </a:p>
          </p:txBody>
        </p:sp>
      </p:grpSp>
      <p:grpSp>
        <p:nvGrpSpPr>
          <p:cNvPr name="Group 133" id="133"/>
          <p:cNvGrpSpPr/>
          <p:nvPr/>
        </p:nvGrpSpPr>
        <p:grpSpPr>
          <a:xfrm rot="0">
            <a:off x="15355567" y="4821679"/>
            <a:ext cx="1731769" cy="561337"/>
            <a:chOff x="0" y="0"/>
            <a:chExt cx="2309025" cy="748449"/>
          </a:xfrm>
        </p:grpSpPr>
        <p:sp>
          <p:nvSpPr>
            <p:cNvPr name="Freeform 134" id="134"/>
            <p:cNvSpPr/>
            <p:nvPr/>
          </p:nvSpPr>
          <p:spPr>
            <a:xfrm flipH="false" flipV="false" rot="0">
              <a:off x="0" y="0"/>
              <a:ext cx="2309114" cy="748538"/>
            </a:xfrm>
            <a:custGeom>
              <a:avLst/>
              <a:gdLst/>
              <a:ahLst/>
              <a:cxnLst/>
              <a:rect r="r" b="b" t="t" l="l"/>
              <a:pathLst>
                <a:path h="748538" w="2309114">
                  <a:moveTo>
                    <a:pt x="0" y="199644"/>
                  </a:moveTo>
                  <a:cubicBezTo>
                    <a:pt x="0" y="89408"/>
                    <a:pt x="89408" y="0"/>
                    <a:pt x="199644" y="0"/>
                  </a:cubicBezTo>
                  <a:lnTo>
                    <a:pt x="2109470" y="0"/>
                  </a:lnTo>
                  <a:cubicBezTo>
                    <a:pt x="2219706" y="0"/>
                    <a:pt x="2309114" y="89408"/>
                    <a:pt x="2309114" y="199644"/>
                  </a:cubicBezTo>
                  <a:lnTo>
                    <a:pt x="2309114" y="548894"/>
                  </a:lnTo>
                  <a:cubicBezTo>
                    <a:pt x="2309114" y="659130"/>
                    <a:pt x="2219706" y="748538"/>
                    <a:pt x="2109470" y="748538"/>
                  </a:cubicBezTo>
                  <a:lnTo>
                    <a:pt x="199644" y="748538"/>
                  </a:lnTo>
                  <a:cubicBezTo>
                    <a:pt x="89408" y="748411"/>
                    <a:pt x="0" y="659130"/>
                    <a:pt x="0" y="548894"/>
                  </a:cubicBezTo>
                  <a:close/>
                </a:path>
              </a:pathLst>
            </a:custGeom>
            <a:solidFill>
              <a:srgbClr val="EEF4FF"/>
            </a:solidFill>
            <a:ln w="12700" cap="sq">
              <a:solidFill>
                <a:srgbClr val="1D4ED8"/>
              </a:solidFill>
              <a:prstDash val="solid"/>
              <a:miter/>
            </a:ln>
          </p:spPr>
        </p:sp>
      </p:grpSp>
      <p:grpSp>
        <p:nvGrpSpPr>
          <p:cNvPr name="Group 135" id="135"/>
          <p:cNvGrpSpPr/>
          <p:nvPr/>
        </p:nvGrpSpPr>
        <p:grpSpPr>
          <a:xfrm rot="0">
            <a:off x="15361920" y="4828032"/>
            <a:ext cx="1719072" cy="548640"/>
            <a:chOff x="0" y="0"/>
            <a:chExt cx="2292096" cy="731520"/>
          </a:xfrm>
        </p:grpSpPr>
        <p:sp>
          <p:nvSpPr>
            <p:cNvPr name="Freeform 136" id="136"/>
            <p:cNvSpPr/>
            <p:nvPr/>
          </p:nvSpPr>
          <p:spPr>
            <a:xfrm flipH="false" flipV="false" rot="0">
              <a:off x="0" y="0"/>
              <a:ext cx="2292096" cy="731520"/>
            </a:xfrm>
            <a:custGeom>
              <a:avLst/>
              <a:gdLst/>
              <a:ahLst/>
              <a:cxnLst/>
              <a:rect r="r" b="b" t="t" l="l"/>
              <a:pathLst>
                <a:path h="731520" w="2292096">
                  <a:moveTo>
                    <a:pt x="0" y="0"/>
                  </a:moveTo>
                  <a:lnTo>
                    <a:pt x="2292096" y="0"/>
                  </a:lnTo>
                  <a:lnTo>
                    <a:pt x="2292096" y="731520"/>
                  </a:lnTo>
                  <a:lnTo>
                    <a:pt x="0" y="731520"/>
                  </a:lnTo>
                  <a:close/>
                </a:path>
              </a:pathLst>
            </a:custGeom>
            <a:blipFill>
              <a:blip r:embed="rId2">
                <a:alphaModFix amt="0"/>
              </a:blip>
              <a:stretch>
                <a:fillRect l="0" t="-11053" r="0" b="-11053"/>
              </a:stretch>
            </a:blipFill>
          </p:spPr>
        </p:sp>
        <p:sp>
          <p:nvSpPr>
            <p:cNvPr name="TextBox 137" id="137"/>
            <p:cNvSpPr txBox="true"/>
            <p:nvPr/>
          </p:nvSpPr>
          <p:spPr>
            <a:xfrm>
              <a:off x="0" y="-38100"/>
              <a:ext cx="2292096" cy="769620"/>
            </a:xfrm>
            <a:prstGeom prst="rect">
              <a:avLst/>
            </a:prstGeom>
          </p:spPr>
          <p:txBody>
            <a:bodyPr anchor="ctr" rtlCol="false" tIns="0" lIns="0" bIns="0" rIns="0"/>
            <a:lstStyle/>
            <a:p>
              <a:pPr algn="ctr">
                <a:lnSpc>
                  <a:spcPts val="2039"/>
                </a:lnSpc>
              </a:pPr>
              <a:r>
                <a:rPr lang="en-US" sz="1700" b="true">
                  <a:solidFill>
                    <a:srgbClr val="1D4ED8"/>
                  </a:solidFill>
                  <a:latin typeface="Calibri (MS) Bold"/>
                  <a:ea typeface="Calibri (MS) Bold"/>
                  <a:cs typeface="Calibri (MS) Bold"/>
                  <a:sym typeface="Calibri (MS) Bold"/>
                </a:rPr>
                <a:t>Réseau</a:t>
              </a:r>
            </a:p>
          </p:txBody>
        </p:sp>
      </p:grpSp>
      <p:grpSp>
        <p:nvGrpSpPr>
          <p:cNvPr name="Group 138" id="138"/>
          <p:cNvGrpSpPr/>
          <p:nvPr/>
        </p:nvGrpSpPr>
        <p:grpSpPr>
          <a:xfrm rot="0">
            <a:off x="397259" y="5481323"/>
            <a:ext cx="17493491" cy="778259"/>
            <a:chOff x="0" y="0"/>
            <a:chExt cx="23324655" cy="1037679"/>
          </a:xfrm>
        </p:grpSpPr>
        <p:sp>
          <p:nvSpPr>
            <p:cNvPr name="Freeform 139" id="139"/>
            <p:cNvSpPr/>
            <p:nvPr/>
          </p:nvSpPr>
          <p:spPr>
            <a:xfrm flipH="false" flipV="false" rot="0">
              <a:off x="0" y="0"/>
              <a:ext cx="23324693" cy="1037717"/>
            </a:xfrm>
            <a:custGeom>
              <a:avLst/>
              <a:gdLst/>
              <a:ahLst/>
              <a:cxnLst/>
              <a:rect r="r" b="b" t="t" l="l"/>
              <a:pathLst>
                <a:path h="1037717" w="23324693">
                  <a:moveTo>
                    <a:pt x="0" y="0"/>
                  </a:moveTo>
                  <a:lnTo>
                    <a:pt x="23324693" y="0"/>
                  </a:lnTo>
                  <a:lnTo>
                    <a:pt x="23324693" y="1037717"/>
                  </a:lnTo>
                  <a:lnTo>
                    <a:pt x="0" y="1037717"/>
                  </a:lnTo>
                  <a:close/>
                </a:path>
              </a:pathLst>
            </a:custGeom>
            <a:solidFill>
              <a:srgbClr val="F0F5FB"/>
            </a:solidFill>
            <a:ln w="10160" cap="sq">
              <a:solidFill>
                <a:srgbClr val="D1DCF0"/>
              </a:solidFill>
              <a:prstDash val="solid"/>
              <a:miter/>
            </a:ln>
          </p:spPr>
        </p:sp>
      </p:grpSp>
      <p:grpSp>
        <p:nvGrpSpPr>
          <p:cNvPr name="Group 140" id="140"/>
          <p:cNvGrpSpPr/>
          <p:nvPr/>
        </p:nvGrpSpPr>
        <p:grpSpPr>
          <a:xfrm rot="0">
            <a:off x="397259" y="5481323"/>
            <a:ext cx="17493491" cy="778259"/>
            <a:chOff x="0" y="0"/>
            <a:chExt cx="23324655" cy="1037679"/>
          </a:xfrm>
        </p:grpSpPr>
        <p:sp>
          <p:nvSpPr>
            <p:cNvPr name="Freeform 141" id="141"/>
            <p:cNvSpPr/>
            <p:nvPr/>
          </p:nvSpPr>
          <p:spPr>
            <a:xfrm flipH="false" flipV="false" rot="0">
              <a:off x="0" y="0"/>
              <a:ext cx="23324693" cy="1037717"/>
            </a:xfrm>
            <a:custGeom>
              <a:avLst/>
              <a:gdLst/>
              <a:ahLst/>
              <a:cxnLst/>
              <a:rect r="r" b="b" t="t" l="l"/>
              <a:pathLst>
                <a:path h="1037717" w="23324693">
                  <a:moveTo>
                    <a:pt x="0" y="0"/>
                  </a:moveTo>
                  <a:lnTo>
                    <a:pt x="23324693" y="0"/>
                  </a:lnTo>
                  <a:lnTo>
                    <a:pt x="23324693" y="1037717"/>
                  </a:lnTo>
                  <a:lnTo>
                    <a:pt x="0" y="1037717"/>
                  </a:lnTo>
                  <a:close/>
                </a:path>
              </a:pathLst>
            </a:custGeom>
            <a:solidFill>
              <a:srgbClr val="F0F5FB"/>
            </a:solidFill>
            <a:ln w="10160" cap="sq">
              <a:solidFill>
                <a:srgbClr val="D1DCF0"/>
              </a:solidFill>
              <a:prstDash val="solid"/>
              <a:miter/>
            </a:ln>
          </p:spPr>
        </p:sp>
      </p:grpSp>
      <p:grpSp>
        <p:nvGrpSpPr>
          <p:cNvPr name="Group 142" id="142"/>
          <p:cNvGrpSpPr/>
          <p:nvPr/>
        </p:nvGrpSpPr>
        <p:grpSpPr>
          <a:xfrm rot="0">
            <a:off x="548640" y="5559552"/>
            <a:ext cx="3255264" cy="658368"/>
            <a:chOff x="0" y="0"/>
            <a:chExt cx="4340352" cy="877824"/>
          </a:xfrm>
        </p:grpSpPr>
        <p:sp>
          <p:nvSpPr>
            <p:cNvPr name="Freeform 143" id="143"/>
            <p:cNvSpPr/>
            <p:nvPr/>
          </p:nvSpPr>
          <p:spPr>
            <a:xfrm flipH="false" flipV="false" rot="0">
              <a:off x="0" y="0"/>
              <a:ext cx="4340352" cy="877824"/>
            </a:xfrm>
            <a:custGeom>
              <a:avLst/>
              <a:gdLst/>
              <a:ahLst/>
              <a:cxnLst/>
              <a:rect r="r" b="b" t="t" l="l"/>
              <a:pathLst>
                <a:path h="877824" w="4340352">
                  <a:moveTo>
                    <a:pt x="0" y="0"/>
                  </a:moveTo>
                  <a:lnTo>
                    <a:pt x="4340352" y="0"/>
                  </a:lnTo>
                  <a:lnTo>
                    <a:pt x="4340352" y="877824"/>
                  </a:lnTo>
                  <a:lnTo>
                    <a:pt x="0" y="877824"/>
                  </a:lnTo>
                  <a:close/>
                </a:path>
              </a:pathLst>
            </a:custGeom>
            <a:blipFill>
              <a:blip r:embed="rId2">
                <a:alphaModFix amt="0"/>
              </a:blip>
              <a:stretch>
                <a:fillRect l="0" t="-46342" r="0" b="-46342"/>
              </a:stretch>
            </a:blipFill>
          </p:spPr>
        </p:sp>
        <p:sp>
          <p:nvSpPr>
            <p:cNvPr name="TextBox 144" id="144"/>
            <p:cNvSpPr txBox="true"/>
            <p:nvPr/>
          </p:nvSpPr>
          <p:spPr>
            <a:xfrm>
              <a:off x="0" y="-38100"/>
              <a:ext cx="4340352" cy="915924"/>
            </a:xfrm>
            <a:prstGeom prst="rect">
              <a:avLst/>
            </a:prstGeom>
          </p:spPr>
          <p:txBody>
            <a:bodyPr anchor="ctr" rtlCol="false" tIns="0" lIns="0" bIns="0" rIns="0"/>
            <a:lstStyle/>
            <a:p>
              <a:pPr algn="l">
                <a:lnSpc>
                  <a:spcPts val="2280"/>
                </a:lnSpc>
              </a:pPr>
              <a:r>
                <a:rPr lang="en-US" sz="1900" b="true">
                  <a:solidFill>
                    <a:srgbClr val="1E3A5F"/>
                  </a:solidFill>
                  <a:latin typeface="Calibri (MS) Bold"/>
                  <a:ea typeface="Calibri (MS) Bold"/>
                  <a:cs typeface="Calibri (MS) Bold"/>
                  <a:sym typeface="Calibri (MS) Bold"/>
                </a:rPr>
                <a:t>Protocole</a:t>
              </a:r>
            </a:p>
          </p:txBody>
        </p:sp>
      </p:grpSp>
      <p:grpSp>
        <p:nvGrpSpPr>
          <p:cNvPr name="Group 145" id="145"/>
          <p:cNvGrpSpPr/>
          <p:nvPr/>
        </p:nvGrpSpPr>
        <p:grpSpPr>
          <a:xfrm rot="0">
            <a:off x="3986784" y="5559552"/>
            <a:ext cx="2286000" cy="658368"/>
            <a:chOff x="0" y="0"/>
            <a:chExt cx="3048000" cy="877824"/>
          </a:xfrm>
        </p:grpSpPr>
        <p:sp>
          <p:nvSpPr>
            <p:cNvPr name="Freeform 146" id="146"/>
            <p:cNvSpPr/>
            <p:nvPr/>
          </p:nvSpPr>
          <p:spPr>
            <a:xfrm flipH="false" flipV="false" rot="0">
              <a:off x="0" y="0"/>
              <a:ext cx="3048000" cy="877824"/>
            </a:xfrm>
            <a:custGeom>
              <a:avLst/>
              <a:gdLst/>
              <a:ahLst/>
              <a:cxnLst/>
              <a:rect r="r" b="b" t="t" l="l"/>
              <a:pathLst>
                <a:path h="877824" w="3048000">
                  <a:moveTo>
                    <a:pt x="0" y="0"/>
                  </a:moveTo>
                  <a:lnTo>
                    <a:pt x="3048000" y="0"/>
                  </a:lnTo>
                  <a:lnTo>
                    <a:pt x="3048000" y="877824"/>
                  </a:lnTo>
                  <a:lnTo>
                    <a:pt x="0" y="877824"/>
                  </a:lnTo>
                  <a:close/>
                </a:path>
              </a:pathLst>
            </a:custGeom>
            <a:blipFill>
              <a:blip r:embed="rId2">
                <a:alphaModFix amt="0"/>
              </a:blip>
              <a:stretch>
                <a:fillRect l="0" t="-17656" r="0" b="-17656"/>
              </a:stretch>
            </a:blipFill>
          </p:spPr>
        </p:sp>
        <p:sp>
          <p:nvSpPr>
            <p:cNvPr name="TextBox 147" id="147"/>
            <p:cNvSpPr txBox="true"/>
            <p:nvPr/>
          </p:nvSpPr>
          <p:spPr>
            <a:xfrm>
              <a:off x="0" y="-38100"/>
              <a:ext cx="3048000" cy="915924"/>
            </a:xfrm>
            <a:prstGeom prst="rect">
              <a:avLst/>
            </a:prstGeom>
          </p:spPr>
          <p:txBody>
            <a:bodyPr anchor="ctr" rtlCol="false" tIns="0" lIns="0" bIns="0" rIns="0"/>
            <a:lstStyle/>
            <a:p>
              <a:pPr algn="ctr">
                <a:lnSpc>
                  <a:spcPts val="2280"/>
                </a:lnSpc>
              </a:pPr>
              <a:r>
                <a:rPr lang="en-US" sz="1900">
                  <a:solidFill>
                    <a:srgbClr val="1E293B"/>
                  </a:solidFill>
                  <a:latin typeface="Calibri (MS)"/>
                  <a:ea typeface="Calibri (MS)"/>
                  <a:cs typeface="Calibri (MS)"/>
                  <a:sym typeface="Calibri (MS)"/>
                </a:rPr>
                <a:t>Alphabétique</a:t>
              </a:r>
            </a:p>
          </p:txBody>
        </p:sp>
      </p:grpSp>
      <p:grpSp>
        <p:nvGrpSpPr>
          <p:cNvPr name="Group 148" id="148"/>
          <p:cNvGrpSpPr/>
          <p:nvPr/>
        </p:nvGrpSpPr>
        <p:grpSpPr>
          <a:xfrm rot="0">
            <a:off x="6455664" y="5559552"/>
            <a:ext cx="5029200" cy="658368"/>
            <a:chOff x="0" y="0"/>
            <a:chExt cx="6705600" cy="877824"/>
          </a:xfrm>
        </p:grpSpPr>
        <p:sp>
          <p:nvSpPr>
            <p:cNvPr name="Freeform 149" id="149"/>
            <p:cNvSpPr/>
            <p:nvPr/>
          </p:nvSpPr>
          <p:spPr>
            <a:xfrm flipH="false" flipV="false" rot="0">
              <a:off x="0" y="0"/>
              <a:ext cx="6705600" cy="877824"/>
            </a:xfrm>
            <a:custGeom>
              <a:avLst/>
              <a:gdLst/>
              <a:ahLst/>
              <a:cxnLst/>
              <a:rect r="r" b="b" t="t" l="l"/>
              <a:pathLst>
                <a:path h="877824" w="6705600">
                  <a:moveTo>
                    <a:pt x="0" y="0"/>
                  </a:moveTo>
                  <a:lnTo>
                    <a:pt x="6705600" y="0"/>
                  </a:lnTo>
                  <a:lnTo>
                    <a:pt x="6705600" y="877824"/>
                  </a:lnTo>
                  <a:lnTo>
                    <a:pt x="0" y="877824"/>
                  </a:lnTo>
                  <a:close/>
                </a:path>
              </a:pathLst>
            </a:custGeom>
            <a:blipFill>
              <a:blip r:embed="rId2">
                <a:alphaModFix amt="0"/>
              </a:blip>
              <a:stretch>
                <a:fillRect l="0" t="-98844" r="0" b="-98844"/>
              </a:stretch>
            </a:blipFill>
          </p:spPr>
        </p:sp>
        <p:sp>
          <p:nvSpPr>
            <p:cNvPr name="TextBox 150" id="150"/>
            <p:cNvSpPr txBox="true"/>
            <p:nvPr/>
          </p:nvSpPr>
          <p:spPr>
            <a:xfrm>
              <a:off x="0" y="-38100"/>
              <a:ext cx="6705600" cy="915924"/>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Type de protocole (TCP, UDP, ICMP…)</a:t>
              </a:r>
            </a:p>
          </p:txBody>
        </p:sp>
      </p:grpSp>
      <p:grpSp>
        <p:nvGrpSpPr>
          <p:cNvPr name="Group 151" id="151"/>
          <p:cNvGrpSpPr/>
          <p:nvPr/>
        </p:nvGrpSpPr>
        <p:grpSpPr>
          <a:xfrm rot="0">
            <a:off x="11667744" y="5559552"/>
            <a:ext cx="1865376" cy="658368"/>
            <a:chOff x="0" y="0"/>
            <a:chExt cx="2487168" cy="877824"/>
          </a:xfrm>
        </p:grpSpPr>
        <p:sp>
          <p:nvSpPr>
            <p:cNvPr name="Freeform 152" id="152"/>
            <p:cNvSpPr/>
            <p:nvPr/>
          </p:nvSpPr>
          <p:spPr>
            <a:xfrm flipH="false" flipV="false" rot="0">
              <a:off x="0" y="0"/>
              <a:ext cx="2487168" cy="877824"/>
            </a:xfrm>
            <a:custGeom>
              <a:avLst/>
              <a:gdLst/>
              <a:ahLst/>
              <a:cxnLst/>
              <a:rect r="r" b="b" t="t" l="l"/>
              <a:pathLst>
                <a:path h="877824" w="2487168">
                  <a:moveTo>
                    <a:pt x="0" y="0"/>
                  </a:moveTo>
                  <a:lnTo>
                    <a:pt x="2487168" y="0"/>
                  </a:lnTo>
                  <a:lnTo>
                    <a:pt x="2487168" y="877824"/>
                  </a:lnTo>
                  <a:lnTo>
                    <a:pt x="0" y="877824"/>
                  </a:lnTo>
                  <a:close/>
                </a:path>
              </a:pathLst>
            </a:custGeom>
            <a:blipFill>
              <a:blip r:embed="rId2">
                <a:alphaModFix amt="0"/>
              </a:blip>
              <a:stretch>
                <a:fillRect l="0" t="-5207" r="0" b="-5207"/>
              </a:stretch>
            </a:blipFill>
          </p:spPr>
        </p:sp>
        <p:sp>
          <p:nvSpPr>
            <p:cNvPr name="TextBox 153" id="153"/>
            <p:cNvSpPr txBox="true"/>
            <p:nvPr/>
          </p:nvSpPr>
          <p:spPr>
            <a:xfrm>
              <a:off x="0" y="-38100"/>
              <a:ext cx="2487168" cy="915924"/>
            </a:xfrm>
            <a:prstGeom prst="rect">
              <a:avLst/>
            </a:prstGeom>
          </p:spPr>
          <p:txBody>
            <a:bodyPr anchor="ctr" rtlCol="false" tIns="0" lIns="0" bIns="0" rIns="0"/>
            <a:lstStyle/>
            <a:p>
              <a:pPr algn="ctr">
                <a:lnSpc>
                  <a:spcPts val="2280"/>
                </a:lnSpc>
              </a:pPr>
              <a:r>
                <a:rPr lang="en-US" sz="1900">
                  <a:solidFill>
                    <a:srgbClr val="1E293B"/>
                  </a:solidFill>
                  <a:latin typeface="Calibri (MS)"/>
                  <a:ea typeface="Calibri (MS)"/>
                  <a:cs typeface="Calibri (MS)"/>
                  <a:sym typeface="Calibri (MS)"/>
                </a:rPr>
                <a:t>Qualitatif</a:t>
              </a:r>
            </a:p>
          </p:txBody>
        </p:sp>
      </p:grpSp>
      <p:grpSp>
        <p:nvGrpSpPr>
          <p:cNvPr name="Group 154" id="154"/>
          <p:cNvGrpSpPr/>
          <p:nvPr/>
        </p:nvGrpSpPr>
        <p:grpSpPr>
          <a:xfrm rot="0">
            <a:off x="13819375" y="5608063"/>
            <a:ext cx="1146553" cy="524761"/>
            <a:chOff x="0" y="0"/>
            <a:chExt cx="1528737" cy="699681"/>
          </a:xfrm>
        </p:grpSpPr>
        <p:sp>
          <p:nvSpPr>
            <p:cNvPr name="Freeform 155" id="155"/>
            <p:cNvSpPr/>
            <p:nvPr/>
          </p:nvSpPr>
          <p:spPr>
            <a:xfrm flipH="false" flipV="false" rot="0">
              <a:off x="0" y="0"/>
              <a:ext cx="1528699" cy="699643"/>
            </a:xfrm>
            <a:custGeom>
              <a:avLst/>
              <a:gdLst/>
              <a:ahLst/>
              <a:cxnLst/>
              <a:rect r="r" b="b" t="t" l="l"/>
              <a:pathLst>
                <a:path h="699643" w="1528699">
                  <a:moveTo>
                    <a:pt x="0" y="174879"/>
                  </a:moveTo>
                  <a:cubicBezTo>
                    <a:pt x="0" y="78359"/>
                    <a:pt x="78359" y="0"/>
                    <a:pt x="174879" y="0"/>
                  </a:cubicBezTo>
                  <a:lnTo>
                    <a:pt x="1353820" y="0"/>
                  </a:lnTo>
                  <a:cubicBezTo>
                    <a:pt x="1450467" y="0"/>
                    <a:pt x="1528699" y="78359"/>
                    <a:pt x="1528699" y="174879"/>
                  </a:cubicBezTo>
                  <a:lnTo>
                    <a:pt x="1528699" y="524764"/>
                  </a:lnTo>
                  <a:cubicBezTo>
                    <a:pt x="1528699" y="621411"/>
                    <a:pt x="1450340" y="699643"/>
                    <a:pt x="1353820" y="699643"/>
                  </a:cubicBezTo>
                  <a:lnTo>
                    <a:pt x="174879" y="699643"/>
                  </a:lnTo>
                  <a:cubicBezTo>
                    <a:pt x="78359" y="699643"/>
                    <a:pt x="0" y="621411"/>
                    <a:pt x="0" y="524764"/>
                  </a:cubicBezTo>
                  <a:close/>
                </a:path>
              </a:pathLst>
            </a:custGeom>
            <a:solidFill>
              <a:srgbClr val="DBEAFE"/>
            </a:solidFill>
            <a:ln w="12700" cap="sq">
              <a:solidFill>
                <a:srgbClr val="3B82F6"/>
              </a:solidFill>
              <a:prstDash val="solid"/>
              <a:miter/>
            </a:ln>
          </p:spPr>
        </p:sp>
      </p:grpSp>
      <p:grpSp>
        <p:nvGrpSpPr>
          <p:cNvPr name="Group 156" id="156"/>
          <p:cNvGrpSpPr/>
          <p:nvPr/>
        </p:nvGrpSpPr>
        <p:grpSpPr>
          <a:xfrm rot="0">
            <a:off x="13825728" y="5614416"/>
            <a:ext cx="1133856" cy="512064"/>
            <a:chOff x="0" y="0"/>
            <a:chExt cx="1511808" cy="682752"/>
          </a:xfrm>
        </p:grpSpPr>
        <p:sp>
          <p:nvSpPr>
            <p:cNvPr name="Freeform 157" id="157"/>
            <p:cNvSpPr/>
            <p:nvPr/>
          </p:nvSpPr>
          <p:spPr>
            <a:xfrm flipH="false" flipV="false" rot="0">
              <a:off x="0" y="0"/>
              <a:ext cx="1511808" cy="682752"/>
            </a:xfrm>
            <a:custGeom>
              <a:avLst/>
              <a:gdLst/>
              <a:ahLst/>
              <a:cxnLst/>
              <a:rect r="r" b="b" t="t" l="l"/>
              <a:pathLst>
                <a:path h="682752" w="1511808">
                  <a:moveTo>
                    <a:pt x="0" y="0"/>
                  </a:moveTo>
                  <a:lnTo>
                    <a:pt x="1511808" y="0"/>
                  </a:lnTo>
                  <a:lnTo>
                    <a:pt x="1511808" y="682752"/>
                  </a:lnTo>
                  <a:lnTo>
                    <a:pt x="0" y="682752"/>
                  </a:lnTo>
                  <a:close/>
                </a:path>
              </a:pathLst>
            </a:custGeom>
            <a:blipFill>
              <a:blip r:embed="rId2">
                <a:alphaModFix amt="0"/>
              </a:blip>
              <a:stretch>
                <a:fillRect l="-7943" t="0" r="-7943" b="0"/>
              </a:stretch>
            </a:blipFill>
          </p:spPr>
        </p:sp>
        <p:sp>
          <p:nvSpPr>
            <p:cNvPr name="TextBox 158" id="158"/>
            <p:cNvSpPr txBox="true"/>
            <p:nvPr/>
          </p:nvSpPr>
          <p:spPr>
            <a:xfrm>
              <a:off x="0" y="-38100"/>
              <a:ext cx="1511808" cy="720852"/>
            </a:xfrm>
            <a:prstGeom prst="rect">
              <a:avLst/>
            </a:prstGeom>
          </p:spPr>
          <p:txBody>
            <a:bodyPr anchor="ctr" rtlCol="false" tIns="0" lIns="0" bIns="0" rIns="0"/>
            <a:lstStyle/>
            <a:p>
              <a:pPr algn="ctr">
                <a:lnSpc>
                  <a:spcPts val="2039"/>
                </a:lnSpc>
              </a:pPr>
              <a:r>
                <a:rPr lang="en-US" sz="1700" b="true">
                  <a:solidFill>
                    <a:srgbClr val="1D4ED8"/>
                  </a:solidFill>
                  <a:latin typeface="Calibri (MS) Bold"/>
                  <a:ea typeface="Calibri (MS) Bold"/>
                  <a:cs typeface="Calibri (MS) Bold"/>
                  <a:sym typeface="Calibri (MS) Bold"/>
                </a:rPr>
                <a:t>Input</a:t>
              </a:r>
            </a:p>
          </p:txBody>
        </p:sp>
      </p:grpSp>
      <p:grpSp>
        <p:nvGrpSpPr>
          <p:cNvPr name="Group 159" id="159"/>
          <p:cNvGrpSpPr/>
          <p:nvPr/>
        </p:nvGrpSpPr>
        <p:grpSpPr>
          <a:xfrm rot="0">
            <a:off x="15355567" y="5589775"/>
            <a:ext cx="1731769" cy="561337"/>
            <a:chOff x="0" y="0"/>
            <a:chExt cx="2309025" cy="748449"/>
          </a:xfrm>
        </p:grpSpPr>
        <p:sp>
          <p:nvSpPr>
            <p:cNvPr name="Freeform 160" id="160"/>
            <p:cNvSpPr/>
            <p:nvPr/>
          </p:nvSpPr>
          <p:spPr>
            <a:xfrm flipH="false" flipV="false" rot="0">
              <a:off x="0" y="0"/>
              <a:ext cx="2309114" cy="748538"/>
            </a:xfrm>
            <a:custGeom>
              <a:avLst/>
              <a:gdLst/>
              <a:ahLst/>
              <a:cxnLst/>
              <a:rect r="r" b="b" t="t" l="l"/>
              <a:pathLst>
                <a:path h="748538" w="2309114">
                  <a:moveTo>
                    <a:pt x="0" y="199644"/>
                  </a:moveTo>
                  <a:cubicBezTo>
                    <a:pt x="0" y="89408"/>
                    <a:pt x="89408" y="0"/>
                    <a:pt x="199644" y="0"/>
                  </a:cubicBezTo>
                  <a:lnTo>
                    <a:pt x="2109470" y="0"/>
                  </a:lnTo>
                  <a:cubicBezTo>
                    <a:pt x="2219706" y="0"/>
                    <a:pt x="2309114" y="89408"/>
                    <a:pt x="2309114" y="199644"/>
                  </a:cubicBezTo>
                  <a:lnTo>
                    <a:pt x="2309114" y="548894"/>
                  </a:lnTo>
                  <a:cubicBezTo>
                    <a:pt x="2309114" y="659130"/>
                    <a:pt x="2219706" y="748538"/>
                    <a:pt x="2109470" y="748538"/>
                  </a:cubicBezTo>
                  <a:lnTo>
                    <a:pt x="199644" y="748538"/>
                  </a:lnTo>
                  <a:cubicBezTo>
                    <a:pt x="89408" y="748411"/>
                    <a:pt x="0" y="659130"/>
                    <a:pt x="0" y="548894"/>
                  </a:cubicBezTo>
                  <a:close/>
                </a:path>
              </a:pathLst>
            </a:custGeom>
            <a:solidFill>
              <a:srgbClr val="EEF4FF"/>
            </a:solidFill>
            <a:ln w="12700" cap="sq">
              <a:solidFill>
                <a:srgbClr val="1D4ED8"/>
              </a:solidFill>
              <a:prstDash val="solid"/>
              <a:miter/>
            </a:ln>
          </p:spPr>
        </p:sp>
      </p:grpSp>
      <p:grpSp>
        <p:nvGrpSpPr>
          <p:cNvPr name="Group 161" id="161"/>
          <p:cNvGrpSpPr/>
          <p:nvPr/>
        </p:nvGrpSpPr>
        <p:grpSpPr>
          <a:xfrm rot="0">
            <a:off x="15361920" y="5596128"/>
            <a:ext cx="1719072" cy="548640"/>
            <a:chOff x="0" y="0"/>
            <a:chExt cx="2292096" cy="731520"/>
          </a:xfrm>
        </p:grpSpPr>
        <p:sp>
          <p:nvSpPr>
            <p:cNvPr name="Freeform 162" id="162"/>
            <p:cNvSpPr/>
            <p:nvPr/>
          </p:nvSpPr>
          <p:spPr>
            <a:xfrm flipH="false" flipV="false" rot="0">
              <a:off x="0" y="0"/>
              <a:ext cx="2292096" cy="731520"/>
            </a:xfrm>
            <a:custGeom>
              <a:avLst/>
              <a:gdLst/>
              <a:ahLst/>
              <a:cxnLst/>
              <a:rect r="r" b="b" t="t" l="l"/>
              <a:pathLst>
                <a:path h="731520" w="2292096">
                  <a:moveTo>
                    <a:pt x="0" y="0"/>
                  </a:moveTo>
                  <a:lnTo>
                    <a:pt x="2292096" y="0"/>
                  </a:lnTo>
                  <a:lnTo>
                    <a:pt x="2292096" y="731520"/>
                  </a:lnTo>
                  <a:lnTo>
                    <a:pt x="0" y="731520"/>
                  </a:lnTo>
                  <a:close/>
                </a:path>
              </a:pathLst>
            </a:custGeom>
            <a:blipFill>
              <a:blip r:embed="rId2">
                <a:alphaModFix amt="0"/>
              </a:blip>
              <a:stretch>
                <a:fillRect l="0" t="-11053" r="0" b="-11053"/>
              </a:stretch>
            </a:blipFill>
          </p:spPr>
        </p:sp>
        <p:sp>
          <p:nvSpPr>
            <p:cNvPr name="TextBox 163" id="163"/>
            <p:cNvSpPr txBox="true"/>
            <p:nvPr/>
          </p:nvSpPr>
          <p:spPr>
            <a:xfrm>
              <a:off x="0" y="-38100"/>
              <a:ext cx="2292096" cy="769620"/>
            </a:xfrm>
            <a:prstGeom prst="rect">
              <a:avLst/>
            </a:prstGeom>
          </p:spPr>
          <p:txBody>
            <a:bodyPr anchor="ctr" rtlCol="false" tIns="0" lIns="0" bIns="0" rIns="0"/>
            <a:lstStyle/>
            <a:p>
              <a:pPr algn="ctr">
                <a:lnSpc>
                  <a:spcPts val="2039"/>
                </a:lnSpc>
              </a:pPr>
              <a:r>
                <a:rPr lang="en-US" sz="1700" b="true">
                  <a:solidFill>
                    <a:srgbClr val="1D4ED8"/>
                  </a:solidFill>
                  <a:latin typeface="Calibri (MS) Bold"/>
                  <a:ea typeface="Calibri (MS) Bold"/>
                  <a:cs typeface="Calibri (MS) Bold"/>
                  <a:sym typeface="Calibri (MS) Bold"/>
                </a:rPr>
                <a:t>Réseau</a:t>
              </a:r>
            </a:p>
          </p:txBody>
        </p:sp>
      </p:grpSp>
      <p:grpSp>
        <p:nvGrpSpPr>
          <p:cNvPr name="Group 164" id="164"/>
          <p:cNvGrpSpPr/>
          <p:nvPr/>
        </p:nvGrpSpPr>
        <p:grpSpPr>
          <a:xfrm rot="0">
            <a:off x="397259" y="6249419"/>
            <a:ext cx="17493491" cy="778259"/>
            <a:chOff x="0" y="0"/>
            <a:chExt cx="23324655" cy="1037679"/>
          </a:xfrm>
        </p:grpSpPr>
        <p:sp>
          <p:nvSpPr>
            <p:cNvPr name="Freeform 165" id="165"/>
            <p:cNvSpPr/>
            <p:nvPr/>
          </p:nvSpPr>
          <p:spPr>
            <a:xfrm flipH="false" flipV="false" rot="0">
              <a:off x="0" y="0"/>
              <a:ext cx="23324693" cy="1037717"/>
            </a:xfrm>
            <a:custGeom>
              <a:avLst/>
              <a:gdLst/>
              <a:ahLst/>
              <a:cxnLst/>
              <a:rect r="r" b="b" t="t" l="l"/>
              <a:pathLst>
                <a:path h="1037717" w="23324693">
                  <a:moveTo>
                    <a:pt x="0" y="0"/>
                  </a:moveTo>
                  <a:lnTo>
                    <a:pt x="23324693" y="0"/>
                  </a:lnTo>
                  <a:lnTo>
                    <a:pt x="23324693" y="1037717"/>
                  </a:lnTo>
                  <a:lnTo>
                    <a:pt x="0" y="1037717"/>
                  </a:lnTo>
                  <a:close/>
                </a:path>
              </a:pathLst>
            </a:custGeom>
            <a:solidFill>
              <a:srgbClr val="FFFFFF"/>
            </a:solidFill>
            <a:ln w="10160" cap="sq">
              <a:solidFill>
                <a:srgbClr val="D1DCF0"/>
              </a:solidFill>
              <a:prstDash val="solid"/>
              <a:miter/>
            </a:ln>
          </p:spPr>
        </p:sp>
      </p:grpSp>
      <p:grpSp>
        <p:nvGrpSpPr>
          <p:cNvPr name="Group 166" id="166"/>
          <p:cNvGrpSpPr/>
          <p:nvPr/>
        </p:nvGrpSpPr>
        <p:grpSpPr>
          <a:xfrm rot="0">
            <a:off x="397259" y="6249419"/>
            <a:ext cx="17493491" cy="778259"/>
            <a:chOff x="0" y="0"/>
            <a:chExt cx="23324655" cy="1037679"/>
          </a:xfrm>
        </p:grpSpPr>
        <p:sp>
          <p:nvSpPr>
            <p:cNvPr name="Freeform 167" id="167"/>
            <p:cNvSpPr/>
            <p:nvPr/>
          </p:nvSpPr>
          <p:spPr>
            <a:xfrm flipH="false" flipV="false" rot="0">
              <a:off x="0" y="0"/>
              <a:ext cx="23324693" cy="1037717"/>
            </a:xfrm>
            <a:custGeom>
              <a:avLst/>
              <a:gdLst/>
              <a:ahLst/>
              <a:cxnLst/>
              <a:rect r="r" b="b" t="t" l="l"/>
              <a:pathLst>
                <a:path h="1037717" w="23324693">
                  <a:moveTo>
                    <a:pt x="0" y="0"/>
                  </a:moveTo>
                  <a:lnTo>
                    <a:pt x="23324693" y="0"/>
                  </a:lnTo>
                  <a:lnTo>
                    <a:pt x="23324693" y="1037717"/>
                  </a:lnTo>
                  <a:lnTo>
                    <a:pt x="0" y="1037717"/>
                  </a:lnTo>
                  <a:close/>
                </a:path>
              </a:pathLst>
            </a:custGeom>
            <a:solidFill>
              <a:srgbClr val="F0F5FB"/>
            </a:solidFill>
            <a:ln w="10160" cap="sq">
              <a:solidFill>
                <a:srgbClr val="D1DCF0"/>
              </a:solidFill>
              <a:prstDash val="solid"/>
              <a:miter/>
            </a:ln>
          </p:spPr>
        </p:sp>
      </p:grpSp>
      <p:grpSp>
        <p:nvGrpSpPr>
          <p:cNvPr name="Group 168" id="168"/>
          <p:cNvGrpSpPr/>
          <p:nvPr/>
        </p:nvGrpSpPr>
        <p:grpSpPr>
          <a:xfrm rot="0">
            <a:off x="548640" y="6327648"/>
            <a:ext cx="3255264" cy="658368"/>
            <a:chOff x="0" y="0"/>
            <a:chExt cx="4340352" cy="877824"/>
          </a:xfrm>
        </p:grpSpPr>
        <p:sp>
          <p:nvSpPr>
            <p:cNvPr name="Freeform 169" id="169"/>
            <p:cNvSpPr/>
            <p:nvPr/>
          </p:nvSpPr>
          <p:spPr>
            <a:xfrm flipH="false" flipV="false" rot="0">
              <a:off x="0" y="0"/>
              <a:ext cx="4340352" cy="877824"/>
            </a:xfrm>
            <a:custGeom>
              <a:avLst/>
              <a:gdLst/>
              <a:ahLst/>
              <a:cxnLst/>
              <a:rect r="r" b="b" t="t" l="l"/>
              <a:pathLst>
                <a:path h="877824" w="4340352">
                  <a:moveTo>
                    <a:pt x="0" y="0"/>
                  </a:moveTo>
                  <a:lnTo>
                    <a:pt x="4340352" y="0"/>
                  </a:lnTo>
                  <a:lnTo>
                    <a:pt x="4340352" y="877824"/>
                  </a:lnTo>
                  <a:lnTo>
                    <a:pt x="0" y="877824"/>
                  </a:lnTo>
                  <a:close/>
                </a:path>
              </a:pathLst>
            </a:custGeom>
            <a:blipFill>
              <a:blip r:embed="rId2">
                <a:alphaModFix amt="0"/>
              </a:blip>
              <a:stretch>
                <a:fillRect l="0" t="-46342" r="0" b="-46342"/>
              </a:stretch>
            </a:blipFill>
          </p:spPr>
        </p:sp>
        <p:sp>
          <p:nvSpPr>
            <p:cNvPr name="TextBox 170" id="170"/>
            <p:cNvSpPr txBox="true"/>
            <p:nvPr/>
          </p:nvSpPr>
          <p:spPr>
            <a:xfrm>
              <a:off x="0" y="-38100"/>
              <a:ext cx="4340352" cy="915924"/>
            </a:xfrm>
            <a:prstGeom prst="rect">
              <a:avLst/>
            </a:prstGeom>
          </p:spPr>
          <p:txBody>
            <a:bodyPr anchor="ctr" rtlCol="false" tIns="0" lIns="0" bIns="0" rIns="0"/>
            <a:lstStyle/>
            <a:p>
              <a:pPr algn="l">
                <a:lnSpc>
                  <a:spcPts val="2280"/>
                </a:lnSpc>
              </a:pPr>
              <a:r>
                <a:rPr lang="en-US" sz="1900" b="true">
                  <a:solidFill>
                    <a:srgbClr val="1E3A5F"/>
                  </a:solidFill>
                  <a:latin typeface="Calibri (MS) Bold"/>
                  <a:ea typeface="Calibri (MS) Bold"/>
                  <a:cs typeface="Calibri (MS) Bold"/>
                  <a:sym typeface="Calibri (MS) Bold"/>
                </a:rPr>
                <a:t>Service_cible</a:t>
              </a:r>
            </a:p>
          </p:txBody>
        </p:sp>
      </p:grpSp>
      <p:grpSp>
        <p:nvGrpSpPr>
          <p:cNvPr name="Group 171" id="171"/>
          <p:cNvGrpSpPr/>
          <p:nvPr/>
        </p:nvGrpSpPr>
        <p:grpSpPr>
          <a:xfrm rot="0">
            <a:off x="3986784" y="6327648"/>
            <a:ext cx="2286000" cy="658368"/>
            <a:chOff x="0" y="0"/>
            <a:chExt cx="3048000" cy="877824"/>
          </a:xfrm>
        </p:grpSpPr>
        <p:sp>
          <p:nvSpPr>
            <p:cNvPr name="Freeform 172" id="172"/>
            <p:cNvSpPr/>
            <p:nvPr/>
          </p:nvSpPr>
          <p:spPr>
            <a:xfrm flipH="false" flipV="false" rot="0">
              <a:off x="0" y="0"/>
              <a:ext cx="3048000" cy="877824"/>
            </a:xfrm>
            <a:custGeom>
              <a:avLst/>
              <a:gdLst/>
              <a:ahLst/>
              <a:cxnLst/>
              <a:rect r="r" b="b" t="t" l="l"/>
              <a:pathLst>
                <a:path h="877824" w="3048000">
                  <a:moveTo>
                    <a:pt x="0" y="0"/>
                  </a:moveTo>
                  <a:lnTo>
                    <a:pt x="3048000" y="0"/>
                  </a:lnTo>
                  <a:lnTo>
                    <a:pt x="3048000" y="877824"/>
                  </a:lnTo>
                  <a:lnTo>
                    <a:pt x="0" y="877824"/>
                  </a:lnTo>
                  <a:close/>
                </a:path>
              </a:pathLst>
            </a:custGeom>
            <a:blipFill>
              <a:blip r:embed="rId2">
                <a:alphaModFix amt="0"/>
              </a:blip>
              <a:stretch>
                <a:fillRect l="0" t="-17656" r="0" b="-17656"/>
              </a:stretch>
            </a:blipFill>
          </p:spPr>
        </p:sp>
        <p:sp>
          <p:nvSpPr>
            <p:cNvPr name="TextBox 173" id="173"/>
            <p:cNvSpPr txBox="true"/>
            <p:nvPr/>
          </p:nvSpPr>
          <p:spPr>
            <a:xfrm>
              <a:off x="0" y="-38100"/>
              <a:ext cx="3048000" cy="915924"/>
            </a:xfrm>
            <a:prstGeom prst="rect">
              <a:avLst/>
            </a:prstGeom>
          </p:spPr>
          <p:txBody>
            <a:bodyPr anchor="ctr" rtlCol="false" tIns="0" lIns="0" bIns="0" rIns="0"/>
            <a:lstStyle/>
            <a:p>
              <a:pPr algn="ctr">
                <a:lnSpc>
                  <a:spcPts val="2280"/>
                </a:lnSpc>
              </a:pPr>
              <a:r>
                <a:rPr lang="en-US" sz="1900">
                  <a:solidFill>
                    <a:srgbClr val="1E293B"/>
                  </a:solidFill>
                  <a:latin typeface="Calibri (MS)"/>
                  <a:ea typeface="Calibri (MS)"/>
                  <a:cs typeface="Calibri (MS)"/>
                  <a:sym typeface="Calibri (MS)"/>
                </a:rPr>
                <a:t>Alphabétique</a:t>
              </a:r>
            </a:p>
          </p:txBody>
        </p:sp>
      </p:grpSp>
      <p:grpSp>
        <p:nvGrpSpPr>
          <p:cNvPr name="Group 174" id="174"/>
          <p:cNvGrpSpPr/>
          <p:nvPr/>
        </p:nvGrpSpPr>
        <p:grpSpPr>
          <a:xfrm rot="0">
            <a:off x="6455664" y="6327648"/>
            <a:ext cx="5029200" cy="658368"/>
            <a:chOff x="0" y="0"/>
            <a:chExt cx="6705600" cy="877824"/>
          </a:xfrm>
        </p:grpSpPr>
        <p:sp>
          <p:nvSpPr>
            <p:cNvPr name="Freeform 175" id="175"/>
            <p:cNvSpPr/>
            <p:nvPr/>
          </p:nvSpPr>
          <p:spPr>
            <a:xfrm flipH="false" flipV="false" rot="0">
              <a:off x="0" y="0"/>
              <a:ext cx="6705600" cy="877824"/>
            </a:xfrm>
            <a:custGeom>
              <a:avLst/>
              <a:gdLst/>
              <a:ahLst/>
              <a:cxnLst/>
              <a:rect r="r" b="b" t="t" l="l"/>
              <a:pathLst>
                <a:path h="877824" w="6705600">
                  <a:moveTo>
                    <a:pt x="0" y="0"/>
                  </a:moveTo>
                  <a:lnTo>
                    <a:pt x="6705600" y="0"/>
                  </a:lnTo>
                  <a:lnTo>
                    <a:pt x="6705600" y="877824"/>
                  </a:lnTo>
                  <a:lnTo>
                    <a:pt x="0" y="877824"/>
                  </a:lnTo>
                  <a:close/>
                </a:path>
              </a:pathLst>
            </a:custGeom>
            <a:blipFill>
              <a:blip r:embed="rId2">
                <a:alphaModFix amt="0"/>
              </a:blip>
              <a:stretch>
                <a:fillRect l="0" t="-98844" r="0" b="-98844"/>
              </a:stretch>
            </a:blipFill>
          </p:spPr>
        </p:sp>
        <p:sp>
          <p:nvSpPr>
            <p:cNvPr name="TextBox 176" id="176"/>
            <p:cNvSpPr txBox="true"/>
            <p:nvPr/>
          </p:nvSpPr>
          <p:spPr>
            <a:xfrm>
              <a:off x="0" y="-38100"/>
              <a:ext cx="6705600" cy="915924"/>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Service visé (HTTP, SSH, FTP, DNS…)</a:t>
              </a:r>
            </a:p>
          </p:txBody>
        </p:sp>
      </p:grpSp>
      <p:grpSp>
        <p:nvGrpSpPr>
          <p:cNvPr name="Group 177" id="177"/>
          <p:cNvGrpSpPr/>
          <p:nvPr/>
        </p:nvGrpSpPr>
        <p:grpSpPr>
          <a:xfrm rot="0">
            <a:off x="11667744" y="6327648"/>
            <a:ext cx="1865376" cy="658368"/>
            <a:chOff x="0" y="0"/>
            <a:chExt cx="2487168" cy="877824"/>
          </a:xfrm>
        </p:grpSpPr>
        <p:sp>
          <p:nvSpPr>
            <p:cNvPr name="Freeform 178" id="178"/>
            <p:cNvSpPr/>
            <p:nvPr/>
          </p:nvSpPr>
          <p:spPr>
            <a:xfrm flipH="false" flipV="false" rot="0">
              <a:off x="0" y="0"/>
              <a:ext cx="2487168" cy="877824"/>
            </a:xfrm>
            <a:custGeom>
              <a:avLst/>
              <a:gdLst/>
              <a:ahLst/>
              <a:cxnLst/>
              <a:rect r="r" b="b" t="t" l="l"/>
              <a:pathLst>
                <a:path h="877824" w="2487168">
                  <a:moveTo>
                    <a:pt x="0" y="0"/>
                  </a:moveTo>
                  <a:lnTo>
                    <a:pt x="2487168" y="0"/>
                  </a:lnTo>
                  <a:lnTo>
                    <a:pt x="2487168" y="877824"/>
                  </a:lnTo>
                  <a:lnTo>
                    <a:pt x="0" y="877824"/>
                  </a:lnTo>
                  <a:close/>
                </a:path>
              </a:pathLst>
            </a:custGeom>
            <a:blipFill>
              <a:blip r:embed="rId2">
                <a:alphaModFix amt="0"/>
              </a:blip>
              <a:stretch>
                <a:fillRect l="0" t="-5207" r="0" b="-5207"/>
              </a:stretch>
            </a:blipFill>
          </p:spPr>
        </p:sp>
        <p:sp>
          <p:nvSpPr>
            <p:cNvPr name="TextBox 179" id="179"/>
            <p:cNvSpPr txBox="true"/>
            <p:nvPr/>
          </p:nvSpPr>
          <p:spPr>
            <a:xfrm>
              <a:off x="0" y="-38100"/>
              <a:ext cx="2487168" cy="915924"/>
            </a:xfrm>
            <a:prstGeom prst="rect">
              <a:avLst/>
            </a:prstGeom>
          </p:spPr>
          <p:txBody>
            <a:bodyPr anchor="ctr" rtlCol="false" tIns="0" lIns="0" bIns="0" rIns="0"/>
            <a:lstStyle/>
            <a:p>
              <a:pPr algn="ctr">
                <a:lnSpc>
                  <a:spcPts val="2280"/>
                </a:lnSpc>
              </a:pPr>
              <a:r>
                <a:rPr lang="en-US" sz="1900">
                  <a:solidFill>
                    <a:srgbClr val="1E293B"/>
                  </a:solidFill>
                  <a:latin typeface="Calibri (MS)"/>
                  <a:ea typeface="Calibri (MS)"/>
                  <a:cs typeface="Calibri (MS)"/>
                  <a:sym typeface="Calibri (MS)"/>
                </a:rPr>
                <a:t>Qualitatif</a:t>
              </a:r>
            </a:p>
          </p:txBody>
        </p:sp>
      </p:grpSp>
      <p:grpSp>
        <p:nvGrpSpPr>
          <p:cNvPr name="Group 180" id="180"/>
          <p:cNvGrpSpPr/>
          <p:nvPr/>
        </p:nvGrpSpPr>
        <p:grpSpPr>
          <a:xfrm rot="0">
            <a:off x="13819375" y="6376159"/>
            <a:ext cx="1146553" cy="524761"/>
            <a:chOff x="0" y="0"/>
            <a:chExt cx="1528737" cy="699681"/>
          </a:xfrm>
        </p:grpSpPr>
        <p:sp>
          <p:nvSpPr>
            <p:cNvPr name="Freeform 181" id="181"/>
            <p:cNvSpPr/>
            <p:nvPr/>
          </p:nvSpPr>
          <p:spPr>
            <a:xfrm flipH="false" flipV="false" rot="0">
              <a:off x="0" y="0"/>
              <a:ext cx="1528699" cy="699643"/>
            </a:xfrm>
            <a:custGeom>
              <a:avLst/>
              <a:gdLst/>
              <a:ahLst/>
              <a:cxnLst/>
              <a:rect r="r" b="b" t="t" l="l"/>
              <a:pathLst>
                <a:path h="699643" w="1528699">
                  <a:moveTo>
                    <a:pt x="0" y="174879"/>
                  </a:moveTo>
                  <a:cubicBezTo>
                    <a:pt x="0" y="78359"/>
                    <a:pt x="78359" y="0"/>
                    <a:pt x="174879" y="0"/>
                  </a:cubicBezTo>
                  <a:lnTo>
                    <a:pt x="1353820" y="0"/>
                  </a:lnTo>
                  <a:cubicBezTo>
                    <a:pt x="1450467" y="0"/>
                    <a:pt x="1528699" y="78359"/>
                    <a:pt x="1528699" y="174879"/>
                  </a:cubicBezTo>
                  <a:lnTo>
                    <a:pt x="1528699" y="524764"/>
                  </a:lnTo>
                  <a:cubicBezTo>
                    <a:pt x="1528699" y="621411"/>
                    <a:pt x="1450340" y="699643"/>
                    <a:pt x="1353820" y="699643"/>
                  </a:cubicBezTo>
                  <a:lnTo>
                    <a:pt x="174879" y="699643"/>
                  </a:lnTo>
                  <a:cubicBezTo>
                    <a:pt x="78359" y="699643"/>
                    <a:pt x="0" y="621411"/>
                    <a:pt x="0" y="524764"/>
                  </a:cubicBezTo>
                  <a:close/>
                </a:path>
              </a:pathLst>
            </a:custGeom>
            <a:solidFill>
              <a:srgbClr val="DBEAFE"/>
            </a:solidFill>
            <a:ln w="12700" cap="sq">
              <a:solidFill>
                <a:srgbClr val="3B82F6"/>
              </a:solidFill>
              <a:prstDash val="solid"/>
              <a:miter/>
            </a:ln>
          </p:spPr>
        </p:sp>
      </p:grpSp>
      <p:grpSp>
        <p:nvGrpSpPr>
          <p:cNvPr name="Group 182" id="182"/>
          <p:cNvGrpSpPr/>
          <p:nvPr/>
        </p:nvGrpSpPr>
        <p:grpSpPr>
          <a:xfrm rot="0">
            <a:off x="13825728" y="6382512"/>
            <a:ext cx="1133856" cy="512064"/>
            <a:chOff x="0" y="0"/>
            <a:chExt cx="1511808" cy="682752"/>
          </a:xfrm>
        </p:grpSpPr>
        <p:sp>
          <p:nvSpPr>
            <p:cNvPr name="Freeform 183" id="183"/>
            <p:cNvSpPr/>
            <p:nvPr/>
          </p:nvSpPr>
          <p:spPr>
            <a:xfrm flipH="false" flipV="false" rot="0">
              <a:off x="0" y="0"/>
              <a:ext cx="1511808" cy="682752"/>
            </a:xfrm>
            <a:custGeom>
              <a:avLst/>
              <a:gdLst/>
              <a:ahLst/>
              <a:cxnLst/>
              <a:rect r="r" b="b" t="t" l="l"/>
              <a:pathLst>
                <a:path h="682752" w="1511808">
                  <a:moveTo>
                    <a:pt x="0" y="0"/>
                  </a:moveTo>
                  <a:lnTo>
                    <a:pt x="1511808" y="0"/>
                  </a:lnTo>
                  <a:lnTo>
                    <a:pt x="1511808" y="682752"/>
                  </a:lnTo>
                  <a:lnTo>
                    <a:pt x="0" y="682752"/>
                  </a:lnTo>
                  <a:close/>
                </a:path>
              </a:pathLst>
            </a:custGeom>
            <a:blipFill>
              <a:blip r:embed="rId2">
                <a:alphaModFix amt="0"/>
              </a:blip>
              <a:stretch>
                <a:fillRect l="-7943" t="0" r="-7943" b="0"/>
              </a:stretch>
            </a:blipFill>
          </p:spPr>
        </p:sp>
        <p:sp>
          <p:nvSpPr>
            <p:cNvPr name="TextBox 184" id="184"/>
            <p:cNvSpPr txBox="true"/>
            <p:nvPr/>
          </p:nvSpPr>
          <p:spPr>
            <a:xfrm>
              <a:off x="0" y="-38100"/>
              <a:ext cx="1511808" cy="720852"/>
            </a:xfrm>
            <a:prstGeom prst="rect">
              <a:avLst/>
            </a:prstGeom>
          </p:spPr>
          <p:txBody>
            <a:bodyPr anchor="ctr" rtlCol="false" tIns="0" lIns="0" bIns="0" rIns="0"/>
            <a:lstStyle/>
            <a:p>
              <a:pPr algn="ctr">
                <a:lnSpc>
                  <a:spcPts val="2039"/>
                </a:lnSpc>
              </a:pPr>
              <a:r>
                <a:rPr lang="en-US" sz="1700" b="true">
                  <a:solidFill>
                    <a:srgbClr val="1D4ED8"/>
                  </a:solidFill>
                  <a:latin typeface="Calibri (MS) Bold"/>
                  <a:ea typeface="Calibri (MS) Bold"/>
                  <a:cs typeface="Calibri (MS) Bold"/>
                  <a:sym typeface="Calibri (MS) Bold"/>
                </a:rPr>
                <a:t>Input</a:t>
              </a:r>
            </a:p>
          </p:txBody>
        </p:sp>
      </p:grpSp>
      <p:grpSp>
        <p:nvGrpSpPr>
          <p:cNvPr name="Group 185" id="185"/>
          <p:cNvGrpSpPr/>
          <p:nvPr/>
        </p:nvGrpSpPr>
        <p:grpSpPr>
          <a:xfrm rot="0">
            <a:off x="15355567" y="6357871"/>
            <a:ext cx="1731769" cy="561337"/>
            <a:chOff x="0" y="0"/>
            <a:chExt cx="2309025" cy="748449"/>
          </a:xfrm>
        </p:grpSpPr>
        <p:sp>
          <p:nvSpPr>
            <p:cNvPr name="Freeform 186" id="186"/>
            <p:cNvSpPr/>
            <p:nvPr/>
          </p:nvSpPr>
          <p:spPr>
            <a:xfrm flipH="false" flipV="false" rot="0">
              <a:off x="0" y="0"/>
              <a:ext cx="2309114" cy="748538"/>
            </a:xfrm>
            <a:custGeom>
              <a:avLst/>
              <a:gdLst/>
              <a:ahLst/>
              <a:cxnLst/>
              <a:rect r="r" b="b" t="t" l="l"/>
              <a:pathLst>
                <a:path h="748538" w="2309114">
                  <a:moveTo>
                    <a:pt x="0" y="199644"/>
                  </a:moveTo>
                  <a:cubicBezTo>
                    <a:pt x="0" y="89408"/>
                    <a:pt x="89408" y="0"/>
                    <a:pt x="199644" y="0"/>
                  </a:cubicBezTo>
                  <a:lnTo>
                    <a:pt x="2109470" y="0"/>
                  </a:lnTo>
                  <a:cubicBezTo>
                    <a:pt x="2219706" y="0"/>
                    <a:pt x="2309114" y="89408"/>
                    <a:pt x="2309114" y="199644"/>
                  </a:cubicBezTo>
                  <a:lnTo>
                    <a:pt x="2309114" y="548894"/>
                  </a:lnTo>
                  <a:cubicBezTo>
                    <a:pt x="2309114" y="659130"/>
                    <a:pt x="2219706" y="748538"/>
                    <a:pt x="2109470" y="748538"/>
                  </a:cubicBezTo>
                  <a:lnTo>
                    <a:pt x="199644" y="748538"/>
                  </a:lnTo>
                  <a:cubicBezTo>
                    <a:pt x="89408" y="748411"/>
                    <a:pt x="0" y="659130"/>
                    <a:pt x="0" y="548894"/>
                  </a:cubicBezTo>
                  <a:close/>
                </a:path>
              </a:pathLst>
            </a:custGeom>
            <a:solidFill>
              <a:srgbClr val="EEF4FF"/>
            </a:solidFill>
            <a:ln w="12700" cap="sq">
              <a:solidFill>
                <a:srgbClr val="1D4ED8"/>
              </a:solidFill>
              <a:prstDash val="solid"/>
              <a:miter/>
            </a:ln>
          </p:spPr>
        </p:sp>
      </p:grpSp>
      <p:grpSp>
        <p:nvGrpSpPr>
          <p:cNvPr name="Group 187" id="187"/>
          <p:cNvGrpSpPr/>
          <p:nvPr/>
        </p:nvGrpSpPr>
        <p:grpSpPr>
          <a:xfrm rot="0">
            <a:off x="15361920" y="6364224"/>
            <a:ext cx="1719072" cy="548640"/>
            <a:chOff x="0" y="0"/>
            <a:chExt cx="2292096" cy="731520"/>
          </a:xfrm>
        </p:grpSpPr>
        <p:sp>
          <p:nvSpPr>
            <p:cNvPr name="Freeform 188" id="188"/>
            <p:cNvSpPr/>
            <p:nvPr/>
          </p:nvSpPr>
          <p:spPr>
            <a:xfrm flipH="false" flipV="false" rot="0">
              <a:off x="0" y="0"/>
              <a:ext cx="2292096" cy="731520"/>
            </a:xfrm>
            <a:custGeom>
              <a:avLst/>
              <a:gdLst/>
              <a:ahLst/>
              <a:cxnLst/>
              <a:rect r="r" b="b" t="t" l="l"/>
              <a:pathLst>
                <a:path h="731520" w="2292096">
                  <a:moveTo>
                    <a:pt x="0" y="0"/>
                  </a:moveTo>
                  <a:lnTo>
                    <a:pt x="2292096" y="0"/>
                  </a:lnTo>
                  <a:lnTo>
                    <a:pt x="2292096" y="731520"/>
                  </a:lnTo>
                  <a:lnTo>
                    <a:pt x="0" y="731520"/>
                  </a:lnTo>
                  <a:close/>
                </a:path>
              </a:pathLst>
            </a:custGeom>
            <a:blipFill>
              <a:blip r:embed="rId2">
                <a:alphaModFix amt="0"/>
              </a:blip>
              <a:stretch>
                <a:fillRect l="0" t="-11053" r="0" b="-11053"/>
              </a:stretch>
            </a:blipFill>
          </p:spPr>
        </p:sp>
        <p:sp>
          <p:nvSpPr>
            <p:cNvPr name="TextBox 189" id="189"/>
            <p:cNvSpPr txBox="true"/>
            <p:nvPr/>
          </p:nvSpPr>
          <p:spPr>
            <a:xfrm>
              <a:off x="0" y="-38100"/>
              <a:ext cx="2292096" cy="769620"/>
            </a:xfrm>
            <a:prstGeom prst="rect">
              <a:avLst/>
            </a:prstGeom>
          </p:spPr>
          <p:txBody>
            <a:bodyPr anchor="ctr" rtlCol="false" tIns="0" lIns="0" bIns="0" rIns="0"/>
            <a:lstStyle/>
            <a:p>
              <a:pPr algn="ctr">
                <a:lnSpc>
                  <a:spcPts val="2039"/>
                </a:lnSpc>
              </a:pPr>
              <a:r>
                <a:rPr lang="en-US" sz="1700" b="true">
                  <a:solidFill>
                    <a:srgbClr val="1D4ED8"/>
                  </a:solidFill>
                  <a:latin typeface="Calibri (MS) Bold"/>
                  <a:ea typeface="Calibri (MS) Bold"/>
                  <a:cs typeface="Calibri (MS) Bold"/>
                  <a:sym typeface="Calibri (MS) Bold"/>
                </a:rPr>
                <a:t>Réseau</a:t>
              </a:r>
            </a:p>
          </p:txBody>
        </p:sp>
      </p:grpSp>
      <p:grpSp>
        <p:nvGrpSpPr>
          <p:cNvPr name="Group 190" id="190"/>
          <p:cNvGrpSpPr/>
          <p:nvPr/>
        </p:nvGrpSpPr>
        <p:grpSpPr>
          <a:xfrm rot="0">
            <a:off x="397259" y="7017515"/>
            <a:ext cx="17493491" cy="778259"/>
            <a:chOff x="0" y="0"/>
            <a:chExt cx="23324655" cy="1037679"/>
          </a:xfrm>
        </p:grpSpPr>
        <p:sp>
          <p:nvSpPr>
            <p:cNvPr name="Freeform 191" id="191"/>
            <p:cNvSpPr/>
            <p:nvPr/>
          </p:nvSpPr>
          <p:spPr>
            <a:xfrm flipH="false" flipV="false" rot="0">
              <a:off x="0" y="0"/>
              <a:ext cx="23324693" cy="1037717"/>
            </a:xfrm>
            <a:custGeom>
              <a:avLst/>
              <a:gdLst/>
              <a:ahLst/>
              <a:cxnLst/>
              <a:rect r="r" b="b" t="t" l="l"/>
              <a:pathLst>
                <a:path h="1037717" w="23324693">
                  <a:moveTo>
                    <a:pt x="0" y="0"/>
                  </a:moveTo>
                  <a:lnTo>
                    <a:pt x="23324693" y="0"/>
                  </a:lnTo>
                  <a:lnTo>
                    <a:pt x="23324693" y="1037717"/>
                  </a:lnTo>
                  <a:lnTo>
                    <a:pt x="0" y="1037717"/>
                  </a:lnTo>
                  <a:close/>
                </a:path>
              </a:pathLst>
            </a:custGeom>
            <a:solidFill>
              <a:srgbClr val="F0F5FB"/>
            </a:solidFill>
            <a:ln w="10160" cap="sq">
              <a:solidFill>
                <a:srgbClr val="D1DCF0"/>
              </a:solidFill>
              <a:prstDash val="solid"/>
              <a:miter/>
            </a:ln>
          </p:spPr>
        </p:sp>
      </p:grpSp>
      <p:grpSp>
        <p:nvGrpSpPr>
          <p:cNvPr name="Group 192" id="192"/>
          <p:cNvGrpSpPr/>
          <p:nvPr/>
        </p:nvGrpSpPr>
        <p:grpSpPr>
          <a:xfrm rot="0">
            <a:off x="397259" y="7017515"/>
            <a:ext cx="17493491" cy="778259"/>
            <a:chOff x="0" y="0"/>
            <a:chExt cx="23324655" cy="1037679"/>
          </a:xfrm>
        </p:grpSpPr>
        <p:sp>
          <p:nvSpPr>
            <p:cNvPr name="Freeform 193" id="193"/>
            <p:cNvSpPr/>
            <p:nvPr/>
          </p:nvSpPr>
          <p:spPr>
            <a:xfrm flipH="false" flipV="false" rot="0">
              <a:off x="0" y="0"/>
              <a:ext cx="23324693" cy="1037717"/>
            </a:xfrm>
            <a:custGeom>
              <a:avLst/>
              <a:gdLst/>
              <a:ahLst/>
              <a:cxnLst/>
              <a:rect r="r" b="b" t="t" l="l"/>
              <a:pathLst>
                <a:path h="1037717" w="23324693">
                  <a:moveTo>
                    <a:pt x="0" y="0"/>
                  </a:moveTo>
                  <a:lnTo>
                    <a:pt x="23324693" y="0"/>
                  </a:lnTo>
                  <a:lnTo>
                    <a:pt x="23324693" y="1037717"/>
                  </a:lnTo>
                  <a:lnTo>
                    <a:pt x="0" y="1037717"/>
                  </a:lnTo>
                  <a:close/>
                </a:path>
              </a:pathLst>
            </a:custGeom>
            <a:solidFill>
              <a:srgbClr val="F0F5FB"/>
            </a:solidFill>
            <a:ln w="10160" cap="sq">
              <a:solidFill>
                <a:srgbClr val="D1DCF0"/>
              </a:solidFill>
              <a:prstDash val="solid"/>
              <a:miter/>
            </a:ln>
          </p:spPr>
        </p:sp>
      </p:grpSp>
      <p:grpSp>
        <p:nvGrpSpPr>
          <p:cNvPr name="Group 194" id="194"/>
          <p:cNvGrpSpPr/>
          <p:nvPr/>
        </p:nvGrpSpPr>
        <p:grpSpPr>
          <a:xfrm rot="0">
            <a:off x="548640" y="7095744"/>
            <a:ext cx="3255264" cy="658368"/>
            <a:chOff x="0" y="0"/>
            <a:chExt cx="4340352" cy="877824"/>
          </a:xfrm>
        </p:grpSpPr>
        <p:sp>
          <p:nvSpPr>
            <p:cNvPr name="Freeform 195" id="195"/>
            <p:cNvSpPr/>
            <p:nvPr/>
          </p:nvSpPr>
          <p:spPr>
            <a:xfrm flipH="false" flipV="false" rot="0">
              <a:off x="0" y="0"/>
              <a:ext cx="4340352" cy="877824"/>
            </a:xfrm>
            <a:custGeom>
              <a:avLst/>
              <a:gdLst/>
              <a:ahLst/>
              <a:cxnLst/>
              <a:rect r="r" b="b" t="t" l="l"/>
              <a:pathLst>
                <a:path h="877824" w="4340352">
                  <a:moveTo>
                    <a:pt x="0" y="0"/>
                  </a:moveTo>
                  <a:lnTo>
                    <a:pt x="4340352" y="0"/>
                  </a:lnTo>
                  <a:lnTo>
                    <a:pt x="4340352" y="877824"/>
                  </a:lnTo>
                  <a:lnTo>
                    <a:pt x="0" y="877824"/>
                  </a:lnTo>
                  <a:close/>
                </a:path>
              </a:pathLst>
            </a:custGeom>
            <a:blipFill>
              <a:blip r:embed="rId2">
                <a:alphaModFix amt="0"/>
              </a:blip>
              <a:stretch>
                <a:fillRect l="0" t="-46342" r="0" b="-46342"/>
              </a:stretch>
            </a:blipFill>
          </p:spPr>
        </p:sp>
        <p:sp>
          <p:nvSpPr>
            <p:cNvPr name="TextBox 196" id="196"/>
            <p:cNvSpPr txBox="true"/>
            <p:nvPr/>
          </p:nvSpPr>
          <p:spPr>
            <a:xfrm>
              <a:off x="0" y="-38100"/>
              <a:ext cx="4340352" cy="915924"/>
            </a:xfrm>
            <a:prstGeom prst="rect">
              <a:avLst/>
            </a:prstGeom>
          </p:spPr>
          <p:txBody>
            <a:bodyPr anchor="ctr" rtlCol="false" tIns="0" lIns="0" bIns="0" rIns="0"/>
            <a:lstStyle/>
            <a:p>
              <a:pPr algn="l">
                <a:lnSpc>
                  <a:spcPts val="2280"/>
                </a:lnSpc>
              </a:pPr>
              <a:r>
                <a:rPr lang="en-US" sz="1900" b="true">
                  <a:solidFill>
                    <a:srgbClr val="1E3A5F"/>
                  </a:solidFill>
                  <a:latin typeface="Calibri (MS) Bold"/>
                  <a:ea typeface="Calibri (MS) Bold"/>
                  <a:cs typeface="Calibri (MS) Bold"/>
                  <a:sym typeface="Calibri (MS) Bold"/>
                </a:rPr>
                <a:t>TTL_moy</a:t>
              </a:r>
            </a:p>
          </p:txBody>
        </p:sp>
      </p:grpSp>
      <p:grpSp>
        <p:nvGrpSpPr>
          <p:cNvPr name="Group 197" id="197"/>
          <p:cNvGrpSpPr/>
          <p:nvPr/>
        </p:nvGrpSpPr>
        <p:grpSpPr>
          <a:xfrm rot="0">
            <a:off x="3986784" y="7095744"/>
            <a:ext cx="2286000" cy="658368"/>
            <a:chOff x="0" y="0"/>
            <a:chExt cx="3048000" cy="877824"/>
          </a:xfrm>
        </p:grpSpPr>
        <p:sp>
          <p:nvSpPr>
            <p:cNvPr name="Freeform 198" id="198"/>
            <p:cNvSpPr/>
            <p:nvPr/>
          </p:nvSpPr>
          <p:spPr>
            <a:xfrm flipH="false" flipV="false" rot="0">
              <a:off x="0" y="0"/>
              <a:ext cx="3048000" cy="877824"/>
            </a:xfrm>
            <a:custGeom>
              <a:avLst/>
              <a:gdLst/>
              <a:ahLst/>
              <a:cxnLst/>
              <a:rect r="r" b="b" t="t" l="l"/>
              <a:pathLst>
                <a:path h="877824" w="3048000">
                  <a:moveTo>
                    <a:pt x="0" y="0"/>
                  </a:moveTo>
                  <a:lnTo>
                    <a:pt x="3048000" y="0"/>
                  </a:lnTo>
                  <a:lnTo>
                    <a:pt x="3048000" y="877824"/>
                  </a:lnTo>
                  <a:lnTo>
                    <a:pt x="0" y="877824"/>
                  </a:lnTo>
                  <a:close/>
                </a:path>
              </a:pathLst>
            </a:custGeom>
            <a:blipFill>
              <a:blip r:embed="rId2">
                <a:alphaModFix amt="0"/>
              </a:blip>
              <a:stretch>
                <a:fillRect l="0" t="-17656" r="0" b="-17656"/>
              </a:stretch>
            </a:blipFill>
          </p:spPr>
        </p:sp>
        <p:sp>
          <p:nvSpPr>
            <p:cNvPr name="TextBox 199" id="199"/>
            <p:cNvSpPr txBox="true"/>
            <p:nvPr/>
          </p:nvSpPr>
          <p:spPr>
            <a:xfrm>
              <a:off x="0" y="-38100"/>
              <a:ext cx="3048000" cy="915924"/>
            </a:xfrm>
            <a:prstGeom prst="rect">
              <a:avLst/>
            </a:prstGeom>
          </p:spPr>
          <p:txBody>
            <a:bodyPr anchor="ctr" rtlCol="false" tIns="0" lIns="0" bIns="0" rIns="0"/>
            <a:lstStyle/>
            <a:p>
              <a:pPr algn="ctr">
                <a:lnSpc>
                  <a:spcPts val="2280"/>
                </a:lnSpc>
              </a:pPr>
              <a:r>
                <a:rPr lang="en-US" sz="1900">
                  <a:solidFill>
                    <a:srgbClr val="1E293B"/>
                  </a:solidFill>
                  <a:latin typeface="Calibri (MS)"/>
                  <a:ea typeface="Calibri (MS)"/>
                  <a:cs typeface="Calibri (MS)"/>
                  <a:sym typeface="Calibri (MS)"/>
                </a:rPr>
                <a:t>Numérique</a:t>
              </a:r>
            </a:p>
          </p:txBody>
        </p:sp>
      </p:grpSp>
      <p:grpSp>
        <p:nvGrpSpPr>
          <p:cNvPr name="Group 200" id="200"/>
          <p:cNvGrpSpPr/>
          <p:nvPr/>
        </p:nvGrpSpPr>
        <p:grpSpPr>
          <a:xfrm rot="0">
            <a:off x="6455664" y="7095744"/>
            <a:ext cx="5029200" cy="658368"/>
            <a:chOff x="0" y="0"/>
            <a:chExt cx="6705600" cy="877824"/>
          </a:xfrm>
        </p:grpSpPr>
        <p:sp>
          <p:nvSpPr>
            <p:cNvPr name="Freeform 201" id="201"/>
            <p:cNvSpPr/>
            <p:nvPr/>
          </p:nvSpPr>
          <p:spPr>
            <a:xfrm flipH="false" flipV="false" rot="0">
              <a:off x="0" y="0"/>
              <a:ext cx="6705600" cy="877824"/>
            </a:xfrm>
            <a:custGeom>
              <a:avLst/>
              <a:gdLst/>
              <a:ahLst/>
              <a:cxnLst/>
              <a:rect r="r" b="b" t="t" l="l"/>
              <a:pathLst>
                <a:path h="877824" w="6705600">
                  <a:moveTo>
                    <a:pt x="0" y="0"/>
                  </a:moveTo>
                  <a:lnTo>
                    <a:pt x="6705600" y="0"/>
                  </a:lnTo>
                  <a:lnTo>
                    <a:pt x="6705600" y="877824"/>
                  </a:lnTo>
                  <a:lnTo>
                    <a:pt x="0" y="877824"/>
                  </a:lnTo>
                  <a:close/>
                </a:path>
              </a:pathLst>
            </a:custGeom>
            <a:blipFill>
              <a:blip r:embed="rId2">
                <a:alphaModFix amt="0"/>
              </a:blip>
              <a:stretch>
                <a:fillRect l="0" t="-98844" r="0" b="-98844"/>
              </a:stretch>
            </a:blipFill>
          </p:spPr>
        </p:sp>
        <p:sp>
          <p:nvSpPr>
            <p:cNvPr name="TextBox 202" id="202"/>
            <p:cNvSpPr txBox="true"/>
            <p:nvPr/>
          </p:nvSpPr>
          <p:spPr>
            <a:xfrm>
              <a:off x="0" y="-38100"/>
              <a:ext cx="6705600" cy="915924"/>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Valeur moyenne du Time To Live des paquets</a:t>
              </a:r>
            </a:p>
          </p:txBody>
        </p:sp>
      </p:grpSp>
      <p:grpSp>
        <p:nvGrpSpPr>
          <p:cNvPr name="Group 203" id="203"/>
          <p:cNvGrpSpPr/>
          <p:nvPr/>
        </p:nvGrpSpPr>
        <p:grpSpPr>
          <a:xfrm rot="0">
            <a:off x="11667744" y="7095744"/>
            <a:ext cx="1865376" cy="658368"/>
            <a:chOff x="0" y="0"/>
            <a:chExt cx="2487168" cy="877824"/>
          </a:xfrm>
        </p:grpSpPr>
        <p:sp>
          <p:nvSpPr>
            <p:cNvPr name="Freeform 204" id="204"/>
            <p:cNvSpPr/>
            <p:nvPr/>
          </p:nvSpPr>
          <p:spPr>
            <a:xfrm flipH="false" flipV="false" rot="0">
              <a:off x="0" y="0"/>
              <a:ext cx="2487168" cy="877824"/>
            </a:xfrm>
            <a:custGeom>
              <a:avLst/>
              <a:gdLst/>
              <a:ahLst/>
              <a:cxnLst/>
              <a:rect r="r" b="b" t="t" l="l"/>
              <a:pathLst>
                <a:path h="877824" w="2487168">
                  <a:moveTo>
                    <a:pt x="0" y="0"/>
                  </a:moveTo>
                  <a:lnTo>
                    <a:pt x="2487168" y="0"/>
                  </a:lnTo>
                  <a:lnTo>
                    <a:pt x="2487168" y="877824"/>
                  </a:lnTo>
                  <a:lnTo>
                    <a:pt x="0" y="877824"/>
                  </a:lnTo>
                  <a:close/>
                </a:path>
              </a:pathLst>
            </a:custGeom>
            <a:blipFill>
              <a:blip r:embed="rId2">
                <a:alphaModFix amt="0"/>
              </a:blip>
              <a:stretch>
                <a:fillRect l="0" t="-5207" r="0" b="-5207"/>
              </a:stretch>
            </a:blipFill>
          </p:spPr>
        </p:sp>
        <p:sp>
          <p:nvSpPr>
            <p:cNvPr name="TextBox 205" id="205"/>
            <p:cNvSpPr txBox="true"/>
            <p:nvPr/>
          </p:nvSpPr>
          <p:spPr>
            <a:xfrm>
              <a:off x="0" y="-38100"/>
              <a:ext cx="2487168" cy="915924"/>
            </a:xfrm>
            <a:prstGeom prst="rect">
              <a:avLst/>
            </a:prstGeom>
          </p:spPr>
          <p:txBody>
            <a:bodyPr anchor="ctr" rtlCol="false" tIns="0" lIns="0" bIns="0" rIns="0"/>
            <a:lstStyle/>
            <a:p>
              <a:pPr algn="ctr">
                <a:lnSpc>
                  <a:spcPts val="2280"/>
                </a:lnSpc>
              </a:pPr>
              <a:r>
                <a:rPr lang="en-US" sz="1900">
                  <a:solidFill>
                    <a:srgbClr val="1E293B"/>
                  </a:solidFill>
                  <a:latin typeface="Calibri (MS)"/>
                  <a:ea typeface="Calibri (MS)"/>
                  <a:cs typeface="Calibri (MS)"/>
                  <a:sym typeface="Calibri (MS)"/>
                </a:rPr>
                <a:t>Quantitatif</a:t>
              </a:r>
            </a:p>
          </p:txBody>
        </p:sp>
      </p:grpSp>
      <p:grpSp>
        <p:nvGrpSpPr>
          <p:cNvPr name="Group 206" id="206"/>
          <p:cNvGrpSpPr/>
          <p:nvPr/>
        </p:nvGrpSpPr>
        <p:grpSpPr>
          <a:xfrm rot="0">
            <a:off x="13819375" y="7144255"/>
            <a:ext cx="1146553" cy="524761"/>
            <a:chOff x="0" y="0"/>
            <a:chExt cx="1528737" cy="699681"/>
          </a:xfrm>
        </p:grpSpPr>
        <p:sp>
          <p:nvSpPr>
            <p:cNvPr name="Freeform 207" id="207"/>
            <p:cNvSpPr/>
            <p:nvPr/>
          </p:nvSpPr>
          <p:spPr>
            <a:xfrm flipH="false" flipV="false" rot="0">
              <a:off x="0" y="0"/>
              <a:ext cx="1528699" cy="699643"/>
            </a:xfrm>
            <a:custGeom>
              <a:avLst/>
              <a:gdLst/>
              <a:ahLst/>
              <a:cxnLst/>
              <a:rect r="r" b="b" t="t" l="l"/>
              <a:pathLst>
                <a:path h="699643" w="1528699">
                  <a:moveTo>
                    <a:pt x="0" y="174879"/>
                  </a:moveTo>
                  <a:cubicBezTo>
                    <a:pt x="0" y="78359"/>
                    <a:pt x="78359" y="0"/>
                    <a:pt x="174879" y="0"/>
                  </a:cubicBezTo>
                  <a:lnTo>
                    <a:pt x="1353820" y="0"/>
                  </a:lnTo>
                  <a:cubicBezTo>
                    <a:pt x="1450467" y="0"/>
                    <a:pt x="1528699" y="78359"/>
                    <a:pt x="1528699" y="174879"/>
                  </a:cubicBezTo>
                  <a:lnTo>
                    <a:pt x="1528699" y="524764"/>
                  </a:lnTo>
                  <a:cubicBezTo>
                    <a:pt x="1528699" y="621411"/>
                    <a:pt x="1450340" y="699643"/>
                    <a:pt x="1353820" y="699643"/>
                  </a:cubicBezTo>
                  <a:lnTo>
                    <a:pt x="174879" y="699643"/>
                  </a:lnTo>
                  <a:cubicBezTo>
                    <a:pt x="78359" y="699643"/>
                    <a:pt x="0" y="621411"/>
                    <a:pt x="0" y="524764"/>
                  </a:cubicBezTo>
                  <a:close/>
                </a:path>
              </a:pathLst>
            </a:custGeom>
            <a:solidFill>
              <a:srgbClr val="DBEAFE"/>
            </a:solidFill>
            <a:ln w="12700" cap="sq">
              <a:solidFill>
                <a:srgbClr val="3B82F6"/>
              </a:solidFill>
              <a:prstDash val="solid"/>
              <a:miter/>
            </a:ln>
          </p:spPr>
        </p:sp>
      </p:grpSp>
      <p:grpSp>
        <p:nvGrpSpPr>
          <p:cNvPr name="Group 208" id="208"/>
          <p:cNvGrpSpPr/>
          <p:nvPr/>
        </p:nvGrpSpPr>
        <p:grpSpPr>
          <a:xfrm rot="0">
            <a:off x="13825728" y="7150608"/>
            <a:ext cx="1133856" cy="512064"/>
            <a:chOff x="0" y="0"/>
            <a:chExt cx="1511808" cy="682752"/>
          </a:xfrm>
        </p:grpSpPr>
        <p:sp>
          <p:nvSpPr>
            <p:cNvPr name="Freeform 209" id="209"/>
            <p:cNvSpPr/>
            <p:nvPr/>
          </p:nvSpPr>
          <p:spPr>
            <a:xfrm flipH="false" flipV="false" rot="0">
              <a:off x="0" y="0"/>
              <a:ext cx="1511808" cy="682752"/>
            </a:xfrm>
            <a:custGeom>
              <a:avLst/>
              <a:gdLst/>
              <a:ahLst/>
              <a:cxnLst/>
              <a:rect r="r" b="b" t="t" l="l"/>
              <a:pathLst>
                <a:path h="682752" w="1511808">
                  <a:moveTo>
                    <a:pt x="0" y="0"/>
                  </a:moveTo>
                  <a:lnTo>
                    <a:pt x="1511808" y="0"/>
                  </a:lnTo>
                  <a:lnTo>
                    <a:pt x="1511808" y="682752"/>
                  </a:lnTo>
                  <a:lnTo>
                    <a:pt x="0" y="682752"/>
                  </a:lnTo>
                  <a:close/>
                </a:path>
              </a:pathLst>
            </a:custGeom>
            <a:blipFill>
              <a:blip r:embed="rId2">
                <a:alphaModFix amt="0"/>
              </a:blip>
              <a:stretch>
                <a:fillRect l="-7943" t="0" r="-7943" b="0"/>
              </a:stretch>
            </a:blipFill>
          </p:spPr>
        </p:sp>
        <p:sp>
          <p:nvSpPr>
            <p:cNvPr name="TextBox 210" id="210"/>
            <p:cNvSpPr txBox="true"/>
            <p:nvPr/>
          </p:nvSpPr>
          <p:spPr>
            <a:xfrm>
              <a:off x="0" y="-38100"/>
              <a:ext cx="1511808" cy="720852"/>
            </a:xfrm>
            <a:prstGeom prst="rect">
              <a:avLst/>
            </a:prstGeom>
          </p:spPr>
          <p:txBody>
            <a:bodyPr anchor="ctr" rtlCol="false" tIns="0" lIns="0" bIns="0" rIns="0"/>
            <a:lstStyle/>
            <a:p>
              <a:pPr algn="ctr">
                <a:lnSpc>
                  <a:spcPts val="2039"/>
                </a:lnSpc>
              </a:pPr>
              <a:r>
                <a:rPr lang="en-US" sz="1700" b="true">
                  <a:solidFill>
                    <a:srgbClr val="1D4ED8"/>
                  </a:solidFill>
                  <a:latin typeface="Calibri (MS) Bold"/>
                  <a:ea typeface="Calibri (MS) Bold"/>
                  <a:cs typeface="Calibri (MS) Bold"/>
                  <a:sym typeface="Calibri (MS) Bold"/>
                </a:rPr>
                <a:t>Input</a:t>
              </a:r>
            </a:p>
          </p:txBody>
        </p:sp>
      </p:grpSp>
      <p:grpSp>
        <p:nvGrpSpPr>
          <p:cNvPr name="Group 211" id="211"/>
          <p:cNvGrpSpPr/>
          <p:nvPr/>
        </p:nvGrpSpPr>
        <p:grpSpPr>
          <a:xfrm rot="0">
            <a:off x="15355567" y="7125967"/>
            <a:ext cx="1731769" cy="561337"/>
            <a:chOff x="0" y="0"/>
            <a:chExt cx="2309025" cy="748449"/>
          </a:xfrm>
        </p:grpSpPr>
        <p:sp>
          <p:nvSpPr>
            <p:cNvPr name="Freeform 212" id="212"/>
            <p:cNvSpPr/>
            <p:nvPr/>
          </p:nvSpPr>
          <p:spPr>
            <a:xfrm flipH="false" flipV="false" rot="0">
              <a:off x="0" y="0"/>
              <a:ext cx="2309114" cy="748538"/>
            </a:xfrm>
            <a:custGeom>
              <a:avLst/>
              <a:gdLst/>
              <a:ahLst/>
              <a:cxnLst/>
              <a:rect r="r" b="b" t="t" l="l"/>
              <a:pathLst>
                <a:path h="748538" w="2309114">
                  <a:moveTo>
                    <a:pt x="0" y="199644"/>
                  </a:moveTo>
                  <a:cubicBezTo>
                    <a:pt x="0" y="89408"/>
                    <a:pt x="89408" y="0"/>
                    <a:pt x="199644" y="0"/>
                  </a:cubicBezTo>
                  <a:lnTo>
                    <a:pt x="2109470" y="0"/>
                  </a:lnTo>
                  <a:cubicBezTo>
                    <a:pt x="2219706" y="0"/>
                    <a:pt x="2309114" y="89408"/>
                    <a:pt x="2309114" y="199644"/>
                  </a:cubicBezTo>
                  <a:lnTo>
                    <a:pt x="2309114" y="548894"/>
                  </a:lnTo>
                  <a:cubicBezTo>
                    <a:pt x="2309114" y="659130"/>
                    <a:pt x="2219706" y="748538"/>
                    <a:pt x="2109470" y="748538"/>
                  </a:cubicBezTo>
                  <a:lnTo>
                    <a:pt x="199644" y="748538"/>
                  </a:lnTo>
                  <a:cubicBezTo>
                    <a:pt x="89408" y="748411"/>
                    <a:pt x="0" y="659130"/>
                    <a:pt x="0" y="548894"/>
                  </a:cubicBezTo>
                  <a:close/>
                </a:path>
              </a:pathLst>
            </a:custGeom>
            <a:solidFill>
              <a:srgbClr val="EEF4FF"/>
            </a:solidFill>
            <a:ln w="12700" cap="sq">
              <a:solidFill>
                <a:srgbClr val="1D4ED8"/>
              </a:solidFill>
              <a:prstDash val="solid"/>
              <a:miter/>
            </a:ln>
          </p:spPr>
        </p:sp>
      </p:grpSp>
      <p:grpSp>
        <p:nvGrpSpPr>
          <p:cNvPr name="Group 213" id="213"/>
          <p:cNvGrpSpPr/>
          <p:nvPr/>
        </p:nvGrpSpPr>
        <p:grpSpPr>
          <a:xfrm rot="0">
            <a:off x="15361920" y="7132320"/>
            <a:ext cx="1719072" cy="548640"/>
            <a:chOff x="0" y="0"/>
            <a:chExt cx="2292096" cy="731520"/>
          </a:xfrm>
        </p:grpSpPr>
        <p:sp>
          <p:nvSpPr>
            <p:cNvPr name="Freeform 214" id="214"/>
            <p:cNvSpPr/>
            <p:nvPr/>
          </p:nvSpPr>
          <p:spPr>
            <a:xfrm flipH="false" flipV="false" rot="0">
              <a:off x="0" y="0"/>
              <a:ext cx="2292096" cy="731520"/>
            </a:xfrm>
            <a:custGeom>
              <a:avLst/>
              <a:gdLst/>
              <a:ahLst/>
              <a:cxnLst/>
              <a:rect r="r" b="b" t="t" l="l"/>
              <a:pathLst>
                <a:path h="731520" w="2292096">
                  <a:moveTo>
                    <a:pt x="0" y="0"/>
                  </a:moveTo>
                  <a:lnTo>
                    <a:pt x="2292096" y="0"/>
                  </a:lnTo>
                  <a:lnTo>
                    <a:pt x="2292096" y="731520"/>
                  </a:lnTo>
                  <a:lnTo>
                    <a:pt x="0" y="731520"/>
                  </a:lnTo>
                  <a:close/>
                </a:path>
              </a:pathLst>
            </a:custGeom>
            <a:blipFill>
              <a:blip r:embed="rId2">
                <a:alphaModFix amt="0"/>
              </a:blip>
              <a:stretch>
                <a:fillRect l="0" t="-11053" r="0" b="-11053"/>
              </a:stretch>
            </a:blipFill>
          </p:spPr>
        </p:sp>
        <p:sp>
          <p:nvSpPr>
            <p:cNvPr name="TextBox 215" id="215"/>
            <p:cNvSpPr txBox="true"/>
            <p:nvPr/>
          </p:nvSpPr>
          <p:spPr>
            <a:xfrm>
              <a:off x="0" y="-38100"/>
              <a:ext cx="2292096" cy="769620"/>
            </a:xfrm>
            <a:prstGeom prst="rect">
              <a:avLst/>
            </a:prstGeom>
          </p:spPr>
          <p:txBody>
            <a:bodyPr anchor="ctr" rtlCol="false" tIns="0" lIns="0" bIns="0" rIns="0"/>
            <a:lstStyle/>
            <a:p>
              <a:pPr algn="ctr">
                <a:lnSpc>
                  <a:spcPts val="2039"/>
                </a:lnSpc>
              </a:pPr>
              <a:r>
                <a:rPr lang="en-US" sz="1700" b="true">
                  <a:solidFill>
                    <a:srgbClr val="1D4ED8"/>
                  </a:solidFill>
                  <a:latin typeface="Calibri (MS) Bold"/>
                  <a:ea typeface="Calibri (MS) Bold"/>
                  <a:cs typeface="Calibri (MS) Bold"/>
                  <a:sym typeface="Calibri (MS) Bold"/>
                </a:rPr>
                <a:t>Réseau</a:t>
              </a:r>
            </a:p>
          </p:txBody>
        </p:sp>
      </p:grpSp>
      <p:grpSp>
        <p:nvGrpSpPr>
          <p:cNvPr name="Group 216" id="216"/>
          <p:cNvGrpSpPr/>
          <p:nvPr/>
        </p:nvGrpSpPr>
        <p:grpSpPr>
          <a:xfrm rot="0">
            <a:off x="397259" y="7785611"/>
            <a:ext cx="17493491" cy="778259"/>
            <a:chOff x="0" y="0"/>
            <a:chExt cx="23324655" cy="1037679"/>
          </a:xfrm>
        </p:grpSpPr>
        <p:sp>
          <p:nvSpPr>
            <p:cNvPr name="Freeform 217" id="217"/>
            <p:cNvSpPr/>
            <p:nvPr/>
          </p:nvSpPr>
          <p:spPr>
            <a:xfrm flipH="false" flipV="false" rot="0">
              <a:off x="0" y="0"/>
              <a:ext cx="23324693" cy="1037717"/>
            </a:xfrm>
            <a:custGeom>
              <a:avLst/>
              <a:gdLst/>
              <a:ahLst/>
              <a:cxnLst/>
              <a:rect r="r" b="b" t="t" l="l"/>
              <a:pathLst>
                <a:path h="1037717" w="23324693">
                  <a:moveTo>
                    <a:pt x="0" y="0"/>
                  </a:moveTo>
                  <a:lnTo>
                    <a:pt x="23324693" y="0"/>
                  </a:lnTo>
                  <a:lnTo>
                    <a:pt x="23324693" y="1037717"/>
                  </a:lnTo>
                  <a:lnTo>
                    <a:pt x="0" y="1037717"/>
                  </a:lnTo>
                  <a:close/>
                </a:path>
              </a:pathLst>
            </a:custGeom>
            <a:solidFill>
              <a:srgbClr val="FFFFFF"/>
            </a:solidFill>
            <a:ln w="10160" cap="sq">
              <a:solidFill>
                <a:srgbClr val="D1DCF0"/>
              </a:solidFill>
              <a:prstDash val="solid"/>
              <a:miter/>
            </a:ln>
          </p:spPr>
        </p:sp>
      </p:grpSp>
      <p:grpSp>
        <p:nvGrpSpPr>
          <p:cNvPr name="Group 218" id="218"/>
          <p:cNvGrpSpPr/>
          <p:nvPr/>
        </p:nvGrpSpPr>
        <p:grpSpPr>
          <a:xfrm rot="0">
            <a:off x="397259" y="7785611"/>
            <a:ext cx="17493491" cy="778259"/>
            <a:chOff x="0" y="0"/>
            <a:chExt cx="23324655" cy="1037679"/>
          </a:xfrm>
        </p:grpSpPr>
        <p:sp>
          <p:nvSpPr>
            <p:cNvPr name="Freeform 219" id="219"/>
            <p:cNvSpPr/>
            <p:nvPr/>
          </p:nvSpPr>
          <p:spPr>
            <a:xfrm flipH="false" flipV="false" rot="0">
              <a:off x="0" y="0"/>
              <a:ext cx="23324693" cy="1037717"/>
            </a:xfrm>
            <a:custGeom>
              <a:avLst/>
              <a:gdLst/>
              <a:ahLst/>
              <a:cxnLst/>
              <a:rect r="r" b="b" t="t" l="l"/>
              <a:pathLst>
                <a:path h="1037717" w="23324693">
                  <a:moveTo>
                    <a:pt x="0" y="0"/>
                  </a:moveTo>
                  <a:lnTo>
                    <a:pt x="23324693" y="0"/>
                  </a:lnTo>
                  <a:lnTo>
                    <a:pt x="23324693" y="1037717"/>
                  </a:lnTo>
                  <a:lnTo>
                    <a:pt x="0" y="1037717"/>
                  </a:lnTo>
                  <a:close/>
                </a:path>
              </a:pathLst>
            </a:custGeom>
            <a:solidFill>
              <a:srgbClr val="F0F5FB"/>
            </a:solidFill>
            <a:ln w="10160" cap="sq">
              <a:solidFill>
                <a:srgbClr val="D1DCF0"/>
              </a:solidFill>
              <a:prstDash val="solid"/>
              <a:miter/>
            </a:ln>
          </p:spPr>
        </p:sp>
      </p:grpSp>
      <p:grpSp>
        <p:nvGrpSpPr>
          <p:cNvPr name="Group 220" id="220"/>
          <p:cNvGrpSpPr/>
          <p:nvPr/>
        </p:nvGrpSpPr>
        <p:grpSpPr>
          <a:xfrm rot="0">
            <a:off x="548640" y="7863840"/>
            <a:ext cx="3255264" cy="658368"/>
            <a:chOff x="0" y="0"/>
            <a:chExt cx="4340352" cy="877824"/>
          </a:xfrm>
        </p:grpSpPr>
        <p:sp>
          <p:nvSpPr>
            <p:cNvPr name="Freeform 221" id="221"/>
            <p:cNvSpPr/>
            <p:nvPr/>
          </p:nvSpPr>
          <p:spPr>
            <a:xfrm flipH="false" flipV="false" rot="0">
              <a:off x="0" y="0"/>
              <a:ext cx="4340352" cy="877824"/>
            </a:xfrm>
            <a:custGeom>
              <a:avLst/>
              <a:gdLst/>
              <a:ahLst/>
              <a:cxnLst/>
              <a:rect r="r" b="b" t="t" l="l"/>
              <a:pathLst>
                <a:path h="877824" w="4340352">
                  <a:moveTo>
                    <a:pt x="0" y="0"/>
                  </a:moveTo>
                  <a:lnTo>
                    <a:pt x="4340352" y="0"/>
                  </a:lnTo>
                  <a:lnTo>
                    <a:pt x="4340352" y="877824"/>
                  </a:lnTo>
                  <a:lnTo>
                    <a:pt x="0" y="877824"/>
                  </a:lnTo>
                  <a:close/>
                </a:path>
              </a:pathLst>
            </a:custGeom>
            <a:blipFill>
              <a:blip r:embed="rId2">
                <a:alphaModFix amt="0"/>
              </a:blip>
              <a:stretch>
                <a:fillRect l="0" t="-46342" r="0" b="-46342"/>
              </a:stretch>
            </a:blipFill>
          </p:spPr>
        </p:sp>
        <p:sp>
          <p:nvSpPr>
            <p:cNvPr name="TextBox 222" id="222"/>
            <p:cNvSpPr txBox="true"/>
            <p:nvPr/>
          </p:nvSpPr>
          <p:spPr>
            <a:xfrm>
              <a:off x="0" y="-38100"/>
              <a:ext cx="4340352" cy="915924"/>
            </a:xfrm>
            <a:prstGeom prst="rect">
              <a:avLst/>
            </a:prstGeom>
          </p:spPr>
          <p:txBody>
            <a:bodyPr anchor="ctr" rtlCol="false" tIns="0" lIns="0" bIns="0" rIns="0"/>
            <a:lstStyle/>
            <a:p>
              <a:pPr algn="l">
                <a:lnSpc>
                  <a:spcPts val="2280"/>
                </a:lnSpc>
              </a:pPr>
              <a:r>
                <a:rPr lang="en-US" sz="1900" b="true">
                  <a:solidFill>
                    <a:srgbClr val="1E3A5F"/>
                  </a:solidFill>
                  <a:latin typeface="Calibri (MS) Bold"/>
                  <a:ea typeface="Calibri (MS) Bold"/>
                  <a:cs typeface="Calibri (MS) Bold"/>
                  <a:sym typeface="Calibri (MS) Bold"/>
                </a:rPr>
                <a:t>Durée_flux</a:t>
              </a:r>
            </a:p>
          </p:txBody>
        </p:sp>
      </p:grpSp>
      <p:grpSp>
        <p:nvGrpSpPr>
          <p:cNvPr name="Group 223" id="223"/>
          <p:cNvGrpSpPr/>
          <p:nvPr/>
        </p:nvGrpSpPr>
        <p:grpSpPr>
          <a:xfrm rot="0">
            <a:off x="3986784" y="7863840"/>
            <a:ext cx="2286000" cy="658368"/>
            <a:chOff x="0" y="0"/>
            <a:chExt cx="3048000" cy="877824"/>
          </a:xfrm>
        </p:grpSpPr>
        <p:sp>
          <p:nvSpPr>
            <p:cNvPr name="Freeform 224" id="224"/>
            <p:cNvSpPr/>
            <p:nvPr/>
          </p:nvSpPr>
          <p:spPr>
            <a:xfrm flipH="false" flipV="false" rot="0">
              <a:off x="0" y="0"/>
              <a:ext cx="3048000" cy="877824"/>
            </a:xfrm>
            <a:custGeom>
              <a:avLst/>
              <a:gdLst/>
              <a:ahLst/>
              <a:cxnLst/>
              <a:rect r="r" b="b" t="t" l="l"/>
              <a:pathLst>
                <a:path h="877824" w="3048000">
                  <a:moveTo>
                    <a:pt x="0" y="0"/>
                  </a:moveTo>
                  <a:lnTo>
                    <a:pt x="3048000" y="0"/>
                  </a:lnTo>
                  <a:lnTo>
                    <a:pt x="3048000" y="877824"/>
                  </a:lnTo>
                  <a:lnTo>
                    <a:pt x="0" y="877824"/>
                  </a:lnTo>
                  <a:close/>
                </a:path>
              </a:pathLst>
            </a:custGeom>
            <a:blipFill>
              <a:blip r:embed="rId2">
                <a:alphaModFix amt="0"/>
              </a:blip>
              <a:stretch>
                <a:fillRect l="0" t="-17656" r="0" b="-17656"/>
              </a:stretch>
            </a:blipFill>
          </p:spPr>
        </p:sp>
        <p:sp>
          <p:nvSpPr>
            <p:cNvPr name="TextBox 225" id="225"/>
            <p:cNvSpPr txBox="true"/>
            <p:nvPr/>
          </p:nvSpPr>
          <p:spPr>
            <a:xfrm>
              <a:off x="0" y="-38100"/>
              <a:ext cx="3048000" cy="915924"/>
            </a:xfrm>
            <a:prstGeom prst="rect">
              <a:avLst/>
            </a:prstGeom>
          </p:spPr>
          <p:txBody>
            <a:bodyPr anchor="ctr" rtlCol="false" tIns="0" lIns="0" bIns="0" rIns="0"/>
            <a:lstStyle/>
            <a:p>
              <a:pPr algn="ctr">
                <a:lnSpc>
                  <a:spcPts val="2280"/>
                </a:lnSpc>
              </a:pPr>
              <a:r>
                <a:rPr lang="en-US" sz="1900">
                  <a:solidFill>
                    <a:srgbClr val="1E293B"/>
                  </a:solidFill>
                  <a:latin typeface="Calibri (MS)"/>
                  <a:ea typeface="Calibri (MS)"/>
                  <a:cs typeface="Calibri (MS)"/>
                  <a:sym typeface="Calibri (MS)"/>
                </a:rPr>
                <a:t>Numérique</a:t>
              </a:r>
            </a:p>
          </p:txBody>
        </p:sp>
      </p:grpSp>
      <p:grpSp>
        <p:nvGrpSpPr>
          <p:cNvPr name="Group 226" id="226"/>
          <p:cNvGrpSpPr/>
          <p:nvPr/>
        </p:nvGrpSpPr>
        <p:grpSpPr>
          <a:xfrm rot="0">
            <a:off x="6455664" y="7863840"/>
            <a:ext cx="5029200" cy="658368"/>
            <a:chOff x="0" y="0"/>
            <a:chExt cx="6705600" cy="877824"/>
          </a:xfrm>
        </p:grpSpPr>
        <p:sp>
          <p:nvSpPr>
            <p:cNvPr name="Freeform 227" id="227"/>
            <p:cNvSpPr/>
            <p:nvPr/>
          </p:nvSpPr>
          <p:spPr>
            <a:xfrm flipH="false" flipV="false" rot="0">
              <a:off x="0" y="0"/>
              <a:ext cx="6705600" cy="877824"/>
            </a:xfrm>
            <a:custGeom>
              <a:avLst/>
              <a:gdLst/>
              <a:ahLst/>
              <a:cxnLst/>
              <a:rect r="r" b="b" t="t" l="l"/>
              <a:pathLst>
                <a:path h="877824" w="6705600">
                  <a:moveTo>
                    <a:pt x="0" y="0"/>
                  </a:moveTo>
                  <a:lnTo>
                    <a:pt x="6705600" y="0"/>
                  </a:lnTo>
                  <a:lnTo>
                    <a:pt x="6705600" y="877824"/>
                  </a:lnTo>
                  <a:lnTo>
                    <a:pt x="0" y="877824"/>
                  </a:lnTo>
                  <a:close/>
                </a:path>
              </a:pathLst>
            </a:custGeom>
            <a:blipFill>
              <a:blip r:embed="rId2">
                <a:alphaModFix amt="0"/>
              </a:blip>
              <a:stretch>
                <a:fillRect l="0" t="-98844" r="0" b="-98844"/>
              </a:stretch>
            </a:blipFill>
          </p:spPr>
        </p:sp>
        <p:sp>
          <p:nvSpPr>
            <p:cNvPr name="TextBox 228" id="228"/>
            <p:cNvSpPr txBox="true"/>
            <p:nvPr/>
          </p:nvSpPr>
          <p:spPr>
            <a:xfrm>
              <a:off x="0" y="-38100"/>
              <a:ext cx="6705600" cy="915924"/>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Durée totale du flux réseau (secondes)</a:t>
              </a:r>
            </a:p>
          </p:txBody>
        </p:sp>
      </p:grpSp>
      <p:grpSp>
        <p:nvGrpSpPr>
          <p:cNvPr name="Group 229" id="229"/>
          <p:cNvGrpSpPr/>
          <p:nvPr/>
        </p:nvGrpSpPr>
        <p:grpSpPr>
          <a:xfrm rot="0">
            <a:off x="11667744" y="7863840"/>
            <a:ext cx="1865376" cy="658368"/>
            <a:chOff x="0" y="0"/>
            <a:chExt cx="2487168" cy="877824"/>
          </a:xfrm>
        </p:grpSpPr>
        <p:sp>
          <p:nvSpPr>
            <p:cNvPr name="Freeform 230" id="230"/>
            <p:cNvSpPr/>
            <p:nvPr/>
          </p:nvSpPr>
          <p:spPr>
            <a:xfrm flipH="false" flipV="false" rot="0">
              <a:off x="0" y="0"/>
              <a:ext cx="2487168" cy="877824"/>
            </a:xfrm>
            <a:custGeom>
              <a:avLst/>
              <a:gdLst/>
              <a:ahLst/>
              <a:cxnLst/>
              <a:rect r="r" b="b" t="t" l="l"/>
              <a:pathLst>
                <a:path h="877824" w="2487168">
                  <a:moveTo>
                    <a:pt x="0" y="0"/>
                  </a:moveTo>
                  <a:lnTo>
                    <a:pt x="2487168" y="0"/>
                  </a:lnTo>
                  <a:lnTo>
                    <a:pt x="2487168" y="877824"/>
                  </a:lnTo>
                  <a:lnTo>
                    <a:pt x="0" y="877824"/>
                  </a:lnTo>
                  <a:close/>
                </a:path>
              </a:pathLst>
            </a:custGeom>
            <a:blipFill>
              <a:blip r:embed="rId2">
                <a:alphaModFix amt="0"/>
              </a:blip>
              <a:stretch>
                <a:fillRect l="0" t="-5207" r="0" b="-5207"/>
              </a:stretch>
            </a:blipFill>
          </p:spPr>
        </p:sp>
        <p:sp>
          <p:nvSpPr>
            <p:cNvPr name="TextBox 231" id="231"/>
            <p:cNvSpPr txBox="true"/>
            <p:nvPr/>
          </p:nvSpPr>
          <p:spPr>
            <a:xfrm>
              <a:off x="0" y="-38100"/>
              <a:ext cx="2487168" cy="915924"/>
            </a:xfrm>
            <a:prstGeom prst="rect">
              <a:avLst/>
            </a:prstGeom>
          </p:spPr>
          <p:txBody>
            <a:bodyPr anchor="ctr" rtlCol="false" tIns="0" lIns="0" bIns="0" rIns="0"/>
            <a:lstStyle/>
            <a:p>
              <a:pPr algn="ctr">
                <a:lnSpc>
                  <a:spcPts val="2280"/>
                </a:lnSpc>
              </a:pPr>
              <a:r>
                <a:rPr lang="en-US" sz="1900">
                  <a:solidFill>
                    <a:srgbClr val="1E293B"/>
                  </a:solidFill>
                  <a:latin typeface="Calibri (MS)"/>
                  <a:ea typeface="Calibri (MS)"/>
                  <a:cs typeface="Calibri (MS)"/>
                  <a:sym typeface="Calibri (MS)"/>
                </a:rPr>
                <a:t>Quantitatif</a:t>
              </a:r>
            </a:p>
          </p:txBody>
        </p:sp>
      </p:grpSp>
      <p:grpSp>
        <p:nvGrpSpPr>
          <p:cNvPr name="Group 232" id="232"/>
          <p:cNvGrpSpPr/>
          <p:nvPr/>
        </p:nvGrpSpPr>
        <p:grpSpPr>
          <a:xfrm rot="0">
            <a:off x="13819375" y="7912351"/>
            <a:ext cx="1146553" cy="524761"/>
            <a:chOff x="0" y="0"/>
            <a:chExt cx="1528737" cy="699681"/>
          </a:xfrm>
        </p:grpSpPr>
        <p:sp>
          <p:nvSpPr>
            <p:cNvPr name="Freeform 233" id="233"/>
            <p:cNvSpPr/>
            <p:nvPr/>
          </p:nvSpPr>
          <p:spPr>
            <a:xfrm flipH="false" flipV="false" rot="0">
              <a:off x="0" y="0"/>
              <a:ext cx="1528699" cy="699643"/>
            </a:xfrm>
            <a:custGeom>
              <a:avLst/>
              <a:gdLst/>
              <a:ahLst/>
              <a:cxnLst/>
              <a:rect r="r" b="b" t="t" l="l"/>
              <a:pathLst>
                <a:path h="699643" w="1528699">
                  <a:moveTo>
                    <a:pt x="0" y="174879"/>
                  </a:moveTo>
                  <a:cubicBezTo>
                    <a:pt x="0" y="78359"/>
                    <a:pt x="78359" y="0"/>
                    <a:pt x="174879" y="0"/>
                  </a:cubicBezTo>
                  <a:lnTo>
                    <a:pt x="1353820" y="0"/>
                  </a:lnTo>
                  <a:cubicBezTo>
                    <a:pt x="1450467" y="0"/>
                    <a:pt x="1528699" y="78359"/>
                    <a:pt x="1528699" y="174879"/>
                  </a:cubicBezTo>
                  <a:lnTo>
                    <a:pt x="1528699" y="524764"/>
                  </a:lnTo>
                  <a:cubicBezTo>
                    <a:pt x="1528699" y="621411"/>
                    <a:pt x="1450340" y="699643"/>
                    <a:pt x="1353820" y="699643"/>
                  </a:cubicBezTo>
                  <a:lnTo>
                    <a:pt x="174879" y="699643"/>
                  </a:lnTo>
                  <a:cubicBezTo>
                    <a:pt x="78359" y="699643"/>
                    <a:pt x="0" y="621411"/>
                    <a:pt x="0" y="524764"/>
                  </a:cubicBezTo>
                  <a:close/>
                </a:path>
              </a:pathLst>
            </a:custGeom>
            <a:solidFill>
              <a:srgbClr val="DBEAFE"/>
            </a:solidFill>
            <a:ln w="12700" cap="sq">
              <a:solidFill>
                <a:srgbClr val="3B82F6"/>
              </a:solidFill>
              <a:prstDash val="solid"/>
              <a:miter/>
            </a:ln>
          </p:spPr>
        </p:sp>
      </p:grpSp>
      <p:grpSp>
        <p:nvGrpSpPr>
          <p:cNvPr name="Group 234" id="234"/>
          <p:cNvGrpSpPr/>
          <p:nvPr/>
        </p:nvGrpSpPr>
        <p:grpSpPr>
          <a:xfrm rot="0">
            <a:off x="13825728" y="7918704"/>
            <a:ext cx="1133856" cy="512064"/>
            <a:chOff x="0" y="0"/>
            <a:chExt cx="1511808" cy="682752"/>
          </a:xfrm>
        </p:grpSpPr>
        <p:sp>
          <p:nvSpPr>
            <p:cNvPr name="Freeform 235" id="235"/>
            <p:cNvSpPr/>
            <p:nvPr/>
          </p:nvSpPr>
          <p:spPr>
            <a:xfrm flipH="false" flipV="false" rot="0">
              <a:off x="0" y="0"/>
              <a:ext cx="1511808" cy="682752"/>
            </a:xfrm>
            <a:custGeom>
              <a:avLst/>
              <a:gdLst/>
              <a:ahLst/>
              <a:cxnLst/>
              <a:rect r="r" b="b" t="t" l="l"/>
              <a:pathLst>
                <a:path h="682752" w="1511808">
                  <a:moveTo>
                    <a:pt x="0" y="0"/>
                  </a:moveTo>
                  <a:lnTo>
                    <a:pt x="1511808" y="0"/>
                  </a:lnTo>
                  <a:lnTo>
                    <a:pt x="1511808" y="682752"/>
                  </a:lnTo>
                  <a:lnTo>
                    <a:pt x="0" y="682752"/>
                  </a:lnTo>
                  <a:close/>
                </a:path>
              </a:pathLst>
            </a:custGeom>
            <a:blipFill>
              <a:blip r:embed="rId2">
                <a:alphaModFix amt="0"/>
              </a:blip>
              <a:stretch>
                <a:fillRect l="-7943" t="0" r="-7943" b="0"/>
              </a:stretch>
            </a:blipFill>
          </p:spPr>
        </p:sp>
        <p:sp>
          <p:nvSpPr>
            <p:cNvPr name="TextBox 236" id="236"/>
            <p:cNvSpPr txBox="true"/>
            <p:nvPr/>
          </p:nvSpPr>
          <p:spPr>
            <a:xfrm>
              <a:off x="0" y="-38100"/>
              <a:ext cx="1511808" cy="720852"/>
            </a:xfrm>
            <a:prstGeom prst="rect">
              <a:avLst/>
            </a:prstGeom>
          </p:spPr>
          <p:txBody>
            <a:bodyPr anchor="ctr" rtlCol="false" tIns="0" lIns="0" bIns="0" rIns="0"/>
            <a:lstStyle/>
            <a:p>
              <a:pPr algn="ctr">
                <a:lnSpc>
                  <a:spcPts val="2039"/>
                </a:lnSpc>
              </a:pPr>
              <a:r>
                <a:rPr lang="en-US" sz="1700" b="true">
                  <a:solidFill>
                    <a:srgbClr val="1D4ED8"/>
                  </a:solidFill>
                  <a:latin typeface="Calibri (MS) Bold"/>
                  <a:ea typeface="Calibri (MS) Bold"/>
                  <a:cs typeface="Calibri (MS) Bold"/>
                  <a:sym typeface="Calibri (MS) Bold"/>
                </a:rPr>
                <a:t>Input</a:t>
              </a:r>
            </a:p>
          </p:txBody>
        </p:sp>
      </p:grpSp>
      <p:grpSp>
        <p:nvGrpSpPr>
          <p:cNvPr name="Group 237" id="237"/>
          <p:cNvGrpSpPr/>
          <p:nvPr/>
        </p:nvGrpSpPr>
        <p:grpSpPr>
          <a:xfrm rot="0">
            <a:off x="15355567" y="7894063"/>
            <a:ext cx="1731769" cy="561337"/>
            <a:chOff x="0" y="0"/>
            <a:chExt cx="2309025" cy="748449"/>
          </a:xfrm>
        </p:grpSpPr>
        <p:sp>
          <p:nvSpPr>
            <p:cNvPr name="Freeform 238" id="238"/>
            <p:cNvSpPr/>
            <p:nvPr/>
          </p:nvSpPr>
          <p:spPr>
            <a:xfrm flipH="false" flipV="false" rot="0">
              <a:off x="0" y="0"/>
              <a:ext cx="2309114" cy="748538"/>
            </a:xfrm>
            <a:custGeom>
              <a:avLst/>
              <a:gdLst/>
              <a:ahLst/>
              <a:cxnLst/>
              <a:rect r="r" b="b" t="t" l="l"/>
              <a:pathLst>
                <a:path h="748538" w="2309114">
                  <a:moveTo>
                    <a:pt x="0" y="199644"/>
                  </a:moveTo>
                  <a:cubicBezTo>
                    <a:pt x="0" y="89408"/>
                    <a:pt x="89408" y="0"/>
                    <a:pt x="199644" y="0"/>
                  </a:cubicBezTo>
                  <a:lnTo>
                    <a:pt x="2109470" y="0"/>
                  </a:lnTo>
                  <a:cubicBezTo>
                    <a:pt x="2219706" y="0"/>
                    <a:pt x="2309114" y="89408"/>
                    <a:pt x="2309114" y="199644"/>
                  </a:cubicBezTo>
                  <a:lnTo>
                    <a:pt x="2309114" y="548894"/>
                  </a:lnTo>
                  <a:cubicBezTo>
                    <a:pt x="2309114" y="659130"/>
                    <a:pt x="2219706" y="748538"/>
                    <a:pt x="2109470" y="748538"/>
                  </a:cubicBezTo>
                  <a:lnTo>
                    <a:pt x="199644" y="748538"/>
                  </a:lnTo>
                  <a:cubicBezTo>
                    <a:pt x="89408" y="748411"/>
                    <a:pt x="0" y="659130"/>
                    <a:pt x="0" y="548894"/>
                  </a:cubicBezTo>
                  <a:close/>
                </a:path>
              </a:pathLst>
            </a:custGeom>
            <a:solidFill>
              <a:srgbClr val="FFF3ED"/>
            </a:solidFill>
            <a:ln w="12700" cap="sq">
              <a:solidFill>
                <a:srgbClr val="E8541A"/>
              </a:solidFill>
              <a:prstDash val="solid"/>
              <a:miter/>
            </a:ln>
          </p:spPr>
        </p:sp>
      </p:grpSp>
      <p:grpSp>
        <p:nvGrpSpPr>
          <p:cNvPr name="Group 239" id="239"/>
          <p:cNvGrpSpPr/>
          <p:nvPr/>
        </p:nvGrpSpPr>
        <p:grpSpPr>
          <a:xfrm rot="0">
            <a:off x="15361920" y="7900416"/>
            <a:ext cx="1719072" cy="548640"/>
            <a:chOff x="0" y="0"/>
            <a:chExt cx="2292096" cy="731520"/>
          </a:xfrm>
        </p:grpSpPr>
        <p:sp>
          <p:nvSpPr>
            <p:cNvPr name="Freeform 240" id="240"/>
            <p:cNvSpPr/>
            <p:nvPr/>
          </p:nvSpPr>
          <p:spPr>
            <a:xfrm flipH="false" flipV="false" rot="0">
              <a:off x="0" y="0"/>
              <a:ext cx="2292096" cy="731520"/>
            </a:xfrm>
            <a:custGeom>
              <a:avLst/>
              <a:gdLst/>
              <a:ahLst/>
              <a:cxnLst/>
              <a:rect r="r" b="b" t="t" l="l"/>
              <a:pathLst>
                <a:path h="731520" w="2292096">
                  <a:moveTo>
                    <a:pt x="0" y="0"/>
                  </a:moveTo>
                  <a:lnTo>
                    <a:pt x="2292096" y="0"/>
                  </a:lnTo>
                  <a:lnTo>
                    <a:pt x="2292096" y="731520"/>
                  </a:lnTo>
                  <a:lnTo>
                    <a:pt x="0" y="731520"/>
                  </a:lnTo>
                  <a:close/>
                </a:path>
              </a:pathLst>
            </a:custGeom>
            <a:blipFill>
              <a:blip r:embed="rId2">
                <a:alphaModFix amt="0"/>
              </a:blip>
              <a:stretch>
                <a:fillRect l="0" t="-11053" r="0" b="-11053"/>
              </a:stretch>
            </a:blipFill>
          </p:spPr>
        </p:sp>
        <p:sp>
          <p:nvSpPr>
            <p:cNvPr name="TextBox 241" id="241"/>
            <p:cNvSpPr txBox="true"/>
            <p:nvPr/>
          </p:nvSpPr>
          <p:spPr>
            <a:xfrm>
              <a:off x="0" y="-38100"/>
              <a:ext cx="2292096" cy="769620"/>
            </a:xfrm>
            <a:prstGeom prst="rect">
              <a:avLst/>
            </a:prstGeom>
          </p:spPr>
          <p:txBody>
            <a:bodyPr anchor="ctr" rtlCol="false" tIns="0" lIns="0" bIns="0" rIns="0"/>
            <a:lstStyle/>
            <a:p>
              <a:pPr algn="ctr">
                <a:lnSpc>
                  <a:spcPts val="2039"/>
                </a:lnSpc>
              </a:pPr>
              <a:r>
                <a:rPr lang="en-US" sz="1700" b="true">
                  <a:solidFill>
                    <a:srgbClr val="C2410C"/>
                  </a:solidFill>
                  <a:latin typeface="Calibri (MS) Bold"/>
                  <a:ea typeface="Calibri (MS) Bold"/>
                  <a:cs typeface="Calibri (MS) Bold"/>
                  <a:sym typeface="Calibri (MS) Bold"/>
                </a:rPr>
                <a:t>Trafic</a:t>
              </a:r>
            </a:p>
          </p:txBody>
        </p:sp>
      </p:grpSp>
      <p:grpSp>
        <p:nvGrpSpPr>
          <p:cNvPr name="Group 242" id="242"/>
          <p:cNvGrpSpPr/>
          <p:nvPr/>
        </p:nvGrpSpPr>
        <p:grpSpPr>
          <a:xfrm rot="0">
            <a:off x="397259" y="8553707"/>
            <a:ext cx="17493491" cy="778259"/>
            <a:chOff x="0" y="0"/>
            <a:chExt cx="23324655" cy="1037679"/>
          </a:xfrm>
        </p:grpSpPr>
        <p:sp>
          <p:nvSpPr>
            <p:cNvPr name="Freeform 243" id="243"/>
            <p:cNvSpPr/>
            <p:nvPr/>
          </p:nvSpPr>
          <p:spPr>
            <a:xfrm flipH="false" flipV="false" rot="0">
              <a:off x="0" y="0"/>
              <a:ext cx="23324693" cy="1037717"/>
            </a:xfrm>
            <a:custGeom>
              <a:avLst/>
              <a:gdLst/>
              <a:ahLst/>
              <a:cxnLst/>
              <a:rect r="r" b="b" t="t" l="l"/>
              <a:pathLst>
                <a:path h="1037717" w="23324693">
                  <a:moveTo>
                    <a:pt x="0" y="0"/>
                  </a:moveTo>
                  <a:lnTo>
                    <a:pt x="23324693" y="0"/>
                  </a:lnTo>
                  <a:lnTo>
                    <a:pt x="23324693" y="1037717"/>
                  </a:lnTo>
                  <a:lnTo>
                    <a:pt x="0" y="1037717"/>
                  </a:lnTo>
                  <a:close/>
                </a:path>
              </a:pathLst>
            </a:custGeom>
            <a:solidFill>
              <a:srgbClr val="F0F5FB"/>
            </a:solidFill>
            <a:ln w="10160" cap="sq">
              <a:solidFill>
                <a:srgbClr val="D1DCF0"/>
              </a:solidFill>
              <a:prstDash val="solid"/>
              <a:miter/>
            </a:ln>
          </p:spPr>
        </p:sp>
      </p:grpSp>
      <p:grpSp>
        <p:nvGrpSpPr>
          <p:cNvPr name="Group 244" id="244"/>
          <p:cNvGrpSpPr/>
          <p:nvPr/>
        </p:nvGrpSpPr>
        <p:grpSpPr>
          <a:xfrm rot="0">
            <a:off x="397259" y="8553707"/>
            <a:ext cx="17493491" cy="778259"/>
            <a:chOff x="0" y="0"/>
            <a:chExt cx="23324655" cy="1037679"/>
          </a:xfrm>
        </p:grpSpPr>
        <p:sp>
          <p:nvSpPr>
            <p:cNvPr name="Freeform 245" id="245"/>
            <p:cNvSpPr/>
            <p:nvPr/>
          </p:nvSpPr>
          <p:spPr>
            <a:xfrm flipH="false" flipV="false" rot="0">
              <a:off x="0" y="0"/>
              <a:ext cx="23324693" cy="1037717"/>
            </a:xfrm>
            <a:custGeom>
              <a:avLst/>
              <a:gdLst/>
              <a:ahLst/>
              <a:cxnLst/>
              <a:rect r="r" b="b" t="t" l="l"/>
              <a:pathLst>
                <a:path h="1037717" w="23324693">
                  <a:moveTo>
                    <a:pt x="0" y="0"/>
                  </a:moveTo>
                  <a:lnTo>
                    <a:pt x="23324693" y="0"/>
                  </a:lnTo>
                  <a:lnTo>
                    <a:pt x="23324693" y="1037717"/>
                  </a:lnTo>
                  <a:lnTo>
                    <a:pt x="0" y="1037717"/>
                  </a:lnTo>
                  <a:close/>
                </a:path>
              </a:pathLst>
            </a:custGeom>
            <a:solidFill>
              <a:srgbClr val="F0F5FB"/>
            </a:solidFill>
            <a:ln w="10160" cap="sq">
              <a:solidFill>
                <a:srgbClr val="D1DCF0"/>
              </a:solidFill>
              <a:prstDash val="solid"/>
              <a:miter/>
            </a:ln>
          </p:spPr>
        </p:sp>
      </p:grpSp>
      <p:grpSp>
        <p:nvGrpSpPr>
          <p:cNvPr name="Group 246" id="246"/>
          <p:cNvGrpSpPr/>
          <p:nvPr/>
        </p:nvGrpSpPr>
        <p:grpSpPr>
          <a:xfrm rot="0">
            <a:off x="548640" y="8631936"/>
            <a:ext cx="3255264" cy="658368"/>
            <a:chOff x="0" y="0"/>
            <a:chExt cx="4340352" cy="877824"/>
          </a:xfrm>
        </p:grpSpPr>
        <p:sp>
          <p:nvSpPr>
            <p:cNvPr name="Freeform 247" id="247"/>
            <p:cNvSpPr/>
            <p:nvPr/>
          </p:nvSpPr>
          <p:spPr>
            <a:xfrm flipH="false" flipV="false" rot="0">
              <a:off x="0" y="0"/>
              <a:ext cx="4340352" cy="877824"/>
            </a:xfrm>
            <a:custGeom>
              <a:avLst/>
              <a:gdLst/>
              <a:ahLst/>
              <a:cxnLst/>
              <a:rect r="r" b="b" t="t" l="l"/>
              <a:pathLst>
                <a:path h="877824" w="4340352">
                  <a:moveTo>
                    <a:pt x="0" y="0"/>
                  </a:moveTo>
                  <a:lnTo>
                    <a:pt x="4340352" y="0"/>
                  </a:lnTo>
                  <a:lnTo>
                    <a:pt x="4340352" y="877824"/>
                  </a:lnTo>
                  <a:lnTo>
                    <a:pt x="0" y="877824"/>
                  </a:lnTo>
                  <a:close/>
                </a:path>
              </a:pathLst>
            </a:custGeom>
            <a:blipFill>
              <a:blip r:embed="rId2">
                <a:alphaModFix amt="0"/>
              </a:blip>
              <a:stretch>
                <a:fillRect l="0" t="-46342" r="0" b="-46342"/>
              </a:stretch>
            </a:blipFill>
          </p:spPr>
        </p:sp>
        <p:sp>
          <p:nvSpPr>
            <p:cNvPr name="TextBox 248" id="248"/>
            <p:cNvSpPr txBox="true"/>
            <p:nvPr/>
          </p:nvSpPr>
          <p:spPr>
            <a:xfrm>
              <a:off x="0" y="-38100"/>
              <a:ext cx="4340352" cy="915924"/>
            </a:xfrm>
            <a:prstGeom prst="rect">
              <a:avLst/>
            </a:prstGeom>
          </p:spPr>
          <p:txBody>
            <a:bodyPr anchor="ctr" rtlCol="false" tIns="0" lIns="0" bIns="0" rIns="0"/>
            <a:lstStyle/>
            <a:p>
              <a:pPr algn="l">
                <a:lnSpc>
                  <a:spcPts val="2280"/>
                </a:lnSpc>
              </a:pPr>
              <a:r>
                <a:rPr lang="en-US" sz="1900" b="true">
                  <a:solidFill>
                    <a:srgbClr val="1E3A5F"/>
                  </a:solidFill>
                  <a:latin typeface="Calibri (MS) Bold"/>
                  <a:ea typeface="Calibri (MS) Bold"/>
                  <a:cs typeface="Calibri (MS) Bold"/>
                  <a:sym typeface="Calibri (MS) Bold"/>
                </a:rPr>
                <a:t>Nb_paquets_envoyés</a:t>
              </a:r>
            </a:p>
          </p:txBody>
        </p:sp>
      </p:grpSp>
      <p:grpSp>
        <p:nvGrpSpPr>
          <p:cNvPr name="Group 249" id="249"/>
          <p:cNvGrpSpPr/>
          <p:nvPr/>
        </p:nvGrpSpPr>
        <p:grpSpPr>
          <a:xfrm rot="0">
            <a:off x="3986784" y="8631936"/>
            <a:ext cx="2286000" cy="658368"/>
            <a:chOff x="0" y="0"/>
            <a:chExt cx="3048000" cy="877824"/>
          </a:xfrm>
        </p:grpSpPr>
        <p:sp>
          <p:nvSpPr>
            <p:cNvPr name="Freeform 250" id="250"/>
            <p:cNvSpPr/>
            <p:nvPr/>
          </p:nvSpPr>
          <p:spPr>
            <a:xfrm flipH="false" flipV="false" rot="0">
              <a:off x="0" y="0"/>
              <a:ext cx="3048000" cy="877824"/>
            </a:xfrm>
            <a:custGeom>
              <a:avLst/>
              <a:gdLst/>
              <a:ahLst/>
              <a:cxnLst/>
              <a:rect r="r" b="b" t="t" l="l"/>
              <a:pathLst>
                <a:path h="877824" w="3048000">
                  <a:moveTo>
                    <a:pt x="0" y="0"/>
                  </a:moveTo>
                  <a:lnTo>
                    <a:pt x="3048000" y="0"/>
                  </a:lnTo>
                  <a:lnTo>
                    <a:pt x="3048000" y="877824"/>
                  </a:lnTo>
                  <a:lnTo>
                    <a:pt x="0" y="877824"/>
                  </a:lnTo>
                  <a:close/>
                </a:path>
              </a:pathLst>
            </a:custGeom>
            <a:blipFill>
              <a:blip r:embed="rId2">
                <a:alphaModFix amt="0"/>
              </a:blip>
              <a:stretch>
                <a:fillRect l="0" t="-17656" r="0" b="-17656"/>
              </a:stretch>
            </a:blipFill>
          </p:spPr>
        </p:sp>
        <p:sp>
          <p:nvSpPr>
            <p:cNvPr name="TextBox 251" id="251"/>
            <p:cNvSpPr txBox="true"/>
            <p:nvPr/>
          </p:nvSpPr>
          <p:spPr>
            <a:xfrm>
              <a:off x="0" y="-38100"/>
              <a:ext cx="3048000" cy="915924"/>
            </a:xfrm>
            <a:prstGeom prst="rect">
              <a:avLst/>
            </a:prstGeom>
          </p:spPr>
          <p:txBody>
            <a:bodyPr anchor="ctr" rtlCol="false" tIns="0" lIns="0" bIns="0" rIns="0"/>
            <a:lstStyle/>
            <a:p>
              <a:pPr algn="ctr">
                <a:lnSpc>
                  <a:spcPts val="2280"/>
                </a:lnSpc>
              </a:pPr>
              <a:r>
                <a:rPr lang="en-US" sz="1900">
                  <a:solidFill>
                    <a:srgbClr val="1E293B"/>
                  </a:solidFill>
                  <a:latin typeface="Calibri (MS)"/>
                  <a:ea typeface="Calibri (MS)"/>
                  <a:cs typeface="Calibri (MS)"/>
                  <a:sym typeface="Calibri (MS)"/>
                </a:rPr>
                <a:t>Numérique</a:t>
              </a:r>
            </a:p>
          </p:txBody>
        </p:sp>
      </p:grpSp>
      <p:grpSp>
        <p:nvGrpSpPr>
          <p:cNvPr name="Group 252" id="252"/>
          <p:cNvGrpSpPr/>
          <p:nvPr/>
        </p:nvGrpSpPr>
        <p:grpSpPr>
          <a:xfrm rot="0">
            <a:off x="6455664" y="8631936"/>
            <a:ext cx="5029200" cy="658368"/>
            <a:chOff x="0" y="0"/>
            <a:chExt cx="6705600" cy="877824"/>
          </a:xfrm>
        </p:grpSpPr>
        <p:sp>
          <p:nvSpPr>
            <p:cNvPr name="Freeform 253" id="253"/>
            <p:cNvSpPr/>
            <p:nvPr/>
          </p:nvSpPr>
          <p:spPr>
            <a:xfrm flipH="false" flipV="false" rot="0">
              <a:off x="0" y="0"/>
              <a:ext cx="6705600" cy="877824"/>
            </a:xfrm>
            <a:custGeom>
              <a:avLst/>
              <a:gdLst/>
              <a:ahLst/>
              <a:cxnLst/>
              <a:rect r="r" b="b" t="t" l="l"/>
              <a:pathLst>
                <a:path h="877824" w="6705600">
                  <a:moveTo>
                    <a:pt x="0" y="0"/>
                  </a:moveTo>
                  <a:lnTo>
                    <a:pt x="6705600" y="0"/>
                  </a:lnTo>
                  <a:lnTo>
                    <a:pt x="6705600" y="877824"/>
                  </a:lnTo>
                  <a:lnTo>
                    <a:pt x="0" y="877824"/>
                  </a:lnTo>
                  <a:close/>
                </a:path>
              </a:pathLst>
            </a:custGeom>
            <a:blipFill>
              <a:blip r:embed="rId2">
                <a:alphaModFix amt="0"/>
              </a:blip>
              <a:stretch>
                <a:fillRect l="0" t="-98844" r="0" b="-98844"/>
              </a:stretch>
            </a:blipFill>
          </p:spPr>
        </p:sp>
        <p:sp>
          <p:nvSpPr>
            <p:cNvPr name="TextBox 254" id="254"/>
            <p:cNvSpPr txBox="true"/>
            <p:nvPr/>
          </p:nvSpPr>
          <p:spPr>
            <a:xfrm>
              <a:off x="0" y="-38100"/>
              <a:ext cx="6705600" cy="915924"/>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Nombre total de paquets envoyés dans le flux</a:t>
              </a:r>
            </a:p>
          </p:txBody>
        </p:sp>
      </p:grpSp>
      <p:grpSp>
        <p:nvGrpSpPr>
          <p:cNvPr name="Group 255" id="255"/>
          <p:cNvGrpSpPr/>
          <p:nvPr/>
        </p:nvGrpSpPr>
        <p:grpSpPr>
          <a:xfrm rot="0">
            <a:off x="11667744" y="8631936"/>
            <a:ext cx="1865376" cy="658368"/>
            <a:chOff x="0" y="0"/>
            <a:chExt cx="2487168" cy="877824"/>
          </a:xfrm>
        </p:grpSpPr>
        <p:sp>
          <p:nvSpPr>
            <p:cNvPr name="Freeform 256" id="256"/>
            <p:cNvSpPr/>
            <p:nvPr/>
          </p:nvSpPr>
          <p:spPr>
            <a:xfrm flipH="false" flipV="false" rot="0">
              <a:off x="0" y="0"/>
              <a:ext cx="2487168" cy="877824"/>
            </a:xfrm>
            <a:custGeom>
              <a:avLst/>
              <a:gdLst/>
              <a:ahLst/>
              <a:cxnLst/>
              <a:rect r="r" b="b" t="t" l="l"/>
              <a:pathLst>
                <a:path h="877824" w="2487168">
                  <a:moveTo>
                    <a:pt x="0" y="0"/>
                  </a:moveTo>
                  <a:lnTo>
                    <a:pt x="2487168" y="0"/>
                  </a:lnTo>
                  <a:lnTo>
                    <a:pt x="2487168" y="877824"/>
                  </a:lnTo>
                  <a:lnTo>
                    <a:pt x="0" y="877824"/>
                  </a:lnTo>
                  <a:close/>
                </a:path>
              </a:pathLst>
            </a:custGeom>
            <a:blipFill>
              <a:blip r:embed="rId2">
                <a:alphaModFix amt="0"/>
              </a:blip>
              <a:stretch>
                <a:fillRect l="0" t="-5207" r="0" b="-5207"/>
              </a:stretch>
            </a:blipFill>
          </p:spPr>
        </p:sp>
        <p:sp>
          <p:nvSpPr>
            <p:cNvPr name="TextBox 257" id="257"/>
            <p:cNvSpPr txBox="true"/>
            <p:nvPr/>
          </p:nvSpPr>
          <p:spPr>
            <a:xfrm>
              <a:off x="0" y="-38100"/>
              <a:ext cx="2487168" cy="915924"/>
            </a:xfrm>
            <a:prstGeom prst="rect">
              <a:avLst/>
            </a:prstGeom>
          </p:spPr>
          <p:txBody>
            <a:bodyPr anchor="ctr" rtlCol="false" tIns="0" lIns="0" bIns="0" rIns="0"/>
            <a:lstStyle/>
            <a:p>
              <a:pPr algn="ctr">
                <a:lnSpc>
                  <a:spcPts val="2280"/>
                </a:lnSpc>
              </a:pPr>
              <a:r>
                <a:rPr lang="en-US" sz="1900">
                  <a:solidFill>
                    <a:srgbClr val="1E293B"/>
                  </a:solidFill>
                  <a:latin typeface="Calibri (MS)"/>
                  <a:ea typeface="Calibri (MS)"/>
                  <a:cs typeface="Calibri (MS)"/>
                  <a:sym typeface="Calibri (MS)"/>
                </a:rPr>
                <a:t>Quantitatif</a:t>
              </a:r>
            </a:p>
          </p:txBody>
        </p:sp>
      </p:grpSp>
      <p:grpSp>
        <p:nvGrpSpPr>
          <p:cNvPr name="Group 258" id="258"/>
          <p:cNvGrpSpPr/>
          <p:nvPr/>
        </p:nvGrpSpPr>
        <p:grpSpPr>
          <a:xfrm rot="0">
            <a:off x="13819375" y="8680447"/>
            <a:ext cx="1146553" cy="524761"/>
            <a:chOff x="0" y="0"/>
            <a:chExt cx="1528737" cy="699681"/>
          </a:xfrm>
        </p:grpSpPr>
        <p:sp>
          <p:nvSpPr>
            <p:cNvPr name="Freeform 259" id="259"/>
            <p:cNvSpPr/>
            <p:nvPr/>
          </p:nvSpPr>
          <p:spPr>
            <a:xfrm flipH="false" flipV="false" rot="0">
              <a:off x="0" y="0"/>
              <a:ext cx="1528699" cy="699643"/>
            </a:xfrm>
            <a:custGeom>
              <a:avLst/>
              <a:gdLst/>
              <a:ahLst/>
              <a:cxnLst/>
              <a:rect r="r" b="b" t="t" l="l"/>
              <a:pathLst>
                <a:path h="699643" w="1528699">
                  <a:moveTo>
                    <a:pt x="0" y="174879"/>
                  </a:moveTo>
                  <a:cubicBezTo>
                    <a:pt x="0" y="78359"/>
                    <a:pt x="78359" y="0"/>
                    <a:pt x="174879" y="0"/>
                  </a:cubicBezTo>
                  <a:lnTo>
                    <a:pt x="1353820" y="0"/>
                  </a:lnTo>
                  <a:cubicBezTo>
                    <a:pt x="1450467" y="0"/>
                    <a:pt x="1528699" y="78359"/>
                    <a:pt x="1528699" y="174879"/>
                  </a:cubicBezTo>
                  <a:lnTo>
                    <a:pt x="1528699" y="524764"/>
                  </a:lnTo>
                  <a:cubicBezTo>
                    <a:pt x="1528699" y="621411"/>
                    <a:pt x="1450340" y="699643"/>
                    <a:pt x="1353820" y="699643"/>
                  </a:cubicBezTo>
                  <a:lnTo>
                    <a:pt x="174879" y="699643"/>
                  </a:lnTo>
                  <a:cubicBezTo>
                    <a:pt x="78359" y="699643"/>
                    <a:pt x="0" y="621411"/>
                    <a:pt x="0" y="524764"/>
                  </a:cubicBezTo>
                  <a:close/>
                </a:path>
              </a:pathLst>
            </a:custGeom>
            <a:solidFill>
              <a:srgbClr val="DBEAFE"/>
            </a:solidFill>
            <a:ln w="12700" cap="sq">
              <a:solidFill>
                <a:srgbClr val="3B82F6"/>
              </a:solidFill>
              <a:prstDash val="solid"/>
              <a:miter/>
            </a:ln>
          </p:spPr>
        </p:sp>
      </p:grpSp>
      <p:grpSp>
        <p:nvGrpSpPr>
          <p:cNvPr name="Group 260" id="260"/>
          <p:cNvGrpSpPr/>
          <p:nvPr/>
        </p:nvGrpSpPr>
        <p:grpSpPr>
          <a:xfrm rot="0">
            <a:off x="13825728" y="8686800"/>
            <a:ext cx="1133856" cy="512064"/>
            <a:chOff x="0" y="0"/>
            <a:chExt cx="1511808" cy="682752"/>
          </a:xfrm>
        </p:grpSpPr>
        <p:sp>
          <p:nvSpPr>
            <p:cNvPr name="Freeform 261" id="261"/>
            <p:cNvSpPr/>
            <p:nvPr/>
          </p:nvSpPr>
          <p:spPr>
            <a:xfrm flipH="false" flipV="false" rot="0">
              <a:off x="0" y="0"/>
              <a:ext cx="1511808" cy="682752"/>
            </a:xfrm>
            <a:custGeom>
              <a:avLst/>
              <a:gdLst/>
              <a:ahLst/>
              <a:cxnLst/>
              <a:rect r="r" b="b" t="t" l="l"/>
              <a:pathLst>
                <a:path h="682752" w="1511808">
                  <a:moveTo>
                    <a:pt x="0" y="0"/>
                  </a:moveTo>
                  <a:lnTo>
                    <a:pt x="1511808" y="0"/>
                  </a:lnTo>
                  <a:lnTo>
                    <a:pt x="1511808" y="682752"/>
                  </a:lnTo>
                  <a:lnTo>
                    <a:pt x="0" y="682752"/>
                  </a:lnTo>
                  <a:close/>
                </a:path>
              </a:pathLst>
            </a:custGeom>
            <a:blipFill>
              <a:blip r:embed="rId2">
                <a:alphaModFix amt="0"/>
              </a:blip>
              <a:stretch>
                <a:fillRect l="-7943" t="0" r="-7943" b="0"/>
              </a:stretch>
            </a:blipFill>
          </p:spPr>
        </p:sp>
        <p:sp>
          <p:nvSpPr>
            <p:cNvPr name="TextBox 262" id="262"/>
            <p:cNvSpPr txBox="true"/>
            <p:nvPr/>
          </p:nvSpPr>
          <p:spPr>
            <a:xfrm>
              <a:off x="0" y="-38100"/>
              <a:ext cx="1511808" cy="720852"/>
            </a:xfrm>
            <a:prstGeom prst="rect">
              <a:avLst/>
            </a:prstGeom>
          </p:spPr>
          <p:txBody>
            <a:bodyPr anchor="ctr" rtlCol="false" tIns="0" lIns="0" bIns="0" rIns="0"/>
            <a:lstStyle/>
            <a:p>
              <a:pPr algn="ctr">
                <a:lnSpc>
                  <a:spcPts val="2039"/>
                </a:lnSpc>
              </a:pPr>
              <a:r>
                <a:rPr lang="en-US" sz="1700" b="true">
                  <a:solidFill>
                    <a:srgbClr val="1D4ED8"/>
                  </a:solidFill>
                  <a:latin typeface="Calibri (MS) Bold"/>
                  <a:ea typeface="Calibri (MS) Bold"/>
                  <a:cs typeface="Calibri (MS) Bold"/>
                  <a:sym typeface="Calibri (MS) Bold"/>
                </a:rPr>
                <a:t>Input</a:t>
              </a:r>
            </a:p>
          </p:txBody>
        </p:sp>
      </p:grpSp>
      <p:grpSp>
        <p:nvGrpSpPr>
          <p:cNvPr name="Group 263" id="263"/>
          <p:cNvGrpSpPr/>
          <p:nvPr/>
        </p:nvGrpSpPr>
        <p:grpSpPr>
          <a:xfrm rot="0">
            <a:off x="15355567" y="8662159"/>
            <a:ext cx="1731769" cy="561337"/>
            <a:chOff x="0" y="0"/>
            <a:chExt cx="2309025" cy="748449"/>
          </a:xfrm>
        </p:grpSpPr>
        <p:sp>
          <p:nvSpPr>
            <p:cNvPr name="Freeform 264" id="264"/>
            <p:cNvSpPr/>
            <p:nvPr/>
          </p:nvSpPr>
          <p:spPr>
            <a:xfrm flipH="false" flipV="false" rot="0">
              <a:off x="0" y="0"/>
              <a:ext cx="2309114" cy="748538"/>
            </a:xfrm>
            <a:custGeom>
              <a:avLst/>
              <a:gdLst/>
              <a:ahLst/>
              <a:cxnLst/>
              <a:rect r="r" b="b" t="t" l="l"/>
              <a:pathLst>
                <a:path h="748538" w="2309114">
                  <a:moveTo>
                    <a:pt x="0" y="199644"/>
                  </a:moveTo>
                  <a:cubicBezTo>
                    <a:pt x="0" y="89408"/>
                    <a:pt x="89408" y="0"/>
                    <a:pt x="199644" y="0"/>
                  </a:cubicBezTo>
                  <a:lnTo>
                    <a:pt x="2109470" y="0"/>
                  </a:lnTo>
                  <a:cubicBezTo>
                    <a:pt x="2219706" y="0"/>
                    <a:pt x="2309114" y="89408"/>
                    <a:pt x="2309114" y="199644"/>
                  </a:cubicBezTo>
                  <a:lnTo>
                    <a:pt x="2309114" y="548894"/>
                  </a:lnTo>
                  <a:cubicBezTo>
                    <a:pt x="2309114" y="659130"/>
                    <a:pt x="2219706" y="748538"/>
                    <a:pt x="2109470" y="748538"/>
                  </a:cubicBezTo>
                  <a:lnTo>
                    <a:pt x="199644" y="748538"/>
                  </a:lnTo>
                  <a:cubicBezTo>
                    <a:pt x="89408" y="748411"/>
                    <a:pt x="0" y="659130"/>
                    <a:pt x="0" y="548894"/>
                  </a:cubicBezTo>
                  <a:close/>
                </a:path>
              </a:pathLst>
            </a:custGeom>
            <a:solidFill>
              <a:srgbClr val="FFF3ED"/>
            </a:solidFill>
            <a:ln w="12700" cap="sq">
              <a:solidFill>
                <a:srgbClr val="E8541A"/>
              </a:solidFill>
              <a:prstDash val="solid"/>
              <a:miter/>
            </a:ln>
          </p:spPr>
        </p:sp>
      </p:grpSp>
      <p:grpSp>
        <p:nvGrpSpPr>
          <p:cNvPr name="Group 265" id="265"/>
          <p:cNvGrpSpPr/>
          <p:nvPr/>
        </p:nvGrpSpPr>
        <p:grpSpPr>
          <a:xfrm rot="0">
            <a:off x="15361920" y="8668512"/>
            <a:ext cx="1719072" cy="548640"/>
            <a:chOff x="0" y="0"/>
            <a:chExt cx="2292096" cy="731520"/>
          </a:xfrm>
        </p:grpSpPr>
        <p:sp>
          <p:nvSpPr>
            <p:cNvPr name="Freeform 266" id="266"/>
            <p:cNvSpPr/>
            <p:nvPr/>
          </p:nvSpPr>
          <p:spPr>
            <a:xfrm flipH="false" flipV="false" rot="0">
              <a:off x="0" y="0"/>
              <a:ext cx="2292096" cy="731520"/>
            </a:xfrm>
            <a:custGeom>
              <a:avLst/>
              <a:gdLst/>
              <a:ahLst/>
              <a:cxnLst/>
              <a:rect r="r" b="b" t="t" l="l"/>
              <a:pathLst>
                <a:path h="731520" w="2292096">
                  <a:moveTo>
                    <a:pt x="0" y="0"/>
                  </a:moveTo>
                  <a:lnTo>
                    <a:pt x="2292096" y="0"/>
                  </a:lnTo>
                  <a:lnTo>
                    <a:pt x="2292096" y="731520"/>
                  </a:lnTo>
                  <a:lnTo>
                    <a:pt x="0" y="731520"/>
                  </a:lnTo>
                  <a:close/>
                </a:path>
              </a:pathLst>
            </a:custGeom>
            <a:blipFill>
              <a:blip r:embed="rId2">
                <a:alphaModFix amt="0"/>
              </a:blip>
              <a:stretch>
                <a:fillRect l="0" t="-11053" r="0" b="-11053"/>
              </a:stretch>
            </a:blipFill>
          </p:spPr>
        </p:sp>
        <p:sp>
          <p:nvSpPr>
            <p:cNvPr name="TextBox 267" id="267"/>
            <p:cNvSpPr txBox="true"/>
            <p:nvPr/>
          </p:nvSpPr>
          <p:spPr>
            <a:xfrm>
              <a:off x="0" y="-38100"/>
              <a:ext cx="2292096" cy="769620"/>
            </a:xfrm>
            <a:prstGeom prst="rect">
              <a:avLst/>
            </a:prstGeom>
          </p:spPr>
          <p:txBody>
            <a:bodyPr anchor="ctr" rtlCol="false" tIns="0" lIns="0" bIns="0" rIns="0"/>
            <a:lstStyle/>
            <a:p>
              <a:pPr algn="ctr">
                <a:lnSpc>
                  <a:spcPts val="2039"/>
                </a:lnSpc>
              </a:pPr>
              <a:r>
                <a:rPr lang="en-US" sz="1700" b="true">
                  <a:solidFill>
                    <a:srgbClr val="C2410C"/>
                  </a:solidFill>
                  <a:latin typeface="Calibri (MS) Bold"/>
                  <a:ea typeface="Calibri (MS) Bold"/>
                  <a:cs typeface="Calibri (MS) Bold"/>
                  <a:sym typeface="Calibri (MS) Bold"/>
                </a:rPr>
                <a:t>Trafic</a:t>
              </a:r>
            </a:p>
          </p:txBody>
        </p:sp>
      </p:grpSp>
      <p:grpSp>
        <p:nvGrpSpPr>
          <p:cNvPr name="Group 268" id="268"/>
          <p:cNvGrpSpPr/>
          <p:nvPr/>
        </p:nvGrpSpPr>
        <p:grpSpPr>
          <a:xfrm rot="0">
            <a:off x="402336" y="9436608"/>
            <a:ext cx="1828800" cy="512064"/>
            <a:chOff x="0" y="0"/>
            <a:chExt cx="2438400" cy="682752"/>
          </a:xfrm>
        </p:grpSpPr>
        <p:sp>
          <p:nvSpPr>
            <p:cNvPr name="Freeform 269" id="269"/>
            <p:cNvSpPr/>
            <p:nvPr/>
          </p:nvSpPr>
          <p:spPr>
            <a:xfrm flipH="false" flipV="false" rot="0">
              <a:off x="0" y="0"/>
              <a:ext cx="2438400" cy="682752"/>
            </a:xfrm>
            <a:custGeom>
              <a:avLst/>
              <a:gdLst/>
              <a:ahLst/>
              <a:cxnLst/>
              <a:rect r="r" b="b" t="t" l="l"/>
              <a:pathLst>
                <a:path h="682752" w="2438400">
                  <a:moveTo>
                    <a:pt x="0" y="0"/>
                  </a:moveTo>
                  <a:lnTo>
                    <a:pt x="2438400" y="0"/>
                  </a:lnTo>
                  <a:lnTo>
                    <a:pt x="2438400" y="682752"/>
                  </a:lnTo>
                  <a:lnTo>
                    <a:pt x="0" y="682752"/>
                  </a:lnTo>
                  <a:close/>
                </a:path>
              </a:pathLst>
            </a:custGeom>
            <a:blipFill>
              <a:blip r:embed="rId2">
                <a:alphaModFix amt="0"/>
              </a:blip>
              <a:stretch>
                <a:fillRect l="0" t="-19589" r="0" b="-19589"/>
              </a:stretch>
            </a:blipFill>
          </p:spPr>
        </p:sp>
        <p:sp>
          <p:nvSpPr>
            <p:cNvPr name="TextBox 270" id="270"/>
            <p:cNvSpPr txBox="true"/>
            <p:nvPr/>
          </p:nvSpPr>
          <p:spPr>
            <a:xfrm>
              <a:off x="0" y="-38100"/>
              <a:ext cx="2438400" cy="720852"/>
            </a:xfrm>
            <a:prstGeom prst="rect">
              <a:avLst/>
            </a:prstGeom>
          </p:spPr>
          <p:txBody>
            <a:bodyPr anchor="ctr" rtlCol="false" tIns="0" lIns="0" bIns="0" rIns="0"/>
            <a:lstStyle/>
            <a:p>
              <a:pPr algn="l">
                <a:lnSpc>
                  <a:spcPts val="2160"/>
                </a:lnSpc>
              </a:pPr>
              <a:r>
                <a:rPr lang="en-US" sz="1800" b="true">
                  <a:solidFill>
                    <a:srgbClr val="64748B"/>
                  </a:solidFill>
                  <a:latin typeface="Calibri (MS) Bold"/>
                  <a:ea typeface="Calibri (MS) Bold"/>
                  <a:cs typeface="Calibri (MS) Bold"/>
                  <a:sym typeface="Calibri (MS) Bold"/>
                </a:rPr>
                <a:t>Catégories :</a:t>
              </a:r>
            </a:p>
          </p:txBody>
        </p:sp>
      </p:grpSp>
      <p:grpSp>
        <p:nvGrpSpPr>
          <p:cNvPr name="Group 271" id="271"/>
          <p:cNvGrpSpPr/>
          <p:nvPr/>
        </p:nvGrpSpPr>
        <p:grpSpPr>
          <a:xfrm rot="0">
            <a:off x="2328167" y="9533639"/>
            <a:ext cx="318011" cy="318011"/>
            <a:chOff x="0" y="0"/>
            <a:chExt cx="424015" cy="424015"/>
          </a:xfrm>
        </p:grpSpPr>
        <p:sp>
          <p:nvSpPr>
            <p:cNvPr name="Freeform 272" id="272"/>
            <p:cNvSpPr/>
            <p:nvPr/>
          </p:nvSpPr>
          <p:spPr>
            <a:xfrm flipH="false" flipV="false" rot="0">
              <a:off x="0" y="0"/>
              <a:ext cx="424053" cy="424053"/>
            </a:xfrm>
            <a:custGeom>
              <a:avLst/>
              <a:gdLst/>
              <a:ahLst/>
              <a:cxnLst/>
              <a:rect r="r" b="b" t="t" l="l"/>
              <a:pathLst>
                <a:path h="424053" w="424053">
                  <a:moveTo>
                    <a:pt x="0" y="211963"/>
                  </a:moveTo>
                  <a:cubicBezTo>
                    <a:pt x="0" y="94869"/>
                    <a:pt x="94869" y="0"/>
                    <a:pt x="211963" y="0"/>
                  </a:cubicBezTo>
                  <a:cubicBezTo>
                    <a:pt x="329057" y="0"/>
                    <a:pt x="424053" y="94869"/>
                    <a:pt x="424053" y="211963"/>
                  </a:cubicBezTo>
                  <a:cubicBezTo>
                    <a:pt x="424053" y="329057"/>
                    <a:pt x="329057" y="424053"/>
                    <a:pt x="211963" y="424053"/>
                  </a:cubicBezTo>
                  <a:cubicBezTo>
                    <a:pt x="94869" y="424053"/>
                    <a:pt x="0" y="329057"/>
                    <a:pt x="0" y="211963"/>
                  </a:cubicBezTo>
                  <a:close/>
                </a:path>
              </a:pathLst>
            </a:custGeom>
            <a:solidFill>
              <a:srgbClr val="1D4ED8"/>
            </a:solidFill>
            <a:ln w="25400" cap="sq">
              <a:solidFill>
                <a:srgbClr val="1D4ED8"/>
              </a:solidFill>
              <a:prstDash val="solid"/>
              <a:miter/>
            </a:ln>
          </p:spPr>
        </p:sp>
      </p:grpSp>
      <p:grpSp>
        <p:nvGrpSpPr>
          <p:cNvPr name="Group 273" id="273"/>
          <p:cNvGrpSpPr/>
          <p:nvPr/>
        </p:nvGrpSpPr>
        <p:grpSpPr>
          <a:xfrm rot="0">
            <a:off x="2706624" y="9473184"/>
            <a:ext cx="2157984" cy="438912"/>
            <a:chOff x="0" y="0"/>
            <a:chExt cx="2877312" cy="585216"/>
          </a:xfrm>
        </p:grpSpPr>
        <p:sp>
          <p:nvSpPr>
            <p:cNvPr name="Freeform 274" id="274"/>
            <p:cNvSpPr/>
            <p:nvPr/>
          </p:nvSpPr>
          <p:spPr>
            <a:xfrm flipH="false" flipV="false" rot="0">
              <a:off x="0" y="0"/>
              <a:ext cx="2877312" cy="585216"/>
            </a:xfrm>
            <a:custGeom>
              <a:avLst/>
              <a:gdLst/>
              <a:ahLst/>
              <a:cxnLst/>
              <a:rect r="r" b="b" t="t" l="l"/>
              <a:pathLst>
                <a:path h="585216" w="2877312">
                  <a:moveTo>
                    <a:pt x="0" y="0"/>
                  </a:moveTo>
                  <a:lnTo>
                    <a:pt x="2877312" y="0"/>
                  </a:lnTo>
                  <a:lnTo>
                    <a:pt x="2877312" y="585216"/>
                  </a:lnTo>
                  <a:lnTo>
                    <a:pt x="0" y="585216"/>
                  </a:lnTo>
                  <a:close/>
                </a:path>
              </a:pathLst>
            </a:custGeom>
            <a:blipFill>
              <a:blip r:embed="rId2">
                <a:alphaModFix amt="0"/>
              </a:blip>
              <a:stretch>
                <a:fillRect l="0" t="-45801" r="0" b="-45801"/>
              </a:stretch>
            </a:blipFill>
          </p:spPr>
        </p:sp>
        <p:sp>
          <p:nvSpPr>
            <p:cNvPr name="TextBox 275" id="275"/>
            <p:cNvSpPr txBox="true"/>
            <p:nvPr/>
          </p:nvSpPr>
          <p:spPr>
            <a:xfrm>
              <a:off x="0" y="-38100"/>
              <a:ext cx="2877312" cy="623316"/>
            </a:xfrm>
            <a:prstGeom prst="rect">
              <a:avLst/>
            </a:prstGeom>
          </p:spPr>
          <p:txBody>
            <a:bodyPr anchor="ctr" rtlCol="false" tIns="0" lIns="0" bIns="0" rIns="0"/>
            <a:lstStyle/>
            <a:p>
              <a:pPr algn="l">
                <a:lnSpc>
                  <a:spcPts val="2039"/>
                </a:lnSpc>
              </a:pPr>
              <a:r>
                <a:rPr lang="en-US" sz="1700">
                  <a:solidFill>
                    <a:srgbClr val="64748B"/>
                  </a:solidFill>
                  <a:latin typeface="Calibri (MS)"/>
                  <a:ea typeface="Calibri (MS)"/>
                  <a:cs typeface="Calibri (MS)"/>
                  <a:sym typeface="Calibri (MS)"/>
                </a:rPr>
                <a:t>Réseau</a:t>
              </a:r>
            </a:p>
          </p:txBody>
        </p:sp>
      </p:grpSp>
      <p:grpSp>
        <p:nvGrpSpPr>
          <p:cNvPr name="Group 276" id="276"/>
          <p:cNvGrpSpPr/>
          <p:nvPr/>
        </p:nvGrpSpPr>
        <p:grpSpPr>
          <a:xfrm rot="0">
            <a:off x="4925063" y="9533639"/>
            <a:ext cx="318011" cy="318011"/>
            <a:chOff x="0" y="0"/>
            <a:chExt cx="424015" cy="424015"/>
          </a:xfrm>
        </p:grpSpPr>
        <p:sp>
          <p:nvSpPr>
            <p:cNvPr name="Freeform 277" id="277"/>
            <p:cNvSpPr/>
            <p:nvPr/>
          </p:nvSpPr>
          <p:spPr>
            <a:xfrm flipH="false" flipV="false" rot="0">
              <a:off x="0" y="0"/>
              <a:ext cx="424053" cy="424053"/>
            </a:xfrm>
            <a:custGeom>
              <a:avLst/>
              <a:gdLst/>
              <a:ahLst/>
              <a:cxnLst/>
              <a:rect r="r" b="b" t="t" l="l"/>
              <a:pathLst>
                <a:path h="424053" w="424053">
                  <a:moveTo>
                    <a:pt x="0" y="211963"/>
                  </a:moveTo>
                  <a:cubicBezTo>
                    <a:pt x="0" y="94869"/>
                    <a:pt x="94869" y="0"/>
                    <a:pt x="211963" y="0"/>
                  </a:cubicBezTo>
                  <a:cubicBezTo>
                    <a:pt x="329057" y="0"/>
                    <a:pt x="424053" y="94869"/>
                    <a:pt x="424053" y="211963"/>
                  </a:cubicBezTo>
                  <a:cubicBezTo>
                    <a:pt x="424053" y="329057"/>
                    <a:pt x="329057" y="424053"/>
                    <a:pt x="211963" y="424053"/>
                  </a:cubicBezTo>
                  <a:cubicBezTo>
                    <a:pt x="94869" y="424053"/>
                    <a:pt x="0" y="329057"/>
                    <a:pt x="0" y="211963"/>
                  </a:cubicBezTo>
                  <a:close/>
                </a:path>
              </a:pathLst>
            </a:custGeom>
            <a:solidFill>
              <a:srgbClr val="E8541A"/>
            </a:solidFill>
            <a:ln w="25400" cap="sq">
              <a:solidFill>
                <a:srgbClr val="E8541A"/>
              </a:solidFill>
              <a:prstDash val="solid"/>
              <a:miter/>
            </a:ln>
          </p:spPr>
        </p:sp>
      </p:grpSp>
      <p:grpSp>
        <p:nvGrpSpPr>
          <p:cNvPr name="Group 278" id="278"/>
          <p:cNvGrpSpPr/>
          <p:nvPr/>
        </p:nvGrpSpPr>
        <p:grpSpPr>
          <a:xfrm rot="0">
            <a:off x="5303520" y="9473184"/>
            <a:ext cx="2157984" cy="438912"/>
            <a:chOff x="0" y="0"/>
            <a:chExt cx="2877312" cy="585216"/>
          </a:xfrm>
        </p:grpSpPr>
        <p:sp>
          <p:nvSpPr>
            <p:cNvPr name="Freeform 279" id="279"/>
            <p:cNvSpPr/>
            <p:nvPr/>
          </p:nvSpPr>
          <p:spPr>
            <a:xfrm flipH="false" flipV="false" rot="0">
              <a:off x="0" y="0"/>
              <a:ext cx="2877312" cy="585216"/>
            </a:xfrm>
            <a:custGeom>
              <a:avLst/>
              <a:gdLst/>
              <a:ahLst/>
              <a:cxnLst/>
              <a:rect r="r" b="b" t="t" l="l"/>
              <a:pathLst>
                <a:path h="585216" w="2877312">
                  <a:moveTo>
                    <a:pt x="0" y="0"/>
                  </a:moveTo>
                  <a:lnTo>
                    <a:pt x="2877312" y="0"/>
                  </a:lnTo>
                  <a:lnTo>
                    <a:pt x="2877312" y="585216"/>
                  </a:lnTo>
                  <a:lnTo>
                    <a:pt x="0" y="585216"/>
                  </a:lnTo>
                  <a:close/>
                </a:path>
              </a:pathLst>
            </a:custGeom>
            <a:blipFill>
              <a:blip r:embed="rId2">
                <a:alphaModFix amt="0"/>
              </a:blip>
              <a:stretch>
                <a:fillRect l="0" t="-45801" r="0" b="-45801"/>
              </a:stretch>
            </a:blipFill>
          </p:spPr>
        </p:sp>
        <p:sp>
          <p:nvSpPr>
            <p:cNvPr name="TextBox 280" id="280"/>
            <p:cNvSpPr txBox="true"/>
            <p:nvPr/>
          </p:nvSpPr>
          <p:spPr>
            <a:xfrm>
              <a:off x="0" y="-38100"/>
              <a:ext cx="2877312" cy="623316"/>
            </a:xfrm>
            <a:prstGeom prst="rect">
              <a:avLst/>
            </a:prstGeom>
          </p:spPr>
          <p:txBody>
            <a:bodyPr anchor="ctr" rtlCol="false" tIns="0" lIns="0" bIns="0" rIns="0"/>
            <a:lstStyle/>
            <a:p>
              <a:pPr algn="l">
                <a:lnSpc>
                  <a:spcPts val="2039"/>
                </a:lnSpc>
              </a:pPr>
              <a:r>
                <a:rPr lang="en-US" sz="1700">
                  <a:solidFill>
                    <a:srgbClr val="64748B"/>
                  </a:solidFill>
                  <a:latin typeface="Calibri (MS)"/>
                  <a:ea typeface="Calibri (MS)"/>
                  <a:cs typeface="Calibri (MS)"/>
                  <a:sym typeface="Calibri (MS)"/>
                </a:rPr>
                <a:t>Trafic</a:t>
              </a:r>
            </a:p>
          </p:txBody>
        </p:sp>
      </p:grpSp>
      <p:grpSp>
        <p:nvGrpSpPr>
          <p:cNvPr name="Group 281" id="281"/>
          <p:cNvGrpSpPr/>
          <p:nvPr/>
        </p:nvGrpSpPr>
        <p:grpSpPr>
          <a:xfrm rot="0">
            <a:off x="7521959" y="9533639"/>
            <a:ext cx="318011" cy="318011"/>
            <a:chOff x="0" y="0"/>
            <a:chExt cx="424015" cy="424015"/>
          </a:xfrm>
        </p:grpSpPr>
        <p:sp>
          <p:nvSpPr>
            <p:cNvPr name="Freeform 282" id="282"/>
            <p:cNvSpPr/>
            <p:nvPr/>
          </p:nvSpPr>
          <p:spPr>
            <a:xfrm flipH="false" flipV="false" rot="0">
              <a:off x="0" y="0"/>
              <a:ext cx="424053" cy="424053"/>
            </a:xfrm>
            <a:custGeom>
              <a:avLst/>
              <a:gdLst/>
              <a:ahLst/>
              <a:cxnLst/>
              <a:rect r="r" b="b" t="t" l="l"/>
              <a:pathLst>
                <a:path h="424053" w="424053">
                  <a:moveTo>
                    <a:pt x="0" y="211963"/>
                  </a:moveTo>
                  <a:cubicBezTo>
                    <a:pt x="0" y="94869"/>
                    <a:pt x="94869" y="0"/>
                    <a:pt x="211963" y="0"/>
                  </a:cubicBezTo>
                  <a:cubicBezTo>
                    <a:pt x="329057" y="0"/>
                    <a:pt x="424053" y="94869"/>
                    <a:pt x="424053" y="211963"/>
                  </a:cubicBezTo>
                  <a:cubicBezTo>
                    <a:pt x="424053" y="329057"/>
                    <a:pt x="329057" y="424053"/>
                    <a:pt x="211963" y="424053"/>
                  </a:cubicBezTo>
                  <a:cubicBezTo>
                    <a:pt x="94869" y="424053"/>
                    <a:pt x="0" y="329057"/>
                    <a:pt x="0" y="211963"/>
                  </a:cubicBezTo>
                  <a:close/>
                </a:path>
              </a:pathLst>
            </a:custGeom>
            <a:solidFill>
              <a:srgbClr val="A855F7"/>
            </a:solidFill>
            <a:ln w="25400" cap="sq">
              <a:solidFill>
                <a:srgbClr val="A855F7"/>
              </a:solidFill>
              <a:prstDash val="solid"/>
              <a:miter/>
            </a:ln>
          </p:spPr>
        </p:sp>
      </p:grpSp>
      <p:grpSp>
        <p:nvGrpSpPr>
          <p:cNvPr name="Group 283" id="283"/>
          <p:cNvGrpSpPr/>
          <p:nvPr/>
        </p:nvGrpSpPr>
        <p:grpSpPr>
          <a:xfrm rot="0">
            <a:off x="7900416" y="9473184"/>
            <a:ext cx="2157984" cy="438912"/>
            <a:chOff x="0" y="0"/>
            <a:chExt cx="2877312" cy="585216"/>
          </a:xfrm>
        </p:grpSpPr>
        <p:sp>
          <p:nvSpPr>
            <p:cNvPr name="Freeform 284" id="284"/>
            <p:cNvSpPr/>
            <p:nvPr/>
          </p:nvSpPr>
          <p:spPr>
            <a:xfrm flipH="false" flipV="false" rot="0">
              <a:off x="0" y="0"/>
              <a:ext cx="2877312" cy="585216"/>
            </a:xfrm>
            <a:custGeom>
              <a:avLst/>
              <a:gdLst/>
              <a:ahLst/>
              <a:cxnLst/>
              <a:rect r="r" b="b" t="t" l="l"/>
              <a:pathLst>
                <a:path h="585216" w="2877312">
                  <a:moveTo>
                    <a:pt x="0" y="0"/>
                  </a:moveTo>
                  <a:lnTo>
                    <a:pt x="2877312" y="0"/>
                  </a:lnTo>
                  <a:lnTo>
                    <a:pt x="2877312" y="585216"/>
                  </a:lnTo>
                  <a:lnTo>
                    <a:pt x="0" y="585216"/>
                  </a:lnTo>
                  <a:close/>
                </a:path>
              </a:pathLst>
            </a:custGeom>
            <a:blipFill>
              <a:blip r:embed="rId2">
                <a:alphaModFix amt="0"/>
              </a:blip>
              <a:stretch>
                <a:fillRect l="0" t="-45801" r="0" b="-45801"/>
              </a:stretch>
            </a:blipFill>
          </p:spPr>
        </p:sp>
        <p:sp>
          <p:nvSpPr>
            <p:cNvPr name="TextBox 285" id="285"/>
            <p:cNvSpPr txBox="true"/>
            <p:nvPr/>
          </p:nvSpPr>
          <p:spPr>
            <a:xfrm>
              <a:off x="0" y="-38100"/>
              <a:ext cx="2877312" cy="623316"/>
            </a:xfrm>
            <a:prstGeom prst="rect">
              <a:avLst/>
            </a:prstGeom>
          </p:spPr>
          <p:txBody>
            <a:bodyPr anchor="ctr" rtlCol="false" tIns="0" lIns="0" bIns="0" rIns="0"/>
            <a:lstStyle/>
            <a:p>
              <a:pPr algn="l">
                <a:lnSpc>
                  <a:spcPts val="2039"/>
                </a:lnSpc>
              </a:pPr>
              <a:r>
                <a:rPr lang="en-US" sz="1700">
                  <a:solidFill>
                    <a:srgbClr val="64748B"/>
                  </a:solidFill>
                  <a:latin typeface="Calibri (MS)"/>
                  <a:ea typeface="Calibri (MS)"/>
                  <a:cs typeface="Calibri (MS)"/>
                  <a:sym typeface="Calibri (MS)"/>
                </a:rPr>
                <a:t>Comportement</a:t>
              </a:r>
            </a:p>
          </p:txBody>
        </p:sp>
      </p:grpSp>
      <p:grpSp>
        <p:nvGrpSpPr>
          <p:cNvPr name="Group 286" id="286"/>
          <p:cNvGrpSpPr/>
          <p:nvPr/>
        </p:nvGrpSpPr>
        <p:grpSpPr>
          <a:xfrm rot="0">
            <a:off x="10118855" y="9533639"/>
            <a:ext cx="318011" cy="318011"/>
            <a:chOff x="0" y="0"/>
            <a:chExt cx="424015" cy="424015"/>
          </a:xfrm>
        </p:grpSpPr>
        <p:sp>
          <p:nvSpPr>
            <p:cNvPr name="Freeform 287" id="287"/>
            <p:cNvSpPr/>
            <p:nvPr/>
          </p:nvSpPr>
          <p:spPr>
            <a:xfrm flipH="false" flipV="false" rot="0">
              <a:off x="0" y="0"/>
              <a:ext cx="424053" cy="424053"/>
            </a:xfrm>
            <a:custGeom>
              <a:avLst/>
              <a:gdLst/>
              <a:ahLst/>
              <a:cxnLst/>
              <a:rect r="r" b="b" t="t" l="l"/>
              <a:pathLst>
                <a:path h="424053" w="424053">
                  <a:moveTo>
                    <a:pt x="0" y="211963"/>
                  </a:moveTo>
                  <a:cubicBezTo>
                    <a:pt x="0" y="94869"/>
                    <a:pt x="94869" y="0"/>
                    <a:pt x="211963" y="0"/>
                  </a:cubicBezTo>
                  <a:cubicBezTo>
                    <a:pt x="329057" y="0"/>
                    <a:pt x="424053" y="94869"/>
                    <a:pt x="424053" y="211963"/>
                  </a:cubicBezTo>
                  <a:cubicBezTo>
                    <a:pt x="424053" y="329057"/>
                    <a:pt x="329057" y="424053"/>
                    <a:pt x="211963" y="424053"/>
                  </a:cubicBezTo>
                  <a:cubicBezTo>
                    <a:pt x="94869" y="424053"/>
                    <a:pt x="0" y="329057"/>
                    <a:pt x="0" y="211963"/>
                  </a:cubicBezTo>
                  <a:close/>
                </a:path>
              </a:pathLst>
            </a:custGeom>
            <a:solidFill>
              <a:srgbClr val="F59E0B"/>
            </a:solidFill>
            <a:ln w="25400" cap="sq">
              <a:solidFill>
                <a:srgbClr val="F59E0B"/>
              </a:solidFill>
              <a:prstDash val="solid"/>
              <a:miter/>
            </a:ln>
          </p:spPr>
        </p:sp>
      </p:grpSp>
      <p:grpSp>
        <p:nvGrpSpPr>
          <p:cNvPr name="Group 288" id="288"/>
          <p:cNvGrpSpPr/>
          <p:nvPr/>
        </p:nvGrpSpPr>
        <p:grpSpPr>
          <a:xfrm rot="0">
            <a:off x="10497312" y="9473184"/>
            <a:ext cx="2157984" cy="438912"/>
            <a:chOff x="0" y="0"/>
            <a:chExt cx="2877312" cy="585216"/>
          </a:xfrm>
        </p:grpSpPr>
        <p:sp>
          <p:nvSpPr>
            <p:cNvPr name="Freeform 289" id="289"/>
            <p:cNvSpPr/>
            <p:nvPr/>
          </p:nvSpPr>
          <p:spPr>
            <a:xfrm flipH="false" flipV="false" rot="0">
              <a:off x="0" y="0"/>
              <a:ext cx="2877312" cy="585216"/>
            </a:xfrm>
            <a:custGeom>
              <a:avLst/>
              <a:gdLst/>
              <a:ahLst/>
              <a:cxnLst/>
              <a:rect r="r" b="b" t="t" l="l"/>
              <a:pathLst>
                <a:path h="585216" w="2877312">
                  <a:moveTo>
                    <a:pt x="0" y="0"/>
                  </a:moveTo>
                  <a:lnTo>
                    <a:pt x="2877312" y="0"/>
                  </a:lnTo>
                  <a:lnTo>
                    <a:pt x="2877312" y="585216"/>
                  </a:lnTo>
                  <a:lnTo>
                    <a:pt x="0" y="585216"/>
                  </a:lnTo>
                  <a:close/>
                </a:path>
              </a:pathLst>
            </a:custGeom>
            <a:blipFill>
              <a:blip r:embed="rId2">
                <a:alphaModFix amt="0"/>
              </a:blip>
              <a:stretch>
                <a:fillRect l="0" t="-45801" r="0" b="-45801"/>
              </a:stretch>
            </a:blipFill>
          </p:spPr>
        </p:sp>
        <p:sp>
          <p:nvSpPr>
            <p:cNvPr name="TextBox 290" id="290"/>
            <p:cNvSpPr txBox="true"/>
            <p:nvPr/>
          </p:nvSpPr>
          <p:spPr>
            <a:xfrm>
              <a:off x="0" y="-38100"/>
              <a:ext cx="2877312" cy="623316"/>
            </a:xfrm>
            <a:prstGeom prst="rect">
              <a:avLst/>
            </a:prstGeom>
          </p:spPr>
          <p:txBody>
            <a:bodyPr anchor="ctr" rtlCol="false" tIns="0" lIns="0" bIns="0" rIns="0"/>
            <a:lstStyle/>
            <a:p>
              <a:pPr algn="l">
                <a:lnSpc>
                  <a:spcPts val="2039"/>
                </a:lnSpc>
              </a:pPr>
              <a:r>
                <a:rPr lang="en-US" sz="1700">
                  <a:solidFill>
                    <a:srgbClr val="64748B"/>
                  </a:solidFill>
                  <a:latin typeface="Calibri (MS)"/>
                  <a:ea typeface="Calibri (MS)"/>
                  <a:cs typeface="Calibri (MS)"/>
                  <a:sym typeface="Calibri (MS)"/>
                </a:rPr>
                <a:t>Temporel</a:t>
              </a:r>
            </a:p>
          </p:txBody>
        </p:sp>
      </p:grpSp>
      <p:grpSp>
        <p:nvGrpSpPr>
          <p:cNvPr name="Group 291" id="291"/>
          <p:cNvGrpSpPr/>
          <p:nvPr/>
        </p:nvGrpSpPr>
        <p:grpSpPr>
          <a:xfrm rot="0">
            <a:off x="12715751" y="9533639"/>
            <a:ext cx="318011" cy="318011"/>
            <a:chOff x="0" y="0"/>
            <a:chExt cx="424015" cy="424015"/>
          </a:xfrm>
        </p:grpSpPr>
        <p:sp>
          <p:nvSpPr>
            <p:cNvPr name="Freeform 292" id="292"/>
            <p:cNvSpPr/>
            <p:nvPr/>
          </p:nvSpPr>
          <p:spPr>
            <a:xfrm flipH="false" flipV="false" rot="0">
              <a:off x="0" y="0"/>
              <a:ext cx="424053" cy="424053"/>
            </a:xfrm>
            <a:custGeom>
              <a:avLst/>
              <a:gdLst/>
              <a:ahLst/>
              <a:cxnLst/>
              <a:rect r="r" b="b" t="t" l="l"/>
              <a:pathLst>
                <a:path h="424053" w="424053">
                  <a:moveTo>
                    <a:pt x="0" y="211963"/>
                  </a:moveTo>
                  <a:cubicBezTo>
                    <a:pt x="0" y="94869"/>
                    <a:pt x="94869" y="0"/>
                    <a:pt x="211963" y="0"/>
                  </a:cubicBezTo>
                  <a:cubicBezTo>
                    <a:pt x="329057" y="0"/>
                    <a:pt x="424053" y="94869"/>
                    <a:pt x="424053" y="211963"/>
                  </a:cubicBezTo>
                  <a:cubicBezTo>
                    <a:pt x="424053" y="329057"/>
                    <a:pt x="329057" y="424053"/>
                    <a:pt x="211963" y="424053"/>
                  </a:cubicBezTo>
                  <a:cubicBezTo>
                    <a:pt x="94869" y="424053"/>
                    <a:pt x="0" y="329057"/>
                    <a:pt x="0" y="211963"/>
                  </a:cubicBezTo>
                  <a:close/>
                </a:path>
              </a:pathLst>
            </a:custGeom>
            <a:solidFill>
              <a:srgbClr val="22C55E"/>
            </a:solidFill>
            <a:ln w="25400" cap="sq">
              <a:solidFill>
                <a:srgbClr val="22C55E"/>
              </a:solidFill>
              <a:prstDash val="solid"/>
              <a:miter/>
            </a:ln>
          </p:spPr>
        </p:sp>
      </p:grpSp>
      <p:grpSp>
        <p:nvGrpSpPr>
          <p:cNvPr name="Group 293" id="293"/>
          <p:cNvGrpSpPr/>
          <p:nvPr/>
        </p:nvGrpSpPr>
        <p:grpSpPr>
          <a:xfrm rot="0">
            <a:off x="13094208" y="9473184"/>
            <a:ext cx="2157984" cy="438912"/>
            <a:chOff x="0" y="0"/>
            <a:chExt cx="2877312" cy="585216"/>
          </a:xfrm>
        </p:grpSpPr>
        <p:sp>
          <p:nvSpPr>
            <p:cNvPr name="Freeform 294" id="294"/>
            <p:cNvSpPr/>
            <p:nvPr/>
          </p:nvSpPr>
          <p:spPr>
            <a:xfrm flipH="false" flipV="false" rot="0">
              <a:off x="0" y="0"/>
              <a:ext cx="2877312" cy="585216"/>
            </a:xfrm>
            <a:custGeom>
              <a:avLst/>
              <a:gdLst/>
              <a:ahLst/>
              <a:cxnLst/>
              <a:rect r="r" b="b" t="t" l="l"/>
              <a:pathLst>
                <a:path h="585216" w="2877312">
                  <a:moveTo>
                    <a:pt x="0" y="0"/>
                  </a:moveTo>
                  <a:lnTo>
                    <a:pt x="2877312" y="0"/>
                  </a:lnTo>
                  <a:lnTo>
                    <a:pt x="2877312" y="585216"/>
                  </a:lnTo>
                  <a:lnTo>
                    <a:pt x="0" y="585216"/>
                  </a:lnTo>
                  <a:close/>
                </a:path>
              </a:pathLst>
            </a:custGeom>
            <a:blipFill>
              <a:blip r:embed="rId2">
                <a:alphaModFix amt="0"/>
              </a:blip>
              <a:stretch>
                <a:fillRect l="0" t="-45801" r="0" b="-45801"/>
              </a:stretch>
            </a:blipFill>
          </p:spPr>
        </p:sp>
        <p:sp>
          <p:nvSpPr>
            <p:cNvPr name="TextBox 295" id="295"/>
            <p:cNvSpPr txBox="true"/>
            <p:nvPr/>
          </p:nvSpPr>
          <p:spPr>
            <a:xfrm>
              <a:off x="0" y="-38100"/>
              <a:ext cx="2877312" cy="623316"/>
            </a:xfrm>
            <a:prstGeom prst="rect">
              <a:avLst/>
            </a:prstGeom>
          </p:spPr>
          <p:txBody>
            <a:bodyPr anchor="ctr" rtlCol="false" tIns="0" lIns="0" bIns="0" rIns="0"/>
            <a:lstStyle/>
            <a:p>
              <a:pPr algn="l">
                <a:lnSpc>
                  <a:spcPts val="2039"/>
                </a:lnSpc>
              </a:pPr>
              <a:r>
                <a:rPr lang="en-US" sz="1700">
                  <a:solidFill>
                    <a:srgbClr val="64748B"/>
                  </a:solidFill>
                  <a:latin typeface="Calibri (MS)"/>
                  <a:ea typeface="Calibri (MS)"/>
                  <a:cs typeface="Calibri (MS)"/>
                  <a:sym typeface="Calibri (MS)"/>
                </a:rPr>
                <a:t>Contextuel</a:t>
              </a:r>
            </a:p>
          </p:txBody>
        </p:sp>
      </p:grpSp>
      <p:grpSp>
        <p:nvGrpSpPr>
          <p:cNvPr name="Group 296" id="296"/>
          <p:cNvGrpSpPr/>
          <p:nvPr/>
        </p:nvGrpSpPr>
        <p:grpSpPr>
          <a:xfrm rot="0">
            <a:off x="15312647" y="9533639"/>
            <a:ext cx="318011" cy="318011"/>
            <a:chOff x="0" y="0"/>
            <a:chExt cx="424015" cy="424015"/>
          </a:xfrm>
        </p:grpSpPr>
        <p:sp>
          <p:nvSpPr>
            <p:cNvPr name="Freeform 297" id="297"/>
            <p:cNvSpPr/>
            <p:nvPr/>
          </p:nvSpPr>
          <p:spPr>
            <a:xfrm flipH="false" flipV="false" rot="0">
              <a:off x="0" y="0"/>
              <a:ext cx="424053" cy="424053"/>
            </a:xfrm>
            <a:custGeom>
              <a:avLst/>
              <a:gdLst/>
              <a:ahLst/>
              <a:cxnLst/>
              <a:rect r="r" b="b" t="t" l="l"/>
              <a:pathLst>
                <a:path h="424053" w="424053">
                  <a:moveTo>
                    <a:pt x="0" y="211963"/>
                  </a:moveTo>
                  <a:cubicBezTo>
                    <a:pt x="0" y="94869"/>
                    <a:pt x="94869" y="0"/>
                    <a:pt x="211963" y="0"/>
                  </a:cubicBezTo>
                  <a:cubicBezTo>
                    <a:pt x="329057" y="0"/>
                    <a:pt x="424053" y="94869"/>
                    <a:pt x="424053" y="211963"/>
                  </a:cubicBezTo>
                  <a:cubicBezTo>
                    <a:pt x="424053" y="329057"/>
                    <a:pt x="329057" y="424053"/>
                    <a:pt x="211963" y="424053"/>
                  </a:cubicBezTo>
                  <a:cubicBezTo>
                    <a:pt x="94869" y="424053"/>
                    <a:pt x="0" y="329057"/>
                    <a:pt x="0" y="211963"/>
                  </a:cubicBezTo>
                  <a:close/>
                </a:path>
              </a:pathLst>
            </a:custGeom>
            <a:solidFill>
              <a:srgbClr val="F43F5E"/>
            </a:solidFill>
            <a:ln w="25400" cap="sq">
              <a:solidFill>
                <a:srgbClr val="F43F5E"/>
              </a:solidFill>
              <a:prstDash val="solid"/>
              <a:miter/>
            </a:ln>
          </p:spPr>
        </p:sp>
      </p:grpSp>
      <p:grpSp>
        <p:nvGrpSpPr>
          <p:cNvPr name="Group 298" id="298"/>
          <p:cNvGrpSpPr/>
          <p:nvPr/>
        </p:nvGrpSpPr>
        <p:grpSpPr>
          <a:xfrm rot="0">
            <a:off x="15691104" y="9473184"/>
            <a:ext cx="2157984" cy="438912"/>
            <a:chOff x="0" y="0"/>
            <a:chExt cx="2877312" cy="585216"/>
          </a:xfrm>
        </p:grpSpPr>
        <p:sp>
          <p:nvSpPr>
            <p:cNvPr name="Freeform 299" id="299"/>
            <p:cNvSpPr/>
            <p:nvPr/>
          </p:nvSpPr>
          <p:spPr>
            <a:xfrm flipH="false" flipV="false" rot="0">
              <a:off x="0" y="0"/>
              <a:ext cx="2877312" cy="585216"/>
            </a:xfrm>
            <a:custGeom>
              <a:avLst/>
              <a:gdLst/>
              <a:ahLst/>
              <a:cxnLst/>
              <a:rect r="r" b="b" t="t" l="l"/>
              <a:pathLst>
                <a:path h="585216" w="2877312">
                  <a:moveTo>
                    <a:pt x="0" y="0"/>
                  </a:moveTo>
                  <a:lnTo>
                    <a:pt x="2877312" y="0"/>
                  </a:lnTo>
                  <a:lnTo>
                    <a:pt x="2877312" y="585216"/>
                  </a:lnTo>
                  <a:lnTo>
                    <a:pt x="0" y="585216"/>
                  </a:lnTo>
                  <a:close/>
                </a:path>
              </a:pathLst>
            </a:custGeom>
            <a:blipFill>
              <a:blip r:embed="rId2">
                <a:alphaModFix amt="0"/>
              </a:blip>
              <a:stretch>
                <a:fillRect l="0" t="-45801" r="0" b="-45801"/>
              </a:stretch>
            </a:blipFill>
          </p:spPr>
        </p:sp>
        <p:sp>
          <p:nvSpPr>
            <p:cNvPr name="TextBox 300" id="300"/>
            <p:cNvSpPr txBox="true"/>
            <p:nvPr/>
          </p:nvSpPr>
          <p:spPr>
            <a:xfrm>
              <a:off x="0" y="-38100"/>
              <a:ext cx="2877312" cy="623316"/>
            </a:xfrm>
            <a:prstGeom prst="rect">
              <a:avLst/>
            </a:prstGeom>
          </p:spPr>
          <p:txBody>
            <a:bodyPr anchor="ctr" rtlCol="false" tIns="0" lIns="0" bIns="0" rIns="0"/>
            <a:lstStyle/>
            <a:p>
              <a:pPr algn="l">
                <a:lnSpc>
                  <a:spcPts val="2039"/>
                </a:lnSpc>
              </a:pPr>
              <a:r>
                <a:rPr lang="en-US" sz="1700">
                  <a:solidFill>
                    <a:srgbClr val="64748B"/>
                  </a:solidFill>
                  <a:latin typeface="Calibri (MS)"/>
                  <a:ea typeface="Calibri (MS)"/>
                  <a:cs typeface="Calibri (MS)"/>
                  <a:sym typeface="Calibri (MS)"/>
                </a:rPr>
                <a:t>Résultat IA</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0F4FF"/>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525019"/>
            <a:chOff x="0" y="0"/>
            <a:chExt cx="24417871" cy="2033359"/>
          </a:xfrm>
        </p:grpSpPr>
        <p:sp>
          <p:nvSpPr>
            <p:cNvPr name="Freeform 3" id="3"/>
            <p:cNvSpPr/>
            <p:nvPr/>
          </p:nvSpPr>
          <p:spPr>
            <a:xfrm flipH="false" flipV="false" rot="0">
              <a:off x="0" y="0"/>
              <a:ext cx="24417910" cy="2033397"/>
            </a:xfrm>
            <a:custGeom>
              <a:avLst/>
              <a:gdLst/>
              <a:ahLst/>
              <a:cxnLst/>
              <a:rect r="r" b="b" t="t" l="l"/>
              <a:pathLst>
                <a:path h="2033397" w="24417910">
                  <a:moveTo>
                    <a:pt x="0" y="0"/>
                  </a:moveTo>
                  <a:lnTo>
                    <a:pt x="24417910" y="0"/>
                  </a:lnTo>
                  <a:lnTo>
                    <a:pt x="24417910" y="2033397"/>
                  </a:lnTo>
                  <a:lnTo>
                    <a:pt x="0" y="2033397"/>
                  </a:lnTo>
                  <a:close/>
                </a:path>
              </a:pathLst>
            </a:custGeom>
            <a:solidFill>
              <a:srgbClr val="1E3A5F"/>
            </a:solidFill>
            <a:ln w="25400" cap="sq">
              <a:solidFill>
                <a:srgbClr val="1E3A5F"/>
              </a:solidFill>
              <a:prstDash val="solid"/>
              <a:miter/>
            </a:ln>
          </p:spPr>
        </p:sp>
      </p:grpSp>
      <p:grpSp>
        <p:nvGrpSpPr>
          <p:cNvPr name="Group 4" id="4"/>
          <p:cNvGrpSpPr/>
          <p:nvPr/>
        </p:nvGrpSpPr>
        <p:grpSpPr>
          <a:xfrm rot="0">
            <a:off x="15349223" y="-1201417"/>
            <a:ext cx="4231643" cy="4231643"/>
            <a:chOff x="0" y="0"/>
            <a:chExt cx="5642191" cy="5642191"/>
          </a:xfrm>
        </p:grpSpPr>
        <p:sp>
          <p:nvSpPr>
            <p:cNvPr name="Freeform 5" id="5"/>
            <p:cNvSpPr/>
            <p:nvPr/>
          </p:nvSpPr>
          <p:spPr>
            <a:xfrm flipH="false" flipV="false" rot="0">
              <a:off x="0" y="0"/>
              <a:ext cx="5642229" cy="5642229"/>
            </a:xfrm>
            <a:custGeom>
              <a:avLst/>
              <a:gdLst/>
              <a:ahLst/>
              <a:cxnLst/>
              <a:rect r="r" b="b" t="t" l="l"/>
              <a:pathLst>
                <a:path h="5642229" w="5642229">
                  <a:moveTo>
                    <a:pt x="0" y="2821051"/>
                  </a:moveTo>
                  <a:cubicBezTo>
                    <a:pt x="0" y="1263015"/>
                    <a:pt x="1263015" y="0"/>
                    <a:pt x="2821051" y="0"/>
                  </a:cubicBezTo>
                  <a:cubicBezTo>
                    <a:pt x="4379087" y="0"/>
                    <a:pt x="5642229" y="1263015"/>
                    <a:pt x="5642229" y="2821051"/>
                  </a:cubicBezTo>
                  <a:cubicBezTo>
                    <a:pt x="5642229" y="4379087"/>
                    <a:pt x="4379087" y="5642229"/>
                    <a:pt x="2821051" y="5642229"/>
                  </a:cubicBezTo>
                  <a:cubicBezTo>
                    <a:pt x="1263015" y="5642229"/>
                    <a:pt x="0" y="4379087"/>
                    <a:pt x="0" y="2821051"/>
                  </a:cubicBezTo>
                  <a:close/>
                </a:path>
              </a:pathLst>
            </a:custGeom>
            <a:solidFill>
              <a:srgbClr val="E8541A">
                <a:alpha val="4706"/>
              </a:srgbClr>
            </a:solidFill>
            <a:ln w="25400" cap="sq">
              <a:solidFill>
                <a:srgbClr val="E8541A"/>
              </a:solidFill>
              <a:prstDash val="solid"/>
              <a:miter/>
            </a:ln>
          </p:spPr>
        </p:sp>
      </p:grpSp>
      <p:grpSp>
        <p:nvGrpSpPr>
          <p:cNvPr name="Group 6" id="6"/>
          <p:cNvGrpSpPr/>
          <p:nvPr/>
        </p:nvGrpSpPr>
        <p:grpSpPr>
          <a:xfrm rot="0">
            <a:off x="731520" y="109728"/>
            <a:ext cx="15361920" cy="841248"/>
            <a:chOff x="0" y="0"/>
            <a:chExt cx="20482560" cy="1121664"/>
          </a:xfrm>
        </p:grpSpPr>
        <p:sp>
          <p:nvSpPr>
            <p:cNvPr name="Freeform 7" id="7"/>
            <p:cNvSpPr/>
            <p:nvPr/>
          </p:nvSpPr>
          <p:spPr>
            <a:xfrm flipH="false" flipV="false" rot="0">
              <a:off x="0" y="0"/>
              <a:ext cx="20482561" cy="1121664"/>
            </a:xfrm>
            <a:custGeom>
              <a:avLst/>
              <a:gdLst/>
              <a:ahLst/>
              <a:cxnLst/>
              <a:rect r="r" b="b" t="t" l="l"/>
              <a:pathLst>
                <a:path h="1121664" w="20482561">
                  <a:moveTo>
                    <a:pt x="0" y="0"/>
                  </a:moveTo>
                  <a:lnTo>
                    <a:pt x="20482561" y="0"/>
                  </a:lnTo>
                  <a:lnTo>
                    <a:pt x="20482561" y="1121664"/>
                  </a:lnTo>
                  <a:lnTo>
                    <a:pt x="0" y="1121664"/>
                  </a:lnTo>
                  <a:close/>
                </a:path>
              </a:pathLst>
            </a:custGeom>
            <a:blipFill>
              <a:blip r:embed="rId2">
                <a:alphaModFix amt="0"/>
              </a:blip>
              <a:stretch>
                <a:fillRect l="0" t="-305813" r="0" b="-305813"/>
              </a:stretch>
            </a:blipFill>
          </p:spPr>
        </p:sp>
        <p:sp>
          <p:nvSpPr>
            <p:cNvPr name="TextBox 8" id="8"/>
            <p:cNvSpPr txBox="true"/>
            <p:nvPr/>
          </p:nvSpPr>
          <p:spPr>
            <a:xfrm>
              <a:off x="0" y="-9525"/>
              <a:ext cx="20482560" cy="1131189"/>
            </a:xfrm>
            <a:prstGeom prst="rect">
              <a:avLst/>
            </a:prstGeom>
          </p:spPr>
          <p:txBody>
            <a:bodyPr anchor="ctr" rtlCol="false" tIns="0" lIns="0" bIns="0" rIns="0"/>
            <a:lstStyle/>
            <a:p>
              <a:pPr algn="l">
                <a:lnSpc>
                  <a:spcPts val="5040"/>
                </a:lnSpc>
              </a:pPr>
              <a:r>
                <a:rPr lang="en-US" sz="4200" b="true">
                  <a:solidFill>
                    <a:srgbClr val="FFFFFF"/>
                  </a:solidFill>
                  <a:latin typeface="Cambria Bold"/>
                  <a:ea typeface="Cambria Bold"/>
                  <a:cs typeface="Cambria Bold"/>
                  <a:sym typeface="Cambria Bold"/>
                </a:rPr>
                <a:t>Dictionnaire de Données — IDS basé IA</a:t>
              </a:r>
            </a:p>
          </p:txBody>
        </p:sp>
      </p:grpSp>
      <p:grpSp>
        <p:nvGrpSpPr>
          <p:cNvPr name="Group 9" id="9"/>
          <p:cNvGrpSpPr/>
          <p:nvPr/>
        </p:nvGrpSpPr>
        <p:grpSpPr>
          <a:xfrm rot="0">
            <a:off x="731520" y="914400"/>
            <a:ext cx="15361920" cy="512064"/>
            <a:chOff x="0" y="0"/>
            <a:chExt cx="20482560" cy="682752"/>
          </a:xfrm>
        </p:grpSpPr>
        <p:sp>
          <p:nvSpPr>
            <p:cNvPr name="Freeform 10" id="10"/>
            <p:cNvSpPr/>
            <p:nvPr/>
          </p:nvSpPr>
          <p:spPr>
            <a:xfrm flipH="false" flipV="false" rot="0">
              <a:off x="0" y="0"/>
              <a:ext cx="20482561" cy="682752"/>
            </a:xfrm>
            <a:custGeom>
              <a:avLst/>
              <a:gdLst/>
              <a:ahLst/>
              <a:cxnLst/>
              <a:rect r="r" b="b" t="t" l="l"/>
              <a:pathLst>
                <a:path h="682752" w="20482561">
                  <a:moveTo>
                    <a:pt x="0" y="0"/>
                  </a:moveTo>
                  <a:lnTo>
                    <a:pt x="20482561" y="0"/>
                  </a:lnTo>
                  <a:lnTo>
                    <a:pt x="20482561" y="682752"/>
                  </a:lnTo>
                  <a:lnTo>
                    <a:pt x="0" y="682752"/>
                  </a:lnTo>
                  <a:close/>
                </a:path>
              </a:pathLst>
            </a:custGeom>
            <a:blipFill>
              <a:blip r:embed="rId2">
                <a:alphaModFix amt="0"/>
              </a:blip>
              <a:stretch>
                <a:fillRect l="0" t="-534551" r="0" b="-534551"/>
              </a:stretch>
            </a:blipFill>
          </p:spPr>
        </p:sp>
        <p:sp>
          <p:nvSpPr>
            <p:cNvPr name="TextBox 11" id="11"/>
            <p:cNvSpPr txBox="true"/>
            <p:nvPr/>
          </p:nvSpPr>
          <p:spPr>
            <a:xfrm>
              <a:off x="0" y="-38100"/>
              <a:ext cx="20482560" cy="720852"/>
            </a:xfrm>
            <a:prstGeom prst="rect">
              <a:avLst/>
            </a:prstGeom>
          </p:spPr>
          <p:txBody>
            <a:bodyPr anchor="ctr" rtlCol="false" tIns="0" lIns="0" bIns="0" rIns="0"/>
            <a:lstStyle/>
            <a:p>
              <a:pPr algn="l">
                <a:lnSpc>
                  <a:spcPts val="2400"/>
                </a:lnSpc>
              </a:pPr>
              <a:r>
                <a:rPr lang="en-US" sz="2000">
                  <a:solidFill>
                    <a:srgbClr val="CADCFC"/>
                  </a:solidFill>
                  <a:latin typeface="Calibri (MS)"/>
                  <a:ea typeface="Calibri (MS)"/>
                  <a:cs typeface="Calibri (MS)"/>
                  <a:sym typeface="Calibri (MS)"/>
                </a:rPr>
                <a:t>Système de Détection d'Intrusion  ·  Variables Input / Output enrichies</a:t>
              </a:r>
            </a:p>
          </p:txBody>
        </p:sp>
      </p:grpSp>
      <p:grpSp>
        <p:nvGrpSpPr>
          <p:cNvPr name="Group 12" id="12"/>
          <p:cNvGrpSpPr/>
          <p:nvPr/>
        </p:nvGrpSpPr>
        <p:grpSpPr>
          <a:xfrm rot="0">
            <a:off x="389639" y="1633223"/>
            <a:ext cx="17508731" cy="793499"/>
            <a:chOff x="0" y="0"/>
            <a:chExt cx="23344975" cy="1057999"/>
          </a:xfrm>
        </p:grpSpPr>
        <p:sp>
          <p:nvSpPr>
            <p:cNvPr name="Freeform 13" id="13"/>
            <p:cNvSpPr/>
            <p:nvPr/>
          </p:nvSpPr>
          <p:spPr>
            <a:xfrm flipH="false" flipV="false" rot="0">
              <a:off x="0" y="0"/>
              <a:ext cx="23345014" cy="1057910"/>
            </a:xfrm>
            <a:custGeom>
              <a:avLst/>
              <a:gdLst/>
              <a:ahLst/>
              <a:cxnLst/>
              <a:rect r="r" b="b" t="t" l="l"/>
              <a:pathLst>
                <a:path h="1057910" w="23345014">
                  <a:moveTo>
                    <a:pt x="0" y="151130"/>
                  </a:moveTo>
                  <a:cubicBezTo>
                    <a:pt x="0" y="67691"/>
                    <a:pt x="67691" y="0"/>
                    <a:pt x="151130" y="0"/>
                  </a:cubicBezTo>
                  <a:lnTo>
                    <a:pt x="23193883" y="0"/>
                  </a:lnTo>
                  <a:cubicBezTo>
                    <a:pt x="23277322" y="0"/>
                    <a:pt x="23345014" y="67691"/>
                    <a:pt x="23345014" y="151130"/>
                  </a:cubicBezTo>
                  <a:lnTo>
                    <a:pt x="23345014" y="906780"/>
                  </a:lnTo>
                  <a:cubicBezTo>
                    <a:pt x="23345014" y="990219"/>
                    <a:pt x="23277322" y="1057910"/>
                    <a:pt x="23193883" y="1057910"/>
                  </a:cubicBezTo>
                  <a:lnTo>
                    <a:pt x="151130" y="1057910"/>
                  </a:lnTo>
                  <a:cubicBezTo>
                    <a:pt x="67691" y="1058037"/>
                    <a:pt x="0" y="990346"/>
                    <a:pt x="0" y="906907"/>
                  </a:cubicBezTo>
                  <a:close/>
                </a:path>
              </a:pathLst>
            </a:custGeom>
            <a:solidFill>
              <a:srgbClr val="1E3A5F"/>
            </a:solidFill>
            <a:ln w="25400" cap="sq">
              <a:solidFill>
                <a:srgbClr val="1E3A5F"/>
              </a:solidFill>
              <a:prstDash val="solid"/>
              <a:miter/>
            </a:ln>
          </p:spPr>
        </p:sp>
      </p:grpSp>
      <p:grpSp>
        <p:nvGrpSpPr>
          <p:cNvPr name="Group 14" id="14"/>
          <p:cNvGrpSpPr/>
          <p:nvPr/>
        </p:nvGrpSpPr>
        <p:grpSpPr>
          <a:xfrm rot="0">
            <a:off x="397259" y="1640843"/>
            <a:ext cx="17493491" cy="778259"/>
            <a:chOff x="0" y="0"/>
            <a:chExt cx="23324655" cy="1037679"/>
          </a:xfrm>
        </p:grpSpPr>
        <p:sp>
          <p:nvSpPr>
            <p:cNvPr name="Freeform 15" id="15"/>
            <p:cNvSpPr/>
            <p:nvPr/>
          </p:nvSpPr>
          <p:spPr>
            <a:xfrm flipH="false" flipV="false" rot="0">
              <a:off x="0" y="0"/>
              <a:ext cx="23324693" cy="1037717"/>
            </a:xfrm>
            <a:custGeom>
              <a:avLst/>
              <a:gdLst/>
              <a:ahLst/>
              <a:cxnLst/>
              <a:rect r="r" b="b" t="t" l="l"/>
              <a:pathLst>
                <a:path h="1037717" w="23324693">
                  <a:moveTo>
                    <a:pt x="0" y="0"/>
                  </a:moveTo>
                  <a:lnTo>
                    <a:pt x="23324693" y="0"/>
                  </a:lnTo>
                  <a:lnTo>
                    <a:pt x="23324693" y="1037717"/>
                  </a:lnTo>
                  <a:lnTo>
                    <a:pt x="0" y="1037717"/>
                  </a:lnTo>
                  <a:close/>
                </a:path>
              </a:pathLst>
            </a:custGeom>
            <a:solidFill>
              <a:srgbClr val="1E3A5F"/>
            </a:solidFill>
            <a:ln w="10160" cap="sq">
              <a:solidFill>
                <a:srgbClr val="D1DCF0"/>
              </a:solidFill>
              <a:prstDash val="solid"/>
              <a:miter/>
            </a:ln>
          </p:spPr>
        </p:sp>
      </p:grpSp>
      <p:grpSp>
        <p:nvGrpSpPr>
          <p:cNvPr name="Group 16" id="16"/>
          <p:cNvGrpSpPr/>
          <p:nvPr/>
        </p:nvGrpSpPr>
        <p:grpSpPr>
          <a:xfrm rot="0">
            <a:off x="548640" y="1719072"/>
            <a:ext cx="3255264" cy="658368"/>
            <a:chOff x="0" y="0"/>
            <a:chExt cx="4340352" cy="877824"/>
          </a:xfrm>
        </p:grpSpPr>
        <p:sp>
          <p:nvSpPr>
            <p:cNvPr name="Freeform 17" id="17"/>
            <p:cNvSpPr/>
            <p:nvPr/>
          </p:nvSpPr>
          <p:spPr>
            <a:xfrm flipH="false" flipV="false" rot="0">
              <a:off x="0" y="0"/>
              <a:ext cx="4340352" cy="877824"/>
            </a:xfrm>
            <a:custGeom>
              <a:avLst/>
              <a:gdLst/>
              <a:ahLst/>
              <a:cxnLst/>
              <a:rect r="r" b="b" t="t" l="l"/>
              <a:pathLst>
                <a:path h="877824" w="4340352">
                  <a:moveTo>
                    <a:pt x="0" y="0"/>
                  </a:moveTo>
                  <a:lnTo>
                    <a:pt x="4340352" y="0"/>
                  </a:lnTo>
                  <a:lnTo>
                    <a:pt x="4340352" y="877824"/>
                  </a:lnTo>
                  <a:lnTo>
                    <a:pt x="0" y="877824"/>
                  </a:lnTo>
                  <a:close/>
                </a:path>
              </a:pathLst>
            </a:custGeom>
            <a:blipFill>
              <a:blip r:embed="rId2">
                <a:alphaModFix amt="0"/>
              </a:blip>
              <a:stretch>
                <a:fillRect l="0" t="-46342" r="0" b="-46342"/>
              </a:stretch>
            </a:blipFill>
          </p:spPr>
        </p:sp>
        <p:sp>
          <p:nvSpPr>
            <p:cNvPr name="TextBox 18" id="18"/>
            <p:cNvSpPr txBox="true"/>
            <p:nvPr/>
          </p:nvSpPr>
          <p:spPr>
            <a:xfrm>
              <a:off x="0" y="-9525"/>
              <a:ext cx="4340352" cy="887349"/>
            </a:xfrm>
            <a:prstGeom prst="rect">
              <a:avLst/>
            </a:prstGeom>
          </p:spPr>
          <p:txBody>
            <a:bodyPr anchor="ctr" rtlCol="false" tIns="0" lIns="0" bIns="0" rIns="0"/>
            <a:lstStyle/>
            <a:p>
              <a:pPr algn="l">
                <a:lnSpc>
                  <a:spcPts val="2400"/>
                </a:lnSpc>
              </a:pPr>
              <a:r>
                <a:rPr lang="en-US" sz="2000" b="true">
                  <a:solidFill>
                    <a:srgbClr val="FFFFFF"/>
                  </a:solidFill>
                  <a:latin typeface="Cambria Bold"/>
                  <a:ea typeface="Cambria Bold"/>
                  <a:cs typeface="Cambria Bold"/>
                  <a:sym typeface="Cambria Bold"/>
                </a:rPr>
                <a:t>Variable</a:t>
              </a:r>
            </a:p>
          </p:txBody>
        </p:sp>
      </p:grpSp>
      <p:grpSp>
        <p:nvGrpSpPr>
          <p:cNvPr name="Group 19" id="19"/>
          <p:cNvGrpSpPr/>
          <p:nvPr/>
        </p:nvGrpSpPr>
        <p:grpSpPr>
          <a:xfrm rot="0">
            <a:off x="3986784" y="1719072"/>
            <a:ext cx="2286000" cy="658368"/>
            <a:chOff x="0" y="0"/>
            <a:chExt cx="3048000" cy="877824"/>
          </a:xfrm>
        </p:grpSpPr>
        <p:sp>
          <p:nvSpPr>
            <p:cNvPr name="Freeform 20" id="20"/>
            <p:cNvSpPr/>
            <p:nvPr/>
          </p:nvSpPr>
          <p:spPr>
            <a:xfrm flipH="false" flipV="false" rot="0">
              <a:off x="0" y="0"/>
              <a:ext cx="3048000" cy="877824"/>
            </a:xfrm>
            <a:custGeom>
              <a:avLst/>
              <a:gdLst/>
              <a:ahLst/>
              <a:cxnLst/>
              <a:rect r="r" b="b" t="t" l="l"/>
              <a:pathLst>
                <a:path h="877824" w="3048000">
                  <a:moveTo>
                    <a:pt x="0" y="0"/>
                  </a:moveTo>
                  <a:lnTo>
                    <a:pt x="3048000" y="0"/>
                  </a:lnTo>
                  <a:lnTo>
                    <a:pt x="3048000" y="877824"/>
                  </a:lnTo>
                  <a:lnTo>
                    <a:pt x="0" y="877824"/>
                  </a:lnTo>
                  <a:close/>
                </a:path>
              </a:pathLst>
            </a:custGeom>
            <a:blipFill>
              <a:blip r:embed="rId2">
                <a:alphaModFix amt="0"/>
              </a:blip>
              <a:stretch>
                <a:fillRect l="0" t="-17656" r="0" b="-17656"/>
              </a:stretch>
            </a:blipFill>
          </p:spPr>
        </p:sp>
        <p:sp>
          <p:nvSpPr>
            <p:cNvPr name="TextBox 21" id="21"/>
            <p:cNvSpPr txBox="true"/>
            <p:nvPr/>
          </p:nvSpPr>
          <p:spPr>
            <a:xfrm>
              <a:off x="0" y="-9525"/>
              <a:ext cx="3048000" cy="887349"/>
            </a:xfrm>
            <a:prstGeom prst="rect">
              <a:avLst/>
            </a:prstGeom>
          </p:spPr>
          <p:txBody>
            <a:bodyPr anchor="ctr" rtlCol="false" tIns="0" lIns="0" bIns="0" rIns="0"/>
            <a:lstStyle/>
            <a:p>
              <a:pPr algn="ctr">
                <a:lnSpc>
                  <a:spcPts val="2400"/>
                </a:lnSpc>
              </a:pPr>
              <a:r>
                <a:rPr lang="en-US" sz="2000" b="true">
                  <a:solidFill>
                    <a:srgbClr val="FFFFFF"/>
                  </a:solidFill>
                  <a:latin typeface="Cambria Bold"/>
                  <a:ea typeface="Cambria Bold"/>
                  <a:cs typeface="Cambria Bold"/>
                  <a:sym typeface="Cambria Bold"/>
                </a:rPr>
                <a:t>Type / Format</a:t>
              </a:r>
            </a:p>
          </p:txBody>
        </p:sp>
      </p:grpSp>
      <p:grpSp>
        <p:nvGrpSpPr>
          <p:cNvPr name="Group 22" id="22"/>
          <p:cNvGrpSpPr/>
          <p:nvPr/>
        </p:nvGrpSpPr>
        <p:grpSpPr>
          <a:xfrm rot="0">
            <a:off x="6455664" y="1719072"/>
            <a:ext cx="5029200" cy="658368"/>
            <a:chOff x="0" y="0"/>
            <a:chExt cx="6705600" cy="877824"/>
          </a:xfrm>
        </p:grpSpPr>
        <p:sp>
          <p:nvSpPr>
            <p:cNvPr name="Freeform 23" id="23"/>
            <p:cNvSpPr/>
            <p:nvPr/>
          </p:nvSpPr>
          <p:spPr>
            <a:xfrm flipH="false" flipV="false" rot="0">
              <a:off x="0" y="0"/>
              <a:ext cx="6705600" cy="877824"/>
            </a:xfrm>
            <a:custGeom>
              <a:avLst/>
              <a:gdLst/>
              <a:ahLst/>
              <a:cxnLst/>
              <a:rect r="r" b="b" t="t" l="l"/>
              <a:pathLst>
                <a:path h="877824" w="6705600">
                  <a:moveTo>
                    <a:pt x="0" y="0"/>
                  </a:moveTo>
                  <a:lnTo>
                    <a:pt x="6705600" y="0"/>
                  </a:lnTo>
                  <a:lnTo>
                    <a:pt x="6705600" y="877824"/>
                  </a:lnTo>
                  <a:lnTo>
                    <a:pt x="0" y="877824"/>
                  </a:lnTo>
                  <a:close/>
                </a:path>
              </a:pathLst>
            </a:custGeom>
            <a:blipFill>
              <a:blip r:embed="rId2">
                <a:alphaModFix amt="0"/>
              </a:blip>
              <a:stretch>
                <a:fillRect l="0" t="-98844" r="0" b="-98844"/>
              </a:stretch>
            </a:blipFill>
          </p:spPr>
        </p:sp>
        <p:sp>
          <p:nvSpPr>
            <p:cNvPr name="TextBox 24" id="24"/>
            <p:cNvSpPr txBox="true"/>
            <p:nvPr/>
          </p:nvSpPr>
          <p:spPr>
            <a:xfrm>
              <a:off x="0" y="-9525"/>
              <a:ext cx="6705600" cy="887349"/>
            </a:xfrm>
            <a:prstGeom prst="rect">
              <a:avLst/>
            </a:prstGeom>
          </p:spPr>
          <p:txBody>
            <a:bodyPr anchor="ctr" rtlCol="false" tIns="0" lIns="0" bIns="0" rIns="0"/>
            <a:lstStyle/>
            <a:p>
              <a:pPr algn="l">
                <a:lnSpc>
                  <a:spcPts val="2400"/>
                </a:lnSpc>
              </a:pPr>
              <a:r>
                <a:rPr lang="en-US" sz="2000" b="true">
                  <a:solidFill>
                    <a:srgbClr val="FFFFFF"/>
                  </a:solidFill>
                  <a:latin typeface="Cambria Bold"/>
                  <a:ea typeface="Cambria Bold"/>
                  <a:cs typeface="Cambria Bold"/>
                  <a:sym typeface="Cambria Bold"/>
                </a:rPr>
                <a:t>Description</a:t>
              </a:r>
            </a:p>
          </p:txBody>
        </p:sp>
      </p:grpSp>
      <p:grpSp>
        <p:nvGrpSpPr>
          <p:cNvPr name="Group 25" id="25"/>
          <p:cNvGrpSpPr/>
          <p:nvPr/>
        </p:nvGrpSpPr>
        <p:grpSpPr>
          <a:xfrm rot="0">
            <a:off x="11667744" y="1719072"/>
            <a:ext cx="1865376" cy="658368"/>
            <a:chOff x="0" y="0"/>
            <a:chExt cx="2487168" cy="877824"/>
          </a:xfrm>
        </p:grpSpPr>
        <p:sp>
          <p:nvSpPr>
            <p:cNvPr name="Freeform 26" id="26"/>
            <p:cNvSpPr/>
            <p:nvPr/>
          </p:nvSpPr>
          <p:spPr>
            <a:xfrm flipH="false" flipV="false" rot="0">
              <a:off x="0" y="0"/>
              <a:ext cx="2487168" cy="877824"/>
            </a:xfrm>
            <a:custGeom>
              <a:avLst/>
              <a:gdLst/>
              <a:ahLst/>
              <a:cxnLst/>
              <a:rect r="r" b="b" t="t" l="l"/>
              <a:pathLst>
                <a:path h="877824" w="2487168">
                  <a:moveTo>
                    <a:pt x="0" y="0"/>
                  </a:moveTo>
                  <a:lnTo>
                    <a:pt x="2487168" y="0"/>
                  </a:lnTo>
                  <a:lnTo>
                    <a:pt x="2487168" y="877824"/>
                  </a:lnTo>
                  <a:lnTo>
                    <a:pt x="0" y="877824"/>
                  </a:lnTo>
                  <a:close/>
                </a:path>
              </a:pathLst>
            </a:custGeom>
            <a:blipFill>
              <a:blip r:embed="rId2">
                <a:alphaModFix amt="0"/>
              </a:blip>
              <a:stretch>
                <a:fillRect l="0" t="-5207" r="0" b="-5207"/>
              </a:stretch>
            </a:blipFill>
          </p:spPr>
        </p:sp>
        <p:sp>
          <p:nvSpPr>
            <p:cNvPr name="TextBox 27" id="27"/>
            <p:cNvSpPr txBox="true"/>
            <p:nvPr/>
          </p:nvSpPr>
          <p:spPr>
            <a:xfrm>
              <a:off x="0" y="-9525"/>
              <a:ext cx="2487168" cy="887349"/>
            </a:xfrm>
            <a:prstGeom prst="rect">
              <a:avLst/>
            </a:prstGeom>
          </p:spPr>
          <p:txBody>
            <a:bodyPr anchor="ctr" rtlCol="false" tIns="0" lIns="0" bIns="0" rIns="0"/>
            <a:lstStyle/>
            <a:p>
              <a:pPr algn="ctr">
                <a:lnSpc>
                  <a:spcPts val="2400"/>
                </a:lnSpc>
              </a:pPr>
              <a:r>
                <a:rPr lang="en-US" sz="2000" b="true">
                  <a:solidFill>
                    <a:srgbClr val="FFFFFF"/>
                  </a:solidFill>
                  <a:latin typeface="Cambria Bold"/>
                  <a:ea typeface="Cambria Bold"/>
                  <a:cs typeface="Cambria Bold"/>
                  <a:sym typeface="Cambria Bold"/>
                </a:rPr>
                <a:t>Qualit./Quantit.</a:t>
              </a:r>
            </a:p>
          </p:txBody>
        </p:sp>
      </p:grpSp>
      <p:grpSp>
        <p:nvGrpSpPr>
          <p:cNvPr name="Group 28" id="28"/>
          <p:cNvGrpSpPr/>
          <p:nvPr/>
        </p:nvGrpSpPr>
        <p:grpSpPr>
          <a:xfrm rot="0">
            <a:off x="13716000" y="1719072"/>
            <a:ext cx="1426464" cy="658368"/>
            <a:chOff x="0" y="0"/>
            <a:chExt cx="1901952" cy="877824"/>
          </a:xfrm>
        </p:grpSpPr>
        <p:sp>
          <p:nvSpPr>
            <p:cNvPr name="Freeform 29" id="29"/>
            <p:cNvSpPr/>
            <p:nvPr/>
          </p:nvSpPr>
          <p:spPr>
            <a:xfrm flipH="false" flipV="false" rot="0">
              <a:off x="0" y="0"/>
              <a:ext cx="1901952" cy="877824"/>
            </a:xfrm>
            <a:custGeom>
              <a:avLst/>
              <a:gdLst/>
              <a:ahLst/>
              <a:cxnLst/>
              <a:rect r="r" b="b" t="t" l="l"/>
              <a:pathLst>
                <a:path h="877824" w="1901952">
                  <a:moveTo>
                    <a:pt x="0" y="0"/>
                  </a:moveTo>
                  <a:lnTo>
                    <a:pt x="1901952" y="0"/>
                  </a:lnTo>
                  <a:lnTo>
                    <a:pt x="1901952" y="877824"/>
                  </a:lnTo>
                  <a:lnTo>
                    <a:pt x="0" y="877824"/>
                  </a:lnTo>
                  <a:close/>
                </a:path>
              </a:pathLst>
            </a:custGeom>
            <a:blipFill>
              <a:blip r:embed="rId2">
                <a:alphaModFix amt="0"/>
              </a:blip>
              <a:stretch>
                <a:fillRect l="-9217" t="0" r="-9217" b="0"/>
              </a:stretch>
            </a:blipFill>
          </p:spPr>
        </p:sp>
        <p:sp>
          <p:nvSpPr>
            <p:cNvPr name="TextBox 30" id="30"/>
            <p:cNvSpPr txBox="true"/>
            <p:nvPr/>
          </p:nvSpPr>
          <p:spPr>
            <a:xfrm>
              <a:off x="0" y="-9525"/>
              <a:ext cx="1901952" cy="887349"/>
            </a:xfrm>
            <a:prstGeom prst="rect">
              <a:avLst/>
            </a:prstGeom>
          </p:spPr>
          <p:txBody>
            <a:bodyPr anchor="ctr" rtlCol="false" tIns="0" lIns="0" bIns="0" rIns="0"/>
            <a:lstStyle/>
            <a:p>
              <a:pPr algn="ctr">
                <a:lnSpc>
                  <a:spcPts val="2400"/>
                </a:lnSpc>
              </a:pPr>
              <a:r>
                <a:rPr lang="en-US" sz="2000" b="true">
                  <a:solidFill>
                    <a:srgbClr val="FFFFFF"/>
                  </a:solidFill>
                  <a:latin typeface="Cambria Bold"/>
                  <a:ea typeface="Cambria Bold"/>
                  <a:cs typeface="Cambria Bold"/>
                  <a:sym typeface="Cambria Bold"/>
                </a:rPr>
                <a:t>I/O</a:t>
              </a:r>
            </a:p>
          </p:txBody>
        </p:sp>
      </p:grpSp>
      <p:grpSp>
        <p:nvGrpSpPr>
          <p:cNvPr name="Group 31" id="31"/>
          <p:cNvGrpSpPr/>
          <p:nvPr/>
        </p:nvGrpSpPr>
        <p:grpSpPr>
          <a:xfrm rot="0">
            <a:off x="15325344" y="1719072"/>
            <a:ext cx="1865376" cy="658368"/>
            <a:chOff x="0" y="0"/>
            <a:chExt cx="2487168" cy="877824"/>
          </a:xfrm>
        </p:grpSpPr>
        <p:sp>
          <p:nvSpPr>
            <p:cNvPr name="Freeform 32" id="32"/>
            <p:cNvSpPr/>
            <p:nvPr/>
          </p:nvSpPr>
          <p:spPr>
            <a:xfrm flipH="false" flipV="false" rot="0">
              <a:off x="0" y="0"/>
              <a:ext cx="2487168" cy="877824"/>
            </a:xfrm>
            <a:custGeom>
              <a:avLst/>
              <a:gdLst/>
              <a:ahLst/>
              <a:cxnLst/>
              <a:rect r="r" b="b" t="t" l="l"/>
              <a:pathLst>
                <a:path h="877824" w="2487168">
                  <a:moveTo>
                    <a:pt x="0" y="0"/>
                  </a:moveTo>
                  <a:lnTo>
                    <a:pt x="2487168" y="0"/>
                  </a:lnTo>
                  <a:lnTo>
                    <a:pt x="2487168" y="877824"/>
                  </a:lnTo>
                  <a:lnTo>
                    <a:pt x="0" y="877824"/>
                  </a:lnTo>
                  <a:close/>
                </a:path>
              </a:pathLst>
            </a:custGeom>
            <a:blipFill>
              <a:blip r:embed="rId2">
                <a:alphaModFix amt="0"/>
              </a:blip>
              <a:stretch>
                <a:fillRect l="0" t="-5207" r="0" b="-5207"/>
              </a:stretch>
            </a:blipFill>
          </p:spPr>
        </p:sp>
        <p:sp>
          <p:nvSpPr>
            <p:cNvPr name="TextBox 33" id="33"/>
            <p:cNvSpPr txBox="true"/>
            <p:nvPr/>
          </p:nvSpPr>
          <p:spPr>
            <a:xfrm>
              <a:off x="0" y="-9525"/>
              <a:ext cx="2487168" cy="887349"/>
            </a:xfrm>
            <a:prstGeom prst="rect">
              <a:avLst/>
            </a:prstGeom>
          </p:spPr>
          <p:txBody>
            <a:bodyPr anchor="ctr" rtlCol="false" tIns="0" lIns="0" bIns="0" rIns="0"/>
            <a:lstStyle/>
            <a:p>
              <a:pPr algn="ctr">
                <a:lnSpc>
                  <a:spcPts val="2400"/>
                </a:lnSpc>
              </a:pPr>
              <a:r>
                <a:rPr lang="en-US" sz="2000" b="true">
                  <a:solidFill>
                    <a:srgbClr val="FFFFFF"/>
                  </a:solidFill>
                  <a:latin typeface="Cambria Bold"/>
                  <a:ea typeface="Cambria Bold"/>
                  <a:cs typeface="Cambria Bold"/>
                  <a:sym typeface="Cambria Bold"/>
                </a:rPr>
                <a:t>Catégorie</a:t>
              </a:r>
            </a:p>
          </p:txBody>
        </p:sp>
      </p:grpSp>
      <p:grpSp>
        <p:nvGrpSpPr>
          <p:cNvPr name="Group 34" id="34"/>
          <p:cNvGrpSpPr/>
          <p:nvPr/>
        </p:nvGrpSpPr>
        <p:grpSpPr>
          <a:xfrm rot="0">
            <a:off x="397259" y="2408939"/>
            <a:ext cx="17493491" cy="778259"/>
            <a:chOff x="0" y="0"/>
            <a:chExt cx="23324655" cy="1037679"/>
          </a:xfrm>
        </p:grpSpPr>
        <p:sp>
          <p:nvSpPr>
            <p:cNvPr name="Freeform 35" id="35"/>
            <p:cNvSpPr/>
            <p:nvPr/>
          </p:nvSpPr>
          <p:spPr>
            <a:xfrm flipH="false" flipV="false" rot="0">
              <a:off x="0" y="0"/>
              <a:ext cx="23324693" cy="1037717"/>
            </a:xfrm>
            <a:custGeom>
              <a:avLst/>
              <a:gdLst/>
              <a:ahLst/>
              <a:cxnLst/>
              <a:rect r="r" b="b" t="t" l="l"/>
              <a:pathLst>
                <a:path h="1037717" w="23324693">
                  <a:moveTo>
                    <a:pt x="0" y="0"/>
                  </a:moveTo>
                  <a:lnTo>
                    <a:pt x="23324693" y="0"/>
                  </a:lnTo>
                  <a:lnTo>
                    <a:pt x="23324693" y="1037717"/>
                  </a:lnTo>
                  <a:lnTo>
                    <a:pt x="0" y="1037717"/>
                  </a:lnTo>
                  <a:close/>
                </a:path>
              </a:pathLst>
            </a:custGeom>
            <a:solidFill>
              <a:srgbClr val="F0F5FB"/>
            </a:solidFill>
            <a:ln w="10160" cap="sq">
              <a:solidFill>
                <a:srgbClr val="D1DCF0"/>
              </a:solidFill>
              <a:prstDash val="solid"/>
              <a:miter/>
            </a:ln>
          </p:spPr>
        </p:sp>
      </p:grpSp>
      <p:grpSp>
        <p:nvGrpSpPr>
          <p:cNvPr name="Group 36" id="36"/>
          <p:cNvGrpSpPr/>
          <p:nvPr/>
        </p:nvGrpSpPr>
        <p:grpSpPr>
          <a:xfrm rot="0">
            <a:off x="397259" y="2408939"/>
            <a:ext cx="17493491" cy="778259"/>
            <a:chOff x="0" y="0"/>
            <a:chExt cx="23324655" cy="1037679"/>
          </a:xfrm>
        </p:grpSpPr>
        <p:sp>
          <p:nvSpPr>
            <p:cNvPr name="Freeform 37" id="37"/>
            <p:cNvSpPr/>
            <p:nvPr/>
          </p:nvSpPr>
          <p:spPr>
            <a:xfrm flipH="false" flipV="false" rot="0">
              <a:off x="0" y="0"/>
              <a:ext cx="23324693" cy="1037717"/>
            </a:xfrm>
            <a:custGeom>
              <a:avLst/>
              <a:gdLst/>
              <a:ahLst/>
              <a:cxnLst/>
              <a:rect r="r" b="b" t="t" l="l"/>
              <a:pathLst>
                <a:path h="1037717" w="23324693">
                  <a:moveTo>
                    <a:pt x="0" y="0"/>
                  </a:moveTo>
                  <a:lnTo>
                    <a:pt x="23324693" y="0"/>
                  </a:lnTo>
                  <a:lnTo>
                    <a:pt x="23324693" y="1037717"/>
                  </a:lnTo>
                  <a:lnTo>
                    <a:pt x="0" y="1037717"/>
                  </a:lnTo>
                  <a:close/>
                </a:path>
              </a:pathLst>
            </a:custGeom>
            <a:solidFill>
              <a:srgbClr val="F0F5FB"/>
            </a:solidFill>
            <a:ln w="10160" cap="sq">
              <a:solidFill>
                <a:srgbClr val="D1DCF0"/>
              </a:solidFill>
              <a:prstDash val="solid"/>
              <a:miter/>
            </a:ln>
          </p:spPr>
        </p:sp>
      </p:grpSp>
      <p:grpSp>
        <p:nvGrpSpPr>
          <p:cNvPr name="Group 38" id="38"/>
          <p:cNvGrpSpPr/>
          <p:nvPr/>
        </p:nvGrpSpPr>
        <p:grpSpPr>
          <a:xfrm rot="0">
            <a:off x="548640" y="2487168"/>
            <a:ext cx="3255264" cy="658368"/>
            <a:chOff x="0" y="0"/>
            <a:chExt cx="4340352" cy="877824"/>
          </a:xfrm>
        </p:grpSpPr>
        <p:sp>
          <p:nvSpPr>
            <p:cNvPr name="Freeform 39" id="39"/>
            <p:cNvSpPr/>
            <p:nvPr/>
          </p:nvSpPr>
          <p:spPr>
            <a:xfrm flipH="false" flipV="false" rot="0">
              <a:off x="0" y="0"/>
              <a:ext cx="4340352" cy="877824"/>
            </a:xfrm>
            <a:custGeom>
              <a:avLst/>
              <a:gdLst/>
              <a:ahLst/>
              <a:cxnLst/>
              <a:rect r="r" b="b" t="t" l="l"/>
              <a:pathLst>
                <a:path h="877824" w="4340352">
                  <a:moveTo>
                    <a:pt x="0" y="0"/>
                  </a:moveTo>
                  <a:lnTo>
                    <a:pt x="4340352" y="0"/>
                  </a:lnTo>
                  <a:lnTo>
                    <a:pt x="4340352" y="877824"/>
                  </a:lnTo>
                  <a:lnTo>
                    <a:pt x="0" y="877824"/>
                  </a:lnTo>
                  <a:close/>
                </a:path>
              </a:pathLst>
            </a:custGeom>
            <a:blipFill>
              <a:blip r:embed="rId2">
                <a:alphaModFix amt="0"/>
              </a:blip>
              <a:stretch>
                <a:fillRect l="0" t="-46342" r="0" b="-46342"/>
              </a:stretch>
            </a:blipFill>
          </p:spPr>
        </p:sp>
        <p:sp>
          <p:nvSpPr>
            <p:cNvPr name="TextBox 40" id="40"/>
            <p:cNvSpPr txBox="true"/>
            <p:nvPr/>
          </p:nvSpPr>
          <p:spPr>
            <a:xfrm>
              <a:off x="0" y="-38100"/>
              <a:ext cx="4340352" cy="915924"/>
            </a:xfrm>
            <a:prstGeom prst="rect">
              <a:avLst/>
            </a:prstGeom>
          </p:spPr>
          <p:txBody>
            <a:bodyPr anchor="ctr" rtlCol="false" tIns="0" lIns="0" bIns="0" rIns="0"/>
            <a:lstStyle/>
            <a:p>
              <a:pPr algn="l">
                <a:lnSpc>
                  <a:spcPts val="2280"/>
                </a:lnSpc>
              </a:pPr>
              <a:r>
                <a:rPr lang="en-US" sz="1900" b="true">
                  <a:solidFill>
                    <a:srgbClr val="1E3A5F"/>
                  </a:solidFill>
                  <a:latin typeface="Calibri (MS) Bold"/>
                  <a:ea typeface="Calibri (MS) Bold"/>
                  <a:cs typeface="Calibri (MS) Bold"/>
                  <a:sym typeface="Calibri (MS) Bold"/>
                </a:rPr>
                <a:t>Débit_paquets_s</a:t>
              </a:r>
            </a:p>
          </p:txBody>
        </p:sp>
      </p:grpSp>
      <p:grpSp>
        <p:nvGrpSpPr>
          <p:cNvPr name="Group 41" id="41"/>
          <p:cNvGrpSpPr/>
          <p:nvPr/>
        </p:nvGrpSpPr>
        <p:grpSpPr>
          <a:xfrm rot="0">
            <a:off x="3986784" y="2487168"/>
            <a:ext cx="2286000" cy="658368"/>
            <a:chOff x="0" y="0"/>
            <a:chExt cx="3048000" cy="877824"/>
          </a:xfrm>
        </p:grpSpPr>
        <p:sp>
          <p:nvSpPr>
            <p:cNvPr name="Freeform 42" id="42"/>
            <p:cNvSpPr/>
            <p:nvPr/>
          </p:nvSpPr>
          <p:spPr>
            <a:xfrm flipH="false" flipV="false" rot="0">
              <a:off x="0" y="0"/>
              <a:ext cx="3048000" cy="877824"/>
            </a:xfrm>
            <a:custGeom>
              <a:avLst/>
              <a:gdLst/>
              <a:ahLst/>
              <a:cxnLst/>
              <a:rect r="r" b="b" t="t" l="l"/>
              <a:pathLst>
                <a:path h="877824" w="3048000">
                  <a:moveTo>
                    <a:pt x="0" y="0"/>
                  </a:moveTo>
                  <a:lnTo>
                    <a:pt x="3048000" y="0"/>
                  </a:lnTo>
                  <a:lnTo>
                    <a:pt x="3048000" y="877824"/>
                  </a:lnTo>
                  <a:lnTo>
                    <a:pt x="0" y="877824"/>
                  </a:lnTo>
                  <a:close/>
                </a:path>
              </a:pathLst>
            </a:custGeom>
            <a:blipFill>
              <a:blip r:embed="rId2">
                <a:alphaModFix amt="0"/>
              </a:blip>
              <a:stretch>
                <a:fillRect l="0" t="-17656" r="0" b="-17656"/>
              </a:stretch>
            </a:blipFill>
          </p:spPr>
        </p:sp>
        <p:sp>
          <p:nvSpPr>
            <p:cNvPr name="TextBox 43" id="43"/>
            <p:cNvSpPr txBox="true"/>
            <p:nvPr/>
          </p:nvSpPr>
          <p:spPr>
            <a:xfrm>
              <a:off x="0" y="-38100"/>
              <a:ext cx="3048000" cy="915924"/>
            </a:xfrm>
            <a:prstGeom prst="rect">
              <a:avLst/>
            </a:prstGeom>
          </p:spPr>
          <p:txBody>
            <a:bodyPr anchor="ctr" rtlCol="false" tIns="0" lIns="0" bIns="0" rIns="0"/>
            <a:lstStyle/>
            <a:p>
              <a:pPr algn="ctr">
                <a:lnSpc>
                  <a:spcPts val="2280"/>
                </a:lnSpc>
              </a:pPr>
              <a:r>
                <a:rPr lang="en-US" sz="1900">
                  <a:solidFill>
                    <a:srgbClr val="1E293B"/>
                  </a:solidFill>
                  <a:latin typeface="Calibri (MS)"/>
                  <a:ea typeface="Calibri (MS)"/>
                  <a:cs typeface="Calibri (MS)"/>
                  <a:sym typeface="Calibri (MS)"/>
                </a:rPr>
                <a:t>Numérique</a:t>
              </a:r>
            </a:p>
          </p:txBody>
        </p:sp>
      </p:grpSp>
      <p:grpSp>
        <p:nvGrpSpPr>
          <p:cNvPr name="Group 44" id="44"/>
          <p:cNvGrpSpPr/>
          <p:nvPr/>
        </p:nvGrpSpPr>
        <p:grpSpPr>
          <a:xfrm rot="0">
            <a:off x="6455664" y="2487168"/>
            <a:ext cx="5029200" cy="658368"/>
            <a:chOff x="0" y="0"/>
            <a:chExt cx="6705600" cy="877824"/>
          </a:xfrm>
        </p:grpSpPr>
        <p:sp>
          <p:nvSpPr>
            <p:cNvPr name="Freeform 45" id="45"/>
            <p:cNvSpPr/>
            <p:nvPr/>
          </p:nvSpPr>
          <p:spPr>
            <a:xfrm flipH="false" flipV="false" rot="0">
              <a:off x="0" y="0"/>
              <a:ext cx="6705600" cy="877824"/>
            </a:xfrm>
            <a:custGeom>
              <a:avLst/>
              <a:gdLst/>
              <a:ahLst/>
              <a:cxnLst/>
              <a:rect r="r" b="b" t="t" l="l"/>
              <a:pathLst>
                <a:path h="877824" w="6705600">
                  <a:moveTo>
                    <a:pt x="0" y="0"/>
                  </a:moveTo>
                  <a:lnTo>
                    <a:pt x="6705600" y="0"/>
                  </a:lnTo>
                  <a:lnTo>
                    <a:pt x="6705600" y="877824"/>
                  </a:lnTo>
                  <a:lnTo>
                    <a:pt x="0" y="877824"/>
                  </a:lnTo>
                  <a:close/>
                </a:path>
              </a:pathLst>
            </a:custGeom>
            <a:blipFill>
              <a:blip r:embed="rId2">
                <a:alphaModFix amt="0"/>
              </a:blip>
              <a:stretch>
                <a:fillRect l="0" t="-98844" r="0" b="-98844"/>
              </a:stretch>
            </a:blipFill>
          </p:spPr>
        </p:sp>
        <p:sp>
          <p:nvSpPr>
            <p:cNvPr name="TextBox 46" id="46"/>
            <p:cNvSpPr txBox="true"/>
            <p:nvPr/>
          </p:nvSpPr>
          <p:spPr>
            <a:xfrm>
              <a:off x="0" y="-38100"/>
              <a:ext cx="6705600" cy="915924"/>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Nombre de paquets transmis par seconde</a:t>
              </a:r>
            </a:p>
          </p:txBody>
        </p:sp>
      </p:grpSp>
      <p:grpSp>
        <p:nvGrpSpPr>
          <p:cNvPr name="Group 47" id="47"/>
          <p:cNvGrpSpPr/>
          <p:nvPr/>
        </p:nvGrpSpPr>
        <p:grpSpPr>
          <a:xfrm rot="0">
            <a:off x="11667744" y="2487168"/>
            <a:ext cx="1865376" cy="658368"/>
            <a:chOff x="0" y="0"/>
            <a:chExt cx="2487168" cy="877824"/>
          </a:xfrm>
        </p:grpSpPr>
        <p:sp>
          <p:nvSpPr>
            <p:cNvPr name="Freeform 48" id="48"/>
            <p:cNvSpPr/>
            <p:nvPr/>
          </p:nvSpPr>
          <p:spPr>
            <a:xfrm flipH="false" flipV="false" rot="0">
              <a:off x="0" y="0"/>
              <a:ext cx="2487168" cy="877824"/>
            </a:xfrm>
            <a:custGeom>
              <a:avLst/>
              <a:gdLst/>
              <a:ahLst/>
              <a:cxnLst/>
              <a:rect r="r" b="b" t="t" l="l"/>
              <a:pathLst>
                <a:path h="877824" w="2487168">
                  <a:moveTo>
                    <a:pt x="0" y="0"/>
                  </a:moveTo>
                  <a:lnTo>
                    <a:pt x="2487168" y="0"/>
                  </a:lnTo>
                  <a:lnTo>
                    <a:pt x="2487168" y="877824"/>
                  </a:lnTo>
                  <a:lnTo>
                    <a:pt x="0" y="877824"/>
                  </a:lnTo>
                  <a:close/>
                </a:path>
              </a:pathLst>
            </a:custGeom>
            <a:blipFill>
              <a:blip r:embed="rId2">
                <a:alphaModFix amt="0"/>
              </a:blip>
              <a:stretch>
                <a:fillRect l="0" t="-5207" r="0" b="-5207"/>
              </a:stretch>
            </a:blipFill>
          </p:spPr>
        </p:sp>
        <p:sp>
          <p:nvSpPr>
            <p:cNvPr name="TextBox 49" id="49"/>
            <p:cNvSpPr txBox="true"/>
            <p:nvPr/>
          </p:nvSpPr>
          <p:spPr>
            <a:xfrm>
              <a:off x="0" y="-38100"/>
              <a:ext cx="2487168" cy="915924"/>
            </a:xfrm>
            <a:prstGeom prst="rect">
              <a:avLst/>
            </a:prstGeom>
          </p:spPr>
          <p:txBody>
            <a:bodyPr anchor="ctr" rtlCol="false" tIns="0" lIns="0" bIns="0" rIns="0"/>
            <a:lstStyle/>
            <a:p>
              <a:pPr algn="ctr">
                <a:lnSpc>
                  <a:spcPts val="2280"/>
                </a:lnSpc>
              </a:pPr>
              <a:r>
                <a:rPr lang="en-US" sz="1900">
                  <a:solidFill>
                    <a:srgbClr val="1E293B"/>
                  </a:solidFill>
                  <a:latin typeface="Calibri (MS)"/>
                  <a:ea typeface="Calibri (MS)"/>
                  <a:cs typeface="Calibri (MS)"/>
                  <a:sym typeface="Calibri (MS)"/>
                </a:rPr>
                <a:t>Quantitatif</a:t>
              </a:r>
            </a:p>
          </p:txBody>
        </p:sp>
      </p:grpSp>
      <p:grpSp>
        <p:nvGrpSpPr>
          <p:cNvPr name="Group 50" id="50"/>
          <p:cNvGrpSpPr/>
          <p:nvPr/>
        </p:nvGrpSpPr>
        <p:grpSpPr>
          <a:xfrm rot="0">
            <a:off x="13819375" y="2535679"/>
            <a:ext cx="1146553" cy="524761"/>
            <a:chOff x="0" y="0"/>
            <a:chExt cx="1528737" cy="699681"/>
          </a:xfrm>
        </p:grpSpPr>
        <p:sp>
          <p:nvSpPr>
            <p:cNvPr name="Freeform 51" id="51"/>
            <p:cNvSpPr/>
            <p:nvPr/>
          </p:nvSpPr>
          <p:spPr>
            <a:xfrm flipH="false" flipV="false" rot="0">
              <a:off x="0" y="0"/>
              <a:ext cx="1528699" cy="699643"/>
            </a:xfrm>
            <a:custGeom>
              <a:avLst/>
              <a:gdLst/>
              <a:ahLst/>
              <a:cxnLst/>
              <a:rect r="r" b="b" t="t" l="l"/>
              <a:pathLst>
                <a:path h="699643" w="1528699">
                  <a:moveTo>
                    <a:pt x="0" y="174879"/>
                  </a:moveTo>
                  <a:cubicBezTo>
                    <a:pt x="0" y="78359"/>
                    <a:pt x="78359" y="0"/>
                    <a:pt x="174879" y="0"/>
                  </a:cubicBezTo>
                  <a:lnTo>
                    <a:pt x="1353820" y="0"/>
                  </a:lnTo>
                  <a:cubicBezTo>
                    <a:pt x="1450467" y="0"/>
                    <a:pt x="1528699" y="78359"/>
                    <a:pt x="1528699" y="174879"/>
                  </a:cubicBezTo>
                  <a:lnTo>
                    <a:pt x="1528699" y="524764"/>
                  </a:lnTo>
                  <a:cubicBezTo>
                    <a:pt x="1528699" y="621411"/>
                    <a:pt x="1450340" y="699643"/>
                    <a:pt x="1353820" y="699643"/>
                  </a:cubicBezTo>
                  <a:lnTo>
                    <a:pt x="174879" y="699643"/>
                  </a:lnTo>
                  <a:cubicBezTo>
                    <a:pt x="78359" y="699643"/>
                    <a:pt x="0" y="621411"/>
                    <a:pt x="0" y="524764"/>
                  </a:cubicBezTo>
                  <a:close/>
                </a:path>
              </a:pathLst>
            </a:custGeom>
            <a:solidFill>
              <a:srgbClr val="DBEAFE"/>
            </a:solidFill>
            <a:ln w="12700" cap="sq">
              <a:solidFill>
                <a:srgbClr val="3B82F6"/>
              </a:solidFill>
              <a:prstDash val="solid"/>
              <a:miter/>
            </a:ln>
          </p:spPr>
        </p:sp>
      </p:grpSp>
      <p:grpSp>
        <p:nvGrpSpPr>
          <p:cNvPr name="Group 52" id="52"/>
          <p:cNvGrpSpPr/>
          <p:nvPr/>
        </p:nvGrpSpPr>
        <p:grpSpPr>
          <a:xfrm rot="0">
            <a:off x="13825728" y="2542032"/>
            <a:ext cx="1133856" cy="512064"/>
            <a:chOff x="0" y="0"/>
            <a:chExt cx="1511808" cy="682752"/>
          </a:xfrm>
        </p:grpSpPr>
        <p:sp>
          <p:nvSpPr>
            <p:cNvPr name="Freeform 53" id="53"/>
            <p:cNvSpPr/>
            <p:nvPr/>
          </p:nvSpPr>
          <p:spPr>
            <a:xfrm flipH="false" flipV="false" rot="0">
              <a:off x="0" y="0"/>
              <a:ext cx="1511808" cy="682752"/>
            </a:xfrm>
            <a:custGeom>
              <a:avLst/>
              <a:gdLst/>
              <a:ahLst/>
              <a:cxnLst/>
              <a:rect r="r" b="b" t="t" l="l"/>
              <a:pathLst>
                <a:path h="682752" w="1511808">
                  <a:moveTo>
                    <a:pt x="0" y="0"/>
                  </a:moveTo>
                  <a:lnTo>
                    <a:pt x="1511808" y="0"/>
                  </a:lnTo>
                  <a:lnTo>
                    <a:pt x="1511808" y="682752"/>
                  </a:lnTo>
                  <a:lnTo>
                    <a:pt x="0" y="682752"/>
                  </a:lnTo>
                  <a:close/>
                </a:path>
              </a:pathLst>
            </a:custGeom>
            <a:blipFill>
              <a:blip r:embed="rId2">
                <a:alphaModFix amt="0"/>
              </a:blip>
              <a:stretch>
                <a:fillRect l="-7943" t="0" r="-7943" b="0"/>
              </a:stretch>
            </a:blipFill>
          </p:spPr>
        </p:sp>
        <p:sp>
          <p:nvSpPr>
            <p:cNvPr name="TextBox 54" id="54"/>
            <p:cNvSpPr txBox="true"/>
            <p:nvPr/>
          </p:nvSpPr>
          <p:spPr>
            <a:xfrm>
              <a:off x="0" y="-38100"/>
              <a:ext cx="1511808" cy="720852"/>
            </a:xfrm>
            <a:prstGeom prst="rect">
              <a:avLst/>
            </a:prstGeom>
          </p:spPr>
          <p:txBody>
            <a:bodyPr anchor="ctr" rtlCol="false" tIns="0" lIns="0" bIns="0" rIns="0"/>
            <a:lstStyle/>
            <a:p>
              <a:pPr algn="ctr">
                <a:lnSpc>
                  <a:spcPts val="2039"/>
                </a:lnSpc>
              </a:pPr>
              <a:r>
                <a:rPr lang="en-US" sz="1700" b="true">
                  <a:solidFill>
                    <a:srgbClr val="1D4ED8"/>
                  </a:solidFill>
                  <a:latin typeface="Calibri (MS) Bold"/>
                  <a:ea typeface="Calibri (MS) Bold"/>
                  <a:cs typeface="Calibri (MS) Bold"/>
                  <a:sym typeface="Calibri (MS) Bold"/>
                </a:rPr>
                <a:t>Input</a:t>
              </a:r>
            </a:p>
          </p:txBody>
        </p:sp>
      </p:grpSp>
      <p:grpSp>
        <p:nvGrpSpPr>
          <p:cNvPr name="Group 55" id="55"/>
          <p:cNvGrpSpPr/>
          <p:nvPr/>
        </p:nvGrpSpPr>
        <p:grpSpPr>
          <a:xfrm rot="0">
            <a:off x="15355567" y="2517391"/>
            <a:ext cx="1731769" cy="561337"/>
            <a:chOff x="0" y="0"/>
            <a:chExt cx="2309025" cy="748449"/>
          </a:xfrm>
        </p:grpSpPr>
        <p:sp>
          <p:nvSpPr>
            <p:cNvPr name="Freeform 56" id="56"/>
            <p:cNvSpPr/>
            <p:nvPr/>
          </p:nvSpPr>
          <p:spPr>
            <a:xfrm flipH="false" flipV="false" rot="0">
              <a:off x="0" y="0"/>
              <a:ext cx="2309114" cy="748538"/>
            </a:xfrm>
            <a:custGeom>
              <a:avLst/>
              <a:gdLst/>
              <a:ahLst/>
              <a:cxnLst/>
              <a:rect r="r" b="b" t="t" l="l"/>
              <a:pathLst>
                <a:path h="748538" w="2309114">
                  <a:moveTo>
                    <a:pt x="0" y="199644"/>
                  </a:moveTo>
                  <a:cubicBezTo>
                    <a:pt x="0" y="89408"/>
                    <a:pt x="89408" y="0"/>
                    <a:pt x="199644" y="0"/>
                  </a:cubicBezTo>
                  <a:lnTo>
                    <a:pt x="2109470" y="0"/>
                  </a:lnTo>
                  <a:cubicBezTo>
                    <a:pt x="2219706" y="0"/>
                    <a:pt x="2309114" y="89408"/>
                    <a:pt x="2309114" y="199644"/>
                  </a:cubicBezTo>
                  <a:lnTo>
                    <a:pt x="2309114" y="548894"/>
                  </a:lnTo>
                  <a:cubicBezTo>
                    <a:pt x="2309114" y="659130"/>
                    <a:pt x="2219706" y="748538"/>
                    <a:pt x="2109470" y="748538"/>
                  </a:cubicBezTo>
                  <a:lnTo>
                    <a:pt x="199644" y="748538"/>
                  </a:lnTo>
                  <a:cubicBezTo>
                    <a:pt x="89408" y="748411"/>
                    <a:pt x="0" y="659130"/>
                    <a:pt x="0" y="548894"/>
                  </a:cubicBezTo>
                  <a:close/>
                </a:path>
              </a:pathLst>
            </a:custGeom>
            <a:solidFill>
              <a:srgbClr val="FFF3ED"/>
            </a:solidFill>
            <a:ln w="12700" cap="sq">
              <a:solidFill>
                <a:srgbClr val="E8541A"/>
              </a:solidFill>
              <a:prstDash val="solid"/>
              <a:miter/>
            </a:ln>
          </p:spPr>
        </p:sp>
      </p:grpSp>
      <p:grpSp>
        <p:nvGrpSpPr>
          <p:cNvPr name="Group 57" id="57"/>
          <p:cNvGrpSpPr/>
          <p:nvPr/>
        </p:nvGrpSpPr>
        <p:grpSpPr>
          <a:xfrm rot="0">
            <a:off x="15361920" y="2523744"/>
            <a:ext cx="1719072" cy="548640"/>
            <a:chOff x="0" y="0"/>
            <a:chExt cx="2292096" cy="731520"/>
          </a:xfrm>
        </p:grpSpPr>
        <p:sp>
          <p:nvSpPr>
            <p:cNvPr name="Freeform 58" id="58"/>
            <p:cNvSpPr/>
            <p:nvPr/>
          </p:nvSpPr>
          <p:spPr>
            <a:xfrm flipH="false" flipV="false" rot="0">
              <a:off x="0" y="0"/>
              <a:ext cx="2292096" cy="731520"/>
            </a:xfrm>
            <a:custGeom>
              <a:avLst/>
              <a:gdLst/>
              <a:ahLst/>
              <a:cxnLst/>
              <a:rect r="r" b="b" t="t" l="l"/>
              <a:pathLst>
                <a:path h="731520" w="2292096">
                  <a:moveTo>
                    <a:pt x="0" y="0"/>
                  </a:moveTo>
                  <a:lnTo>
                    <a:pt x="2292096" y="0"/>
                  </a:lnTo>
                  <a:lnTo>
                    <a:pt x="2292096" y="731520"/>
                  </a:lnTo>
                  <a:lnTo>
                    <a:pt x="0" y="731520"/>
                  </a:lnTo>
                  <a:close/>
                </a:path>
              </a:pathLst>
            </a:custGeom>
            <a:blipFill>
              <a:blip r:embed="rId2">
                <a:alphaModFix amt="0"/>
              </a:blip>
              <a:stretch>
                <a:fillRect l="0" t="-11053" r="0" b="-11053"/>
              </a:stretch>
            </a:blipFill>
          </p:spPr>
        </p:sp>
        <p:sp>
          <p:nvSpPr>
            <p:cNvPr name="TextBox 59" id="59"/>
            <p:cNvSpPr txBox="true"/>
            <p:nvPr/>
          </p:nvSpPr>
          <p:spPr>
            <a:xfrm>
              <a:off x="0" y="-38100"/>
              <a:ext cx="2292096" cy="769620"/>
            </a:xfrm>
            <a:prstGeom prst="rect">
              <a:avLst/>
            </a:prstGeom>
          </p:spPr>
          <p:txBody>
            <a:bodyPr anchor="ctr" rtlCol="false" tIns="0" lIns="0" bIns="0" rIns="0"/>
            <a:lstStyle/>
            <a:p>
              <a:pPr algn="ctr">
                <a:lnSpc>
                  <a:spcPts val="2039"/>
                </a:lnSpc>
              </a:pPr>
              <a:r>
                <a:rPr lang="en-US" sz="1700" b="true">
                  <a:solidFill>
                    <a:srgbClr val="C2410C"/>
                  </a:solidFill>
                  <a:latin typeface="Calibri (MS) Bold"/>
                  <a:ea typeface="Calibri (MS) Bold"/>
                  <a:cs typeface="Calibri (MS) Bold"/>
                  <a:sym typeface="Calibri (MS) Bold"/>
                </a:rPr>
                <a:t>Trafic</a:t>
              </a:r>
            </a:p>
          </p:txBody>
        </p:sp>
      </p:grpSp>
      <p:grpSp>
        <p:nvGrpSpPr>
          <p:cNvPr name="Group 60" id="60"/>
          <p:cNvGrpSpPr/>
          <p:nvPr/>
        </p:nvGrpSpPr>
        <p:grpSpPr>
          <a:xfrm rot="0">
            <a:off x="397259" y="3177035"/>
            <a:ext cx="17493491" cy="778259"/>
            <a:chOff x="0" y="0"/>
            <a:chExt cx="23324655" cy="1037679"/>
          </a:xfrm>
        </p:grpSpPr>
        <p:sp>
          <p:nvSpPr>
            <p:cNvPr name="Freeform 61" id="61"/>
            <p:cNvSpPr/>
            <p:nvPr/>
          </p:nvSpPr>
          <p:spPr>
            <a:xfrm flipH="false" flipV="false" rot="0">
              <a:off x="0" y="0"/>
              <a:ext cx="23324693" cy="1037717"/>
            </a:xfrm>
            <a:custGeom>
              <a:avLst/>
              <a:gdLst/>
              <a:ahLst/>
              <a:cxnLst/>
              <a:rect r="r" b="b" t="t" l="l"/>
              <a:pathLst>
                <a:path h="1037717" w="23324693">
                  <a:moveTo>
                    <a:pt x="0" y="0"/>
                  </a:moveTo>
                  <a:lnTo>
                    <a:pt x="23324693" y="0"/>
                  </a:lnTo>
                  <a:lnTo>
                    <a:pt x="23324693" y="1037717"/>
                  </a:lnTo>
                  <a:lnTo>
                    <a:pt x="0" y="1037717"/>
                  </a:lnTo>
                  <a:close/>
                </a:path>
              </a:pathLst>
            </a:custGeom>
            <a:solidFill>
              <a:srgbClr val="FFFFFF"/>
            </a:solidFill>
            <a:ln w="10160" cap="sq">
              <a:solidFill>
                <a:srgbClr val="D1DCF0"/>
              </a:solidFill>
              <a:prstDash val="solid"/>
              <a:miter/>
            </a:ln>
          </p:spPr>
        </p:sp>
      </p:grpSp>
      <p:grpSp>
        <p:nvGrpSpPr>
          <p:cNvPr name="Group 62" id="62"/>
          <p:cNvGrpSpPr/>
          <p:nvPr/>
        </p:nvGrpSpPr>
        <p:grpSpPr>
          <a:xfrm rot="0">
            <a:off x="397259" y="3177035"/>
            <a:ext cx="17493491" cy="778259"/>
            <a:chOff x="0" y="0"/>
            <a:chExt cx="23324655" cy="1037679"/>
          </a:xfrm>
        </p:grpSpPr>
        <p:sp>
          <p:nvSpPr>
            <p:cNvPr name="Freeform 63" id="63"/>
            <p:cNvSpPr/>
            <p:nvPr/>
          </p:nvSpPr>
          <p:spPr>
            <a:xfrm flipH="false" flipV="false" rot="0">
              <a:off x="0" y="0"/>
              <a:ext cx="23324693" cy="1037717"/>
            </a:xfrm>
            <a:custGeom>
              <a:avLst/>
              <a:gdLst/>
              <a:ahLst/>
              <a:cxnLst/>
              <a:rect r="r" b="b" t="t" l="l"/>
              <a:pathLst>
                <a:path h="1037717" w="23324693">
                  <a:moveTo>
                    <a:pt x="0" y="0"/>
                  </a:moveTo>
                  <a:lnTo>
                    <a:pt x="23324693" y="0"/>
                  </a:lnTo>
                  <a:lnTo>
                    <a:pt x="23324693" y="1037717"/>
                  </a:lnTo>
                  <a:lnTo>
                    <a:pt x="0" y="1037717"/>
                  </a:lnTo>
                  <a:close/>
                </a:path>
              </a:pathLst>
            </a:custGeom>
            <a:solidFill>
              <a:srgbClr val="F0F5FB"/>
            </a:solidFill>
            <a:ln w="10160" cap="sq">
              <a:solidFill>
                <a:srgbClr val="D1DCF0"/>
              </a:solidFill>
              <a:prstDash val="solid"/>
              <a:miter/>
            </a:ln>
          </p:spPr>
        </p:sp>
      </p:grpSp>
      <p:grpSp>
        <p:nvGrpSpPr>
          <p:cNvPr name="Group 64" id="64"/>
          <p:cNvGrpSpPr/>
          <p:nvPr/>
        </p:nvGrpSpPr>
        <p:grpSpPr>
          <a:xfrm rot="0">
            <a:off x="548640" y="3255264"/>
            <a:ext cx="3255264" cy="658368"/>
            <a:chOff x="0" y="0"/>
            <a:chExt cx="4340352" cy="877824"/>
          </a:xfrm>
        </p:grpSpPr>
        <p:sp>
          <p:nvSpPr>
            <p:cNvPr name="Freeform 65" id="65"/>
            <p:cNvSpPr/>
            <p:nvPr/>
          </p:nvSpPr>
          <p:spPr>
            <a:xfrm flipH="false" flipV="false" rot="0">
              <a:off x="0" y="0"/>
              <a:ext cx="4340352" cy="877824"/>
            </a:xfrm>
            <a:custGeom>
              <a:avLst/>
              <a:gdLst/>
              <a:ahLst/>
              <a:cxnLst/>
              <a:rect r="r" b="b" t="t" l="l"/>
              <a:pathLst>
                <a:path h="877824" w="4340352">
                  <a:moveTo>
                    <a:pt x="0" y="0"/>
                  </a:moveTo>
                  <a:lnTo>
                    <a:pt x="4340352" y="0"/>
                  </a:lnTo>
                  <a:lnTo>
                    <a:pt x="4340352" y="877824"/>
                  </a:lnTo>
                  <a:lnTo>
                    <a:pt x="0" y="877824"/>
                  </a:lnTo>
                  <a:close/>
                </a:path>
              </a:pathLst>
            </a:custGeom>
            <a:blipFill>
              <a:blip r:embed="rId2">
                <a:alphaModFix amt="0"/>
              </a:blip>
              <a:stretch>
                <a:fillRect l="0" t="-46342" r="0" b="-46342"/>
              </a:stretch>
            </a:blipFill>
          </p:spPr>
        </p:sp>
        <p:sp>
          <p:nvSpPr>
            <p:cNvPr name="TextBox 66" id="66"/>
            <p:cNvSpPr txBox="true"/>
            <p:nvPr/>
          </p:nvSpPr>
          <p:spPr>
            <a:xfrm>
              <a:off x="0" y="-38100"/>
              <a:ext cx="4340352" cy="915924"/>
            </a:xfrm>
            <a:prstGeom prst="rect">
              <a:avLst/>
            </a:prstGeom>
          </p:spPr>
          <p:txBody>
            <a:bodyPr anchor="ctr" rtlCol="false" tIns="0" lIns="0" bIns="0" rIns="0"/>
            <a:lstStyle/>
            <a:p>
              <a:pPr algn="l">
                <a:lnSpc>
                  <a:spcPts val="2280"/>
                </a:lnSpc>
              </a:pPr>
              <a:r>
                <a:rPr lang="en-US" sz="1900" b="true">
                  <a:solidFill>
                    <a:srgbClr val="1E3A5F"/>
                  </a:solidFill>
                  <a:latin typeface="Calibri (MS) Bold"/>
                  <a:ea typeface="Calibri (MS) Bold"/>
                  <a:cs typeface="Calibri (MS) Bold"/>
                  <a:sym typeface="Calibri (MS) Bold"/>
                </a:rPr>
                <a:t>Débit_octets_s</a:t>
              </a:r>
            </a:p>
          </p:txBody>
        </p:sp>
      </p:grpSp>
      <p:grpSp>
        <p:nvGrpSpPr>
          <p:cNvPr name="Group 67" id="67"/>
          <p:cNvGrpSpPr/>
          <p:nvPr/>
        </p:nvGrpSpPr>
        <p:grpSpPr>
          <a:xfrm rot="0">
            <a:off x="3986784" y="3255264"/>
            <a:ext cx="2286000" cy="658368"/>
            <a:chOff x="0" y="0"/>
            <a:chExt cx="3048000" cy="877824"/>
          </a:xfrm>
        </p:grpSpPr>
        <p:sp>
          <p:nvSpPr>
            <p:cNvPr name="Freeform 68" id="68"/>
            <p:cNvSpPr/>
            <p:nvPr/>
          </p:nvSpPr>
          <p:spPr>
            <a:xfrm flipH="false" flipV="false" rot="0">
              <a:off x="0" y="0"/>
              <a:ext cx="3048000" cy="877824"/>
            </a:xfrm>
            <a:custGeom>
              <a:avLst/>
              <a:gdLst/>
              <a:ahLst/>
              <a:cxnLst/>
              <a:rect r="r" b="b" t="t" l="l"/>
              <a:pathLst>
                <a:path h="877824" w="3048000">
                  <a:moveTo>
                    <a:pt x="0" y="0"/>
                  </a:moveTo>
                  <a:lnTo>
                    <a:pt x="3048000" y="0"/>
                  </a:lnTo>
                  <a:lnTo>
                    <a:pt x="3048000" y="877824"/>
                  </a:lnTo>
                  <a:lnTo>
                    <a:pt x="0" y="877824"/>
                  </a:lnTo>
                  <a:close/>
                </a:path>
              </a:pathLst>
            </a:custGeom>
            <a:blipFill>
              <a:blip r:embed="rId2">
                <a:alphaModFix amt="0"/>
              </a:blip>
              <a:stretch>
                <a:fillRect l="0" t="-17656" r="0" b="-17656"/>
              </a:stretch>
            </a:blipFill>
          </p:spPr>
        </p:sp>
        <p:sp>
          <p:nvSpPr>
            <p:cNvPr name="TextBox 69" id="69"/>
            <p:cNvSpPr txBox="true"/>
            <p:nvPr/>
          </p:nvSpPr>
          <p:spPr>
            <a:xfrm>
              <a:off x="0" y="-38100"/>
              <a:ext cx="3048000" cy="915924"/>
            </a:xfrm>
            <a:prstGeom prst="rect">
              <a:avLst/>
            </a:prstGeom>
          </p:spPr>
          <p:txBody>
            <a:bodyPr anchor="ctr" rtlCol="false" tIns="0" lIns="0" bIns="0" rIns="0"/>
            <a:lstStyle/>
            <a:p>
              <a:pPr algn="ctr">
                <a:lnSpc>
                  <a:spcPts val="2280"/>
                </a:lnSpc>
              </a:pPr>
              <a:r>
                <a:rPr lang="en-US" sz="1900">
                  <a:solidFill>
                    <a:srgbClr val="1E293B"/>
                  </a:solidFill>
                  <a:latin typeface="Calibri (MS)"/>
                  <a:ea typeface="Calibri (MS)"/>
                  <a:cs typeface="Calibri (MS)"/>
                  <a:sym typeface="Calibri (MS)"/>
                </a:rPr>
                <a:t>Numérique</a:t>
              </a:r>
            </a:p>
          </p:txBody>
        </p:sp>
      </p:grpSp>
      <p:grpSp>
        <p:nvGrpSpPr>
          <p:cNvPr name="Group 70" id="70"/>
          <p:cNvGrpSpPr/>
          <p:nvPr/>
        </p:nvGrpSpPr>
        <p:grpSpPr>
          <a:xfrm rot="0">
            <a:off x="6455664" y="3255264"/>
            <a:ext cx="5029200" cy="658368"/>
            <a:chOff x="0" y="0"/>
            <a:chExt cx="6705600" cy="877824"/>
          </a:xfrm>
        </p:grpSpPr>
        <p:sp>
          <p:nvSpPr>
            <p:cNvPr name="Freeform 71" id="71"/>
            <p:cNvSpPr/>
            <p:nvPr/>
          </p:nvSpPr>
          <p:spPr>
            <a:xfrm flipH="false" flipV="false" rot="0">
              <a:off x="0" y="0"/>
              <a:ext cx="6705600" cy="877824"/>
            </a:xfrm>
            <a:custGeom>
              <a:avLst/>
              <a:gdLst/>
              <a:ahLst/>
              <a:cxnLst/>
              <a:rect r="r" b="b" t="t" l="l"/>
              <a:pathLst>
                <a:path h="877824" w="6705600">
                  <a:moveTo>
                    <a:pt x="0" y="0"/>
                  </a:moveTo>
                  <a:lnTo>
                    <a:pt x="6705600" y="0"/>
                  </a:lnTo>
                  <a:lnTo>
                    <a:pt x="6705600" y="877824"/>
                  </a:lnTo>
                  <a:lnTo>
                    <a:pt x="0" y="877824"/>
                  </a:lnTo>
                  <a:close/>
                </a:path>
              </a:pathLst>
            </a:custGeom>
            <a:blipFill>
              <a:blip r:embed="rId2">
                <a:alphaModFix amt="0"/>
              </a:blip>
              <a:stretch>
                <a:fillRect l="0" t="-98844" r="0" b="-98844"/>
              </a:stretch>
            </a:blipFill>
          </p:spPr>
        </p:sp>
        <p:sp>
          <p:nvSpPr>
            <p:cNvPr name="TextBox 72" id="72"/>
            <p:cNvSpPr txBox="true"/>
            <p:nvPr/>
          </p:nvSpPr>
          <p:spPr>
            <a:xfrm>
              <a:off x="0" y="-38100"/>
              <a:ext cx="6705600" cy="915924"/>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Volume de données transférées par seconde (B/s)</a:t>
              </a:r>
            </a:p>
          </p:txBody>
        </p:sp>
      </p:grpSp>
      <p:grpSp>
        <p:nvGrpSpPr>
          <p:cNvPr name="Group 73" id="73"/>
          <p:cNvGrpSpPr/>
          <p:nvPr/>
        </p:nvGrpSpPr>
        <p:grpSpPr>
          <a:xfrm rot="0">
            <a:off x="11667744" y="3255264"/>
            <a:ext cx="1865376" cy="658368"/>
            <a:chOff x="0" y="0"/>
            <a:chExt cx="2487168" cy="877824"/>
          </a:xfrm>
        </p:grpSpPr>
        <p:sp>
          <p:nvSpPr>
            <p:cNvPr name="Freeform 74" id="74"/>
            <p:cNvSpPr/>
            <p:nvPr/>
          </p:nvSpPr>
          <p:spPr>
            <a:xfrm flipH="false" flipV="false" rot="0">
              <a:off x="0" y="0"/>
              <a:ext cx="2487168" cy="877824"/>
            </a:xfrm>
            <a:custGeom>
              <a:avLst/>
              <a:gdLst/>
              <a:ahLst/>
              <a:cxnLst/>
              <a:rect r="r" b="b" t="t" l="l"/>
              <a:pathLst>
                <a:path h="877824" w="2487168">
                  <a:moveTo>
                    <a:pt x="0" y="0"/>
                  </a:moveTo>
                  <a:lnTo>
                    <a:pt x="2487168" y="0"/>
                  </a:lnTo>
                  <a:lnTo>
                    <a:pt x="2487168" y="877824"/>
                  </a:lnTo>
                  <a:lnTo>
                    <a:pt x="0" y="877824"/>
                  </a:lnTo>
                  <a:close/>
                </a:path>
              </a:pathLst>
            </a:custGeom>
            <a:blipFill>
              <a:blip r:embed="rId2">
                <a:alphaModFix amt="0"/>
              </a:blip>
              <a:stretch>
                <a:fillRect l="0" t="-5207" r="0" b="-5207"/>
              </a:stretch>
            </a:blipFill>
          </p:spPr>
        </p:sp>
        <p:sp>
          <p:nvSpPr>
            <p:cNvPr name="TextBox 75" id="75"/>
            <p:cNvSpPr txBox="true"/>
            <p:nvPr/>
          </p:nvSpPr>
          <p:spPr>
            <a:xfrm>
              <a:off x="0" y="-38100"/>
              <a:ext cx="2487168" cy="915924"/>
            </a:xfrm>
            <a:prstGeom prst="rect">
              <a:avLst/>
            </a:prstGeom>
          </p:spPr>
          <p:txBody>
            <a:bodyPr anchor="ctr" rtlCol="false" tIns="0" lIns="0" bIns="0" rIns="0"/>
            <a:lstStyle/>
            <a:p>
              <a:pPr algn="ctr">
                <a:lnSpc>
                  <a:spcPts val="2280"/>
                </a:lnSpc>
              </a:pPr>
              <a:r>
                <a:rPr lang="en-US" sz="1900">
                  <a:solidFill>
                    <a:srgbClr val="1E293B"/>
                  </a:solidFill>
                  <a:latin typeface="Calibri (MS)"/>
                  <a:ea typeface="Calibri (MS)"/>
                  <a:cs typeface="Calibri (MS)"/>
                  <a:sym typeface="Calibri (MS)"/>
                </a:rPr>
                <a:t>Quantitatif</a:t>
              </a:r>
            </a:p>
          </p:txBody>
        </p:sp>
      </p:grpSp>
      <p:grpSp>
        <p:nvGrpSpPr>
          <p:cNvPr name="Group 76" id="76"/>
          <p:cNvGrpSpPr/>
          <p:nvPr/>
        </p:nvGrpSpPr>
        <p:grpSpPr>
          <a:xfrm rot="0">
            <a:off x="13819375" y="3303775"/>
            <a:ext cx="1146553" cy="524761"/>
            <a:chOff x="0" y="0"/>
            <a:chExt cx="1528737" cy="699681"/>
          </a:xfrm>
        </p:grpSpPr>
        <p:sp>
          <p:nvSpPr>
            <p:cNvPr name="Freeform 77" id="77"/>
            <p:cNvSpPr/>
            <p:nvPr/>
          </p:nvSpPr>
          <p:spPr>
            <a:xfrm flipH="false" flipV="false" rot="0">
              <a:off x="0" y="0"/>
              <a:ext cx="1528699" cy="699643"/>
            </a:xfrm>
            <a:custGeom>
              <a:avLst/>
              <a:gdLst/>
              <a:ahLst/>
              <a:cxnLst/>
              <a:rect r="r" b="b" t="t" l="l"/>
              <a:pathLst>
                <a:path h="699643" w="1528699">
                  <a:moveTo>
                    <a:pt x="0" y="174879"/>
                  </a:moveTo>
                  <a:cubicBezTo>
                    <a:pt x="0" y="78359"/>
                    <a:pt x="78359" y="0"/>
                    <a:pt x="174879" y="0"/>
                  </a:cubicBezTo>
                  <a:lnTo>
                    <a:pt x="1353820" y="0"/>
                  </a:lnTo>
                  <a:cubicBezTo>
                    <a:pt x="1450467" y="0"/>
                    <a:pt x="1528699" y="78359"/>
                    <a:pt x="1528699" y="174879"/>
                  </a:cubicBezTo>
                  <a:lnTo>
                    <a:pt x="1528699" y="524764"/>
                  </a:lnTo>
                  <a:cubicBezTo>
                    <a:pt x="1528699" y="621411"/>
                    <a:pt x="1450340" y="699643"/>
                    <a:pt x="1353820" y="699643"/>
                  </a:cubicBezTo>
                  <a:lnTo>
                    <a:pt x="174879" y="699643"/>
                  </a:lnTo>
                  <a:cubicBezTo>
                    <a:pt x="78359" y="699643"/>
                    <a:pt x="0" y="621411"/>
                    <a:pt x="0" y="524764"/>
                  </a:cubicBezTo>
                  <a:close/>
                </a:path>
              </a:pathLst>
            </a:custGeom>
            <a:solidFill>
              <a:srgbClr val="DBEAFE"/>
            </a:solidFill>
            <a:ln w="12700" cap="sq">
              <a:solidFill>
                <a:srgbClr val="3B82F6"/>
              </a:solidFill>
              <a:prstDash val="solid"/>
              <a:miter/>
            </a:ln>
          </p:spPr>
        </p:sp>
      </p:grpSp>
      <p:grpSp>
        <p:nvGrpSpPr>
          <p:cNvPr name="Group 78" id="78"/>
          <p:cNvGrpSpPr/>
          <p:nvPr/>
        </p:nvGrpSpPr>
        <p:grpSpPr>
          <a:xfrm rot="0">
            <a:off x="13825728" y="3310128"/>
            <a:ext cx="1133856" cy="512064"/>
            <a:chOff x="0" y="0"/>
            <a:chExt cx="1511808" cy="682752"/>
          </a:xfrm>
        </p:grpSpPr>
        <p:sp>
          <p:nvSpPr>
            <p:cNvPr name="Freeform 79" id="79"/>
            <p:cNvSpPr/>
            <p:nvPr/>
          </p:nvSpPr>
          <p:spPr>
            <a:xfrm flipH="false" flipV="false" rot="0">
              <a:off x="0" y="0"/>
              <a:ext cx="1511808" cy="682752"/>
            </a:xfrm>
            <a:custGeom>
              <a:avLst/>
              <a:gdLst/>
              <a:ahLst/>
              <a:cxnLst/>
              <a:rect r="r" b="b" t="t" l="l"/>
              <a:pathLst>
                <a:path h="682752" w="1511808">
                  <a:moveTo>
                    <a:pt x="0" y="0"/>
                  </a:moveTo>
                  <a:lnTo>
                    <a:pt x="1511808" y="0"/>
                  </a:lnTo>
                  <a:lnTo>
                    <a:pt x="1511808" y="682752"/>
                  </a:lnTo>
                  <a:lnTo>
                    <a:pt x="0" y="682752"/>
                  </a:lnTo>
                  <a:close/>
                </a:path>
              </a:pathLst>
            </a:custGeom>
            <a:blipFill>
              <a:blip r:embed="rId2">
                <a:alphaModFix amt="0"/>
              </a:blip>
              <a:stretch>
                <a:fillRect l="-7943" t="0" r="-7943" b="0"/>
              </a:stretch>
            </a:blipFill>
          </p:spPr>
        </p:sp>
        <p:sp>
          <p:nvSpPr>
            <p:cNvPr name="TextBox 80" id="80"/>
            <p:cNvSpPr txBox="true"/>
            <p:nvPr/>
          </p:nvSpPr>
          <p:spPr>
            <a:xfrm>
              <a:off x="0" y="-38100"/>
              <a:ext cx="1511808" cy="720852"/>
            </a:xfrm>
            <a:prstGeom prst="rect">
              <a:avLst/>
            </a:prstGeom>
          </p:spPr>
          <p:txBody>
            <a:bodyPr anchor="ctr" rtlCol="false" tIns="0" lIns="0" bIns="0" rIns="0"/>
            <a:lstStyle/>
            <a:p>
              <a:pPr algn="ctr">
                <a:lnSpc>
                  <a:spcPts val="2039"/>
                </a:lnSpc>
              </a:pPr>
              <a:r>
                <a:rPr lang="en-US" sz="1700" b="true">
                  <a:solidFill>
                    <a:srgbClr val="1D4ED8"/>
                  </a:solidFill>
                  <a:latin typeface="Calibri (MS) Bold"/>
                  <a:ea typeface="Calibri (MS) Bold"/>
                  <a:cs typeface="Calibri (MS) Bold"/>
                  <a:sym typeface="Calibri (MS) Bold"/>
                </a:rPr>
                <a:t>Input</a:t>
              </a:r>
            </a:p>
          </p:txBody>
        </p:sp>
      </p:grpSp>
      <p:grpSp>
        <p:nvGrpSpPr>
          <p:cNvPr name="Group 81" id="81"/>
          <p:cNvGrpSpPr/>
          <p:nvPr/>
        </p:nvGrpSpPr>
        <p:grpSpPr>
          <a:xfrm rot="0">
            <a:off x="15355567" y="3285487"/>
            <a:ext cx="1731769" cy="561337"/>
            <a:chOff x="0" y="0"/>
            <a:chExt cx="2309025" cy="748449"/>
          </a:xfrm>
        </p:grpSpPr>
        <p:sp>
          <p:nvSpPr>
            <p:cNvPr name="Freeform 82" id="82"/>
            <p:cNvSpPr/>
            <p:nvPr/>
          </p:nvSpPr>
          <p:spPr>
            <a:xfrm flipH="false" flipV="false" rot="0">
              <a:off x="0" y="0"/>
              <a:ext cx="2309114" cy="748538"/>
            </a:xfrm>
            <a:custGeom>
              <a:avLst/>
              <a:gdLst/>
              <a:ahLst/>
              <a:cxnLst/>
              <a:rect r="r" b="b" t="t" l="l"/>
              <a:pathLst>
                <a:path h="748538" w="2309114">
                  <a:moveTo>
                    <a:pt x="0" y="199644"/>
                  </a:moveTo>
                  <a:cubicBezTo>
                    <a:pt x="0" y="89408"/>
                    <a:pt x="89408" y="0"/>
                    <a:pt x="199644" y="0"/>
                  </a:cubicBezTo>
                  <a:lnTo>
                    <a:pt x="2109470" y="0"/>
                  </a:lnTo>
                  <a:cubicBezTo>
                    <a:pt x="2219706" y="0"/>
                    <a:pt x="2309114" y="89408"/>
                    <a:pt x="2309114" y="199644"/>
                  </a:cubicBezTo>
                  <a:lnTo>
                    <a:pt x="2309114" y="548894"/>
                  </a:lnTo>
                  <a:cubicBezTo>
                    <a:pt x="2309114" y="659130"/>
                    <a:pt x="2219706" y="748538"/>
                    <a:pt x="2109470" y="748538"/>
                  </a:cubicBezTo>
                  <a:lnTo>
                    <a:pt x="199644" y="748538"/>
                  </a:lnTo>
                  <a:cubicBezTo>
                    <a:pt x="89408" y="748411"/>
                    <a:pt x="0" y="659130"/>
                    <a:pt x="0" y="548894"/>
                  </a:cubicBezTo>
                  <a:close/>
                </a:path>
              </a:pathLst>
            </a:custGeom>
            <a:solidFill>
              <a:srgbClr val="FFF3ED"/>
            </a:solidFill>
            <a:ln w="12700" cap="sq">
              <a:solidFill>
                <a:srgbClr val="E8541A"/>
              </a:solidFill>
              <a:prstDash val="solid"/>
              <a:miter/>
            </a:ln>
          </p:spPr>
        </p:sp>
      </p:grpSp>
      <p:grpSp>
        <p:nvGrpSpPr>
          <p:cNvPr name="Group 83" id="83"/>
          <p:cNvGrpSpPr/>
          <p:nvPr/>
        </p:nvGrpSpPr>
        <p:grpSpPr>
          <a:xfrm rot="0">
            <a:off x="15361920" y="3291840"/>
            <a:ext cx="1719072" cy="548640"/>
            <a:chOff x="0" y="0"/>
            <a:chExt cx="2292096" cy="731520"/>
          </a:xfrm>
        </p:grpSpPr>
        <p:sp>
          <p:nvSpPr>
            <p:cNvPr name="Freeform 84" id="84"/>
            <p:cNvSpPr/>
            <p:nvPr/>
          </p:nvSpPr>
          <p:spPr>
            <a:xfrm flipH="false" flipV="false" rot="0">
              <a:off x="0" y="0"/>
              <a:ext cx="2292096" cy="731520"/>
            </a:xfrm>
            <a:custGeom>
              <a:avLst/>
              <a:gdLst/>
              <a:ahLst/>
              <a:cxnLst/>
              <a:rect r="r" b="b" t="t" l="l"/>
              <a:pathLst>
                <a:path h="731520" w="2292096">
                  <a:moveTo>
                    <a:pt x="0" y="0"/>
                  </a:moveTo>
                  <a:lnTo>
                    <a:pt x="2292096" y="0"/>
                  </a:lnTo>
                  <a:lnTo>
                    <a:pt x="2292096" y="731520"/>
                  </a:lnTo>
                  <a:lnTo>
                    <a:pt x="0" y="731520"/>
                  </a:lnTo>
                  <a:close/>
                </a:path>
              </a:pathLst>
            </a:custGeom>
            <a:blipFill>
              <a:blip r:embed="rId2">
                <a:alphaModFix amt="0"/>
              </a:blip>
              <a:stretch>
                <a:fillRect l="0" t="-11053" r="0" b="-11053"/>
              </a:stretch>
            </a:blipFill>
          </p:spPr>
        </p:sp>
        <p:sp>
          <p:nvSpPr>
            <p:cNvPr name="TextBox 85" id="85"/>
            <p:cNvSpPr txBox="true"/>
            <p:nvPr/>
          </p:nvSpPr>
          <p:spPr>
            <a:xfrm>
              <a:off x="0" y="-38100"/>
              <a:ext cx="2292096" cy="769620"/>
            </a:xfrm>
            <a:prstGeom prst="rect">
              <a:avLst/>
            </a:prstGeom>
          </p:spPr>
          <p:txBody>
            <a:bodyPr anchor="ctr" rtlCol="false" tIns="0" lIns="0" bIns="0" rIns="0"/>
            <a:lstStyle/>
            <a:p>
              <a:pPr algn="ctr">
                <a:lnSpc>
                  <a:spcPts val="2039"/>
                </a:lnSpc>
              </a:pPr>
              <a:r>
                <a:rPr lang="en-US" sz="1700" b="true">
                  <a:solidFill>
                    <a:srgbClr val="C2410C"/>
                  </a:solidFill>
                  <a:latin typeface="Calibri (MS) Bold"/>
                  <a:ea typeface="Calibri (MS) Bold"/>
                  <a:cs typeface="Calibri (MS) Bold"/>
                  <a:sym typeface="Calibri (MS) Bold"/>
                </a:rPr>
                <a:t>Trafic</a:t>
              </a:r>
            </a:p>
          </p:txBody>
        </p:sp>
      </p:grpSp>
      <p:grpSp>
        <p:nvGrpSpPr>
          <p:cNvPr name="Group 86" id="86"/>
          <p:cNvGrpSpPr/>
          <p:nvPr/>
        </p:nvGrpSpPr>
        <p:grpSpPr>
          <a:xfrm rot="0">
            <a:off x="397259" y="3945131"/>
            <a:ext cx="17493491" cy="778259"/>
            <a:chOff x="0" y="0"/>
            <a:chExt cx="23324655" cy="1037679"/>
          </a:xfrm>
        </p:grpSpPr>
        <p:sp>
          <p:nvSpPr>
            <p:cNvPr name="Freeform 87" id="87"/>
            <p:cNvSpPr/>
            <p:nvPr/>
          </p:nvSpPr>
          <p:spPr>
            <a:xfrm flipH="false" flipV="false" rot="0">
              <a:off x="0" y="0"/>
              <a:ext cx="23324693" cy="1037717"/>
            </a:xfrm>
            <a:custGeom>
              <a:avLst/>
              <a:gdLst/>
              <a:ahLst/>
              <a:cxnLst/>
              <a:rect r="r" b="b" t="t" l="l"/>
              <a:pathLst>
                <a:path h="1037717" w="23324693">
                  <a:moveTo>
                    <a:pt x="0" y="0"/>
                  </a:moveTo>
                  <a:lnTo>
                    <a:pt x="23324693" y="0"/>
                  </a:lnTo>
                  <a:lnTo>
                    <a:pt x="23324693" y="1037717"/>
                  </a:lnTo>
                  <a:lnTo>
                    <a:pt x="0" y="1037717"/>
                  </a:lnTo>
                  <a:close/>
                </a:path>
              </a:pathLst>
            </a:custGeom>
            <a:solidFill>
              <a:srgbClr val="F0F5FB"/>
            </a:solidFill>
            <a:ln w="10160" cap="sq">
              <a:solidFill>
                <a:srgbClr val="D1DCF0"/>
              </a:solidFill>
              <a:prstDash val="solid"/>
              <a:miter/>
            </a:ln>
          </p:spPr>
        </p:sp>
      </p:grpSp>
      <p:grpSp>
        <p:nvGrpSpPr>
          <p:cNvPr name="Group 88" id="88"/>
          <p:cNvGrpSpPr/>
          <p:nvPr/>
        </p:nvGrpSpPr>
        <p:grpSpPr>
          <a:xfrm rot="0">
            <a:off x="397259" y="3945131"/>
            <a:ext cx="17493491" cy="778259"/>
            <a:chOff x="0" y="0"/>
            <a:chExt cx="23324655" cy="1037679"/>
          </a:xfrm>
        </p:grpSpPr>
        <p:sp>
          <p:nvSpPr>
            <p:cNvPr name="Freeform 89" id="89"/>
            <p:cNvSpPr/>
            <p:nvPr/>
          </p:nvSpPr>
          <p:spPr>
            <a:xfrm flipH="false" flipV="false" rot="0">
              <a:off x="0" y="0"/>
              <a:ext cx="23324693" cy="1037717"/>
            </a:xfrm>
            <a:custGeom>
              <a:avLst/>
              <a:gdLst/>
              <a:ahLst/>
              <a:cxnLst/>
              <a:rect r="r" b="b" t="t" l="l"/>
              <a:pathLst>
                <a:path h="1037717" w="23324693">
                  <a:moveTo>
                    <a:pt x="0" y="0"/>
                  </a:moveTo>
                  <a:lnTo>
                    <a:pt x="23324693" y="0"/>
                  </a:lnTo>
                  <a:lnTo>
                    <a:pt x="23324693" y="1037717"/>
                  </a:lnTo>
                  <a:lnTo>
                    <a:pt x="0" y="1037717"/>
                  </a:lnTo>
                  <a:close/>
                </a:path>
              </a:pathLst>
            </a:custGeom>
            <a:solidFill>
              <a:srgbClr val="F0F5FB"/>
            </a:solidFill>
            <a:ln w="10160" cap="sq">
              <a:solidFill>
                <a:srgbClr val="D1DCF0"/>
              </a:solidFill>
              <a:prstDash val="solid"/>
              <a:miter/>
            </a:ln>
          </p:spPr>
        </p:sp>
      </p:grpSp>
      <p:grpSp>
        <p:nvGrpSpPr>
          <p:cNvPr name="Group 90" id="90"/>
          <p:cNvGrpSpPr/>
          <p:nvPr/>
        </p:nvGrpSpPr>
        <p:grpSpPr>
          <a:xfrm rot="0">
            <a:off x="548640" y="4023360"/>
            <a:ext cx="3255264" cy="658368"/>
            <a:chOff x="0" y="0"/>
            <a:chExt cx="4340352" cy="877824"/>
          </a:xfrm>
        </p:grpSpPr>
        <p:sp>
          <p:nvSpPr>
            <p:cNvPr name="Freeform 91" id="91"/>
            <p:cNvSpPr/>
            <p:nvPr/>
          </p:nvSpPr>
          <p:spPr>
            <a:xfrm flipH="false" flipV="false" rot="0">
              <a:off x="0" y="0"/>
              <a:ext cx="4340352" cy="877824"/>
            </a:xfrm>
            <a:custGeom>
              <a:avLst/>
              <a:gdLst/>
              <a:ahLst/>
              <a:cxnLst/>
              <a:rect r="r" b="b" t="t" l="l"/>
              <a:pathLst>
                <a:path h="877824" w="4340352">
                  <a:moveTo>
                    <a:pt x="0" y="0"/>
                  </a:moveTo>
                  <a:lnTo>
                    <a:pt x="4340352" y="0"/>
                  </a:lnTo>
                  <a:lnTo>
                    <a:pt x="4340352" y="877824"/>
                  </a:lnTo>
                  <a:lnTo>
                    <a:pt x="0" y="877824"/>
                  </a:lnTo>
                  <a:close/>
                </a:path>
              </a:pathLst>
            </a:custGeom>
            <a:blipFill>
              <a:blip r:embed="rId2">
                <a:alphaModFix amt="0"/>
              </a:blip>
              <a:stretch>
                <a:fillRect l="0" t="-46342" r="0" b="-46342"/>
              </a:stretch>
            </a:blipFill>
          </p:spPr>
        </p:sp>
        <p:sp>
          <p:nvSpPr>
            <p:cNvPr name="TextBox 92" id="92"/>
            <p:cNvSpPr txBox="true"/>
            <p:nvPr/>
          </p:nvSpPr>
          <p:spPr>
            <a:xfrm>
              <a:off x="0" y="-38100"/>
              <a:ext cx="4340352" cy="915924"/>
            </a:xfrm>
            <a:prstGeom prst="rect">
              <a:avLst/>
            </a:prstGeom>
          </p:spPr>
          <p:txBody>
            <a:bodyPr anchor="ctr" rtlCol="false" tIns="0" lIns="0" bIns="0" rIns="0"/>
            <a:lstStyle/>
            <a:p>
              <a:pPr algn="l">
                <a:lnSpc>
                  <a:spcPts val="2280"/>
                </a:lnSpc>
              </a:pPr>
              <a:r>
                <a:rPr lang="en-US" sz="1900" b="true">
                  <a:solidFill>
                    <a:srgbClr val="1E3A5F"/>
                  </a:solidFill>
                  <a:latin typeface="Calibri (MS) Bold"/>
                  <a:ea typeface="Calibri (MS) Bold"/>
                  <a:cs typeface="Calibri (MS) Bold"/>
                  <a:sym typeface="Calibri (MS) Bold"/>
                </a:rPr>
                <a:t>Nb_flags_SYN/ACK/RST</a:t>
              </a:r>
            </a:p>
          </p:txBody>
        </p:sp>
      </p:grpSp>
      <p:grpSp>
        <p:nvGrpSpPr>
          <p:cNvPr name="Group 93" id="93"/>
          <p:cNvGrpSpPr/>
          <p:nvPr/>
        </p:nvGrpSpPr>
        <p:grpSpPr>
          <a:xfrm rot="0">
            <a:off x="3986784" y="4023360"/>
            <a:ext cx="2286000" cy="658368"/>
            <a:chOff x="0" y="0"/>
            <a:chExt cx="3048000" cy="877824"/>
          </a:xfrm>
        </p:grpSpPr>
        <p:sp>
          <p:nvSpPr>
            <p:cNvPr name="Freeform 94" id="94"/>
            <p:cNvSpPr/>
            <p:nvPr/>
          </p:nvSpPr>
          <p:spPr>
            <a:xfrm flipH="false" flipV="false" rot="0">
              <a:off x="0" y="0"/>
              <a:ext cx="3048000" cy="877824"/>
            </a:xfrm>
            <a:custGeom>
              <a:avLst/>
              <a:gdLst/>
              <a:ahLst/>
              <a:cxnLst/>
              <a:rect r="r" b="b" t="t" l="l"/>
              <a:pathLst>
                <a:path h="877824" w="3048000">
                  <a:moveTo>
                    <a:pt x="0" y="0"/>
                  </a:moveTo>
                  <a:lnTo>
                    <a:pt x="3048000" y="0"/>
                  </a:lnTo>
                  <a:lnTo>
                    <a:pt x="3048000" y="877824"/>
                  </a:lnTo>
                  <a:lnTo>
                    <a:pt x="0" y="877824"/>
                  </a:lnTo>
                  <a:close/>
                </a:path>
              </a:pathLst>
            </a:custGeom>
            <a:blipFill>
              <a:blip r:embed="rId2">
                <a:alphaModFix amt="0"/>
              </a:blip>
              <a:stretch>
                <a:fillRect l="0" t="-17656" r="0" b="-17656"/>
              </a:stretch>
            </a:blipFill>
          </p:spPr>
        </p:sp>
        <p:sp>
          <p:nvSpPr>
            <p:cNvPr name="TextBox 95" id="95"/>
            <p:cNvSpPr txBox="true"/>
            <p:nvPr/>
          </p:nvSpPr>
          <p:spPr>
            <a:xfrm>
              <a:off x="0" y="-38100"/>
              <a:ext cx="3048000" cy="915924"/>
            </a:xfrm>
            <a:prstGeom prst="rect">
              <a:avLst/>
            </a:prstGeom>
          </p:spPr>
          <p:txBody>
            <a:bodyPr anchor="ctr" rtlCol="false" tIns="0" lIns="0" bIns="0" rIns="0"/>
            <a:lstStyle/>
            <a:p>
              <a:pPr algn="ctr">
                <a:lnSpc>
                  <a:spcPts val="2280"/>
                </a:lnSpc>
              </a:pPr>
              <a:r>
                <a:rPr lang="en-US" sz="1900">
                  <a:solidFill>
                    <a:srgbClr val="1E293B"/>
                  </a:solidFill>
                  <a:latin typeface="Calibri (MS)"/>
                  <a:ea typeface="Calibri (MS)"/>
                  <a:cs typeface="Calibri (MS)"/>
                  <a:sym typeface="Calibri (MS)"/>
                </a:rPr>
                <a:t>Numérique</a:t>
              </a:r>
            </a:p>
          </p:txBody>
        </p:sp>
      </p:grpSp>
      <p:grpSp>
        <p:nvGrpSpPr>
          <p:cNvPr name="Group 96" id="96"/>
          <p:cNvGrpSpPr/>
          <p:nvPr/>
        </p:nvGrpSpPr>
        <p:grpSpPr>
          <a:xfrm rot="0">
            <a:off x="6455664" y="4023360"/>
            <a:ext cx="5029200" cy="658368"/>
            <a:chOff x="0" y="0"/>
            <a:chExt cx="6705600" cy="877824"/>
          </a:xfrm>
        </p:grpSpPr>
        <p:sp>
          <p:nvSpPr>
            <p:cNvPr name="Freeform 97" id="97"/>
            <p:cNvSpPr/>
            <p:nvPr/>
          </p:nvSpPr>
          <p:spPr>
            <a:xfrm flipH="false" flipV="false" rot="0">
              <a:off x="0" y="0"/>
              <a:ext cx="6705600" cy="877824"/>
            </a:xfrm>
            <a:custGeom>
              <a:avLst/>
              <a:gdLst/>
              <a:ahLst/>
              <a:cxnLst/>
              <a:rect r="r" b="b" t="t" l="l"/>
              <a:pathLst>
                <a:path h="877824" w="6705600">
                  <a:moveTo>
                    <a:pt x="0" y="0"/>
                  </a:moveTo>
                  <a:lnTo>
                    <a:pt x="6705600" y="0"/>
                  </a:lnTo>
                  <a:lnTo>
                    <a:pt x="6705600" y="877824"/>
                  </a:lnTo>
                  <a:lnTo>
                    <a:pt x="0" y="877824"/>
                  </a:lnTo>
                  <a:close/>
                </a:path>
              </a:pathLst>
            </a:custGeom>
            <a:blipFill>
              <a:blip r:embed="rId2">
                <a:alphaModFix amt="0"/>
              </a:blip>
              <a:stretch>
                <a:fillRect l="0" t="-98844" r="0" b="-98844"/>
              </a:stretch>
            </a:blipFill>
          </p:spPr>
        </p:sp>
        <p:sp>
          <p:nvSpPr>
            <p:cNvPr name="TextBox 98" id="98"/>
            <p:cNvSpPr txBox="true"/>
            <p:nvPr/>
          </p:nvSpPr>
          <p:spPr>
            <a:xfrm>
              <a:off x="0" y="-38100"/>
              <a:ext cx="6705600" cy="915924"/>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Nombre de flags TCP (SYN, ACK, RST) observés</a:t>
              </a:r>
            </a:p>
          </p:txBody>
        </p:sp>
      </p:grpSp>
      <p:grpSp>
        <p:nvGrpSpPr>
          <p:cNvPr name="Group 99" id="99"/>
          <p:cNvGrpSpPr/>
          <p:nvPr/>
        </p:nvGrpSpPr>
        <p:grpSpPr>
          <a:xfrm rot="0">
            <a:off x="11667744" y="4023360"/>
            <a:ext cx="1865376" cy="658368"/>
            <a:chOff x="0" y="0"/>
            <a:chExt cx="2487168" cy="877824"/>
          </a:xfrm>
        </p:grpSpPr>
        <p:sp>
          <p:nvSpPr>
            <p:cNvPr name="Freeform 100" id="100"/>
            <p:cNvSpPr/>
            <p:nvPr/>
          </p:nvSpPr>
          <p:spPr>
            <a:xfrm flipH="false" flipV="false" rot="0">
              <a:off x="0" y="0"/>
              <a:ext cx="2487168" cy="877824"/>
            </a:xfrm>
            <a:custGeom>
              <a:avLst/>
              <a:gdLst/>
              <a:ahLst/>
              <a:cxnLst/>
              <a:rect r="r" b="b" t="t" l="l"/>
              <a:pathLst>
                <a:path h="877824" w="2487168">
                  <a:moveTo>
                    <a:pt x="0" y="0"/>
                  </a:moveTo>
                  <a:lnTo>
                    <a:pt x="2487168" y="0"/>
                  </a:lnTo>
                  <a:lnTo>
                    <a:pt x="2487168" y="877824"/>
                  </a:lnTo>
                  <a:lnTo>
                    <a:pt x="0" y="877824"/>
                  </a:lnTo>
                  <a:close/>
                </a:path>
              </a:pathLst>
            </a:custGeom>
            <a:blipFill>
              <a:blip r:embed="rId2">
                <a:alphaModFix amt="0"/>
              </a:blip>
              <a:stretch>
                <a:fillRect l="0" t="-5207" r="0" b="-5207"/>
              </a:stretch>
            </a:blipFill>
          </p:spPr>
        </p:sp>
        <p:sp>
          <p:nvSpPr>
            <p:cNvPr name="TextBox 101" id="101"/>
            <p:cNvSpPr txBox="true"/>
            <p:nvPr/>
          </p:nvSpPr>
          <p:spPr>
            <a:xfrm>
              <a:off x="0" y="-38100"/>
              <a:ext cx="2487168" cy="915924"/>
            </a:xfrm>
            <a:prstGeom prst="rect">
              <a:avLst/>
            </a:prstGeom>
          </p:spPr>
          <p:txBody>
            <a:bodyPr anchor="ctr" rtlCol="false" tIns="0" lIns="0" bIns="0" rIns="0"/>
            <a:lstStyle/>
            <a:p>
              <a:pPr algn="ctr">
                <a:lnSpc>
                  <a:spcPts val="2280"/>
                </a:lnSpc>
              </a:pPr>
              <a:r>
                <a:rPr lang="en-US" sz="1900">
                  <a:solidFill>
                    <a:srgbClr val="1E293B"/>
                  </a:solidFill>
                  <a:latin typeface="Calibri (MS)"/>
                  <a:ea typeface="Calibri (MS)"/>
                  <a:cs typeface="Calibri (MS)"/>
                  <a:sym typeface="Calibri (MS)"/>
                </a:rPr>
                <a:t>Quantitatif</a:t>
              </a:r>
            </a:p>
          </p:txBody>
        </p:sp>
      </p:grpSp>
      <p:grpSp>
        <p:nvGrpSpPr>
          <p:cNvPr name="Group 102" id="102"/>
          <p:cNvGrpSpPr/>
          <p:nvPr/>
        </p:nvGrpSpPr>
        <p:grpSpPr>
          <a:xfrm rot="0">
            <a:off x="13819375" y="4071871"/>
            <a:ext cx="1146553" cy="524761"/>
            <a:chOff x="0" y="0"/>
            <a:chExt cx="1528737" cy="699681"/>
          </a:xfrm>
        </p:grpSpPr>
        <p:sp>
          <p:nvSpPr>
            <p:cNvPr name="Freeform 103" id="103"/>
            <p:cNvSpPr/>
            <p:nvPr/>
          </p:nvSpPr>
          <p:spPr>
            <a:xfrm flipH="false" flipV="false" rot="0">
              <a:off x="0" y="0"/>
              <a:ext cx="1528699" cy="699643"/>
            </a:xfrm>
            <a:custGeom>
              <a:avLst/>
              <a:gdLst/>
              <a:ahLst/>
              <a:cxnLst/>
              <a:rect r="r" b="b" t="t" l="l"/>
              <a:pathLst>
                <a:path h="699643" w="1528699">
                  <a:moveTo>
                    <a:pt x="0" y="174879"/>
                  </a:moveTo>
                  <a:cubicBezTo>
                    <a:pt x="0" y="78359"/>
                    <a:pt x="78359" y="0"/>
                    <a:pt x="174879" y="0"/>
                  </a:cubicBezTo>
                  <a:lnTo>
                    <a:pt x="1353820" y="0"/>
                  </a:lnTo>
                  <a:cubicBezTo>
                    <a:pt x="1450467" y="0"/>
                    <a:pt x="1528699" y="78359"/>
                    <a:pt x="1528699" y="174879"/>
                  </a:cubicBezTo>
                  <a:lnTo>
                    <a:pt x="1528699" y="524764"/>
                  </a:lnTo>
                  <a:cubicBezTo>
                    <a:pt x="1528699" y="621411"/>
                    <a:pt x="1450340" y="699643"/>
                    <a:pt x="1353820" y="699643"/>
                  </a:cubicBezTo>
                  <a:lnTo>
                    <a:pt x="174879" y="699643"/>
                  </a:lnTo>
                  <a:cubicBezTo>
                    <a:pt x="78359" y="699643"/>
                    <a:pt x="0" y="621411"/>
                    <a:pt x="0" y="524764"/>
                  </a:cubicBezTo>
                  <a:close/>
                </a:path>
              </a:pathLst>
            </a:custGeom>
            <a:solidFill>
              <a:srgbClr val="DBEAFE"/>
            </a:solidFill>
            <a:ln w="12700" cap="sq">
              <a:solidFill>
                <a:srgbClr val="3B82F6"/>
              </a:solidFill>
              <a:prstDash val="solid"/>
              <a:miter/>
            </a:ln>
          </p:spPr>
        </p:sp>
      </p:grpSp>
      <p:grpSp>
        <p:nvGrpSpPr>
          <p:cNvPr name="Group 104" id="104"/>
          <p:cNvGrpSpPr/>
          <p:nvPr/>
        </p:nvGrpSpPr>
        <p:grpSpPr>
          <a:xfrm rot="0">
            <a:off x="13825728" y="4078224"/>
            <a:ext cx="1133856" cy="512064"/>
            <a:chOff x="0" y="0"/>
            <a:chExt cx="1511808" cy="682752"/>
          </a:xfrm>
        </p:grpSpPr>
        <p:sp>
          <p:nvSpPr>
            <p:cNvPr name="Freeform 105" id="105"/>
            <p:cNvSpPr/>
            <p:nvPr/>
          </p:nvSpPr>
          <p:spPr>
            <a:xfrm flipH="false" flipV="false" rot="0">
              <a:off x="0" y="0"/>
              <a:ext cx="1511808" cy="682752"/>
            </a:xfrm>
            <a:custGeom>
              <a:avLst/>
              <a:gdLst/>
              <a:ahLst/>
              <a:cxnLst/>
              <a:rect r="r" b="b" t="t" l="l"/>
              <a:pathLst>
                <a:path h="682752" w="1511808">
                  <a:moveTo>
                    <a:pt x="0" y="0"/>
                  </a:moveTo>
                  <a:lnTo>
                    <a:pt x="1511808" y="0"/>
                  </a:lnTo>
                  <a:lnTo>
                    <a:pt x="1511808" y="682752"/>
                  </a:lnTo>
                  <a:lnTo>
                    <a:pt x="0" y="682752"/>
                  </a:lnTo>
                  <a:close/>
                </a:path>
              </a:pathLst>
            </a:custGeom>
            <a:blipFill>
              <a:blip r:embed="rId2">
                <a:alphaModFix amt="0"/>
              </a:blip>
              <a:stretch>
                <a:fillRect l="-7943" t="0" r="-7943" b="0"/>
              </a:stretch>
            </a:blipFill>
          </p:spPr>
        </p:sp>
        <p:sp>
          <p:nvSpPr>
            <p:cNvPr name="TextBox 106" id="106"/>
            <p:cNvSpPr txBox="true"/>
            <p:nvPr/>
          </p:nvSpPr>
          <p:spPr>
            <a:xfrm>
              <a:off x="0" y="-38100"/>
              <a:ext cx="1511808" cy="720852"/>
            </a:xfrm>
            <a:prstGeom prst="rect">
              <a:avLst/>
            </a:prstGeom>
          </p:spPr>
          <p:txBody>
            <a:bodyPr anchor="ctr" rtlCol="false" tIns="0" lIns="0" bIns="0" rIns="0"/>
            <a:lstStyle/>
            <a:p>
              <a:pPr algn="ctr">
                <a:lnSpc>
                  <a:spcPts val="2039"/>
                </a:lnSpc>
              </a:pPr>
              <a:r>
                <a:rPr lang="en-US" sz="1700" b="true">
                  <a:solidFill>
                    <a:srgbClr val="1D4ED8"/>
                  </a:solidFill>
                  <a:latin typeface="Calibri (MS) Bold"/>
                  <a:ea typeface="Calibri (MS) Bold"/>
                  <a:cs typeface="Calibri (MS) Bold"/>
                  <a:sym typeface="Calibri (MS) Bold"/>
                </a:rPr>
                <a:t>Input</a:t>
              </a:r>
            </a:p>
          </p:txBody>
        </p:sp>
      </p:grpSp>
      <p:grpSp>
        <p:nvGrpSpPr>
          <p:cNvPr name="Group 107" id="107"/>
          <p:cNvGrpSpPr/>
          <p:nvPr/>
        </p:nvGrpSpPr>
        <p:grpSpPr>
          <a:xfrm rot="0">
            <a:off x="15355567" y="4053583"/>
            <a:ext cx="1731769" cy="561337"/>
            <a:chOff x="0" y="0"/>
            <a:chExt cx="2309025" cy="748449"/>
          </a:xfrm>
        </p:grpSpPr>
        <p:sp>
          <p:nvSpPr>
            <p:cNvPr name="Freeform 108" id="108"/>
            <p:cNvSpPr/>
            <p:nvPr/>
          </p:nvSpPr>
          <p:spPr>
            <a:xfrm flipH="false" flipV="false" rot="0">
              <a:off x="0" y="0"/>
              <a:ext cx="2309114" cy="748538"/>
            </a:xfrm>
            <a:custGeom>
              <a:avLst/>
              <a:gdLst/>
              <a:ahLst/>
              <a:cxnLst/>
              <a:rect r="r" b="b" t="t" l="l"/>
              <a:pathLst>
                <a:path h="748538" w="2309114">
                  <a:moveTo>
                    <a:pt x="0" y="199644"/>
                  </a:moveTo>
                  <a:cubicBezTo>
                    <a:pt x="0" y="89408"/>
                    <a:pt x="89408" y="0"/>
                    <a:pt x="199644" y="0"/>
                  </a:cubicBezTo>
                  <a:lnTo>
                    <a:pt x="2109470" y="0"/>
                  </a:lnTo>
                  <a:cubicBezTo>
                    <a:pt x="2219706" y="0"/>
                    <a:pt x="2309114" y="89408"/>
                    <a:pt x="2309114" y="199644"/>
                  </a:cubicBezTo>
                  <a:lnTo>
                    <a:pt x="2309114" y="548894"/>
                  </a:lnTo>
                  <a:cubicBezTo>
                    <a:pt x="2309114" y="659130"/>
                    <a:pt x="2219706" y="748538"/>
                    <a:pt x="2109470" y="748538"/>
                  </a:cubicBezTo>
                  <a:lnTo>
                    <a:pt x="199644" y="748538"/>
                  </a:lnTo>
                  <a:cubicBezTo>
                    <a:pt x="89408" y="748411"/>
                    <a:pt x="0" y="659130"/>
                    <a:pt x="0" y="548894"/>
                  </a:cubicBezTo>
                  <a:close/>
                </a:path>
              </a:pathLst>
            </a:custGeom>
            <a:solidFill>
              <a:srgbClr val="FDF4FF"/>
            </a:solidFill>
            <a:ln w="12700" cap="sq">
              <a:solidFill>
                <a:srgbClr val="A855F7"/>
              </a:solidFill>
              <a:prstDash val="solid"/>
              <a:miter/>
            </a:ln>
          </p:spPr>
        </p:sp>
      </p:grpSp>
      <p:grpSp>
        <p:nvGrpSpPr>
          <p:cNvPr name="Group 109" id="109"/>
          <p:cNvGrpSpPr/>
          <p:nvPr/>
        </p:nvGrpSpPr>
        <p:grpSpPr>
          <a:xfrm rot="0">
            <a:off x="15361920" y="4059936"/>
            <a:ext cx="1719072" cy="548640"/>
            <a:chOff x="0" y="0"/>
            <a:chExt cx="2292096" cy="731520"/>
          </a:xfrm>
        </p:grpSpPr>
        <p:sp>
          <p:nvSpPr>
            <p:cNvPr name="Freeform 110" id="110"/>
            <p:cNvSpPr/>
            <p:nvPr/>
          </p:nvSpPr>
          <p:spPr>
            <a:xfrm flipH="false" flipV="false" rot="0">
              <a:off x="0" y="0"/>
              <a:ext cx="2292096" cy="731520"/>
            </a:xfrm>
            <a:custGeom>
              <a:avLst/>
              <a:gdLst/>
              <a:ahLst/>
              <a:cxnLst/>
              <a:rect r="r" b="b" t="t" l="l"/>
              <a:pathLst>
                <a:path h="731520" w="2292096">
                  <a:moveTo>
                    <a:pt x="0" y="0"/>
                  </a:moveTo>
                  <a:lnTo>
                    <a:pt x="2292096" y="0"/>
                  </a:lnTo>
                  <a:lnTo>
                    <a:pt x="2292096" y="731520"/>
                  </a:lnTo>
                  <a:lnTo>
                    <a:pt x="0" y="731520"/>
                  </a:lnTo>
                  <a:close/>
                </a:path>
              </a:pathLst>
            </a:custGeom>
            <a:blipFill>
              <a:blip r:embed="rId2">
                <a:alphaModFix amt="0"/>
              </a:blip>
              <a:stretch>
                <a:fillRect l="0" t="-11053" r="0" b="-11053"/>
              </a:stretch>
            </a:blipFill>
          </p:spPr>
        </p:sp>
        <p:sp>
          <p:nvSpPr>
            <p:cNvPr name="TextBox 111" id="111"/>
            <p:cNvSpPr txBox="true"/>
            <p:nvPr/>
          </p:nvSpPr>
          <p:spPr>
            <a:xfrm>
              <a:off x="0" y="-38100"/>
              <a:ext cx="2292096" cy="769620"/>
            </a:xfrm>
            <a:prstGeom prst="rect">
              <a:avLst/>
            </a:prstGeom>
          </p:spPr>
          <p:txBody>
            <a:bodyPr anchor="ctr" rtlCol="false" tIns="0" lIns="0" bIns="0" rIns="0"/>
            <a:lstStyle/>
            <a:p>
              <a:pPr algn="ctr">
                <a:lnSpc>
                  <a:spcPts val="2039"/>
                </a:lnSpc>
              </a:pPr>
              <a:r>
                <a:rPr lang="en-US" sz="1700" b="true">
                  <a:solidFill>
                    <a:srgbClr val="7E22CE"/>
                  </a:solidFill>
                  <a:latin typeface="Calibri (MS) Bold"/>
                  <a:ea typeface="Calibri (MS) Bold"/>
                  <a:cs typeface="Calibri (MS) Bold"/>
                  <a:sym typeface="Calibri (MS) Bold"/>
                </a:rPr>
                <a:t>Comportement</a:t>
              </a:r>
            </a:p>
          </p:txBody>
        </p:sp>
      </p:grpSp>
      <p:grpSp>
        <p:nvGrpSpPr>
          <p:cNvPr name="Group 112" id="112"/>
          <p:cNvGrpSpPr/>
          <p:nvPr/>
        </p:nvGrpSpPr>
        <p:grpSpPr>
          <a:xfrm rot="0">
            <a:off x="397259" y="4713227"/>
            <a:ext cx="17493491" cy="778259"/>
            <a:chOff x="0" y="0"/>
            <a:chExt cx="23324655" cy="1037679"/>
          </a:xfrm>
        </p:grpSpPr>
        <p:sp>
          <p:nvSpPr>
            <p:cNvPr name="Freeform 113" id="113"/>
            <p:cNvSpPr/>
            <p:nvPr/>
          </p:nvSpPr>
          <p:spPr>
            <a:xfrm flipH="false" flipV="false" rot="0">
              <a:off x="0" y="0"/>
              <a:ext cx="23324693" cy="1037717"/>
            </a:xfrm>
            <a:custGeom>
              <a:avLst/>
              <a:gdLst/>
              <a:ahLst/>
              <a:cxnLst/>
              <a:rect r="r" b="b" t="t" l="l"/>
              <a:pathLst>
                <a:path h="1037717" w="23324693">
                  <a:moveTo>
                    <a:pt x="0" y="0"/>
                  </a:moveTo>
                  <a:lnTo>
                    <a:pt x="23324693" y="0"/>
                  </a:lnTo>
                  <a:lnTo>
                    <a:pt x="23324693" y="1037717"/>
                  </a:lnTo>
                  <a:lnTo>
                    <a:pt x="0" y="1037717"/>
                  </a:lnTo>
                  <a:close/>
                </a:path>
              </a:pathLst>
            </a:custGeom>
            <a:solidFill>
              <a:srgbClr val="FFFFFF"/>
            </a:solidFill>
            <a:ln w="10160" cap="sq">
              <a:solidFill>
                <a:srgbClr val="D1DCF0"/>
              </a:solidFill>
              <a:prstDash val="solid"/>
              <a:miter/>
            </a:ln>
          </p:spPr>
        </p:sp>
      </p:grpSp>
      <p:grpSp>
        <p:nvGrpSpPr>
          <p:cNvPr name="Group 114" id="114"/>
          <p:cNvGrpSpPr/>
          <p:nvPr/>
        </p:nvGrpSpPr>
        <p:grpSpPr>
          <a:xfrm rot="0">
            <a:off x="397259" y="4713227"/>
            <a:ext cx="17493491" cy="778259"/>
            <a:chOff x="0" y="0"/>
            <a:chExt cx="23324655" cy="1037679"/>
          </a:xfrm>
        </p:grpSpPr>
        <p:sp>
          <p:nvSpPr>
            <p:cNvPr name="Freeform 115" id="115"/>
            <p:cNvSpPr/>
            <p:nvPr/>
          </p:nvSpPr>
          <p:spPr>
            <a:xfrm flipH="false" flipV="false" rot="0">
              <a:off x="0" y="0"/>
              <a:ext cx="23324693" cy="1037717"/>
            </a:xfrm>
            <a:custGeom>
              <a:avLst/>
              <a:gdLst/>
              <a:ahLst/>
              <a:cxnLst/>
              <a:rect r="r" b="b" t="t" l="l"/>
              <a:pathLst>
                <a:path h="1037717" w="23324693">
                  <a:moveTo>
                    <a:pt x="0" y="0"/>
                  </a:moveTo>
                  <a:lnTo>
                    <a:pt x="23324693" y="0"/>
                  </a:lnTo>
                  <a:lnTo>
                    <a:pt x="23324693" y="1037717"/>
                  </a:lnTo>
                  <a:lnTo>
                    <a:pt x="0" y="1037717"/>
                  </a:lnTo>
                  <a:close/>
                </a:path>
              </a:pathLst>
            </a:custGeom>
            <a:solidFill>
              <a:srgbClr val="F0F5FB"/>
            </a:solidFill>
            <a:ln w="10160" cap="sq">
              <a:solidFill>
                <a:srgbClr val="D1DCF0"/>
              </a:solidFill>
              <a:prstDash val="solid"/>
              <a:miter/>
            </a:ln>
          </p:spPr>
        </p:sp>
      </p:grpSp>
      <p:grpSp>
        <p:nvGrpSpPr>
          <p:cNvPr name="Group 116" id="116"/>
          <p:cNvGrpSpPr/>
          <p:nvPr/>
        </p:nvGrpSpPr>
        <p:grpSpPr>
          <a:xfrm rot="0">
            <a:off x="548640" y="4791456"/>
            <a:ext cx="3255264" cy="658368"/>
            <a:chOff x="0" y="0"/>
            <a:chExt cx="4340352" cy="877824"/>
          </a:xfrm>
        </p:grpSpPr>
        <p:sp>
          <p:nvSpPr>
            <p:cNvPr name="Freeform 117" id="117"/>
            <p:cNvSpPr/>
            <p:nvPr/>
          </p:nvSpPr>
          <p:spPr>
            <a:xfrm flipH="false" flipV="false" rot="0">
              <a:off x="0" y="0"/>
              <a:ext cx="4340352" cy="877824"/>
            </a:xfrm>
            <a:custGeom>
              <a:avLst/>
              <a:gdLst/>
              <a:ahLst/>
              <a:cxnLst/>
              <a:rect r="r" b="b" t="t" l="l"/>
              <a:pathLst>
                <a:path h="877824" w="4340352">
                  <a:moveTo>
                    <a:pt x="0" y="0"/>
                  </a:moveTo>
                  <a:lnTo>
                    <a:pt x="4340352" y="0"/>
                  </a:lnTo>
                  <a:lnTo>
                    <a:pt x="4340352" y="877824"/>
                  </a:lnTo>
                  <a:lnTo>
                    <a:pt x="0" y="877824"/>
                  </a:lnTo>
                  <a:close/>
                </a:path>
              </a:pathLst>
            </a:custGeom>
            <a:blipFill>
              <a:blip r:embed="rId2">
                <a:alphaModFix amt="0"/>
              </a:blip>
              <a:stretch>
                <a:fillRect l="0" t="-46342" r="0" b="-46342"/>
              </a:stretch>
            </a:blipFill>
          </p:spPr>
        </p:sp>
        <p:sp>
          <p:nvSpPr>
            <p:cNvPr name="TextBox 118" id="118"/>
            <p:cNvSpPr txBox="true"/>
            <p:nvPr/>
          </p:nvSpPr>
          <p:spPr>
            <a:xfrm>
              <a:off x="0" y="-38100"/>
              <a:ext cx="4340352" cy="915924"/>
            </a:xfrm>
            <a:prstGeom prst="rect">
              <a:avLst/>
            </a:prstGeom>
          </p:spPr>
          <p:txBody>
            <a:bodyPr anchor="ctr" rtlCol="false" tIns="0" lIns="0" bIns="0" rIns="0"/>
            <a:lstStyle/>
            <a:p>
              <a:pPr algn="l">
                <a:lnSpc>
                  <a:spcPts val="2280"/>
                </a:lnSpc>
              </a:pPr>
              <a:r>
                <a:rPr lang="en-US" sz="1900" b="true">
                  <a:solidFill>
                    <a:srgbClr val="1E3A5F"/>
                  </a:solidFill>
                  <a:latin typeface="Calibri (MS) Bold"/>
                  <a:ea typeface="Calibri (MS) Bold"/>
                  <a:cs typeface="Calibri (MS) Bold"/>
                  <a:sym typeface="Calibri (MS) Bold"/>
                </a:rPr>
                <a:t>Ratio_SYN_ACK</a:t>
              </a:r>
            </a:p>
          </p:txBody>
        </p:sp>
      </p:grpSp>
      <p:grpSp>
        <p:nvGrpSpPr>
          <p:cNvPr name="Group 119" id="119"/>
          <p:cNvGrpSpPr/>
          <p:nvPr/>
        </p:nvGrpSpPr>
        <p:grpSpPr>
          <a:xfrm rot="0">
            <a:off x="3986784" y="4791456"/>
            <a:ext cx="2286000" cy="658368"/>
            <a:chOff x="0" y="0"/>
            <a:chExt cx="3048000" cy="877824"/>
          </a:xfrm>
        </p:grpSpPr>
        <p:sp>
          <p:nvSpPr>
            <p:cNvPr name="Freeform 120" id="120"/>
            <p:cNvSpPr/>
            <p:nvPr/>
          </p:nvSpPr>
          <p:spPr>
            <a:xfrm flipH="false" flipV="false" rot="0">
              <a:off x="0" y="0"/>
              <a:ext cx="3048000" cy="877824"/>
            </a:xfrm>
            <a:custGeom>
              <a:avLst/>
              <a:gdLst/>
              <a:ahLst/>
              <a:cxnLst/>
              <a:rect r="r" b="b" t="t" l="l"/>
              <a:pathLst>
                <a:path h="877824" w="3048000">
                  <a:moveTo>
                    <a:pt x="0" y="0"/>
                  </a:moveTo>
                  <a:lnTo>
                    <a:pt x="3048000" y="0"/>
                  </a:lnTo>
                  <a:lnTo>
                    <a:pt x="3048000" y="877824"/>
                  </a:lnTo>
                  <a:lnTo>
                    <a:pt x="0" y="877824"/>
                  </a:lnTo>
                  <a:close/>
                </a:path>
              </a:pathLst>
            </a:custGeom>
            <a:blipFill>
              <a:blip r:embed="rId2">
                <a:alphaModFix amt="0"/>
              </a:blip>
              <a:stretch>
                <a:fillRect l="0" t="-17656" r="0" b="-17656"/>
              </a:stretch>
            </a:blipFill>
          </p:spPr>
        </p:sp>
        <p:sp>
          <p:nvSpPr>
            <p:cNvPr name="TextBox 121" id="121"/>
            <p:cNvSpPr txBox="true"/>
            <p:nvPr/>
          </p:nvSpPr>
          <p:spPr>
            <a:xfrm>
              <a:off x="0" y="-38100"/>
              <a:ext cx="3048000" cy="915924"/>
            </a:xfrm>
            <a:prstGeom prst="rect">
              <a:avLst/>
            </a:prstGeom>
          </p:spPr>
          <p:txBody>
            <a:bodyPr anchor="ctr" rtlCol="false" tIns="0" lIns="0" bIns="0" rIns="0"/>
            <a:lstStyle/>
            <a:p>
              <a:pPr algn="ctr">
                <a:lnSpc>
                  <a:spcPts val="2280"/>
                </a:lnSpc>
              </a:pPr>
              <a:r>
                <a:rPr lang="en-US" sz="1900">
                  <a:solidFill>
                    <a:srgbClr val="1E293B"/>
                  </a:solidFill>
                  <a:latin typeface="Calibri (MS)"/>
                  <a:ea typeface="Calibri (MS)"/>
                  <a:cs typeface="Calibri (MS)"/>
                  <a:sym typeface="Calibri (MS)"/>
                </a:rPr>
                <a:t>Numérique</a:t>
              </a:r>
            </a:p>
          </p:txBody>
        </p:sp>
      </p:grpSp>
      <p:grpSp>
        <p:nvGrpSpPr>
          <p:cNvPr name="Group 122" id="122"/>
          <p:cNvGrpSpPr/>
          <p:nvPr/>
        </p:nvGrpSpPr>
        <p:grpSpPr>
          <a:xfrm rot="0">
            <a:off x="6455664" y="4791456"/>
            <a:ext cx="5029200" cy="658368"/>
            <a:chOff x="0" y="0"/>
            <a:chExt cx="6705600" cy="877824"/>
          </a:xfrm>
        </p:grpSpPr>
        <p:sp>
          <p:nvSpPr>
            <p:cNvPr name="Freeform 123" id="123"/>
            <p:cNvSpPr/>
            <p:nvPr/>
          </p:nvSpPr>
          <p:spPr>
            <a:xfrm flipH="false" flipV="false" rot="0">
              <a:off x="0" y="0"/>
              <a:ext cx="6705600" cy="877824"/>
            </a:xfrm>
            <a:custGeom>
              <a:avLst/>
              <a:gdLst/>
              <a:ahLst/>
              <a:cxnLst/>
              <a:rect r="r" b="b" t="t" l="l"/>
              <a:pathLst>
                <a:path h="877824" w="6705600">
                  <a:moveTo>
                    <a:pt x="0" y="0"/>
                  </a:moveTo>
                  <a:lnTo>
                    <a:pt x="6705600" y="0"/>
                  </a:lnTo>
                  <a:lnTo>
                    <a:pt x="6705600" y="877824"/>
                  </a:lnTo>
                  <a:lnTo>
                    <a:pt x="0" y="877824"/>
                  </a:lnTo>
                  <a:close/>
                </a:path>
              </a:pathLst>
            </a:custGeom>
            <a:blipFill>
              <a:blip r:embed="rId2">
                <a:alphaModFix amt="0"/>
              </a:blip>
              <a:stretch>
                <a:fillRect l="0" t="-98844" r="0" b="-98844"/>
              </a:stretch>
            </a:blipFill>
          </p:spPr>
        </p:sp>
        <p:sp>
          <p:nvSpPr>
            <p:cNvPr name="TextBox 124" id="124"/>
            <p:cNvSpPr txBox="true"/>
            <p:nvPr/>
          </p:nvSpPr>
          <p:spPr>
            <a:xfrm>
              <a:off x="0" y="-38100"/>
              <a:ext cx="6705600" cy="915924"/>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Ratio SYN / ACK (détection scan &amp; flood)</a:t>
              </a:r>
            </a:p>
          </p:txBody>
        </p:sp>
      </p:grpSp>
      <p:grpSp>
        <p:nvGrpSpPr>
          <p:cNvPr name="Group 125" id="125"/>
          <p:cNvGrpSpPr/>
          <p:nvPr/>
        </p:nvGrpSpPr>
        <p:grpSpPr>
          <a:xfrm rot="0">
            <a:off x="11667744" y="4791456"/>
            <a:ext cx="1865376" cy="658368"/>
            <a:chOff x="0" y="0"/>
            <a:chExt cx="2487168" cy="877824"/>
          </a:xfrm>
        </p:grpSpPr>
        <p:sp>
          <p:nvSpPr>
            <p:cNvPr name="Freeform 126" id="126"/>
            <p:cNvSpPr/>
            <p:nvPr/>
          </p:nvSpPr>
          <p:spPr>
            <a:xfrm flipH="false" flipV="false" rot="0">
              <a:off x="0" y="0"/>
              <a:ext cx="2487168" cy="877824"/>
            </a:xfrm>
            <a:custGeom>
              <a:avLst/>
              <a:gdLst/>
              <a:ahLst/>
              <a:cxnLst/>
              <a:rect r="r" b="b" t="t" l="l"/>
              <a:pathLst>
                <a:path h="877824" w="2487168">
                  <a:moveTo>
                    <a:pt x="0" y="0"/>
                  </a:moveTo>
                  <a:lnTo>
                    <a:pt x="2487168" y="0"/>
                  </a:lnTo>
                  <a:lnTo>
                    <a:pt x="2487168" y="877824"/>
                  </a:lnTo>
                  <a:lnTo>
                    <a:pt x="0" y="877824"/>
                  </a:lnTo>
                  <a:close/>
                </a:path>
              </a:pathLst>
            </a:custGeom>
            <a:blipFill>
              <a:blip r:embed="rId2">
                <a:alphaModFix amt="0"/>
              </a:blip>
              <a:stretch>
                <a:fillRect l="0" t="-5207" r="0" b="-5207"/>
              </a:stretch>
            </a:blipFill>
          </p:spPr>
        </p:sp>
        <p:sp>
          <p:nvSpPr>
            <p:cNvPr name="TextBox 127" id="127"/>
            <p:cNvSpPr txBox="true"/>
            <p:nvPr/>
          </p:nvSpPr>
          <p:spPr>
            <a:xfrm>
              <a:off x="0" y="-38100"/>
              <a:ext cx="2487168" cy="915924"/>
            </a:xfrm>
            <a:prstGeom prst="rect">
              <a:avLst/>
            </a:prstGeom>
          </p:spPr>
          <p:txBody>
            <a:bodyPr anchor="ctr" rtlCol="false" tIns="0" lIns="0" bIns="0" rIns="0"/>
            <a:lstStyle/>
            <a:p>
              <a:pPr algn="ctr">
                <a:lnSpc>
                  <a:spcPts val="2280"/>
                </a:lnSpc>
              </a:pPr>
              <a:r>
                <a:rPr lang="en-US" sz="1900">
                  <a:solidFill>
                    <a:srgbClr val="1E293B"/>
                  </a:solidFill>
                  <a:latin typeface="Calibri (MS)"/>
                  <a:ea typeface="Calibri (MS)"/>
                  <a:cs typeface="Calibri (MS)"/>
                  <a:sym typeface="Calibri (MS)"/>
                </a:rPr>
                <a:t>Quantitatif</a:t>
              </a:r>
            </a:p>
          </p:txBody>
        </p:sp>
      </p:grpSp>
      <p:grpSp>
        <p:nvGrpSpPr>
          <p:cNvPr name="Group 128" id="128"/>
          <p:cNvGrpSpPr/>
          <p:nvPr/>
        </p:nvGrpSpPr>
        <p:grpSpPr>
          <a:xfrm rot="0">
            <a:off x="13819375" y="4839967"/>
            <a:ext cx="1146553" cy="524761"/>
            <a:chOff x="0" y="0"/>
            <a:chExt cx="1528737" cy="699681"/>
          </a:xfrm>
        </p:grpSpPr>
        <p:sp>
          <p:nvSpPr>
            <p:cNvPr name="Freeform 129" id="129"/>
            <p:cNvSpPr/>
            <p:nvPr/>
          </p:nvSpPr>
          <p:spPr>
            <a:xfrm flipH="false" flipV="false" rot="0">
              <a:off x="0" y="0"/>
              <a:ext cx="1528699" cy="699643"/>
            </a:xfrm>
            <a:custGeom>
              <a:avLst/>
              <a:gdLst/>
              <a:ahLst/>
              <a:cxnLst/>
              <a:rect r="r" b="b" t="t" l="l"/>
              <a:pathLst>
                <a:path h="699643" w="1528699">
                  <a:moveTo>
                    <a:pt x="0" y="174879"/>
                  </a:moveTo>
                  <a:cubicBezTo>
                    <a:pt x="0" y="78359"/>
                    <a:pt x="78359" y="0"/>
                    <a:pt x="174879" y="0"/>
                  </a:cubicBezTo>
                  <a:lnTo>
                    <a:pt x="1353820" y="0"/>
                  </a:lnTo>
                  <a:cubicBezTo>
                    <a:pt x="1450467" y="0"/>
                    <a:pt x="1528699" y="78359"/>
                    <a:pt x="1528699" y="174879"/>
                  </a:cubicBezTo>
                  <a:lnTo>
                    <a:pt x="1528699" y="524764"/>
                  </a:lnTo>
                  <a:cubicBezTo>
                    <a:pt x="1528699" y="621411"/>
                    <a:pt x="1450340" y="699643"/>
                    <a:pt x="1353820" y="699643"/>
                  </a:cubicBezTo>
                  <a:lnTo>
                    <a:pt x="174879" y="699643"/>
                  </a:lnTo>
                  <a:cubicBezTo>
                    <a:pt x="78359" y="699643"/>
                    <a:pt x="0" y="621411"/>
                    <a:pt x="0" y="524764"/>
                  </a:cubicBezTo>
                  <a:close/>
                </a:path>
              </a:pathLst>
            </a:custGeom>
            <a:solidFill>
              <a:srgbClr val="DBEAFE"/>
            </a:solidFill>
            <a:ln w="12700" cap="sq">
              <a:solidFill>
                <a:srgbClr val="3B82F6"/>
              </a:solidFill>
              <a:prstDash val="solid"/>
              <a:miter/>
            </a:ln>
          </p:spPr>
        </p:sp>
      </p:grpSp>
      <p:grpSp>
        <p:nvGrpSpPr>
          <p:cNvPr name="Group 130" id="130"/>
          <p:cNvGrpSpPr/>
          <p:nvPr/>
        </p:nvGrpSpPr>
        <p:grpSpPr>
          <a:xfrm rot="0">
            <a:off x="13825728" y="4846320"/>
            <a:ext cx="1133856" cy="512064"/>
            <a:chOff x="0" y="0"/>
            <a:chExt cx="1511808" cy="682752"/>
          </a:xfrm>
        </p:grpSpPr>
        <p:sp>
          <p:nvSpPr>
            <p:cNvPr name="Freeform 131" id="131"/>
            <p:cNvSpPr/>
            <p:nvPr/>
          </p:nvSpPr>
          <p:spPr>
            <a:xfrm flipH="false" flipV="false" rot="0">
              <a:off x="0" y="0"/>
              <a:ext cx="1511808" cy="682752"/>
            </a:xfrm>
            <a:custGeom>
              <a:avLst/>
              <a:gdLst/>
              <a:ahLst/>
              <a:cxnLst/>
              <a:rect r="r" b="b" t="t" l="l"/>
              <a:pathLst>
                <a:path h="682752" w="1511808">
                  <a:moveTo>
                    <a:pt x="0" y="0"/>
                  </a:moveTo>
                  <a:lnTo>
                    <a:pt x="1511808" y="0"/>
                  </a:lnTo>
                  <a:lnTo>
                    <a:pt x="1511808" y="682752"/>
                  </a:lnTo>
                  <a:lnTo>
                    <a:pt x="0" y="682752"/>
                  </a:lnTo>
                  <a:close/>
                </a:path>
              </a:pathLst>
            </a:custGeom>
            <a:blipFill>
              <a:blip r:embed="rId2">
                <a:alphaModFix amt="0"/>
              </a:blip>
              <a:stretch>
                <a:fillRect l="-7943" t="0" r="-7943" b="0"/>
              </a:stretch>
            </a:blipFill>
          </p:spPr>
        </p:sp>
        <p:sp>
          <p:nvSpPr>
            <p:cNvPr name="TextBox 132" id="132"/>
            <p:cNvSpPr txBox="true"/>
            <p:nvPr/>
          </p:nvSpPr>
          <p:spPr>
            <a:xfrm>
              <a:off x="0" y="-38100"/>
              <a:ext cx="1511808" cy="720852"/>
            </a:xfrm>
            <a:prstGeom prst="rect">
              <a:avLst/>
            </a:prstGeom>
          </p:spPr>
          <p:txBody>
            <a:bodyPr anchor="ctr" rtlCol="false" tIns="0" lIns="0" bIns="0" rIns="0"/>
            <a:lstStyle/>
            <a:p>
              <a:pPr algn="ctr">
                <a:lnSpc>
                  <a:spcPts val="2039"/>
                </a:lnSpc>
              </a:pPr>
              <a:r>
                <a:rPr lang="en-US" sz="1700" b="true">
                  <a:solidFill>
                    <a:srgbClr val="1D4ED8"/>
                  </a:solidFill>
                  <a:latin typeface="Calibri (MS) Bold"/>
                  <a:ea typeface="Calibri (MS) Bold"/>
                  <a:cs typeface="Calibri (MS) Bold"/>
                  <a:sym typeface="Calibri (MS) Bold"/>
                </a:rPr>
                <a:t>Input</a:t>
              </a:r>
            </a:p>
          </p:txBody>
        </p:sp>
      </p:grpSp>
      <p:grpSp>
        <p:nvGrpSpPr>
          <p:cNvPr name="Group 133" id="133"/>
          <p:cNvGrpSpPr/>
          <p:nvPr/>
        </p:nvGrpSpPr>
        <p:grpSpPr>
          <a:xfrm rot="0">
            <a:off x="15355567" y="4821679"/>
            <a:ext cx="1731769" cy="561337"/>
            <a:chOff x="0" y="0"/>
            <a:chExt cx="2309025" cy="748449"/>
          </a:xfrm>
        </p:grpSpPr>
        <p:sp>
          <p:nvSpPr>
            <p:cNvPr name="Freeform 134" id="134"/>
            <p:cNvSpPr/>
            <p:nvPr/>
          </p:nvSpPr>
          <p:spPr>
            <a:xfrm flipH="false" flipV="false" rot="0">
              <a:off x="0" y="0"/>
              <a:ext cx="2309114" cy="748538"/>
            </a:xfrm>
            <a:custGeom>
              <a:avLst/>
              <a:gdLst/>
              <a:ahLst/>
              <a:cxnLst/>
              <a:rect r="r" b="b" t="t" l="l"/>
              <a:pathLst>
                <a:path h="748538" w="2309114">
                  <a:moveTo>
                    <a:pt x="0" y="199644"/>
                  </a:moveTo>
                  <a:cubicBezTo>
                    <a:pt x="0" y="89408"/>
                    <a:pt x="89408" y="0"/>
                    <a:pt x="199644" y="0"/>
                  </a:cubicBezTo>
                  <a:lnTo>
                    <a:pt x="2109470" y="0"/>
                  </a:lnTo>
                  <a:cubicBezTo>
                    <a:pt x="2219706" y="0"/>
                    <a:pt x="2309114" y="89408"/>
                    <a:pt x="2309114" y="199644"/>
                  </a:cubicBezTo>
                  <a:lnTo>
                    <a:pt x="2309114" y="548894"/>
                  </a:lnTo>
                  <a:cubicBezTo>
                    <a:pt x="2309114" y="659130"/>
                    <a:pt x="2219706" y="748538"/>
                    <a:pt x="2109470" y="748538"/>
                  </a:cubicBezTo>
                  <a:lnTo>
                    <a:pt x="199644" y="748538"/>
                  </a:lnTo>
                  <a:cubicBezTo>
                    <a:pt x="89408" y="748411"/>
                    <a:pt x="0" y="659130"/>
                    <a:pt x="0" y="548894"/>
                  </a:cubicBezTo>
                  <a:close/>
                </a:path>
              </a:pathLst>
            </a:custGeom>
            <a:solidFill>
              <a:srgbClr val="FDF4FF"/>
            </a:solidFill>
            <a:ln w="12700" cap="sq">
              <a:solidFill>
                <a:srgbClr val="A855F7"/>
              </a:solidFill>
              <a:prstDash val="solid"/>
              <a:miter/>
            </a:ln>
          </p:spPr>
        </p:sp>
      </p:grpSp>
      <p:grpSp>
        <p:nvGrpSpPr>
          <p:cNvPr name="Group 135" id="135"/>
          <p:cNvGrpSpPr/>
          <p:nvPr/>
        </p:nvGrpSpPr>
        <p:grpSpPr>
          <a:xfrm rot="0">
            <a:off x="15361920" y="4828032"/>
            <a:ext cx="1719072" cy="548640"/>
            <a:chOff x="0" y="0"/>
            <a:chExt cx="2292096" cy="731520"/>
          </a:xfrm>
        </p:grpSpPr>
        <p:sp>
          <p:nvSpPr>
            <p:cNvPr name="Freeform 136" id="136"/>
            <p:cNvSpPr/>
            <p:nvPr/>
          </p:nvSpPr>
          <p:spPr>
            <a:xfrm flipH="false" flipV="false" rot="0">
              <a:off x="0" y="0"/>
              <a:ext cx="2292096" cy="731520"/>
            </a:xfrm>
            <a:custGeom>
              <a:avLst/>
              <a:gdLst/>
              <a:ahLst/>
              <a:cxnLst/>
              <a:rect r="r" b="b" t="t" l="l"/>
              <a:pathLst>
                <a:path h="731520" w="2292096">
                  <a:moveTo>
                    <a:pt x="0" y="0"/>
                  </a:moveTo>
                  <a:lnTo>
                    <a:pt x="2292096" y="0"/>
                  </a:lnTo>
                  <a:lnTo>
                    <a:pt x="2292096" y="731520"/>
                  </a:lnTo>
                  <a:lnTo>
                    <a:pt x="0" y="731520"/>
                  </a:lnTo>
                  <a:close/>
                </a:path>
              </a:pathLst>
            </a:custGeom>
            <a:blipFill>
              <a:blip r:embed="rId2">
                <a:alphaModFix amt="0"/>
              </a:blip>
              <a:stretch>
                <a:fillRect l="0" t="-11053" r="0" b="-11053"/>
              </a:stretch>
            </a:blipFill>
          </p:spPr>
        </p:sp>
        <p:sp>
          <p:nvSpPr>
            <p:cNvPr name="TextBox 137" id="137"/>
            <p:cNvSpPr txBox="true"/>
            <p:nvPr/>
          </p:nvSpPr>
          <p:spPr>
            <a:xfrm>
              <a:off x="0" y="-38100"/>
              <a:ext cx="2292096" cy="769620"/>
            </a:xfrm>
            <a:prstGeom prst="rect">
              <a:avLst/>
            </a:prstGeom>
          </p:spPr>
          <p:txBody>
            <a:bodyPr anchor="ctr" rtlCol="false" tIns="0" lIns="0" bIns="0" rIns="0"/>
            <a:lstStyle/>
            <a:p>
              <a:pPr algn="ctr">
                <a:lnSpc>
                  <a:spcPts val="2039"/>
                </a:lnSpc>
              </a:pPr>
              <a:r>
                <a:rPr lang="en-US" sz="1700" b="true">
                  <a:solidFill>
                    <a:srgbClr val="7E22CE"/>
                  </a:solidFill>
                  <a:latin typeface="Calibri (MS) Bold"/>
                  <a:ea typeface="Calibri (MS) Bold"/>
                  <a:cs typeface="Calibri (MS) Bold"/>
                  <a:sym typeface="Calibri (MS) Bold"/>
                </a:rPr>
                <a:t>Comportement</a:t>
              </a:r>
            </a:p>
          </p:txBody>
        </p:sp>
      </p:grpSp>
      <p:grpSp>
        <p:nvGrpSpPr>
          <p:cNvPr name="Group 138" id="138"/>
          <p:cNvGrpSpPr/>
          <p:nvPr/>
        </p:nvGrpSpPr>
        <p:grpSpPr>
          <a:xfrm rot="0">
            <a:off x="397259" y="5481323"/>
            <a:ext cx="17493491" cy="778259"/>
            <a:chOff x="0" y="0"/>
            <a:chExt cx="23324655" cy="1037679"/>
          </a:xfrm>
        </p:grpSpPr>
        <p:sp>
          <p:nvSpPr>
            <p:cNvPr name="Freeform 139" id="139"/>
            <p:cNvSpPr/>
            <p:nvPr/>
          </p:nvSpPr>
          <p:spPr>
            <a:xfrm flipH="false" flipV="false" rot="0">
              <a:off x="0" y="0"/>
              <a:ext cx="23324693" cy="1037717"/>
            </a:xfrm>
            <a:custGeom>
              <a:avLst/>
              <a:gdLst/>
              <a:ahLst/>
              <a:cxnLst/>
              <a:rect r="r" b="b" t="t" l="l"/>
              <a:pathLst>
                <a:path h="1037717" w="23324693">
                  <a:moveTo>
                    <a:pt x="0" y="0"/>
                  </a:moveTo>
                  <a:lnTo>
                    <a:pt x="23324693" y="0"/>
                  </a:lnTo>
                  <a:lnTo>
                    <a:pt x="23324693" y="1037717"/>
                  </a:lnTo>
                  <a:lnTo>
                    <a:pt x="0" y="1037717"/>
                  </a:lnTo>
                  <a:close/>
                </a:path>
              </a:pathLst>
            </a:custGeom>
            <a:solidFill>
              <a:srgbClr val="F0F5FB"/>
            </a:solidFill>
            <a:ln w="10160" cap="sq">
              <a:solidFill>
                <a:srgbClr val="D1DCF0"/>
              </a:solidFill>
              <a:prstDash val="solid"/>
              <a:miter/>
            </a:ln>
          </p:spPr>
        </p:sp>
      </p:grpSp>
      <p:grpSp>
        <p:nvGrpSpPr>
          <p:cNvPr name="Group 140" id="140"/>
          <p:cNvGrpSpPr/>
          <p:nvPr/>
        </p:nvGrpSpPr>
        <p:grpSpPr>
          <a:xfrm rot="0">
            <a:off x="397259" y="5481323"/>
            <a:ext cx="17493491" cy="778259"/>
            <a:chOff x="0" y="0"/>
            <a:chExt cx="23324655" cy="1037679"/>
          </a:xfrm>
        </p:grpSpPr>
        <p:sp>
          <p:nvSpPr>
            <p:cNvPr name="Freeform 141" id="141"/>
            <p:cNvSpPr/>
            <p:nvPr/>
          </p:nvSpPr>
          <p:spPr>
            <a:xfrm flipH="false" flipV="false" rot="0">
              <a:off x="0" y="0"/>
              <a:ext cx="23324693" cy="1037717"/>
            </a:xfrm>
            <a:custGeom>
              <a:avLst/>
              <a:gdLst/>
              <a:ahLst/>
              <a:cxnLst/>
              <a:rect r="r" b="b" t="t" l="l"/>
              <a:pathLst>
                <a:path h="1037717" w="23324693">
                  <a:moveTo>
                    <a:pt x="0" y="0"/>
                  </a:moveTo>
                  <a:lnTo>
                    <a:pt x="23324693" y="0"/>
                  </a:lnTo>
                  <a:lnTo>
                    <a:pt x="23324693" y="1037717"/>
                  </a:lnTo>
                  <a:lnTo>
                    <a:pt x="0" y="1037717"/>
                  </a:lnTo>
                  <a:close/>
                </a:path>
              </a:pathLst>
            </a:custGeom>
            <a:solidFill>
              <a:srgbClr val="F0F5FB"/>
            </a:solidFill>
            <a:ln w="10160" cap="sq">
              <a:solidFill>
                <a:srgbClr val="D1DCF0"/>
              </a:solidFill>
              <a:prstDash val="solid"/>
              <a:miter/>
            </a:ln>
          </p:spPr>
        </p:sp>
      </p:grpSp>
      <p:grpSp>
        <p:nvGrpSpPr>
          <p:cNvPr name="Group 142" id="142"/>
          <p:cNvGrpSpPr/>
          <p:nvPr/>
        </p:nvGrpSpPr>
        <p:grpSpPr>
          <a:xfrm rot="0">
            <a:off x="548640" y="5559552"/>
            <a:ext cx="3255264" cy="658368"/>
            <a:chOff x="0" y="0"/>
            <a:chExt cx="4340352" cy="877824"/>
          </a:xfrm>
        </p:grpSpPr>
        <p:sp>
          <p:nvSpPr>
            <p:cNvPr name="Freeform 143" id="143"/>
            <p:cNvSpPr/>
            <p:nvPr/>
          </p:nvSpPr>
          <p:spPr>
            <a:xfrm flipH="false" flipV="false" rot="0">
              <a:off x="0" y="0"/>
              <a:ext cx="4340352" cy="877824"/>
            </a:xfrm>
            <a:custGeom>
              <a:avLst/>
              <a:gdLst/>
              <a:ahLst/>
              <a:cxnLst/>
              <a:rect r="r" b="b" t="t" l="l"/>
              <a:pathLst>
                <a:path h="877824" w="4340352">
                  <a:moveTo>
                    <a:pt x="0" y="0"/>
                  </a:moveTo>
                  <a:lnTo>
                    <a:pt x="4340352" y="0"/>
                  </a:lnTo>
                  <a:lnTo>
                    <a:pt x="4340352" y="877824"/>
                  </a:lnTo>
                  <a:lnTo>
                    <a:pt x="0" y="877824"/>
                  </a:lnTo>
                  <a:close/>
                </a:path>
              </a:pathLst>
            </a:custGeom>
            <a:blipFill>
              <a:blip r:embed="rId2">
                <a:alphaModFix amt="0"/>
              </a:blip>
              <a:stretch>
                <a:fillRect l="0" t="-46342" r="0" b="-46342"/>
              </a:stretch>
            </a:blipFill>
          </p:spPr>
        </p:sp>
        <p:sp>
          <p:nvSpPr>
            <p:cNvPr name="TextBox 144" id="144"/>
            <p:cNvSpPr txBox="true"/>
            <p:nvPr/>
          </p:nvSpPr>
          <p:spPr>
            <a:xfrm>
              <a:off x="0" y="-38100"/>
              <a:ext cx="4340352" cy="915924"/>
            </a:xfrm>
            <a:prstGeom prst="rect">
              <a:avLst/>
            </a:prstGeom>
          </p:spPr>
          <p:txBody>
            <a:bodyPr anchor="ctr" rtlCol="false" tIns="0" lIns="0" bIns="0" rIns="0"/>
            <a:lstStyle/>
            <a:p>
              <a:pPr algn="l">
                <a:lnSpc>
                  <a:spcPts val="2280"/>
                </a:lnSpc>
              </a:pPr>
              <a:r>
                <a:rPr lang="en-US" sz="1900" b="true">
                  <a:solidFill>
                    <a:srgbClr val="1E3A5F"/>
                  </a:solidFill>
                  <a:latin typeface="Calibri (MS) Bold"/>
                  <a:ea typeface="Calibri (MS) Bold"/>
                  <a:cs typeface="Calibri (MS) Bold"/>
                  <a:sym typeface="Calibri (MS) Bold"/>
                </a:rPr>
                <a:t>Tentatives_connexion</a:t>
              </a:r>
            </a:p>
          </p:txBody>
        </p:sp>
      </p:grpSp>
      <p:grpSp>
        <p:nvGrpSpPr>
          <p:cNvPr name="Group 145" id="145"/>
          <p:cNvGrpSpPr/>
          <p:nvPr/>
        </p:nvGrpSpPr>
        <p:grpSpPr>
          <a:xfrm rot="0">
            <a:off x="3986784" y="5559552"/>
            <a:ext cx="2286000" cy="658368"/>
            <a:chOff x="0" y="0"/>
            <a:chExt cx="3048000" cy="877824"/>
          </a:xfrm>
        </p:grpSpPr>
        <p:sp>
          <p:nvSpPr>
            <p:cNvPr name="Freeform 146" id="146"/>
            <p:cNvSpPr/>
            <p:nvPr/>
          </p:nvSpPr>
          <p:spPr>
            <a:xfrm flipH="false" flipV="false" rot="0">
              <a:off x="0" y="0"/>
              <a:ext cx="3048000" cy="877824"/>
            </a:xfrm>
            <a:custGeom>
              <a:avLst/>
              <a:gdLst/>
              <a:ahLst/>
              <a:cxnLst/>
              <a:rect r="r" b="b" t="t" l="l"/>
              <a:pathLst>
                <a:path h="877824" w="3048000">
                  <a:moveTo>
                    <a:pt x="0" y="0"/>
                  </a:moveTo>
                  <a:lnTo>
                    <a:pt x="3048000" y="0"/>
                  </a:lnTo>
                  <a:lnTo>
                    <a:pt x="3048000" y="877824"/>
                  </a:lnTo>
                  <a:lnTo>
                    <a:pt x="0" y="877824"/>
                  </a:lnTo>
                  <a:close/>
                </a:path>
              </a:pathLst>
            </a:custGeom>
            <a:blipFill>
              <a:blip r:embed="rId2">
                <a:alphaModFix amt="0"/>
              </a:blip>
              <a:stretch>
                <a:fillRect l="0" t="-17656" r="0" b="-17656"/>
              </a:stretch>
            </a:blipFill>
          </p:spPr>
        </p:sp>
        <p:sp>
          <p:nvSpPr>
            <p:cNvPr name="TextBox 147" id="147"/>
            <p:cNvSpPr txBox="true"/>
            <p:nvPr/>
          </p:nvSpPr>
          <p:spPr>
            <a:xfrm>
              <a:off x="0" y="-38100"/>
              <a:ext cx="3048000" cy="915924"/>
            </a:xfrm>
            <a:prstGeom prst="rect">
              <a:avLst/>
            </a:prstGeom>
          </p:spPr>
          <p:txBody>
            <a:bodyPr anchor="ctr" rtlCol="false" tIns="0" lIns="0" bIns="0" rIns="0"/>
            <a:lstStyle/>
            <a:p>
              <a:pPr algn="ctr">
                <a:lnSpc>
                  <a:spcPts val="2280"/>
                </a:lnSpc>
              </a:pPr>
              <a:r>
                <a:rPr lang="en-US" sz="1900">
                  <a:solidFill>
                    <a:srgbClr val="1E293B"/>
                  </a:solidFill>
                  <a:latin typeface="Calibri (MS)"/>
                  <a:ea typeface="Calibri (MS)"/>
                  <a:cs typeface="Calibri (MS)"/>
                  <a:sym typeface="Calibri (MS)"/>
                </a:rPr>
                <a:t>Numérique</a:t>
              </a:r>
            </a:p>
          </p:txBody>
        </p:sp>
      </p:grpSp>
      <p:grpSp>
        <p:nvGrpSpPr>
          <p:cNvPr name="Group 148" id="148"/>
          <p:cNvGrpSpPr/>
          <p:nvPr/>
        </p:nvGrpSpPr>
        <p:grpSpPr>
          <a:xfrm rot="0">
            <a:off x="6455664" y="5559552"/>
            <a:ext cx="5029200" cy="658368"/>
            <a:chOff x="0" y="0"/>
            <a:chExt cx="6705600" cy="877824"/>
          </a:xfrm>
        </p:grpSpPr>
        <p:sp>
          <p:nvSpPr>
            <p:cNvPr name="Freeform 149" id="149"/>
            <p:cNvSpPr/>
            <p:nvPr/>
          </p:nvSpPr>
          <p:spPr>
            <a:xfrm flipH="false" flipV="false" rot="0">
              <a:off x="0" y="0"/>
              <a:ext cx="6705600" cy="877824"/>
            </a:xfrm>
            <a:custGeom>
              <a:avLst/>
              <a:gdLst/>
              <a:ahLst/>
              <a:cxnLst/>
              <a:rect r="r" b="b" t="t" l="l"/>
              <a:pathLst>
                <a:path h="877824" w="6705600">
                  <a:moveTo>
                    <a:pt x="0" y="0"/>
                  </a:moveTo>
                  <a:lnTo>
                    <a:pt x="6705600" y="0"/>
                  </a:lnTo>
                  <a:lnTo>
                    <a:pt x="6705600" y="877824"/>
                  </a:lnTo>
                  <a:lnTo>
                    <a:pt x="0" y="877824"/>
                  </a:lnTo>
                  <a:close/>
                </a:path>
              </a:pathLst>
            </a:custGeom>
            <a:blipFill>
              <a:blip r:embed="rId2">
                <a:alphaModFix amt="0"/>
              </a:blip>
              <a:stretch>
                <a:fillRect l="0" t="-98844" r="0" b="-98844"/>
              </a:stretch>
            </a:blipFill>
          </p:spPr>
        </p:sp>
        <p:sp>
          <p:nvSpPr>
            <p:cNvPr name="TextBox 150" id="150"/>
            <p:cNvSpPr txBox="true"/>
            <p:nvPr/>
          </p:nvSpPr>
          <p:spPr>
            <a:xfrm>
              <a:off x="0" y="-38100"/>
              <a:ext cx="6705600" cy="915924"/>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Nombre de tentatives de connexion répétées</a:t>
              </a:r>
            </a:p>
          </p:txBody>
        </p:sp>
      </p:grpSp>
      <p:grpSp>
        <p:nvGrpSpPr>
          <p:cNvPr name="Group 151" id="151"/>
          <p:cNvGrpSpPr/>
          <p:nvPr/>
        </p:nvGrpSpPr>
        <p:grpSpPr>
          <a:xfrm rot="0">
            <a:off x="11667744" y="5559552"/>
            <a:ext cx="1865376" cy="658368"/>
            <a:chOff x="0" y="0"/>
            <a:chExt cx="2487168" cy="877824"/>
          </a:xfrm>
        </p:grpSpPr>
        <p:sp>
          <p:nvSpPr>
            <p:cNvPr name="Freeform 152" id="152"/>
            <p:cNvSpPr/>
            <p:nvPr/>
          </p:nvSpPr>
          <p:spPr>
            <a:xfrm flipH="false" flipV="false" rot="0">
              <a:off x="0" y="0"/>
              <a:ext cx="2487168" cy="877824"/>
            </a:xfrm>
            <a:custGeom>
              <a:avLst/>
              <a:gdLst/>
              <a:ahLst/>
              <a:cxnLst/>
              <a:rect r="r" b="b" t="t" l="l"/>
              <a:pathLst>
                <a:path h="877824" w="2487168">
                  <a:moveTo>
                    <a:pt x="0" y="0"/>
                  </a:moveTo>
                  <a:lnTo>
                    <a:pt x="2487168" y="0"/>
                  </a:lnTo>
                  <a:lnTo>
                    <a:pt x="2487168" y="877824"/>
                  </a:lnTo>
                  <a:lnTo>
                    <a:pt x="0" y="877824"/>
                  </a:lnTo>
                  <a:close/>
                </a:path>
              </a:pathLst>
            </a:custGeom>
            <a:blipFill>
              <a:blip r:embed="rId2">
                <a:alphaModFix amt="0"/>
              </a:blip>
              <a:stretch>
                <a:fillRect l="0" t="-5207" r="0" b="-5207"/>
              </a:stretch>
            </a:blipFill>
          </p:spPr>
        </p:sp>
        <p:sp>
          <p:nvSpPr>
            <p:cNvPr name="TextBox 153" id="153"/>
            <p:cNvSpPr txBox="true"/>
            <p:nvPr/>
          </p:nvSpPr>
          <p:spPr>
            <a:xfrm>
              <a:off x="0" y="-38100"/>
              <a:ext cx="2487168" cy="915924"/>
            </a:xfrm>
            <a:prstGeom prst="rect">
              <a:avLst/>
            </a:prstGeom>
          </p:spPr>
          <p:txBody>
            <a:bodyPr anchor="ctr" rtlCol="false" tIns="0" lIns="0" bIns="0" rIns="0"/>
            <a:lstStyle/>
            <a:p>
              <a:pPr algn="ctr">
                <a:lnSpc>
                  <a:spcPts val="2280"/>
                </a:lnSpc>
              </a:pPr>
              <a:r>
                <a:rPr lang="en-US" sz="1900">
                  <a:solidFill>
                    <a:srgbClr val="1E293B"/>
                  </a:solidFill>
                  <a:latin typeface="Calibri (MS)"/>
                  <a:ea typeface="Calibri (MS)"/>
                  <a:cs typeface="Calibri (MS)"/>
                  <a:sym typeface="Calibri (MS)"/>
                </a:rPr>
                <a:t>Quantitatif</a:t>
              </a:r>
            </a:p>
          </p:txBody>
        </p:sp>
      </p:grpSp>
      <p:grpSp>
        <p:nvGrpSpPr>
          <p:cNvPr name="Group 154" id="154"/>
          <p:cNvGrpSpPr/>
          <p:nvPr/>
        </p:nvGrpSpPr>
        <p:grpSpPr>
          <a:xfrm rot="0">
            <a:off x="13819375" y="5608063"/>
            <a:ext cx="1146553" cy="524761"/>
            <a:chOff x="0" y="0"/>
            <a:chExt cx="1528737" cy="699681"/>
          </a:xfrm>
        </p:grpSpPr>
        <p:sp>
          <p:nvSpPr>
            <p:cNvPr name="Freeform 155" id="155"/>
            <p:cNvSpPr/>
            <p:nvPr/>
          </p:nvSpPr>
          <p:spPr>
            <a:xfrm flipH="false" flipV="false" rot="0">
              <a:off x="0" y="0"/>
              <a:ext cx="1528699" cy="699643"/>
            </a:xfrm>
            <a:custGeom>
              <a:avLst/>
              <a:gdLst/>
              <a:ahLst/>
              <a:cxnLst/>
              <a:rect r="r" b="b" t="t" l="l"/>
              <a:pathLst>
                <a:path h="699643" w="1528699">
                  <a:moveTo>
                    <a:pt x="0" y="174879"/>
                  </a:moveTo>
                  <a:cubicBezTo>
                    <a:pt x="0" y="78359"/>
                    <a:pt x="78359" y="0"/>
                    <a:pt x="174879" y="0"/>
                  </a:cubicBezTo>
                  <a:lnTo>
                    <a:pt x="1353820" y="0"/>
                  </a:lnTo>
                  <a:cubicBezTo>
                    <a:pt x="1450467" y="0"/>
                    <a:pt x="1528699" y="78359"/>
                    <a:pt x="1528699" y="174879"/>
                  </a:cubicBezTo>
                  <a:lnTo>
                    <a:pt x="1528699" y="524764"/>
                  </a:lnTo>
                  <a:cubicBezTo>
                    <a:pt x="1528699" y="621411"/>
                    <a:pt x="1450340" y="699643"/>
                    <a:pt x="1353820" y="699643"/>
                  </a:cubicBezTo>
                  <a:lnTo>
                    <a:pt x="174879" y="699643"/>
                  </a:lnTo>
                  <a:cubicBezTo>
                    <a:pt x="78359" y="699643"/>
                    <a:pt x="0" y="621411"/>
                    <a:pt x="0" y="524764"/>
                  </a:cubicBezTo>
                  <a:close/>
                </a:path>
              </a:pathLst>
            </a:custGeom>
            <a:solidFill>
              <a:srgbClr val="DBEAFE"/>
            </a:solidFill>
            <a:ln w="12700" cap="sq">
              <a:solidFill>
                <a:srgbClr val="3B82F6"/>
              </a:solidFill>
              <a:prstDash val="solid"/>
              <a:miter/>
            </a:ln>
          </p:spPr>
        </p:sp>
      </p:grpSp>
      <p:grpSp>
        <p:nvGrpSpPr>
          <p:cNvPr name="Group 156" id="156"/>
          <p:cNvGrpSpPr/>
          <p:nvPr/>
        </p:nvGrpSpPr>
        <p:grpSpPr>
          <a:xfrm rot="0">
            <a:off x="13825728" y="5614416"/>
            <a:ext cx="1133856" cy="512064"/>
            <a:chOff x="0" y="0"/>
            <a:chExt cx="1511808" cy="682752"/>
          </a:xfrm>
        </p:grpSpPr>
        <p:sp>
          <p:nvSpPr>
            <p:cNvPr name="Freeform 157" id="157"/>
            <p:cNvSpPr/>
            <p:nvPr/>
          </p:nvSpPr>
          <p:spPr>
            <a:xfrm flipH="false" flipV="false" rot="0">
              <a:off x="0" y="0"/>
              <a:ext cx="1511808" cy="682752"/>
            </a:xfrm>
            <a:custGeom>
              <a:avLst/>
              <a:gdLst/>
              <a:ahLst/>
              <a:cxnLst/>
              <a:rect r="r" b="b" t="t" l="l"/>
              <a:pathLst>
                <a:path h="682752" w="1511808">
                  <a:moveTo>
                    <a:pt x="0" y="0"/>
                  </a:moveTo>
                  <a:lnTo>
                    <a:pt x="1511808" y="0"/>
                  </a:lnTo>
                  <a:lnTo>
                    <a:pt x="1511808" y="682752"/>
                  </a:lnTo>
                  <a:lnTo>
                    <a:pt x="0" y="682752"/>
                  </a:lnTo>
                  <a:close/>
                </a:path>
              </a:pathLst>
            </a:custGeom>
            <a:blipFill>
              <a:blip r:embed="rId2">
                <a:alphaModFix amt="0"/>
              </a:blip>
              <a:stretch>
                <a:fillRect l="-7943" t="0" r="-7943" b="0"/>
              </a:stretch>
            </a:blipFill>
          </p:spPr>
        </p:sp>
        <p:sp>
          <p:nvSpPr>
            <p:cNvPr name="TextBox 158" id="158"/>
            <p:cNvSpPr txBox="true"/>
            <p:nvPr/>
          </p:nvSpPr>
          <p:spPr>
            <a:xfrm>
              <a:off x="0" y="-38100"/>
              <a:ext cx="1511808" cy="720852"/>
            </a:xfrm>
            <a:prstGeom prst="rect">
              <a:avLst/>
            </a:prstGeom>
          </p:spPr>
          <p:txBody>
            <a:bodyPr anchor="ctr" rtlCol="false" tIns="0" lIns="0" bIns="0" rIns="0"/>
            <a:lstStyle/>
            <a:p>
              <a:pPr algn="ctr">
                <a:lnSpc>
                  <a:spcPts val="2039"/>
                </a:lnSpc>
              </a:pPr>
              <a:r>
                <a:rPr lang="en-US" sz="1700" b="true">
                  <a:solidFill>
                    <a:srgbClr val="1D4ED8"/>
                  </a:solidFill>
                  <a:latin typeface="Calibri (MS) Bold"/>
                  <a:ea typeface="Calibri (MS) Bold"/>
                  <a:cs typeface="Calibri (MS) Bold"/>
                  <a:sym typeface="Calibri (MS) Bold"/>
                </a:rPr>
                <a:t>Input</a:t>
              </a:r>
            </a:p>
          </p:txBody>
        </p:sp>
      </p:grpSp>
      <p:grpSp>
        <p:nvGrpSpPr>
          <p:cNvPr name="Group 159" id="159"/>
          <p:cNvGrpSpPr/>
          <p:nvPr/>
        </p:nvGrpSpPr>
        <p:grpSpPr>
          <a:xfrm rot="0">
            <a:off x="15355567" y="5589775"/>
            <a:ext cx="1731769" cy="561337"/>
            <a:chOff x="0" y="0"/>
            <a:chExt cx="2309025" cy="748449"/>
          </a:xfrm>
        </p:grpSpPr>
        <p:sp>
          <p:nvSpPr>
            <p:cNvPr name="Freeform 160" id="160"/>
            <p:cNvSpPr/>
            <p:nvPr/>
          </p:nvSpPr>
          <p:spPr>
            <a:xfrm flipH="false" flipV="false" rot="0">
              <a:off x="0" y="0"/>
              <a:ext cx="2309114" cy="748538"/>
            </a:xfrm>
            <a:custGeom>
              <a:avLst/>
              <a:gdLst/>
              <a:ahLst/>
              <a:cxnLst/>
              <a:rect r="r" b="b" t="t" l="l"/>
              <a:pathLst>
                <a:path h="748538" w="2309114">
                  <a:moveTo>
                    <a:pt x="0" y="199644"/>
                  </a:moveTo>
                  <a:cubicBezTo>
                    <a:pt x="0" y="89408"/>
                    <a:pt x="89408" y="0"/>
                    <a:pt x="199644" y="0"/>
                  </a:cubicBezTo>
                  <a:lnTo>
                    <a:pt x="2109470" y="0"/>
                  </a:lnTo>
                  <a:cubicBezTo>
                    <a:pt x="2219706" y="0"/>
                    <a:pt x="2309114" y="89408"/>
                    <a:pt x="2309114" y="199644"/>
                  </a:cubicBezTo>
                  <a:lnTo>
                    <a:pt x="2309114" y="548894"/>
                  </a:lnTo>
                  <a:cubicBezTo>
                    <a:pt x="2309114" y="659130"/>
                    <a:pt x="2219706" y="748538"/>
                    <a:pt x="2109470" y="748538"/>
                  </a:cubicBezTo>
                  <a:lnTo>
                    <a:pt x="199644" y="748538"/>
                  </a:lnTo>
                  <a:cubicBezTo>
                    <a:pt x="89408" y="748411"/>
                    <a:pt x="0" y="659130"/>
                    <a:pt x="0" y="548894"/>
                  </a:cubicBezTo>
                  <a:close/>
                </a:path>
              </a:pathLst>
            </a:custGeom>
            <a:solidFill>
              <a:srgbClr val="FDF4FF"/>
            </a:solidFill>
            <a:ln w="12700" cap="sq">
              <a:solidFill>
                <a:srgbClr val="A855F7"/>
              </a:solidFill>
              <a:prstDash val="solid"/>
              <a:miter/>
            </a:ln>
          </p:spPr>
        </p:sp>
      </p:grpSp>
      <p:grpSp>
        <p:nvGrpSpPr>
          <p:cNvPr name="Group 161" id="161"/>
          <p:cNvGrpSpPr/>
          <p:nvPr/>
        </p:nvGrpSpPr>
        <p:grpSpPr>
          <a:xfrm rot="0">
            <a:off x="15361920" y="5596128"/>
            <a:ext cx="1719072" cy="548640"/>
            <a:chOff x="0" y="0"/>
            <a:chExt cx="2292096" cy="731520"/>
          </a:xfrm>
        </p:grpSpPr>
        <p:sp>
          <p:nvSpPr>
            <p:cNvPr name="Freeform 162" id="162"/>
            <p:cNvSpPr/>
            <p:nvPr/>
          </p:nvSpPr>
          <p:spPr>
            <a:xfrm flipH="false" flipV="false" rot="0">
              <a:off x="0" y="0"/>
              <a:ext cx="2292096" cy="731520"/>
            </a:xfrm>
            <a:custGeom>
              <a:avLst/>
              <a:gdLst/>
              <a:ahLst/>
              <a:cxnLst/>
              <a:rect r="r" b="b" t="t" l="l"/>
              <a:pathLst>
                <a:path h="731520" w="2292096">
                  <a:moveTo>
                    <a:pt x="0" y="0"/>
                  </a:moveTo>
                  <a:lnTo>
                    <a:pt x="2292096" y="0"/>
                  </a:lnTo>
                  <a:lnTo>
                    <a:pt x="2292096" y="731520"/>
                  </a:lnTo>
                  <a:lnTo>
                    <a:pt x="0" y="731520"/>
                  </a:lnTo>
                  <a:close/>
                </a:path>
              </a:pathLst>
            </a:custGeom>
            <a:blipFill>
              <a:blip r:embed="rId2">
                <a:alphaModFix amt="0"/>
              </a:blip>
              <a:stretch>
                <a:fillRect l="0" t="-11053" r="0" b="-11053"/>
              </a:stretch>
            </a:blipFill>
          </p:spPr>
        </p:sp>
        <p:sp>
          <p:nvSpPr>
            <p:cNvPr name="TextBox 163" id="163"/>
            <p:cNvSpPr txBox="true"/>
            <p:nvPr/>
          </p:nvSpPr>
          <p:spPr>
            <a:xfrm>
              <a:off x="0" y="-38100"/>
              <a:ext cx="2292096" cy="769620"/>
            </a:xfrm>
            <a:prstGeom prst="rect">
              <a:avLst/>
            </a:prstGeom>
          </p:spPr>
          <p:txBody>
            <a:bodyPr anchor="ctr" rtlCol="false" tIns="0" lIns="0" bIns="0" rIns="0"/>
            <a:lstStyle/>
            <a:p>
              <a:pPr algn="ctr">
                <a:lnSpc>
                  <a:spcPts val="2039"/>
                </a:lnSpc>
              </a:pPr>
              <a:r>
                <a:rPr lang="en-US" sz="1700" b="true">
                  <a:solidFill>
                    <a:srgbClr val="7E22CE"/>
                  </a:solidFill>
                  <a:latin typeface="Calibri (MS) Bold"/>
                  <a:ea typeface="Calibri (MS) Bold"/>
                  <a:cs typeface="Calibri (MS) Bold"/>
                  <a:sym typeface="Calibri (MS) Bold"/>
                </a:rPr>
                <a:t>Comportement</a:t>
              </a:r>
            </a:p>
          </p:txBody>
        </p:sp>
      </p:grpSp>
      <p:grpSp>
        <p:nvGrpSpPr>
          <p:cNvPr name="Group 164" id="164"/>
          <p:cNvGrpSpPr/>
          <p:nvPr/>
        </p:nvGrpSpPr>
        <p:grpSpPr>
          <a:xfrm rot="0">
            <a:off x="397259" y="6249419"/>
            <a:ext cx="17493491" cy="778259"/>
            <a:chOff x="0" y="0"/>
            <a:chExt cx="23324655" cy="1037679"/>
          </a:xfrm>
        </p:grpSpPr>
        <p:sp>
          <p:nvSpPr>
            <p:cNvPr name="Freeform 165" id="165"/>
            <p:cNvSpPr/>
            <p:nvPr/>
          </p:nvSpPr>
          <p:spPr>
            <a:xfrm flipH="false" flipV="false" rot="0">
              <a:off x="0" y="0"/>
              <a:ext cx="23324693" cy="1037717"/>
            </a:xfrm>
            <a:custGeom>
              <a:avLst/>
              <a:gdLst/>
              <a:ahLst/>
              <a:cxnLst/>
              <a:rect r="r" b="b" t="t" l="l"/>
              <a:pathLst>
                <a:path h="1037717" w="23324693">
                  <a:moveTo>
                    <a:pt x="0" y="0"/>
                  </a:moveTo>
                  <a:lnTo>
                    <a:pt x="23324693" y="0"/>
                  </a:lnTo>
                  <a:lnTo>
                    <a:pt x="23324693" y="1037717"/>
                  </a:lnTo>
                  <a:lnTo>
                    <a:pt x="0" y="1037717"/>
                  </a:lnTo>
                  <a:close/>
                </a:path>
              </a:pathLst>
            </a:custGeom>
            <a:solidFill>
              <a:srgbClr val="FFFFFF"/>
            </a:solidFill>
            <a:ln w="10160" cap="sq">
              <a:solidFill>
                <a:srgbClr val="D1DCF0"/>
              </a:solidFill>
              <a:prstDash val="solid"/>
              <a:miter/>
            </a:ln>
          </p:spPr>
        </p:sp>
      </p:grpSp>
      <p:grpSp>
        <p:nvGrpSpPr>
          <p:cNvPr name="Group 166" id="166"/>
          <p:cNvGrpSpPr/>
          <p:nvPr/>
        </p:nvGrpSpPr>
        <p:grpSpPr>
          <a:xfrm rot="0">
            <a:off x="397259" y="6249419"/>
            <a:ext cx="17493491" cy="778259"/>
            <a:chOff x="0" y="0"/>
            <a:chExt cx="23324655" cy="1037679"/>
          </a:xfrm>
        </p:grpSpPr>
        <p:sp>
          <p:nvSpPr>
            <p:cNvPr name="Freeform 167" id="167"/>
            <p:cNvSpPr/>
            <p:nvPr/>
          </p:nvSpPr>
          <p:spPr>
            <a:xfrm flipH="false" flipV="false" rot="0">
              <a:off x="0" y="0"/>
              <a:ext cx="23324693" cy="1037717"/>
            </a:xfrm>
            <a:custGeom>
              <a:avLst/>
              <a:gdLst/>
              <a:ahLst/>
              <a:cxnLst/>
              <a:rect r="r" b="b" t="t" l="l"/>
              <a:pathLst>
                <a:path h="1037717" w="23324693">
                  <a:moveTo>
                    <a:pt x="0" y="0"/>
                  </a:moveTo>
                  <a:lnTo>
                    <a:pt x="23324693" y="0"/>
                  </a:lnTo>
                  <a:lnTo>
                    <a:pt x="23324693" y="1037717"/>
                  </a:lnTo>
                  <a:lnTo>
                    <a:pt x="0" y="1037717"/>
                  </a:lnTo>
                  <a:close/>
                </a:path>
              </a:pathLst>
            </a:custGeom>
            <a:solidFill>
              <a:srgbClr val="F0F5FB"/>
            </a:solidFill>
            <a:ln w="10160" cap="sq">
              <a:solidFill>
                <a:srgbClr val="D1DCF0"/>
              </a:solidFill>
              <a:prstDash val="solid"/>
              <a:miter/>
            </a:ln>
          </p:spPr>
        </p:sp>
      </p:grpSp>
      <p:grpSp>
        <p:nvGrpSpPr>
          <p:cNvPr name="Group 168" id="168"/>
          <p:cNvGrpSpPr/>
          <p:nvPr/>
        </p:nvGrpSpPr>
        <p:grpSpPr>
          <a:xfrm rot="0">
            <a:off x="548640" y="6327648"/>
            <a:ext cx="3255264" cy="658368"/>
            <a:chOff x="0" y="0"/>
            <a:chExt cx="4340352" cy="877824"/>
          </a:xfrm>
        </p:grpSpPr>
        <p:sp>
          <p:nvSpPr>
            <p:cNvPr name="Freeform 169" id="169"/>
            <p:cNvSpPr/>
            <p:nvPr/>
          </p:nvSpPr>
          <p:spPr>
            <a:xfrm flipH="false" flipV="false" rot="0">
              <a:off x="0" y="0"/>
              <a:ext cx="4340352" cy="877824"/>
            </a:xfrm>
            <a:custGeom>
              <a:avLst/>
              <a:gdLst/>
              <a:ahLst/>
              <a:cxnLst/>
              <a:rect r="r" b="b" t="t" l="l"/>
              <a:pathLst>
                <a:path h="877824" w="4340352">
                  <a:moveTo>
                    <a:pt x="0" y="0"/>
                  </a:moveTo>
                  <a:lnTo>
                    <a:pt x="4340352" y="0"/>
                  </a:lnTo>
                  <a:lnTo>
                    <a:pt x="4340352" y="877824"/>
                  </a:lnTo>
                  <a:lnTo>
                    <a:pt x="0" y="877824"/>
                  </a:lnTo>
                  <a:close/>
                </a:path>
              </a:pathLst>
            </a:custGeom>
            <a:blipFill>
              <a:blip r:embed="rId2">
                <a:alphaModFix amt="0"/>
              </a:blip>
              <a:stretch>
                <a:fillRect l="0" t="-46342" r="0" b="-46342"/>
              </a:stretch>
            </a:blipFill>
          </p:spPr>
        </p:sp>
        <p:sp>
          <p:nvSpPr>
            <p:cNvPr name="TextBox 170" id="170"/>
            <p:cNvSpPr txBox="true"/>
            <p:nvPr/>
          </p:nvSpPr>
          <p:spPr>
            <a:xfrm>
              <a:off x="0" y="-38100"/>
              <a:ext cx="4340352" cy="915924"/>
            </a:xfrm>
            <a:prstGeom prst="rect">
              <a:avLst/>
            </a:prstGeom>
          </p:spPr>
          <p:txBody>
            <a:bodyPr anchor="ctr" rtlCol="false" tIns="0" lIns="0" bIns="0" rIns="0"/>
            <a:lstStyle/>
            <a:p>
              <a:pPr algn="l">
                <a:lnSpc>
                  <a:spcPts val="2280"/>
                </a:lnSpc>
              </a:pPr>
              <a:r>
                <a:rPr lang="en-US" sz="1900" b="true">
                  <a:solidFill>
                    <a:srgbClr val="1E3A5F"/>
                  </a:solidFill>
                  <a:latin typeface="Calibri (MS) Bold"/>
                  <a:ea typeface="Calibri (MS) Bold"/>
                  <a:cs typeface="Calibri (MS) Bold"/>
                  <a:sym typeface="Calibri (MS) Bold"/>
                </a:rPr>
                <a:t>Nb_connexions_simult.</a:t>
              </a:r>
            </a:p>
          </p:txBody>
        </p:sp>
      </p:grpSp>
      <p:grpSp>
        <p:nvGrpSpPr>
          <p:cNvPr name="Group 171" id="171"/>
          <p:cNvGrpSpPr/>
          <p:nvPr/>
        </p:nvGrpSpPr>
        <p:grpSpPr>
          <a:xfrm rot="0">
            <a:off x="3986784" y="6327648"/>
            <a:ext cx="2286000" cy="658368"/>
            <a:chOff x="0" y="0"/>
            <a:chExt cx="3048000" cy="877824"/>
          </a:xfrm>
        </p:grpSpPr>
        <p:sp>
          <p:nvSpPr>
            <p:cNvPr name="Freeform 172" id="172"/>
            <p:cNvSpPr/>
            <p:nvPr/>
          </p:nvSpPr>
          <p:spPr>
            <a:xfrm flipH="false" flipV="false" rot="0">
              <a:off x="0" y="0"/>
              <a:ext cx="3048000" cy="877824"/>
            </a:xfrm>
            <a:custGeom>
              <a:avLst/>
              <a:gdLst/>
              <a:ahLst/>
              <a:cxnLst/>
              <a:rect r="r" b="b" t="t" l="l"/>
              <a:pathLst>
                <a:path h="877824" w="3048000">
                  <a:moveTo>
                    <a:pt x="0" y="0"/>
                  </a:moveTo>
                  <a:lnTo>
                    <a:pt x="3048000" y="0"/>
                  </a:lnTo>
                  <a:lnTo>
                    <a:pt x="3048000" y="877824"/>
                  </a:lnTo>
                  <a:lnTo>
                    <a:pt x="0" y="877824"/>
                  </a:lnTo>
                  <a:close/>
                </a:path>
              </a:pathLst>
            </a:custGeom>
            <a:blipFill>
              <a:blip r:embed="rId2">
                <a:alphaModFix amt="0"/>
              </a:blip>
              <a:stretch>
                <a:fillRect l="0" t="-17656" r="0" b="-17656"/>
              </a:stretch>
            </a:blipFill>
          </p:spPr>
        </p:sp>
        <p:sp>
          <p:nvSpPr>
            <p:cNvPr name="TextBox 173" id="173"/>
            <p:cNvSpPr txBox="true"/>
            <p:nvPr/>
          </p:nvSpPr>
          <p:spPr>
            <a:xfrm>
              <a:off x="0" y="-38100"/>
              <a:ext cx="3048000" cy="915924"/>
            </a:xfrm>
            <a:prstGeom prst="rect">
              <a:avLst/>
            </a:prstGeom>
          </p:spPr>
          <p:txBody>
            <a:bodyPr anchor="ctr" rtlCol="false" tIns="0" lIns="0" bIns="0" rIns="0"/>
            <a:lstStyle/>
            <a:p>
              <a:pPr algn="ctr">
                <a:lnSpc>
                  <a:spcPts val="2280"/>
                </a:lnSpc>
              </a:pPr>
              <a:r>
                <a:rPr lang="en-US" sz="1900">
                  <a:solidFill>
                    <a:srgbClr val="1E293B"/>
                  </a:solidFill>
                  <a:latin typeface="Calibri (MS)"/>
                  <a:ea typeface="Calibri (MS)"/>
                  <a:cs typeface="Calibri (MS)"/>
                  <a:sym typeface="Calibri (MS)"/>
                </a:rPr>
                <a:t>Numérique</a:t>
              </a:r>
            </a:p>
          </p:txBody>
        </p:sp>
      </p:grpSp>
      <p:grpSp>
        <p:nvGrpSpPr>
          <p:cNvPr name="Group 174" id="174"/>
          <p:cNvGrpSpPr/>
          <p:nvPr/>
        </p:nvGrpSpPr>
        <p:grpSpPr>
          <a:xfrm rot="0">
            <a:off x="6455664" y="6327648"/>
            <a:ext cx="5029200" cy="658368"/>
            <a:chOff x="0" y="0"/>
            <a:chExt cx="6705600" cy="877824"/>
          </a:xfrm>
        </p:grpSpPr>
        <p:sp>
          <p:nvSpPr>
            <p:cNvPr name="Freeform 175" id="175"/>
            <p:cNvSpPr/>
            <p:nvPr/>
          </p:nvSpPr>
          <p:spPr>
            <a:xfrm flipH="false" flipV="false" rot="0">
              <a:off x="0" y="0"/>
              <a:ext cx="6705600" cy="877824"/>
            </a:xfrm>
            <a:custGeom>
              <a:avLst/>
              <a:gdLst/>
              <a:ahLst/>
              <a:cxnLst/>
              <a:rect r="r" b="b" t="t" l="l"/>
              <a:pathLst>
                <a:path h="877824" w="6705600">
                  <a:moveTo>
                    <a:pt x="0" y="0"/>
                  </a:moveTo>
                  <a:lnTo>
                    <a:pt x="6705600" y="0"/>
                  </a:lnTo>
                  <a:lnTo>
                    <a:pt x="6705600" y="877824"/>
                  </a:lnTo>
                  <a:lnTo>
                    <a:pt x="0" y="877824"/>
                  </a:lnTo>
                  <a:close/>
                </a:path>
              </a:pathLst>
            </a:custGeom>
            <a:blipFill>
              <a:blip r:embed="rId2">
                <a:alphaModFix amt="0"/>
              </a:blip>
              <a:stretch>
                <a:fillRect l="0" t="-98844" r="0" b="-98844"/>
              </a:stretch>
            </a:blipFill>
          </p:spPr>
        </p:sp>
        <p:sp>
          <p:nvSpPr>
            <p:cNvPr name="TextBox 176" id="176"/>
            <p:cNvSpPr txBox="true"/>
            <p:nvPr/>
          </p:nvSpPr>
          <p:spPr>
            <a:xfrm>
              <a:off x="0" y="-38100"/>
              <a:ext cx="6705600" cy="915924"/>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Connexions simultanées actives depuis la source</a:t>
              </a:r>
            </a:p>
          </p:txBody>
        </p:sp>
      </p:grpSp>
      <p:grpSp>
        <p:nvGrpSpPr>
          <p:cNvPr name="Group 177" id="177"/>
          <p:cNvGrpSpPr/>
          <p:nvPr/>
        </p:nvGrpSpPr>
        <p:grpSpPr>
          <a:xfrm rot="0">
            <a:off x="11667744" y="6327648"/>
            <a:ext cx="1865376" cy="658368"/>
            <a:chOff x="0" y="0"/>
            <a:chExt cx="2487168" cy="877824"/>
          </a:xfrm>
        </p:grpSpPr>
        <p:sp>
          <p:nvSpPr>
            <p:cNvPr name="Freeform 178" id="178"/>
            <p:cNvSpPr/>
            <p:nvPr/>
          </p:nvSpPr>
          <p:spPr>
            <a:xfrm flipH="false" flipV="false" rot="0">
              <a:off x="0" y="0"/>
              <a:ext cx="2487168" cy="877824"/>
            </a:xfrm>
            <a:custGeom>
              <a:avLst/>
              <a:gdLst/>
              <a:ahLst/>
              <a:cxnLst/>
              <a:rect r="r" b="b" t="t" l="l"/>
              <a:pathLst>
                <a:path h="877824" w="2487168">
                  <a:moveTo>
                    <a:pt x="0" y="0"/>
                  </a:moveTo>
                  <a:lnTo>
                    <a:pt x="2487168" y="0"/>
                  </a:lnTo>
                  <a:lnTo>
                    <a:pt x="2487168" y="877824"/>
                  </a:lnTo>
                  <a:lnTo>
                    <a:pt x="0" y="877824"/>
                  </a:lnTo>
                  <a:close/>
                </a:path>
              </a:pathLst>
            </a:custGeom>
            <a:blipFill>
              <a:blip r:embed="rId2">
                <a:alphaModFix amt="0"/>
              </a:blip>
              <a:stretch>
                <a:fillRect l="0" t="-5207" r="0" b="-5207"/>
              </a:stretch>
            </a:blipFill>
          </p:spPr>
        </p:sp>
        <p:sp>
          <p:nvSpPr>
            <p:cNvPr name="TextBox 179" id="179"/>
            <p:cNvSpPr txBox="true"/>
            <p:nvPr/>
          </p:nvSpPr>
          <p:spPr>
            <a:xfrm>
              <a:off x="0" y="-38100"/>
              <a:ext cx="2487168" cy="915924"/>
            </a:xfrm>
            <a:prstGeom prst="rect">
              <a:avLst/>
            </a:prstGeom>
          </p:spPr>
          <p:txBody>
            <a:bodyPr anchor="ctr" rtlCol="false" tIns="0" lIns="0" bIns="0" rIns="0"/>
            <a:lstStyle/>
            <a:p>
              <a:pPr algn="ctr">
                <a:lnSpc>
                  <a:spcPts val="2280"/>
                </a:lnSpc>
              </a:pPr>
              <a:r>
                <a:rPr lang="en-US" sz="1900">
                  <a:solidFill>
                    <a:srgbClr val="1E293B"/>
                  </a:solidFill>
                  <a:latin typeface="Calibri (MS)"/>
                  <a:ea typeface="Calibri (MS)"/>
                  <a:cs typeface="Calibri (MS)"/>
                  <a:sym typeface="Calibri (MS)"/>
                </a:rPr>
                <a:t>Quantitatif</a:t>
              </a:r>
            </a:p>
          </p:txBody>
        </p:sp>
      </p:grpSp>
      <p:grpSp>
        <p:nvGrpSpPr>
          <p:cNvPr name="Group 180" id="180"/>
          <p:cNvGrpSpPr/>
          <p:nvPr/>
        </p:nvGrpSpPr>
        <p:grpSpPr>
          <a:xfrm rot="0">
            <a:off x="13819375" y="6376159"/>
            <a:ext cx="1146553" cy="524761"/>
            <a:chOff x="0" y="0"/>
            <a:chExt cx="1528737" cy="699681"/>
          </a:xfrm>
        </p:grpSpPr>
        <p:sp>
          <p:nvSpPr>
            <p:cNvPr name="Freeform 181" id="181"/>
            <p:cNvSpPr/>
            <p:nvPr/>
          </p:nvSpPr>
          <p:spPr>
            <a:xfrm flipH="false" flipV="false" rot="0">
              <a:off x="0" y="0"/>
              <a:ext cx="1528699" cy="699643"/>
            </a:xfrm>
            <a:custGeom>
              <a:avLst/>
              <a:gdLst/>
              <a:ahLst/>
              <a:cxnLst/>
              <a:rect r="r" b="b" t="t" l="l"/>
              <a:pathLst>
                <a:path h="699643" w="1528699">
                  <a:moveTo>
                    <a:pt x="0" y="174879"/>
                  </a:moveTo>
                  <a:cubicBezTo>
                    <a:pt x="0" y="78359"/>
                    <a:pt x="78359" y="0"/>
                    <a:pt x="174879" y="0"/>
                  </a:cubicBezTo>
                  <a:lnTo>
                    <a:pt x="1353820" y="0"/>
                  </a:lnTo>
                  <a:cubicBezTo>
                    <a:pt x="1450467" y="0"/>
                    <a:pt x="1528699" y="78359"/>
                    <a:pt x="1528699" y="174879"/>
                  </a:cubicBezTo>
                  <a:lnTo>
                    <a:pt x="1528699" y="524764"/>
                  </a:lnTo>
                  <a:cubicBezTo>
                    <a:pt x="1528699" y="621411"/>
                    <a:pt x="1450340" y="699643"/>
                    <a:pt x="1353820" y="699643"/>
                  </a:cubicBezTo>
                  <a:lnTo>
                    <a:pt x="174879" y="699643"/>
                  </a:lnTo>
                  <a:cubicBezTo>
                    <a:pt x="78359" y="699643"/>
                    <a:pt x="0" y="621411"/>
                    <a:pt x="0" y="524764"/>
                  </a:cubicBezTo>
                  <a:close/>
                </a:path>
              </a:pathLst>
            </a:custGeom>
            <a:solidFill>
              <a:srgbClr val="DBEAFE"/>
            </a:solidFill>
            <a:ln w="12700" cap="sq">
              <a:solidFill>
                <a:srgbClr val="3B82F6"/>
              </a:solidFill>
              <a:prstDash val="solid"/>
              <a:miter/>
            </a:ln>
          </p:spPr>
        </p:sp>
      </p:grpSp>
      <p:grpSp>
        <p:nvGrpSpPr>
          <p:cNvPr name="Group 182" id="182"/>
          <p:cNvGrpSpPr/>
          <p:nvPr/>
        </p:nvGrpSpPr>
        <p:grpSpPr>
          <a:xfrm rot="0">
            <a:off x="13825728" y="6382512"/>
            <a:ext cx="1133856" cy="512064"/>
            <a:chOff x="0" y="0"/>
            <a:chExt cx="1511808" cy="682752"/>
          </a:xfrm>
        </p:grpSpPr>
        <p:sp>
          <p:nvSpPr>
            <p:cNvPr name="Freeform 183" id="183"/>
            <p:cNvSpPr/>
            <p:nvPr/>
          </p:nvSpPr>
          <p:spPr>
            <a:xfrm flipH="false" flipV="false" rot="0">
              <a:off x="0" y="0"/>
              <a:ext cx="1511808" cy="682752"/>
            </a:xfrm>
            <a:custGeom>
              <a:avLst/>
              <a:gdLst/>
              <a:ahLst/>
              <a:cxnLst/>
              <a:rect r="r" b="b" t="t" l="l"/>
              <a:pathLst>
                <a:path h="682752" w="1511808">
                  <a:moveTo>
                    <a:pt x="0" y="0"/>
                  </a:moveTo>
                  <a:lnTo>
                    <a:pt x="1511808" y="0"/>
                  </a:lnTo>
                  <a:lnTo>
                    <a:pt x="1511808" y="682752"/>
                  </a:lnTo>
                  <a:lnTo>
                    <a:pt x="0" y="682752"/>
                  </a:lnTo>
                  <a:close/>
                </a:path>
              </a:pathLst>
            </a:custGeom>
            <a:blipFill>
              <a:blip r:embed="rId2">
                <a:alphaModFix amt="0"/>
              </a:blip>
              <a:stretch>
                <a:fillRect l="-7943" t="0" r="-7943" b="0"/>
              </a:stretch>
            </a:blipFill>
          </p:spPr>
        </p:sp>
        <p:sp>
          <p:nvSpPr>
            <p:cNvPr name="TextBox 184" id="184"/>
            <p:cNvSpPr txBox="true"/>
            <p:nvPr/>
          </p:nvSpPr>
          <p:spPr>
            <a:xfrm>
              <a:off x="0" y="-38100"/>
              <a:ext cx="1511808" cy="720852"/>
            </a:xfrm>
            <a:prstGeom prst="rect">
              <a:avLst/>
            </a:prstGeom>
          </p:spPr>
          <p:txBody>
            <a:bodyPr anchor="ctr" rtlCol="false" tIns="0" lIns="0" bIns="0" rIns="0"/>
            <a:lstStyle/>
            <a:p>
              <a:pPr algn="ctr">
                <a:lnSpc>
                  <a:spcPts val="2039"/>
                </a:lnSpc>
              </a:pPr>
              <a:r>
                <a:rPr lang="en-US" sz="1700" b="true">
                  <a:solidFill>
                    <a:srgbClr val="1D4ED8"/>
                  </a:solidFill>
                  <a:latin typeface="Calibri (MS) Bold"/>
                  <a:ea typeface="Calibri (MS) Bold"/>
                  <a:cs typeface="Calibri (MS) Bold"/>
                  <a:sym typeface="Calibri (MS) Bold"/>
                </a:rPr>
                <a:t>Input</a:t>
              </a:r>
            </a:p>
          </p:txBody>
        </p:sp>
      </p:grpSp>
      <p:grpSp>
        <p:nvGrpSpPr>
          <p:cNvPr name="Group 185" id="185"/>
          <p:cNvGrpSpPr/>
          <p:nvPr/>
        </p:nvGrpSpPr>
        <p:grpSpPr>
          <a:xfrm rot="0">
            <a:off x="15355567" y="6357871"/>
            <a:ext cx="1731769" cy="561337"/>
            <a:chOff x="0" y="0"/>
            <a:chExt cx="2309025" cy="748449"/>
          </a:xfrm>
        </p:grpSpPr>
        <p:sp>
          <p:nvSpPr>
            <p:cNvPr name="Freeform 186" id="186"/>
            <p:cNvSpPr/>
            <p:nvPr/>
          </p:nvSpPr>
          <p:spPr>
            <a:xfrm flipH="false" flipV="false" rot="0">
              <a:off x="0" y="0"/>
              <a:ext cx="2309114" cy="748538"/>
            </a:xfrm>
            <a:custGeom>
              <a:avLst/>
              <a:gdLst/>
              <a:ahLst/>
              <a:cxnLst/>
              <a:rect r="r" b="b" t="t" l="l"/>
              <a:pathLst>
                <a:path h="748538" w="2309114">
                  <a:moveTo>
                    <a:pt x="0" y="199644"/>
                  </a:moveTo>
                  <a:cubicBezTo>
                    <a:pt x="0" y="89408"/>
                    <a:pt x="89408" y="0"/>
                    <a:pt x="199644" y="0"/>
                  </a:cubicBezTo>
                  <a:lnTo>
                    <a:pt x="2109470" y="0"/>
                  </a:lnTo>
                  <a:cubicBezTo>
                    <a:pt x="2219706" y="0"/>
                    <a:pt x="2309114" y="89408"/>
                    <a:pt x="2309114" y="199644"/>
                  </a:cubicBezTo>
                  <a:lnTo>
                    <a:pt x="2309114" y="548894"/>
                  </a:lnTo>
                  <a:cubicBezTo>
                    <a:pt x="2309114" y="659130"/>
                    <a:pt x="2219706" y="748538"/>
                    <a:pt x="2109470" y="748538"/>
                  </a:cubicBezTo>
                  <a:lnTo>
                    <a:pt x="199644" y="748538"/>
                  </a:lnTo>
                  <a:cubicBezTo>
                    <a:pt x="89408" y="748411"/>
                    <a:pt x="0" y="659130"/>
                    <a:pt x="0" y="548894"/>
                  </a:cubicBezTo>
                  <a:close/>
                </a:path>
              </a:pathLst>
            </a:custGeom>
            <a:solidFill>
              <a:srgbClr val="FDF4FF"/>
            </a:solidFill>
            <a:ln w="12700" cap="sq">
              <a:solidFill>
                <a:srgbClr val="A855F7"/>
              </a:solidFill>
              <a:prstDash val="solid"/>
              <a:miter/>
            </a:ln>
          </p:spPr>
        </p:sp>
      </p:grpSp>
      <p:grpSp>
        <p:nvGrpSpPr>
          <p:cNvPr name="Group 187" id="187"/>
          <p:cNvGrpSpPr/>
          <p:nvPr/>
        </p:nvGrpSpPr>
        <p:grpSpPr>
          <a:xfrm rot="0">
            <a:off x="15361920" y="6364224"/>
            <a:ext cx="1719072" cy="548640"/>
            <a:chOff x="0" y="0"/>
            <a:chExt cx="2292096" cy="731520"/>
          </a:xfrm>
        </p:grpSpPr>
        <p:sp>
          <p:nvSpPr>
            <p:cNvPr name="Freeform 188" id="188"/>
            <p:cNvSpPr/>
            <p:nvPr/>
          </p:nvSpPr>
          <p:spPr>
            <a:xfrm flipH="false" flipV="false" rot="0">
              <a:off x="0" y="0"/>
              <a:ext cx="2292096" cy="731520"/>
            </a:xfrm>
            <a:custGeom>
              <a:avLst/>
              <a:gdLst/>
              <a:ahLst/>
              <a:cxnLst/>
              <a:rect r="r" b="b" t="t" l="l"/>
              <a:pathLst>
                <a:path h="731520" w="2292096">
                  <a:moveTo>
                    <a:pt x="0" y="0"/>
                  </a:moveTo>
                  <a:lnTo>
                    <a:pt x="2292096" y="0"/>
                  </a:lnTo>
                  <a:lnTo>
                    <a:pt x="2292096" y="731520"/>
                  </a:lnTo>
                  <a:lnTo>
                    <a:pt x="0" y="731520"/>
                  </a:lnTo>
                  <a:close/>
                </a:path>
              </a:pathLst>
            </a:custGeom>
            <a:blipFill>
              <a:blip r:embed="rId2">
                <a:alphaModFix amt="0"/>
              </a:blip>
              <a:stretch>
                <a:fillRect l="0" t="-11053" r="0" b="-11053"/>
              </a:stretch>
            </a:blipFill>
          </p:spPr>
        </p:sp>
        <p:sp>
          <p:nvSpPr>
            <p:cNvPr name="TextBox 189" id="189"/>
            <p:cNvSpPr txBox="true"/>
            <p:nvPr/>
          </p:nvSpPr>
          <p:spPr>
            <a:xfrm>
              <a:off x="0" y="-38100"/>
              <a:ext cx="2292096" cy="769620"/>
            </a:xfrm>
            <a:prstGeom prst="rect">
              <a:avLst/>
            </a:prstGeom>
          </p:spPr>
          <p:txBody>
            <a:bodyPr anchor="ctr" rtlCol="false" tIns="0" lIns="0" bIns="0" rIns="0"/>
            <a:lstStyle/>
            <a:p>
              <a:pPr algn="ctr">
                <a:lnSpc>
                  <a:spcPts val="2039"/>
                </a:lnSpc>
              </a:pPr>
              <a:r>
                <a:rPr lang="en-US" sz="1700" b="true">
                  <a:solidFill>
                    <a:srgbClr val="7E22CE"/>
                  </a:solidFill>
                  <a:latin typeface="Calibri (MS) Bold"/>
                  <a:ea typeface="Calibri (MS) Bold"/>
                  <a:cs typeface="Calibri (MS) Bold"/>
                  <a:sym typeface="Calibri (MS) Bold"/>
                </a:rPr>
                <a:t>Comportement</a:t>
              </a:r>
            </a:p>
          </p:txBody>
        </p:sp>
      </p:grpSp>
      <p:grpSp>
        <p:nvGrpSpPr>
          <p:cNvPr name="Group 190" id="190"/>
          <p:cNvGrpSpPr/>
          <p:nvPr/>
        </p:nvGrpSpPr>
        <p:grpSpPr>
          <a:xfrm rot="0">
            <a:off x="397259" y="7017515"/>
            <a:ext cx="17493491" cy="778259"/>
            <a:chOff x="0" y="0"/>
            <a:chExt cx="23324655" cy="1037679"/>
          </a:xfrm>
        </p:grpSpPr>
        <p:sp>
          <p:nvSpPr>
            <p:cNvPr name="Freeform 191" id="191"/>
            <p:cNvSpPr/>
            <p:nvPr/>
          </p:nvSpPr>
          <p:spPr>
            <a:xfrm flipH="false" flipV="false" rot="0">
              <a:off x="0" y="0"/>
              <a:ext cx="23324693" cy="1037717"/>
            </a:xfrm>
            <a:custGeom>
              <a:avLst/>
              <a:gdLst/>
              <a:ahLst/>
              <a:cxnLst/>
              <a:rect r="r" b="b" t="t" l="l"/>
              <a:pathLst>
                <a:path h="1037717" w="23324693">
                  <a:moveTo>
                    <a:pt x="0" y="0"/>
                  </a:moveTo>
                  <a:lnTo>
                    <a:pt x="23324693" y="0"/>
                  </a:lnTo>
                  <a:lnTo>
                    <a:pt x="23324693" y="1037717"/>
                  </a:lnTo>
                  <a:lnTo>
                    <a:pt x="0" y="1037717"/>
                  </a:lnTo>
                  <a:close/>
                </a:path>
              </a:pathLst>
            </a:custGeom>
            <a:solidFill>
              <a:srgbClr val="F0F5FB"/>
            </a:solidFill>
            <a:ln w="10160" cap="sq">
              <a:solidFill>
                <a:srgbClr val="D1DCF0"/>
              </a:solidFill>
              <a:prstDash val="solid"/>
              <a:miter/>
            </a:ln>
          </p:spPr>
        </p:sp>
      </p:grpSp>
      <p:grpSp>
        <p:nvGrpSpPr>
          <p:cNvPr name="Group 192" id="192"/>
          <p:cNvGrpSpPr/>
          <p:nvPr/>
        </p:nvGrpSpPr>
        <p:grpSpPr>
          <a:xfrm rot="0">
            <a:off x="394716" y="7014972"/>
            <a:ext cx="17498568" cy="783336"/>
            <a:chOff x="0" y="0"/>
            <a:chExt cx="23331424" cy="1044448"/>
          </a:xfrm>
        </p:grpSpPr>
        <p:sp>
          <p:nvSpPr>
            <p:cNvPr name="Freeform 193" id="193"/>
            <p:cNvSpPr/>
            <p:nvPr/>
          </p:nvSpPr>
          <p:spPr>
            <a:xfrm flipH="false" flipV="false" rot="0">
              <a:off x="0" y="0"/>
              <a:ext cx="23331424" cy="1044448"/>
            </a:xfrm>
            <a:custGeom>
              <a:avLst/>
              <a:gdLst/>
              <a:ahLst/>
              <a:cxnLst/>
              <a:rect r="r" b="b" t="t" l="l"/>
              <a:pathLst>
                <a:path h="1044448" w="23331424">
                  <a:moveTo>
                    <a:pt x="0" y="0"/>
                  </a:moveTo>
                  <a:lnTo>
                    <a:pt x="23331424" y="0"/>
                  </a:lnTo>
                  <a:lnTo>
                    <a:pt x="23331424" y="1044448"/>
                  </a:lnTo>
                  <a:lnTo>
                    <a:pt x="0" y="1044448"/>
                  </a:lnTo>
                  <a:close/>
                </a:path>
              </a:pathLst>
            </a:custGeom>
            <a:solidFill>
              <a:srgbClr val="FFF1F2"/>
            </a:solidFill>
            <a:ln w="15240" cap="sq">
              <a:solidFill>
                <a:srgbClr val="F43F5E"/>
              </a:solidFill>
              <a:prstDash val="solid"/>
              <a:miter/>
            </a:ln>
          </p:spPr>
        </p:sp>
      </p:grpSp>
      <p:grpSp>
        <p:nvGrpSpPr>
          <p:cNvPr name="Group 194" id="194"/>
          <p:cNvGrpSpPr/>
          <p:nvPr/>
        </p:nvGrpSpPr>
        <p:grpSpPr>
          <a:xfrm rot="0">
            <a:off x="397259" y="7017515"/>
            <a:ext cx="17493491" cy="778259"/>
            <a:chOff x="0" y="0"/>
            <a:chExt cx="23324655" cy="1037679"/>
          </a:xfrm>
        </p:grpSpPr>
        <p:sp>
          <p:nvSpPr>
            <p:cNvPr name="Freeform 195" id="195"/>
            <p:cNvSpPr/>
            <p:nvPr/>
          </p:nvSpPr>
          <p:spPr>
            <a:xfrm flipH="false" flipV="false" rot="0">
              <a:off x="0" y="0"/>
              <a:ext cx="23324693" cy="1037717"/>
            </a:xfrm>
            <a:custGeom>
              <a:avLst/>
              <a:gdLst/>
              <a:ahLst/>
              <a:cxnLst/>
              <a:rect r="r" b="b" t="t" l="l"/>
              <a:pathLst>
                <a:path h="1037717" w="23324693">
                  <a:moveTo>
                    <a:pt x="0" y="0"/>
                  </a:moveTo>
                  <a:lnTo>
                    <a:pt x="23324693" y="0"/>
                  </a:lnTo>
                  <a:lnTo>
                    <a:pt x="23324693" y="1037717"/>
                  </a:lnTo>
                  <a:lnTo>
                    <a:pt x="0" y="1037717"/>
                  </a:lnTo>
                  <a:close/>
                </a:path>
              </a:pathLst>
            </a:custGeom>
            <a:solidFill>
              <a:srgbClr val="F0F5FB"/>
            </a:solidFill>
            <a:ln w="10160" cap="sq">
              <a:solidFill>
                <a:srgbClr val="D1DCF0"/>
              </a:solidFill>
              <a:prstDash val="solid"/>
              <a:miter/>
            </a:ln>
          </p:spPr>
        </p:sp>
      </p:grpSp>
      <p:grpSp>
        <p:nvGrpSpPr>
          <p:cNvPr name="Group 196" id="196"/>
          <p:cNvGrpSpPr/>
          <p:nvPr/>
        </p:nvGrpSpPr>
        <p:grpSpPr>
          <a:xfrm rot="0">
            <a:off x="548640" y="7095744"/>
            <a:ext cx="3255264" cy="658368"/>
            <a:chOff x="0" y="0"/>
            <a:chExt cx="4340352" cy="877824"/>
          </a:xfrm>
        </p:grpSpPr>
        <p:sp>
          <p:nvSpPr>
            <p:cNvPr name="Freeform 197" id="197"/>
            <p:cNvSpPr/>
            <p:nvPr/>
          </p:nvSpPr>
          <p:spPr>
            <a:xfrm flipH="false" flipV="false" rot="0">
              <a:off x="0" y="0"/>
              <a:ext cx="4340352" cy="877824"/>
            </a:xfrm>
            <a:custGeom>
              <a:avLst/>
              <a:gdLst/>
              <a:ahLst/>
              <a:cxnLst/>
              <a:rect r="r" b="b" t="t" l="l"/>
              <a:pathLst>
                <a:path h="877824" w="4340352">
                  <a:moveTo>
                    <a:pt x="0" y="0"/>
                  </a:moveTo>
                  <a:lnTo>
                    <a:pt x="4340352" y="0"/>
                  </a:lnTo>
                  <a:lnTo>
                    <a:pt x="4340352" y="877824"/>
                  </a:lnTo>
                  <a:lnTo>
                    <a:pt x="0" y="877824"/>
                  </a:lnTo>
                  <a:close/>
                </a:path>
              </a:pathLst>
            </a:custGeom>
            <a:blipFill>
              <a:blip r:embed="rId2">
                <a:alphaModFix amt="0"/>
              </a:blip>
              <a:stretch>
                <a:fillRect l="0" t="-46342" r="0" b="-46342"/>
              </a:stretch>
            </a:blipFill>
          </p:spPr>
        </p:sp>
        <p:sp>
          <p:nvSpPr>
            <p:cNvPr name="TextBox 198" id="198"/>
            <p:cNvSpPr txBox="true"/>
            <p:nvPr/>
          </p:nvSpPr>
          <p:spPr>
            <a:xfrm>
              <a:off x="0" y="-38100"/>
              <a:ext cx="4340352" cy="915924"/>
            </a:xfrm>
            <a:prstGeom prst="rect">
              <a:avLst/>
            </a:prstGeom>
          </p:spPr>
          <p:txBody>
            <a:bodyPr anchor="ctr" rtlCol="false" tIns="0" lIns="0" bIns="0" rIns="0"/>
            <a:lstStyle/>
            <a:p>
              <a:pPr algn="l">
                <a:lnSpc>
                  <a:spcPts val="2280"/>
                </a:lnSpc>
              </a:pPr>
              <a:r>
                <a:rPr lang="en-US" sz="1900" b="true">
                  <a:solidFill>
                    <a:srgbClr val="1E3A5F"/>
                  </a:solidFill>
                  <a:latin typeface="Calibri (MS) Bold"/>
                  <a:ea typeface="Calibri (MS) Bold"/>
                  <a:cs typeface="Calibri (MS) Bold"/>
                  <a:sym typeface="Calibri (MS) Bold"/>
                </a:rPr>
                <a:t>Étiquette</a:t>
              </a:r>
            </a:p>
          </p:txBody>
        </p:sp>
      </p:grpSp>
      <p:grpSp>
        <p:nvGrpSpPr>
          <p:cNvPr name="Group 199" id="199"/>
          <p:cNvGrpSpPr/>
          <p:nvPr/>
        </p:nvGrpSpPr>
        <p:grpSpPr>
          <a:xfrm rot="0">
            <a:off x="3986784" y="7095744"/>
            <a:ext cx="2286000" cy="658368"/>
            <a:chOff x="0" y="0"/>
            <a:chExt cx="3048000" cy="877824"/>
          </a:xfrm>
        </p:grpSpPr>
        <p:sp>
          <p:nvSpPr>
            <p:cNvPr name="Freeform 200" id="200"/>
            <p:cNvSpPr/>
            <p:nvPr/>
          </p:nvSpPr>
          <p:spPr>
            <a:xfrm flipH="false" flipV="false" rot="0">
              <a:off x="0" y="0"/>
              <a:ext cx="3048000" cy="877824"/>
            </a:xfrm>
            <a:custGeom>
              <a:avLst/>
              <a:gdLst/>
              <a:ahLst/>
              <a:cxnLst/>
              <a:rect r="r" b="b" t="t" l="l"/>
              <a:pathLst>
                <a:path h="877824" w="3048000">
                  <a:moveTo>
                    <a:pt x="0" y="0"/>
                  </a:moveTo>
                  <a:lnTo>
                    <a:pt x="3048000" y="0"/>
                  </a:lnTo>
                  <a:lnTo>
                    <a:pt x="3048000" y="877824"/>
                  </a:lnTo>
                  <a:lnTo>
                    <a:pt x="0" y="877824"/>
                  </a:lnTo>
                  <a:close/>
                </a:path>
              </a:pathLst>
            </a:custGeom>
            <a:blipFill>
              <a:blip r:embed="rId2">
                <a:alphaModFix amt="0"/>
              </a:blip>
              <a:stretch>
                <a:fillRect l="0" t="-17656" r="0" b="-17656"/>
              </a:stretch>
            </a:blipFill>
          </p:spPr>
        </p:sp>
        <p:sp>
          <p:nvSpPr>
            <p:cNvPr name="TextBox 201" id="201"/>
            <p:cNvSpPr txBox="true"/>
            <p:nvPr/>
          </p:nvSpPr>
          <p:spPr>
            <a:xfrm>
              <a:off x="0" y="-38100"/>
              <a:ext cx="3048000" cy="915924"/>
            </a:xfrm>
            <a:prstGeom prst="rect">
              <a:avLst/>
            </a:prstGeom>
          </p:spPr>
          <p:txBody>
            <a:bodyPr anchor="ctr" rtlCol="false" tIns="0" lIns="0" bIns="0" rIns="0"/>
            <a:lstStyle/>
            <a:p>
              <a:pPr algn="ctr">
                <a:lnSpc>
                  <a:spcPts val="2280"/>
                </a:lnSpc>
              </a:pPr>
              <a:r>
                <a:rPr lang="en-US" sz="1900">
                  <a:solidFill>
                    <a:srgbClr val="1E293B"/>
                  </a:solidFill>
                  <a:latin typeface="Calibri (MS)"/>
                  <a:ea typeface="Calibri (MS)"/>
                  <a:cs typeface="Calibri (MS)"/>
                  <a:sym typeface="Calibri (MS)"/>
                </a:rPr>
                <a:t>Alphabétique</a:t>
              </a:r>
            </a:p>
          </p:txBody>
        </p:sp>
      </p:grpSp>
      <p:grpSp>
        <p:nvGrpSpPr>
          <p:cNvPr name="Group 202" id="202"/>
          <p:cNvGrpSpPr/>
          <p:nvPr/>
        </p:nvGrpSpPr>
        <p:grpSpPr>
          <a:xfrm rot="0">
            <a:off x="6455664" y="7095744"/>
            <a:ext cx="5029200" cy="658368"/>
            <a:chOff x="0" y="0"/>
            <a:chExt cx="6705600" cy="877824"/>
          </a:xfrm>
        </p:grpSpPr>
        <p:sp>
          <p:nvSpPr>
            <p:cNvPr name="Freeform 203" id="203"/>
            <p:cNvSpPr/>
            <p:nvPr/>
          </p:nvSpPr>
          <p:spPr>
            <a:xfrm flipH="false" flipV="false" rot="0">
              <a:off x="0" y="0"/>
              <a:ext cx="6705600" cy="877824"/>
            </a:xfrm>
            <a:custGeom>
              <a:avLst/>
              <a:gdLst/>
              <a:ahLst/>
              <a:cxnLst/>
              <a:rect r="r" b="b" t="t" l="l"/>
              <a:pathLst>
                <a:path h="877824" w="6705600">
                  <a:moveTo>
                    <a:pt x="0" y="0"/>
                  </a:moveTo>
                  <a:lnTo>
                    <a:pt x="6705600" y="0"/>
                  </a:lnTo>
                  <a:lnTo>
                    <a:pt x="6705600" y="877824"/>
                  </a:lnTo>
                  <a:lnTo>
                    <a:pt x="0" y="877824"/>
                  </a:lnTo>
                  <a:close/>
                </a:path>
              </a:pathLst>
            </a:custGeom>
            <a:blipFill>
              <a:blip r:embed="rId2">
                <a:alphaModFix amt="0"/>
              </a:blip>
              <a:stretch>
                <a:fillRect l="0" t="-98844" r="0" b="-98844"/>
              </a:stretch>
            </a:blipFill>
          </p:spPr>
        </p:sp>
        <p:sp>
          <p:nvSpPr>
            <p:cNvPr name="TextBox 204" id="204"/>
            <p:cNvSpPr txBox="true"/>
            <p:nvPr/>
          </p:nvSpPr>
          <p:spPr>
            <a:xfrm>
              <a:off x="0" y="-38100"/>
              <a:ext cx="6705600" cy="915924"/>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Label de classification : Normal / Attaque</a:t>
              </a:r>
            </a:p>
          </p:txBody>
        </p:sp>
      </p:grpSp>
      <p:grpSp>
        <p:nvGrpSpPr>
          <p:cNvPr name="Group 205" id="205"/>
          <p:cNvGrpSpPr/>
          <p:nvPr/>
        </p:nvGrpSpPr>
        <p:grpSpPr>
          <a:xfrm rot="0">
            <a:off x="11667744" y="7095744"/>
            <a:ext cx="1865376" cy="658368"/>
            <a:chOff x="0" y="0"/>
            <a:chExt cx="2487168" cy="877824"/>
          </a:xfrm>
        </p:grpSpPr>
        <p:sp>
          <p:nvSpPr>
            <p:cNvPr name="Freeform 206" id="206"/>
            <p:cNvSpPr/>
            <p:nvPr/>
          </p:nvSpPr>
          <p:spPr>
            <a:xfrm flipH="false" flipV="false" rot="0">
              <a:off x="0" y="0"/>
              <a:ext cx="2487168" cy="877824"/>
            </a:xfrm>
            <a:custGeom>
              <a:avLst/>
              <a:gdLst/>
              <a:ahLst/>
              <a:cxnLst/>
              <a:rect r="r" b="b" t="t" l="l"/>
              <a:pathLst>
                <a:path h="877824" w="2487168">
                  <a:moveTo>
                    <a:pt x="0" y="0"/>
                  </a:moveTo>
                  <a:lnTo>
                    <a:pt x="2487168" y="0"/>
                  </a:lnTo>
                  <a:lnTo>
                    <a:pt x="2487168" y="877824"/>
                  </a:lnTo>
                  <a:lnTo>
                    <a:pt x="0" y="877824"/>
                  </a:lnTo>
                  <a:close/>
                </a:path>
              </a:pathLst>
            </a:custGeom>
            <a:blipFill>
              <a:blip r:embed="rId2">
                <a:alphaModFix amt="0"/>
              </a:blip>
              <a:stretch>
                <a:fillRect l="0" t="-5207" r="0" b="-5207"/>
              </a:stretch>
            </a:blipFill>
          </p:spPr>
        </p:sp>
        <p:sp>
          <p:nvSpPr>
            <p:cNvPr name="TextBox 207" id="207"/>
            <p:cNvSpPr txBox="true"/>
            <p:nvPr/>
          </p:nvSpPr>
          <p:spPr>
            <a:xfrm>
              <a:off x="0" y="-38100"/>
              <a:ext cx="2487168" cy="915924"/>
            </a:xfrm>
            <a:prstGeom prst="rect">
              <a:avLst/>
            </a:prstGeom>
          </p:spPr>
          <p:txBody>
            <a:bodyPr anchor="ctr" rtlCol="false" tIns="0" lIns="0" bIns="0" rIns="0"/>
            <a:lstStyle/>
            <a:p>
              <a:pPr algn="ctr">
                <a:lnSpc>
                  <a:spcPts val="2280"/>
                </a:lnSpc>
              </a:pPr>
              <a:r>
                <a:rPr lang="en-US" sz="1900">
                  <a:solidFill>
                    <a:srgbClr val="1E293B"/>
                  </a:solidFill>
                  <a:latin typeface="Calibri (MS)"/>
                  <a:ea typeface="Calibri (MS)"/>
                  <a:cs typeface="Calibri (MS)"/>
                  <a:sym typeface="Calibri (MS)"/>
                </a:rPr>
                <a:t>Qualitatif</a:t>
              </a:r>
            </a:p>
          </p:txBody>
        </p:sp>
      </p:grpSp>
      <p:grpSp>
        <p:nvGrpSpPr>
          <p:cNvPr name="Group 208" id="208"/>
          <p:cNvGrpSpPr/>
          <p:nvPr/>
        </p:nvGrpSpPr>
        <p:grpSpPr>
          <a:xfrm rot="0">
            <a:off x="13819375" y="7144255"/>
            <a:ext cx="1146553" cy="524761"/>
            <a:chOff x="0" y="0"/>
            <a:chExt cx="1528737" cy="699681"/>
          </a:xfrm>
        </p:grpSpPr>
        <p:sp>
          <p:nvSpPr>
            <p:cNvPr name="Freeform 209" id="209"/>
            <p:cNvSpPr/>
            <p:nvPr/>
          </p:nvSpPr>
          <p:spPr>
            <a:xfrm flipH="false" flipV="false" rot="0">
              <a:off x="0" y="0"/>
              <a:ext cx="1528699" cy="699643"/>
            </a:xfrm>
            <a:custGeom>
              <a:avLst/>
              <a:gdLst/>
              <a:ahLst/>
              <a:cxnLst/>
              <a:rect r="r" b="b" t="t" l="l"/>
              <a:pathLst>
                <a:path h="699643" w="1528699">
                  <a:moveTo>
                    <a:pt x="0" y="174879"/>
                  </a:moveTo>
                  <a:cubicBezTo>
                    <a:pt x="0" y="78359"/>
                    <a:pt x="78359" y="0"/>
                    <a:pt x="174879" y="0"/>
                  </a:cubicBezTo>
                  <a:lnTo>
                    <a:pt x="1353820" y="0"/>
                  </a:lnTo>
                  <a:cubicBezTo>
                    <a:pt x="1450467" y="0"/>
                    <a:pt x="1528699" y="78359"/>
                    <a:pt x="1528699" y="174879"/>
                  </a:cubicBezTo>
                  <a:lnTo>
                    <a:pt x="1528699" y="524764"/>
                  </a:lnTo>
                  <a:cubicBezTo>
                    <a:pt x="1528699" y="621411"/>
                    <a:pt x="1450340" y="699643"/>
                    <a:pt x="1353820" y="699643"/>
                  </a:cubicBezTo>
                  <a:lnTo>
                    <a:pt x="174879" y="699643"/>
                  </a:lnTo>
                  <a:cubicBezTo>
                    <a:pt x="78359" y="699643"/>
                    <a:pt x="0" y="621411"/>
                    <a:pt x="0" y="524764"/>
                  </a:cubicBezTo>
                  <a:close/>
                </a:path>
              </a:pathLst>
            </a:custGeom>
            <a:solidFill>
              <a:srgbClr val="DCFCE7"/>
            </a:solidFill>
            <a:ln w="12700" cap="sq">
              <a:solidFill>
                <a:srgbClr val="4ADE80"/>
              </a:solidFill>
              <a:prstDash val="solid"/>
              <a:miter/>
            </a:ln>
          </p:spPr>
        </p:sp>
      </p:grpSp>
      <p:grpSp>
        <p:nvGrpSpPr>
          <p:cNvPr name="Group 210" id="210"/>
          <p:cNvGrpSpPr/>
          <p:nvPr/>
        </p:nvGrpSpPr>
        <p:grpSpPr>
          <a:xfrm rot="0">
            <a:off x="13825728" y="7150608"/>
            <a:ext cx="1133856" cy="512064"/>
            <a:chOff x="0" y="0"/>
            <a:chExt cx="1511808" cy="682752"/>
          </a:xfrm>
        </p:grpSpPr>
        <p:sp>
          <p:nvSpPr>
            <p:cNvPr name="Freeform 211" id="211"/>
            <p:cNvSpPr/>
            <p:nvPr/>
          </p:nvSpPr>
          <p:spPr>
            <a:xfrm flipH="false" flipV="false" rot="0">
              <a:off x="0" y="0"/>
              <a:ext cx="1511808" cy="682752"/>
            </a:xfrm>
            <a:custGeom>
              <a:avLst/>
              <a:gdLst/>
              <a:ahLst/>
              <a:cxnLst/>
              <a:rect r="r" b="b" t="t" l="l"/>
              <a:pathLst>
                <a:path h="682752" w="1511808">
                  <a:moveTo>
                    <a:pt x="0" y="0"/>
                  </a:moveTo>
                  <a:lnTo>
                    <a:pt x="1511808" y="0"/>
                  </a:lnTo>
                  <a:lnTo>
                    <a:pt x="1511808" y="682752"/>
                  </a:lnTo>
                  <a:lnTo>
                    <a:pt x="0" y="682752"/>
                  </a:lnTo>
                  <a:close/>
                </a:path>
              </a:pathLst>
            </a:custGeom>
            <a:blipFill>
              <a:blip r:embed="rId2">
                <a:alphaModFix amt="0"/>
              </a:blip>
              <a:stretch>
                <a:fillRect l="-7943" t="0" r="-7943" b="0"/>
              </a:stretch>
            </a:blipFill>
          </p:spPr>
        </p:sp>
        <p:sp>
          <p:nvSpPr>
            <p:cNvPr name="TextBox 212" id="212"/>
            <p:cNvSpPr txBox="true"/>
            <p:nvPr/>
          </p:nvSpPr>
          <p:spPr>
            <a:xfrm>
              <a:off x="0" y="-38100"/>
              <a:ext cx="1511808" cy="720852"/>
            </a:xfrm>
            <a:prstGeom prst="rect">
              <a:avLst/>
            </a:prstGeom>
          </p:spPr>
          <p:txBody>
            <a:bodyPr anchor="ctr" rtlCol="false" tIns="0" lIns="0" bIns="0" rIns="0"/>
            <a:lstStyle/>
            <a:p>
              <a:pPr algn="ctr">
                <a:lnSpc>
                  <a:spcPts val="2039"/>
                </a:lnSpc>
              </a:pPr>
              <a:r>
                <a:rPr lang="en-US" sz="1700" b="true">
                  <a:solidFill>
                    <a:srgbClr val="166534"/>
                  </a:solidFill>
                  <a:latin typeface="Calibri (MS) Bold"/>
                  <a:ea typeface="Calibri (MS) Bold"/>
                  <a:cs typeface="Calibri (MS) Bold"/>
                  <a:sym typeface="Calibri (MS) Bold"/>
                </a:rPr>
                <a:t>Output</a:t>
              </a:r>
            </a:p>
          </p:txBody>
        </p:sp>
      </p:grpSp>
      <p:grpSp>
        <p:nvGrpSpPr>
          <p:cNvPr name="Group 213" id="213"/>
          <p:cNvGrpSpPr/>
          <p:nvPr/>
        </p:nvGrpSpPr>
        <p:grpSpPr>
          <a:xfrm rot="0">
            <a:off x="15355567" y="7125967"/>
            <a:ext cx="1731769" cy="561337"/>
            <a:chOff x="0" y="0"/>
            <a:chExt cx="2309025" cy="748449"/>
          </a:xfrm>
        </p:grpSpPr>
        <p:sp>
          <p:nvSpPr>
            <p:cNvPr name="Freeform 214" id="214"/>
            <p:cNvSpPr/>
            <p:nvPr/>
          </p:nvSpPr>
          <p:spPr>
            <a:xfrm flipH="false" flipV="false" rot="0">
              <a:off x="0" y="0"/>
              <a:ext cx="2309114" cy="748538"/>
            </a:xfrm>
            <a:custGeom>
              <a:avLst/>
              <a:gdLst/>
              <a:ahLst/>
              <a:cxnLst/>
              <a:rect r="r" b="b" t="t" l="l"/>
              <a:pathLst>
                <a:path h="748538" w="2309114">
                  <a:moveTo>
                    <a:pt x="0" y="199644"/>
                  </a:moveTo>
                  <a:cubicBezTo>
                    <a:pt x="0" y="89408"/>
                    <a:pt x="89408" y="0"/>
                    <a:pt x="199644" y="0"/>
                  </a:cubicBezTo>
                  <a:lnTo>
                    <a:pt x="2109470" y="0"/>
                  </a:lnTo>
                  <a:cubicBezTo>
                    <a:pt x="2219706" y="0"/>
                    <a:pt x="2309114" y="89408"/>
                    <a:pt x="2309114" y="199644"/>
                  </a:cubicBezTo>
                  <a:lnTo>
                    <a:pt x="2309114" y="548894"/>
                  </a:lnTo>
                  <a:cubicBezTo>
                    <a:pt x="2309114" y="659130"/>
                    <a:pt x="2219706" y="748538"/>
                    <a:pt x="2109470" y="748538"/>
                  </a:cubicBezTo>
                  <a:lnTo>
                    <a:pt x="199644" y="748538"/>
                  </a:lnTo>
                  <a:cubicBezTo>
                    <a:pt x="89408" y="748411"/>
                    <a:pt x="0" y="659130"/>
                    <a:pt x="0" y="548894"/>
                  </a:cubicBezTo>
                  <a:close/>
                </a:path>
              </a:pathLst>
            </a:custGeom>
            <a:solidFill>
              <a:srgbClr val="FFF1F2"/>
            </a:solidFill>
            <a:ln w="12700" cap="sq">
              <a:solidFill>
                <a:srgbClr val="F43F5E"/>
              </a:solidFill>
              <a:prstDash val="solid"/>
              <a:miter/>
            </a:ln>
          </p:spPr>
        </p:sp>
      </p:grpSp>
      <p:grpSp>
        <p:nvGrpSpPr>
          <p:cNvPr name="Group 215" id="215"/>
          <p:cNvGrpSpPr/>
          <p:nvPr/>
        </p:nvGrpSpPr>
        <p:grpSpPr>
          <a:xfrm rot="0">
            <a:off x="15361920" y="7132320"/>
            <a:ext cx="1719072" cy="548640"/>
            <a:chOff x="0" y="0"/>
            <a:chExt cx="2292096" cy="731520"/>
          </a:xfrm>
        </p:grpSpPr>
        <p:sp>
          <p:nvSpPr>
            <p:cNvPr name="Freeform 216" id="216"/>
            <p:cNvSpPr/>
            <p:nvPr/>
          </p:nvSpPr>
          <p:spPr>
            <a:xfrm flipH="false" flipV="false" rot="0">
              <a:off x="0" y="0"/>
              <a:ext cx="2292096" cy="731520"/>
            </a:xfrm>
            <a:custGeom>
              <a:avLst/>
              <a:gdLst/>
              <a:ahLst/>
              <a:cxnLst/>
              <a:rect r="r" b="b" t="t" l="l"/>
              <a:pathLst>
                <a:path h="731520" w="2292096">
                  <a:moveTo>
                    <a:pt x="0" y="0"/>
                  </a:moveTo>
                  <a:lnTo>
                    <a:pt x="2292096" y="0"/>
                  </a:lnTo>
                  <a:lnTo>
                    <a:pt x="2292096" y="731520"/>
                  </a:lnTo>
                  <a:lnTo>
                    <a:pt x="0" y="731520"/>
                  </a:lnTo>
                  <a:close/>
                </a:path>
              </a:pathLst>
            </a:custGeom>
            <a:blipFill>
              <a:blip r:embed="rId2">
                <a:alphaModFix amt="0"/>
              </a:blip>
              <a:stretch>
                <a:fillRect l="0" t="-11053" r="0" b="-11053"/>
              </a:stretch>
            </a:blipFill>
          </p:spPr>
        </p:sp>
        <p:sp>
          <p:nvSpPr>
            <p:cNvPr name="TextBox 217" id="217"/>
            <p:cNvSpPr txBox="true"/>
            <p:nvPr/>
          </p:nvSpPr>
          <p:spPr>
            <a:xfrm>
              <a:off x="0" y="-38100"/>
              <a:ext cx="2292096" cy="769620"/>
            </a:xfrm>
            <a:prstGeom prst="rect">
              <a:avLst/>
            </a:prstGeom>
          </p:spPr>
          <p:txBody>
            <a:bodyPr anchor="ctr" rtlCol="false" tIns="0" lIns="0" bIns="0" rIns="0"/>
            <a:lstStyle/>
            <a:p>
              <a:pPr algn="ctr">
                <a:lnSpc>
                  <a:spcPts val="2039"/>
                </a:lnSpc>
              </a:pPr>
              <a:r>
                <a:rPr lang="en-US" sz="1700" b="true">
                  <a:solidFill>
                    <a:srgbClr val="9F1239"/>
                  </a:solidFill>
                  <a:latin typeface="Calibri (MS) Bold"/>
                  <a:ea typeface="Calibri (MS) Bold"/>
                  <a:cs typeface="Calibri (MS) Bold"/>
                  <a:sym typeface="Calibri (MS) Bold"/>
                </a:rPr>
                <a:t>Résultat IA</a:t>
              </a:r>
            </a:p>
          </p:txBody>
        </p:sp>
      </p:grpSp>
      <p:grpSp>
        <p:nvGrpSpPr>
          <p:cNvPr name="Group 218" id="218"/>
          <p:cNvGrpSpPr/>
          <p:nvPr/>
        </p:nvGrpSpPr>
        <p:grpSpPr>
          <a:xfrm rot="0">
            <a:off x="392173" y="8036557"/>
            <a:ext cx="3348733" cy="1629661"/>
            <a:chOff x="0" y="0"/>
            <a:chExt cx="4464977" cy="2172881"/>
          </a:xfrm>
        </p:grpSpPr>
        <p:sp>
          <p:nvSpPr>
            <p:cNvPr name="Freeform 219" id="219"/>
            <p:cNvSpPr/>
            <p:nvPr/>
          </p:nvSpPr>
          <p:spPr>
            <a:xfrm flipH="false" flipV="false" rot="0">
              <a:off x="0" y="0"/>
              <a:ext cx="4464939" cy="2172843"/>
            </a:xfrm>
            <a:custGeom>
              <a:avLst/>
              <a:gdLst/>
              <a:ahLst/>
              <a:cxnLst/>
              <a:rect r="r" b="b" t="t" l="l"/>
              <a:pathLst>
                <a:path h="2172843" w="4464939">
                  <a:moveTo>
                    <a:pt x="0" y="246888"/>
                  </a:moveTo>
                  <a:cubicBezTo>
                    <a:pt x="0" y="110490"/>
                    <a:pt x="110490" y="0"/>
                    <a:pt x="246888" y="0"/>
                  </a:cubicBezTo>
                  <a:lnTo>
                    <a:pt x="4218051" y="0"/>
                  </a:lnTo>
                  <a:cubicBezTo>
                    <a:pt x="4354449" y="0"/>
                    <a:pt x="4464939" y="110490"/>
                    <a:pt x="4464939" y="246888"/>
                  </a:cubicBezTo>
                  <a:lnTo>
                    <a:pt x="4464939" y="1925955"/>
                  </a:lnTo>
                  <a:cubicBezTo>
                    <a:pt x="4464939" y="2062353"/>
                    <a:pt x="4354449" y="2172843"/>
                    <a:pt x="4218051" y="2172843"/>
                  </a:cubicBezTo>
                  <a:lnTo>
                    <a:pt x="246888" y="2172843"/>
                  </a:lnTo>
                  <a:cubicBezTo>
                    <a:pt x="110490" y="2172843"/>
                    <a:pt x="0" y="2062353"/>
                    <a:pt x="0" y="1925955"/>
                  </a:cubicBezTo>
                  <a:close/>
                </a:path>
              </a:pathLst>
            </a:custGeom>
            <a:solidFill>
              <a:srgbClr val="DBEAFE"/>
            </a:solidFill>
            <a:ln w="20320" cap="sq">
              <a:solidFill>
                <a:srgbClr val="3B82F6"/>
              </a:solidFill>
              <a:prstDash val="solid"/>
              <a:miter/>
            </a:ln>
          </p:spPr>
        </p:sp>
      </p:grpSp>
      <p:grpSp>
        <p:nvGrpSpPr>
          <p:cNvPr name="Group 220" id="220"/>
          <p:cNvGrpSpPr/>
          <p:nvPr/>
        </p:nvGrpSpPr>
        <p:grpSpPr>
          <a:xfrm rot="0">
            <a:off x="402336" y="8156448"/>
            <a:ext cx="3328416" cy="585216"/>
            <a:chOff x="0" y="0"/>
            <a:chExt cx="4437888" cy="780288"/>
          </a:xfrm>
        </p:grpSpPr>
        <p:sp>
          <p:nvSpPr>
            <p:cNvPr name="Freeform 221" id="221"/>
            <p:cNvSpPr/>
            <p:nvPr/>
          </p:nvSpPr>
          <p:spPr>
            <a:xfrm flipH="false" flipV="false" rot="0">
              <a:off x="0" y="0"/>
              <a:ext cx="4437888" cy="780288"/>
            </a:xfrm>
            <a:custGeom>
              <a:avLst/>
              <a:gdLst/>
              <a:ahLst/>
              <a:cxnLst/>
              <a:rect r="r" b="b" t="t" l="l"/>
              <a:pathLst>
                <a:path h="780288" w="4437888">
                  <a:moveTo>
                    <a:pt x="0" y="0"/>
                  </a:moveTo>
                  <a:lnTo>
                    <a:pt x="4437888" y="0"/>
                  </a:lnTo>
                  <a:lnTo>
                    <a:pt x="4437888" y="780288"/>
                  </a:lnTo>
                  <a:lnTo>
                    <a:pt x="0" y="780288"/>
                  </a:lnTo>
                  <a:close/>
                </a:path>
              </a:pathLst>
            </a:custGeom>
            <a:blipFill>
              <a:blip r:embed="rId2">
                <a:alphaModFix amt="0"/>
              </a:blip>
              <a:stretch>
                <a:fillRect l="0" t="-60821" r="0" b="-60821"/>
              </a:stretch>
            </a:blipFill>
          </p:spPr>
        </p:sp>
        <p:sp>
          <p:nvSpPr>
            <p:cNvPr name="TextBox 222" id="222"/>
            <p:cNvSpPr txBox="true"/>
            <p:nvPr/>
          </p:nvSpPr>
          <p:spPr>
            <a:xfrm>
              <a:off x="0" y="-57150"/>
              <a:ext cx="4437888" cy="837438"/>
            </a:xfrm>
            <a:prstGeom prst="rect">
              <a:avLst/>
            </a:prstGeom>
          </p:spPr>
          <p:txBody>
            <a:bodyPr anchor="ctr" rtlCol="false" tIns="0" lIns="0" bIns="0" rIns="0"/>
            <a:lstStyle/>
            <a:p>
              <a:pPr algn="ctr">
                <a:lnSpc>
                  <a:spcPts val="3840"/>
                </a:lnSpc>
              </a:pPr>
              <a:r>
                <a:rPr lang="en-US" sz="3200">
                  <a:solidFill>
                    <a:srgbClr val="000000"/>
                  </a:solidFill>
                  <a:latin typeface="Calibri (MS)"/>
                  <a:ea typeface="Calibri (MS)"/>
                  <a:cs typeface="Calibri (MS)"/>
                  <a:sym typeface="Calibri (MS)"/>
                </a:rPr>
                <a:t>📥</a:t>
              </a:r>
            </a:p>
          </p:txBody>
        </p:sp>
      </p:grpSp>
      <p:grpSp>
        <p:nvGrpSpPr>
          <p:cNvPr name="Group 223" id="223"/>
          <p:cNvGrpSpPr/>
          <p:nvPr/>
        </p:nvGrpSpPr>
        <p:grpSpPr>
          <a:xfrm rot="0">
            <a:off x="402336" y="8631936"/>
            <a:ext cx="3328416" cy="548640"/>
            <a:chOff x="0" y="0"/>
            <a:chExt cx="4437888" cy="731520"/>
          </a:xfrm>
        </p:grpSpPr>
        <p:sp>
          <p:nvSpPr>
            <p:cNvPr name="Freeform 224" id="224"/>
            <p:cNvSpPr/>
            <p:nvPr/>
          </p:nvSpPr>
          <p:spPr>
            <a:xfrm flipH="false" flipV="false" rot="0">
              <a:off x="0" y="0"/>
              <a:ext cx="4437888" cy="731520"/>
            </a:xfrm>
            <a:custGeom>
              <a:avLst/>
              <a:gdLst/>
              <a:ahLst/>
              <a:cxnLst/>
              <a:rect r="r" b="b" t="t" l="l"/>
              <a:pathLst>
                <a:path h="731520" w="4437888">
                  <a:moveTo>
                    <a:pt x="0" y="0"/>
                  </a:moveTo>
                  <a:lnTo>
                    <a:pt x="4437888" y="0"/>
                  </a:lnTo>
                  <a:lnTo>
                    <a:pt x="4437888" y="731520"/>
                  </a:lnTo>
                  <a:lnTo>
                    <a:pt x="0" y="731520"/>
                  </a:lnTo>
                  <a:close/>
                </a:path>
              </a:pathLst>
            </a:custGeom>
            <a:blipFill>
              <a:blip r:embed="rId2">
                <a:alphaModFix amt="0"/>
              </a:blip>
              <a:stretch>
                <a:fillRect l="0" t="-68209" r="0" b="-68209"/>
              </a:stretch>
            </a:blipFill>
          </p:spPr>
        </p:sp>
        <p:sp>
          <p:nvSpPr>
            <p:cNvPr name="TextBox 225" id="225"/>
            <p:cNvSpPr txBox="true"/>
            <p:nvPr/>
          </p:nvSpPr>
          <p:spPr>
            <a:xfrm>
              <a:off x="0" y="-9525"/>
              <a:ext cx="4437888" cy="741045"/>
            </a:xfrm>
            <a:prstGeom prst="rect">
              <a:avLst/>
            </a:prstGeom>
          </p:spPr>
          <p:txBody>
            <a:bodyPr anchor="ctr" rtlCol="false" tIns="0" lIns="0" bIns="0" rIns="0"/>
            <a:lstStyle/>
            <a:p>
              <a:pPr algn="ctr">
                <a:lnSpc>
                  <a:spcPts val="4079"/>
                </a:lnSpc>
              </a:pPr>
              <a:r>
                <a:rPr lang="en-US" sz="3400" b="true">
                  <a:solidFill>
                    <a:srgbClr val="1D4ED8"/>
                  </a:solidFill>
                  <a:latin typeface="Cambria Bold"/>
                  <a:ea typeface="Cambria Bold"/>
                  <a:cs typeface="Cambria Bold"/>
                  <a:sym typeface="Cambria Bold"/>
                </a:rPr>
                <a:t>15</a:t>
              </a:r>
            </a:p>
          </p:txBody>
        </p:sp>
      </p:grpSp>
      <p:grpSp>
        <p:nvGrpSpPr>
          <p:cNvPr name="Group 226" id="226"/>
          <p:cNvGrpSpPr/>
          <p:nvPr/>
        </p:nvGrpSpPr>
        <p:grpSpPr>
          <a:xfrm rot="0">
            <a:off x="402336" y="9144000"/>
            <a:ext cx="3328416" cy="438912"/>
            <a:chOff x="0" y="0"/>
            <a:chExt cx="4437888" cy="585216"/>
          </a:xfrm>
        </p:grpSpPr>
        <p:sp>
          <p:nvSpPr>
            <p:cNvPr name="Freeform 227" id="227"/>
            <p:cNvSpPr/>
            <p:nvPr/>
          </p:nvSpPr>
          <p:spPr>
            <a:xfrm flipH="false" flipV="false" rot="0">
              <a:off x="0" y="0"/>
              <a:ext cx="4437888" cy="585216"/>
            </a:xfrm>
            <a:custGeom>
              <a:avLst/>
              <a:gdLst/>
              <a:ahLst/>
              <a:cxnLst/>
              <a:rect r="r" b="b" t="t" l="l"/>
              <a:pathLst>
                <a:path h="585216" w="4437888">
                  <a:moveTo>
                    <a:pt x="0" y="0"/>
                  </a:moveTo>
                  <a:lnTo>
                    <a:pt x="4437888" y="0"/>
                  </a:lnTo>
                  <a:lnTo>
                    <a:pt x="4437888" y="585216"/>
                  </a:lnTo>
                  <a:lnTo>
                    <a:pt x="0" y="585216"/>
                  </a:lnTo>
                  <a:close/>
                </a:path>
              </a:pathLst>
            </a:custGeom>
            <a:blipFill>
              <a:blip r:embed="rId2">
                <a:alphaModFix amt="0"/>
              </a:blip>
              <a:stretch>
                <a:fillRect l="0" t="-97761" r="0" b="-97761"/>
              </a:stretch>
            </a:blipFill>
          </p:spPr>
        </p:sp>
        <p:sp>
          <p:nvSpPr>
            <p:cNvPr name="TextBox 228" id="228"/>
            <p:cNvSpPr txBox="true"/>
            <p:nvPr/>
          </p:nvSpPr>
          <p:spPr>
            <a:xfrm>
              <a:off x="0" y="-38100"/>
              <a:ext cx="4437888" cy="623316"/>
            </a:xfrm>
            <a:prstGeom prst="rect">
              <a:avLst/>
            </a:prstGeom>
          </p:spPr>
          <p:txBody>
            <a:bodyPr anchor="ctr" rtlCol="false" tIns="0" lIns="0" bIns="0" rIns="0"/>
            <a:lstStyle/>
            <a:p>
              <a:pPr algn="ctr">
                <a:lnSpc>
                  <a:spcPts val="2039"/>
                </a:lnSpc>
              </a:pPr>
              <a:r>
                <a:rPr lang="en-US" sz="1700">
                  <a:solidFill>
                    <a:srgbClr val="64748B"/>
                  </a:solidFill>
                  <a:latin typeface="Calibri (MS)"/>
                  <a:ea typeface="Calibri (MS)"/>
                  <a:cs typeface="Calibri (MS)"/>
                  <a:sym typeface="Calibri (MS)"/>
                </a:rPr>
                <a:t>Variables Input</a:t>
              </a:r>
            </a:p>
          </p:txBody>
        </p:sp>
      </p:grpSp>
      <p:grpSp>
        <p:nvGrpSpPr>
          <p:cNvPr name="Group 229" id="229"/>
          <p:cNvGrpSpPr/>
          <p:nvPr/>
        </p:nvGrpSpPr>
        <p:grpSpPr>
          <a:xfrm rot="0">
            <a:off x="3958333" y="8036557"/>
            <a:ext cx="3348733" cy="1629661"/>
            <a:chOff x="0" y="0"/>
            <a:chExt cx="4464977" cy="2172881"/>
          </a:xfrm>
        </p:grpSpPr>
        <p:sp>
          <p:nvSpPr>
            <p:cNvPr name="Freeform 230" id="230"/>
            <p:cNvSpPr/>
            <p:nvPr/>
          </p:nvSpPr>
          <p:spPr>
            <a:xfrm flipH="false" flipV="false" rot="0">
              <a:off x="0" y="0"/>
              <a:ext cx="4464939" cy="2172843"/>
            </a:xfrm>
            <a:custGeom>
              <a:avLst/>
              <a:gdLst/>
              <a:ahLst/>
              <a:cxnLst/>
              <a:rect r="r" b="b" t="t" l="l"/>
              <a:pathLst>
                <a:path h="2172843" w="4464939">
                  <a:moveTo>
                    <a:pt x="0" y="246888"/>
                  </a:moveTo>
                  <a:cubicBezTo>
                    <a:pt x="0" y="110490"/>
                    <a:pt x="110490" y="0"/>
                    <a:pt x="246888" y="0"/>
                  </a:cubicBezTo>
                  <a:lnTo>
                    <a:pt x="4218051" y="0"/>
                  </a:lnTo>
                  <a:cubicBezTo>
                    <a:pt x="4354449" y="0"/>
                    <a:pt x="4464939" y="110490"/>
                    <a:pt x="4464939" y="246888"/>
                  </a:cubicBezTo>
                  <a:lnTo>
                    <a:pt x="4464939" y="1925955"/>
                  </a:lnTo>
                  <a:cubicBezTo>
                    <a:pt x="4464939" y="2062353"/>
                    <a:pt x="4354449" y="2172843"/>
                    <a:pt x="4218051" y="2172843"/>
                  </a:cubicBezTo>
                  <a:lnTo>
                    <a:pt x="246888" y="2172843"/>
                  </a:lnTo>
                  <a:cubicBezTo>
                    <a:pt x="110490" y="2172843"/>
                    <a:pt x="0" y="2062353"/>
                    <a:pt x="0" y="1925955"/>
                  </a:cubicBezTo>
                  <a:close/>
                </a:path>
              </a:pathLst>
            </a:custGeom>
            <a:solidFill>
              <a:srgbClr val="DCFCE7"/>
            </a:solidFill>
            <a:ln w="20320" cap="sq">
              <a:solidFill>
                <a:srgbClr val="4ADE80"/>
              </a:solidFill>
              <a:prstDash val="solid"/>
              <a:miter/>
            </a:ln>
          </p:spPr>
        </p:sp>
      </p:grpSp>
      <p:grpSp>
        <p:nvGrpSpPr>
          <p:cNvPr name="Group 231" id="231"/>
          <p:cNvGrpSpPr/>
          <p:nvPr/>
        </p:nvGrpSpPr>
        <p:grpSpPr>
          <a:xfrm rot="0">
            <a:off x="3968496" y="8156448"/>
            <a:ext cx="3328416" cy="585216"/>
            <a:chOff x="0" y="0"/>
            <a:chExt cx="4437888" cy="780288"/>
          </a:xfrm>
        </p:grpSpPr>
        <p:sp>
          <p:nvSpPr>
            <p:cNvPr name="Freeform 232" id="232"/>
            <p:cNvSpPr/>
            <p:nvPr/>
          </p:nvSpPr>
          <p:spPr>
            <a:xfrm flipH="false" flipV="false" rot="0">
              <a:off x="0" y="0"/>
              <a:ext cx="4437888" cy="780288"/>
            </a:xfrm>
            <a:custGeom>
              <a:avLst/>
              <a:gdLst/>
              <a:ahLst/>
              <a:cxnLst/>
              <a:rect r="r" b="b" t="t" l="l"/>
              <a:pathLst>
                <a:path h="780288" w="4437888">
                  <a:moveTo>
                    <a:pt x="0" y="0"/>
                  </a:moveTo>
                  <a:lnTo>
                    <a:pt x="4437888" y="0"/>
                  </a:lnTo>
                  <a:lnTo>
                    <a:pt x="4437888" y="780288"/>
                  </a:lnTo>
                  <a:lnTo>
                    <a:pt x="0" y="780288"/>
                  </a:lnTo>
                  <a:close/>
                </a:path>
              </a:pathLst>
            </a:custGeom>
            <a:blipFill>
              <a:blip r:embed="rId2">
                <a:alphaModFix amt="0"/>
              </a:blip>
              <a:stretch>
                <a:fillRect l="0" t="-60821" r="0" b="-60821"/>
              </a:stretch>
            </a:blipFill>
          </p:spPr>
        </p:sp>
        <p:sp>
          <p:nvSpPr>
            <p:cNvPr name="TextBox 233" id="233"/>
            <p:cNvSpPr txBox="true"/>
            <p:nvPr/>
          </p:nvSpPr>
          <p:spPr>
            <a:xfrm>
              <a:off x="0" y="-57150"/>
              <a:ext cx="4437888" cy="837438"/>
            </a:xfrm>
            <a:prstGeom prst="rect">
              <a:avLst/>
            </a:prstGeom>
          </p:spPr>
          <p:txBody>
            <a:bodyPr anchor="ctr" rtlCol="false" tIns="0" lIns="0" bIns="0" rIns="0"/>
            <a:lstStyle/>
            <a:p>
              <a:pPr algn="ctr">
                <a:lnSpc>
                  <a:spcPts val="3840"/>
                </a:lnSpc>
              </a:pPr>
              <a:r>
                <a:rPr lang="en-US" sz="3200">
                  <a:solidFill>
                    <a:srgbClr val="000000"/>
                  </a:solidFill>
                  <a:latin typeface="Calibri (MS)"/>
                  <a:ea typeface="Calibri (MS)"/>
                  <a:cs typeface="Calibri (MS)"/>
                  <a:sym typeface="Calibri (MS)"/>
                </a:rPr>
                <a:t>📤</a:t>
              </a:r>
            </a:p>
          </p:txBody>
        </p:sp>
      </p:grpSp>
      <p:grpSp>
        <p:nvGrpSpPr>
          <p:cNvPr name="Group 234" id="234"/>
          <p:cNvGrpSpPr/>
          <p:nvPr/>
        </p:nvGrpSpPr>
        <p:grpSpPr>
          <a:xfrm rot="0">
            <a:off x="3968496" y="8631936"/>
            <a:ext cx="3328416" cy="548640"/>
            <a:chOff x="0" y="0"/>
            <a:chExt cx="4437888" cy="731520"/>
          </a:xfrm>
        </p:grpSpPr>
        <p:sp>
          <p:nvSpPr>
            <p:cNvPr name="Freeform 235" id="235"/>
            <p:cNvSpPr/>
            <p:nvPr/>
          </p:nvSpPr>
          <p:spPr>
            <a:xfrm flipH="false" flipV="false" rot="0">
              <a:off x="0" y="0"/>
              <a:ext cx="4437888" cy="731520"/>
            </a:xfrm>
            <a:custGeom>
              <a:avLst/>
              <a:gdLst/>
              <a:ahLst/>
              <a:cxnLst/>
              <a:rect r="r" b="b" t="t" l="l"/>
              <a:pathLst>
                <a:path h="731520" w="4437888">
                  <a:moveTo>
                    <a:pt x="0" y="0"/>
                  </a:moveTo>
                  <a:lnTo>
                    <a:pt x="4437888" y="0"/>
                  </a:lnTo>
                  <a:lnTo>
                    <a:pt x="4437888" y="731520"/>
                  </a:lnTo>
                  <a:lnTo>
                    <a:pt x="0" y="731520"/>
                  </a:lnTo>
                  <a:close/>
                </a:path>
              </a:pathLst>
            </a:custGeom>
            <a:blipFill>
              <a:blip r:embed="rId2">
                <a:alphaModFix amt="0"/>
              </a:blip>
              <a:stretch>
                <a:fillRect l="0" t="-68209" r="0" b="-68209"/>
              </a:stretch>
            </a:blipFill>
          </p:spPr>
        </p:sp>
        <p:sp>
          <p:nvSpPr>
            <p:cNvPr name="TextBox 236" id="236"/>
            <p:cNvSpPr txBox="true"/>
            <p:nvPr/>
          </p:nvSpPr>
          <p:spPr>
            <a:xfrm>
              <a:off x="0" y="-9525"/>
              <a:ext cx="4437888" cy="741045"/>
            </a:xfrm>
            <a:prstGeom prst="rect">
              <a:avLst/>
            </a:prstGeom>
          </p:spPr>
          <p:txBody>
            <a:bodyPr anchor="ctr" rtlCol="false" tIns="0" lIns="0" bIns="0" rIns="0"/>
            <a:lstStyle/>
            <a:p>
              <a:pPr algn="ctr">
                <a:lnSpc>
                  <a:spcPts val="4079"/>
                </a:lnSpc>
              </a:pPr>
              <a:r>
                <a:rPr lang="en-US" sz="3400" b="true">
                  <a:solidFill>
                    <a:srgbClr val="166534"/>
                  </a:solidFill>
                  <a:latin typeface="Cambria Bold"/>
                  <a:ea typeface="Cambria Bold"/>
                  <a:cs typeface="Cambria Bold"/>
                  <a:sym typeface="Cambria Bold"/>
                </a:rPr>
                <a:t>1</a:t>
              </a:r>
            </a:p>
          </p:txBody>
        </p:sp>
      </p:grpSp>
      <p:grpSp>
        <p:nvGrpSpPr>
          <p:cNvPr name="Group 237" id="237"/>
          <p:cNvGrpSpPr/>
          <p:nvPr/>
        </p:nvGrpSpPr>
        <p:grpSpPr>
          <a:xfrm rot="0">
            <a:off x="3968496" y="9144000"/>
            <a:ext cx="3328416" cy="438912"/>
            <a:chOff x="0" y="0"/>
            <a:chExt cx="4437888" cy="585216"/>
          </a:xfrm>
        </p:grpSpPr>
        <p:sp>
          <p:nvSpPr>
            <p:cNvPr name="Freeform 238" id="238"/>
            <p:cNvSpPr/>
            <p:nvPr/>
          </p:nvSpPr>
          <p:spPr>
            <a:xfrm flipH="false" flipV="false" rot="0">
              <a:off x="0" y="0"/>
              <a:ext cx="4437888" cy="585216"/>
            </a:xfrm>
            <a:custGeom>
              <a:avLst/>
              <a:gdLst/>
              <a:ahLst/>
              <a:cxnLst/>
              <a:rect r="r" b="b" t="t" l="l"/>
              <a:pathLst>
                <a:path h="585216" w="4437888">
                  <a:moveTo>
                    <a:pt x="0" y="0"/>
                  </a:moveTo>
                  <a:lnTo>
                    <a:pt x="4437888" y="0"/>
                  </a:lnTo>
                  <a:lnTo>
                    <a:pt x="4437888" y="585216"/>
                  </a:lnTo>
                  <a:lnTo>
                    <a:pt x="0" y="585216"/>
                  </a:lnTo>
                  <a:close/>
                </a:path>
              </a:pathLst>
            </a:custGeom>
            <a:blipFill>
              <a:blip r:embed="rId2">
                <a:alphaModFix amt="0"/>
              </a:blip>
              <a:stretch>
                <a:fillRect l="0" t="-97761" r="0" b="-97761"/>
              </a:stretch>
            </a:blipFill>
          </p:spPr>
        </p:sp>
        <p:sp>
          <p:nvSpPr>
            <p:cNvPr name="TextBox 239" id="239"/>
            <p:cNvSpPr txBox="true"/>
            <p:nvPr/>
          </p:nvSpPr>
          <p:spPr>
            <a:xfrm>
              <a:off x="0" y="-38100"/>
              <a:ext cx="4437888" cy="623316"/>
            </a:xfrm>
            <a:prstGeom prst="rect">
              <a:avLst/>
            </a:prstGeom>
          </p:spPr>
          <p:txBody>
            <a:bodyPr anchor="ctr" rtlCol="false" tIns="0" lIns="0" bIns="0" rIns="0"/>
            <a:lstStyle/>
            <a:p>
              <a:pPr algn="ctr">
                <a:lnSpc>
                  <a:spcPts val="2039"/>
                </a:lnSpc>
              </a:pPr>
              <a:r>
                <a:rPr lang="en-US" sz="1700">
                  <a:solidFill>
                    <a:srgbClr val="64748B"/>
                  </a:solidFill>
                  <a:latin typeface="Calibri (MS)"/>
                  <a:ea typeface="Calibri (MS)"/>
                  <a:cs typeface="Calibri (MS)"/>
                  <a:sym typeface="Calibri (MS)"/>
                </a:rPr>
                <a:t>Variable Output</a:t>
              </a:r>
            </a:p>
          </p:txBody>
        </p:sp>
      </p:grpSp>
      <p:grpSp>
        <p:nvGrpSpPr>
          <p:cNvPr name="Group 240" id="240"/>
          <p:cNvGrpSpPr/>
          <p:nvPr/>
        </p:nvGrpSpPr>
        <p:grpSpPr>
          <a:xfrm rot="0">
            <a:off x="7524493" y="8036557"/>
            <a:ext cx="3348733" cy="1629661"/>
            <a:chOff x="0" y="0"/>
            <a:chExt cx="4464977" cy="2172881"/>
          </a:xfrm>
        </p:grpSpPr>
        <p:sp>
          <p:nvSpPr>
            <p:cNvPr name="Freeform 241" id="241"/>
            <p:cNvSpPr/>
            <p:nvPr/>
          </p:nvSpPr>
          <p:spPr>
            <a:xfrm flipH="false" flipV="false" rot="0">
              <a:off x="0" y="0"/>
              <a:ext cx="4464939" cy="2172843"/>
            </a:xfrm>
            <a:custGeom>
              <a:avLst/>
              <a:gdLst/>
              <a:ahLst/>
              <a:cxnLst/>
              <a:rect r="r" b="b" t="t" l="l"/>
              <a:pathLst>
                <a:path h="2172843" w="4464939">
                  <a:moveTo>
                    <a:pt x="0" y="246888"/>
                  </a:moveTo>
                  <a:cubicBezTo>
                    <a:pt x="0" y="110490"/>
                    <a:pt x="110490" y="0"/>
                    <a:pt x="246888" y="0"/>
                  </a:cubicBezTo>
                  <a:lnTo>
                    <a:pt x="4218051" y="0"/>
                  </a:lnTo>
                  <a:cubicBezTo>
                    <a:pt x="4354449" y="0"/>
                    <a:pt x="4464939" y="110490"/>
                    <a:pt x="4464939" y="246888"/>
                  </a:cubicBezTo>
                  <a:lnTo>
                    <a:pt x="4464939" y="1925955"/>
                  </a:lnTo>
                  <a:cubicBezTo>
                    <a:pt x="4464939" y="2062353"/>
                    <a:pt x="4354449" y="2172843"/>
                    <a:pt x="4218051" y="2172843"/>
                  </a:cubicBezTo>
                  <a:lnTo>
                    <a:pt x="246888" y="2172843"/>
                  </a:lnTo>
                  <a:cubicBezTo>
                    <a:pt x="110490" y="2172843"/>
                    <a:pt x="0" y="2062353"/>
                    <a:pt x="0" y="1925955"/>
                  </a:cubicBezTo>
                  <a:close/>
                </a:path>
              </a:pathLst>
            </a:custGeom>
            <a:solidFill>
              <a:srgbClr val="FFF3ED"/>
            </a:solidFill>
            <a:ln w="20320" cap="sq">
              <a:solidFill>
                <a:srgbClr val="FB923C"/>
              </a:solidFill>
              <a:prstDash val="solid"/>
              <a:miter/>
            </a:ln>
          </p:spPr>
        </p:sp>
      </p:grpSp>
      <p:grpSp>
        <p:nvGrpSpPr>
          <p:cNvPr name="Group 242" id="242"/>
          <p:cNvGrpSpPr/>
          <p:nvPr/>
        </p:nvGrpSpPr>
        <p:grpSpPr>
          <a:xfrm rot="0">
            <a:off x="7534656" y="8156448"/>
            <a:ext cx="3328416" cy="585216"/>
            <a:chOff x="0" y="0"/>
            <a:chExt cx="4437888" cy="780288"/>
          </a:xfrm>
        </p:grpSpPr>
        <p:sp>
          <p:nvSpPr>
            <p:cNvPr name="Freeform 243" id="243"/>
            <p:cNvSpPr/>
            <p:nvPr/>
          </p:nvSpPr>
          <p:spPr>
            <a:xfrm flipH="false" flipV="false" rot="0">
              <a:off x="0" y="0"/>
              <a:ext cx="4437888" cy="780288"/>
            </a:xfrm>
            <a:custGeom>
              <a:avLst/>
              <a:gdLst/>
              <a:ahLst/>
              <a:cxnLst/>
              <a:rect r="r" b="b" t="t" l="l"/>
              <a:pathLst>
                <a:path h="780288" w="4437888">
                  <a:moveTo>
                    <a:pt x="0" y="0"/>
                  </a:moveTo>
                  <a:lnTo>
                    <a:pt x="4437888" y="0"/>
                  </a:lnTo>
                  <a:lnTo>
                    <a:pt x="4437888" y="780288"/>
                  </a:lnTo>
                  <a:lnTo>
                    <a:pt x="0" y="780288"/>
                  </a:lnTo>
                  <a:close/>
                </a:path>
              </a:pathLst>
            </a:custGeom>
            <a:blipFill>
              <a:blip r:embed="rId2">
                <a:alphaModFix amt="0"/>
              </a:blip>
              <a:stretch>
                <a:fillRect l="0" t="-60821" r="0" b="-60821"/>
              </a:stretch>
            </a:blipFill>
          </p:spPr>
        </p:sp>
        <p:sp>
          <p:nvSpPr>
            <p:cNvPr name="TextBox 244" id="244"/>
            <p:cNvSpPr txBox="true"/>
            <p:nvPr/>
          </p:nvSpPr>
          <p:spPr>
            <a:xfrm>
              <a:off x="0" y="-57150"/>
              <a:ext cx="4437888" cy="837438"/>
            </a:xfrm>
            <a:prstGeom prst="rect">
              <a:avLst/>
            </a:prstGeom>
          </p:spPr>
          <p:txBody>
            <a:bodyPr anchor="ctr" rtlCol="false" tIns="0" lIns="0" bIns="0" rIns="0"/>
            <a:lstStyle/>
            <a:p>
              <a:pPr algn="ctr">
                <a:lnSpc>
                  <a:spcPts val="3840"/>
                </a:lnSpc>
              </a:pPr>
              <a:r>
                <a:rPr lang="en-US" sz="3200">
                  <a:solidFill>
                    <a:srgbClr val="000000"/>
                  </a:solidFill>
                  <a:latin typeface="Calibri (MS)"/>
                  <a:ea typeface="Calibri (MS)"/>
                  <a:cs typeface="Calibri (MS)"/>
                  <a:sym typeface="Calibri (MS)"/>
                </a:rPr>
                <a:t>🔢</a:t>
              </a:r>
            </a:p>
          </p:txBody>
        </p:sp>
      </p:grpSp>
      <p:grpSp>
        <p:nvGrpSpPr>
          <p:cNvPr name="Group 245" id="245"/>
          <p:cNvGrpSpPr/>
          <p:nvPr/>
        </p:nvGrpSpPr>
        <p:grpSpPr>
          <a:xfrm rot="0">
            <a:off x="7534656" y="8631936"/>
            <a:ext cx="3328416" cy="548640"/>
            <a:chOff x="0" y="0"/>
            <a:chExt cx="4437888" cy="731520"/>
          </a:xfrm>
        </p:grpSpPr>
        <p:sp>
          <p:nvSpPr>
            <p:cNvPr name="Freeform 246" id="246"/>
            <p:cNvSpPr/>
            <p:nvPr/>
          </p:nvSpPr>
          <p:spPr>
            <a:xfrm flipH="false" flipV="false" rot="0">
              <a:off x="0" y="0"/>
              <a:ext cx="4437888" cy="731520"/>
            </a:xfrm>
            <a:custGeom>
              <a:avLst/>
              <a:gdLst/>
              <a:ahLst/>
              <a:cxnLst/>
              <a:rect r="r" b="b" t="t" l="l"/>
              <a:pathLst>
                <a:path h="731520" w="4437888">
                  <a:moveTo>
                    <a:pt x="0" y="0"/>
                  </a:moveTo>
                  <a:lnTo>
                    <a:pt x="4437888" y="0"/>
                  </a:lnTo>
                  <a:lnTo>
                    <a:pt x="4437888" y="731520"/>
                  </a:lnTo>
                  <a:lnTo>
                    <a:pt x="0" y="731520"/>
                  </a:lnTo>
                  <a:close/>
                </a:path>
              </a:pathLst>
            </a:custGeom>
            <a:blipFill>
              <a:blip r:embed="rId2">
                <a:alphaModFix amt="0"/>
              </a:blip>
              <a:stretch>
                <a:fillRect l="0" t="-68209" r="0" b="-68209"/>
              </a:stretch>
            </a:blipFill>
          </p:spPr>
        </p:sp>
        <p:sp>
          <p:nvSpPr>
            <p:cNvPr name="TextBox 247" id="247"/>
            <p:cNvSpPr txBox="true"/>
            <p:nvPr/>
          </p:nvSpPr>
          <p:spPr>
            <a:xfrm>
              <a:off x="0" y="-9525"/>
              <a:ext cx="4437888" cy="741045"/>
            </a:xfrm>
            <a:prstGeom prst="rect">
              <a:avLst/>
            </a:prstGeom>
          </p:spPr>
          <p:txBody>
            <a:bodyPr anchor="ctr" rtlCol="false" tIns="0" lIns="0" bIns="0" rIns="0"/>
            <a:lstStyle/>
            <a:p>
              <a:pPr algn="ctr">
                <a:lnSpc>
                  <a:spcPts val="4079"/>
                </a:lnSpc>
              </a:pPr>
              <a:r>
                <a:rPr lang="en-US" sz="3400" b="true">
                  <a:solidFill>
                    <a:srgbClr val="C2410C"/>
                  </a:solidFill>
                  <a:latin typeface="Cambria Bold"/>
                  <a:ea typeface="Cambria Bold"/>
                  <a:cs typeface="Cambria Bold"/>
                  <a:sym typeface="Cambria Bold"/>
                </a:rPr>
                <a:t>11</a:t>
              </a:r>
            </a:p>
          </p:txBody>
        </p:sp>
      </p:grpSp>
      <p:grpSp>
        <p:nvGrpSpPr>
          <p:cNvPr name="Group 248" id="248"/>
          <p:cNvGrpSpPr/>
          <p:nvPr/>
        </p:nvGrpSpPr>
        <p:grpSpPr>
          <a:xfrm rot="0">
            <a:off x="7534656" y="9144000"/>
            <a:ext cx="3328416" cy="438912"/>
            <a:chOff x="0" y="0"/>
            <a:chExt cx="4437888" cy="585216"/>
          </a:xfrm>
        </p:grpSpPr>
        <p:sp>
          <p:nvSpPr>
            <p:cNvPr name="Freeform 249" id="249"/>
            <p:cNvSpPr/>
            <p:nvPr/>
          </p:nvSpPr>
          <p:spPr>
            <a:xfrm flipH="false" flipV="false" rot="0">
              <a:off x="0" y="0"/>
              <a:ext cx="4437888" cy="585216"/>
            </a:xfrm>
            <a:custGeom>
              <a:avLst/>
              <a:gdLst/>
              <a:ahLst/>
              <a:cxnLst/>
              <a:rect r="r" b="b" t="t" l="l"/>
              <a:pathLst>
                <a:path h="585216" w="4437888">
                  <a:moveTo>
                    <a:pt x="0" y="0"/>
                  </a:moveTo>
                  <a:lnTo>
                    <a:pt x="4437888" y="0"/>
                  </a:lnTo>
                  <a:lnTo>
                    <a:pt x="4437888" y="585216"/>
                  </a:lnTo>
                  <a:lnTo>
                    <a:pt x="0" y="585216"/>
                  </a:lnTo>
                  <a:close/>
                </a:path>
              </a:pathLst>
            </a:custGeom>
            <a:blipFill>
              <a:blip r:embed="rId2">
                <a:alphaModFix amt="0"/>
              </a:blip>
              <a:stretch>
                <a:fillRect l="0" t="-97761" r="0" b="-97761"/>
              </a:stretch>
            </a:blipFill>
          </p:spPr>
        </p:sp>
        <p:sp>
          <p:nvSpPr>
            <p:cNvPr name="TextBox 250" id="250"/>
            <p:cNvSpPr txBox="true"/>
            <p:nvPr/>
          </p:nvSpPr>
          <p:spPr>
            <a:xfrm>
              <a:off x="0" y="-38100"/>
              <a:ext cx="4437888" cy="623316"/>
            </a:xfrm>
            <a:prstGeom prst="rect">
              <a:avLst/>
            </a:prstGeom>
          </p:spPr>
          <p:txBody>
            <a:bodyPr anchor="ctr" rtlCol="false" tIns="0" lIns="0" bIns="0" rIns="0"/>
            <a:lstStyle/>
            <a:p>
              <a:pPr algn="ctr">
                <a:lnSpc>
                  <a:spcPts val="2039"/>
                </a:lnSpc>
              </a:pPr>
              <a:r>
                <a:rPr lang="en-US" sz="1700">
                  <a:solidFill>
                    <a:srgbClr val="64748B"/>
                  </a:solidFill>
                  <a:latin typeface="Calibri (MS)"/>
                  <a:ea typeface="Calibri (MS)"/>
                  <a:cs typeface="Calibri (MS)"/>
                  <a:sym typeface="Calibri (MS)"/>
                </a:rPr>
                <a:t>Quantitatives</a:t>
              </a:r>
            </a:p>
          </p:txBody>
        </p:sp>
      </p:grpSp>
      <p:grpSp>
        <p:nvGrpSpPr>
          <p:cNvPr name="Group 251" id="251"/>
          <p:cNvGrpSpPr/>
          <p:nvPr/>
        </p:nvGrpSpPr>
        <p:grpSpPr>
          <a:xfrm rot="0">
            <a:off x="11090653" y="8036557"/>
            <a:ext cx="3348733" cy="1629661"/>
            <a:chOff x="0" y="0"/>
            <a:chExt cx="4464977" cy="2172881"/>
          </a:xfrm>
        </p:grpSpPr>
        <p:sp>
          <p:nvSpPr>
            <p:cNvPr name="Freeform 252" id="252"/>
            <p:cNvSpPr/>
            <p:nvPr/>
          </p:nvSpPr>
          <p:spPr>
            <a:xfrm flipH="false" flipV="false" rot="0">
              <a:off x="0" y="0"/>
              <a:ext cx="4464939" cy="2172843"/>
            </a:xfrm>
            <a:custGeom>
              <a:avLst/>
              <a:gdLst/>
              <a:ahLst/>
              <a:cxnLst/>
              <a:rect r="r" b="b" t="t" l="l"/>
              <a:pathLst>
                <a:path h="2172843" w="4464939">
                  <a:moveTo>
                    <a:pt x="0" y="246888"/>
                  </a:moveTo>
                  <a:cubicBezTo>
                    <a:pt x="0" y="110490"/>
                    <a:pt x="110490" y="0"/>
                    <a:pt x="246888" y="0"/>
                  </a:cubicBezTo>
                  <a:lnTo>
                    <a:pt x="4218051" y="0"/>
                  </a:lnTo>
                  <a:cubicBezTo>
                    <a:pt x="4354449" y="0"/>
                    <a:pt x="4464939" y="110490"/>
                    <a:pt x="4464939" y="246888"/>
                  </a:cubicBezTo>
                  <a:lnTo>
                    <a:pt x="4464939" y="1925955"/>
                  </a:lnTo>
                  <a:cubicBezTo>
                    <a:pt x="4464939" y="2062353"/>
                    <a:pt x="4354449" y="2172843"/>
                    <a:pt x="4218051" y="2172843"/>
                  </a:cubicBezTo>
                  <a:lnTo>
                    <a:pt x="246888" y="2172843"/>
                  </a:lnTo>
                  <a:cubicBezTo>
                    <a:pt x="110490" y="2172843"/>
                    <a:pt x="0" y="2062353"/>
                    <a:pt x="0" y="1925955"/>
                  </a:cubicBezTo>
                  <a:close/>
                </a:path>
              </a:pathLst>
            </a:custGeom>
            <a:solidFill>
              <a:srgbClr val="FDF4FF"/>
            </a:solidFill>
            <a:ln w="20320" cap="sq">
              <a:solidFill>
                <a:srgbClr val="C084FC"/>
              </a:solidFill>
              <a:prstDash val="solid"/>
              <a:miter/>
            </a:ln>
          </p:spPr>
        </p:sp>
      </p:grpSp>
      <p:grpSp>
        <p:nvGrpSpPr>
          <p:cNvPr name="Group 253" id="253"/>
          <p:cNvGrpSpPr/>
          <p:nvPr/>
        </p:nvGrpSpPr>
        <p:grpSpPr>
          <a:xfrm rot="0">
            <a:off x="11100816" y="8156448"/>
            <a:ext cx="3328416" cy="585216"/>
            <a:chOff x="0" y="0"/>
            <a:chExt cx="4437888" cy="780288"/>
          </a:xfrm>
        </p:grpSpPr>
        <p:sp>
          <p:nvSpPr>
            <p:cNvPr name="Freeform 254" id="254"/>
            <p:cNvSpPr/>
            <p:nvPr/>
          </p:nvSpPr>
          <p:spPr>
            <a:xfrm flipH="false" flipV="false" rot="0">
              <a:off x="0" y="0"/>
              <a:ext cx="4437888" cy="780288"/>
            </a:xfrm>
            <a:custGeom>
              <a:avLst/>
              <a:gdLst/>
              <a:ahLst/>
              <a:cxnLst/>
              <a:rect r="r" b="b" t="t" l="l"/>
              <a:pathLst>
                <a:path h="780288" w="4437888">
                  <a:moveTo>
                    <a:pt x="0" y="0"/>
                  </a:moveTo>
                  <a:lnTo>
                    <a:pt x="4437888" y="0"/>
                  </a:lnTo>
                  <a:lnTo>
                    <a:pt x="4437888" y="780288"/>
                  </a:lnTo>
                  <a:lnTo>
                    <a:pt x="0" y="780288"/>
                  </a:lnTo>
                  <a:close/>
                </a:path>
              </a:pathLst>
            </a:custGeom>
            <a:blipFill>
              <a:blip r:embed="rId2">
                <a:alphaModFix amt="0"/>
              </a:blip>
              <a:stretch>
                <a:fillRect l="0" t="-60821" r="0" b="-60821"/>
              </a:stretch>
            </a:blipFill>
          </p:spPr>
        </p:sp>
        <p:sp>
          <p:nvSpPr>
            <p:cNvPr name="TextBox 255" id="255"/>
            <p:cNvSpPr txBox="true"/>
            <p:nvPr/>
          </p:nvSpPr>
          <p:spPr>
            <a:xfrm>
              <a:off x="0" y="-57150"/>
              <a:ext cx="4437888" cy="837438"/>
            </a:xfrm>
            <a:prstGeom prst="rect">
              <a:avLst/>
            </a:prstGeom>
          </p:spPr>
          <p:txBody>
            <a:bodyPr anchor="ctr" rtlCol="false" tIns="0" lIns="0" bIns="0" rIns="0"/>
            <a:lstStyle/>
            <a:p>
              <a:pPr algn="ctr">
                <a:lnSpc>
                  <a:spcPts val="3840"/>
                </a:lnSpc>
              </a:pPr>
              <a:r>
                <a:rPr lang="en-US" sz="3200">
                  <a:solidFill>
                    <a:srgbClr val="000000"/>
                  </a:solidFill>
                  <a:latin typeface="Calibri (MS)"/>
                  <a:ea typeface="Calibri (MS)"/>
                  <a:cs typeface="Calibri (MS)"/>
                  <a:sym typeface="Calibri (MS)"/>
                </a:rPr>
                <a:t>🔤</a:t>
              </a:r>
            </a:p>
          </p:txBody>
        </p:sp>
      </p:grpSp>
      <p:grpSp>
        <p:nvGrpSpPr>
          <p:cNvPr name="Group 256" id="256"/>
          <p:cNvGrpSpPr/>
          <p:nvPr/>
        </p:nvGrpSpPr>
        <p:grpSpPr>
          <a:xfrm rot="0">
            <a:off x="11100816" y="8631936"/>
            <a:ext cx="3328416" cy="548640"/>
            <a:chOff x="0" y="0"/>
            <a:chExt cx="4437888" cy="731520"/>
          </a:xfrm>
        </p:grpSpPr>
        <p:sp>
          <p:nvSpPr>
            <p:cNvPr name="Freeform 257" id="257"/>
            <p:cNvSpPr/>
            <p:nvPr/>
          </p:nvSpPr>
          <p:spPr>
            <a:xfrm flipH="false" flipV="false" rot="0">
              <a:off x="0" y="0"/>
              <a:ext cx="4437888" cy="731520"/>
            </a:xfrm>
            <a:custGeom>
              <a:avLst/>
              <a:gdLst/>
              <a:ahLst/>
              <a:cxnLst/>
              <a:rect r="r" b="b" t="t" l="l"/>
              <a:pathLst>
                <a:path h="731520" w="4437888">
                  <a:moveTo>
                    <a:pt x="0" y="0"/>
                  </a:moveTo>
                  <a:lnTo>
                    <a:pt x="4437888" y="0"/>
                  </a:lnTo>
                  <a:lnTo>
                    <a:pt x="4437888" y="731520"/>
                  </a:lnTo>
                  <a:lnTo>
                    <a:pt x="0" y="731520"/>
                  </a:lnTo>
                  <a:close/>
                </a:path>
              </a:pathLst>
            </a:custGeom>
            <a:blipFill>
              <a:blip r:embed="rId2">
                <a:alphaModFix amt="0"/>
              </a:blip>
              <a:stretch>
                <a:fillRect l="0" t="-68209" r="0" b="-68209"/>
              </a:stretch>
            </a:blipFill>
          </p:spPr>
        </p:sp>
        <p:sp>
          <p:nvSpPr>
            <p:cNvPr name="TextBox 258" id="258"/>
            <p:cNvSpPr txBox="true"/>
            <p:nvPr/>
          </p:nvSpPr>
          <p:spPr>
            <a:xfrm>
              <a:off x="0" y="-9525"/>
              <a:ext cx="4437888" cy="741045"/>
            </a:xfrm>
            <a:prstGeom prst="rect">
              <a:avLst/>
            </a:prstGeom>
          </p:spPr>
          <p:txBody>
            <a:bodyPr anchor="ctr" rtlCol="false" tIns="0" lIns="0" bIns="0" rIns="0"/>
            <a:lstStyle/>
            <a:p>
              <a:pPr algn="ctr">
                <a:lnSpc>
                  <a:spcPts val="4079"/>
                </a:lnSpc>
              </a:pPr>
              <a:r>
                <a:rPr lang="en-US" sz="3400" b="true">
                  <a:solidFill>
                    <a:srgbClr val="7E22CE"/>
                  </a:solidFill>
                  <a:latin typeface="Cambria Bold"/>
                  <a:ea typeface="Cambria Bold"/>
                  <a:cs typeface="Cambria Bold"/>
                  <a:sym typeface="Cambria Bold"/>
                </a:rPr>
                <a:t>5</a:t>
              </a:r>
            </a:p>
          </p:txBody>
        </p:sp>
      </p:grpSp>
      <p:grpSp>
        <p:nvGrpSpPr>
          <p:cNvPr name="Group 259" id="259"/>
          <p:cNvGrpSpPr/>
          <p:nvPr/>
        </p:nvGrpSpPr>
        <p:grpSpPr>
          <a:xfrm rot="0">
            <a:off x="11100816" y="9144000"/>
            <a:ext cx="3328416" cy="438912"/>
            <a:chOff x="0" y="0"/>
            <a:chExt cx="4437888" cy="585216"/>
          </a:xfrm>
        </p:grpSpPr>
        <p:sp>
          <p:nvSpPr>
            <p:cNvPr name="Freeform 260" id="260"/>
            <p:cNvSpPr/>
            <p:nvPr/>
          </p:nvSpPr>
          <p:spPr>
            <a:xfrm flipH="false" flipV="false" rot="0">
              <a:off x="0" y="0"/>
              <a:ext cx="4437888" cy="585216"/>
            </a:xfrm>
            <a:custGeom>
              <a:avLst/>
              <a:gdLst/>
              <a:ahLst/>
              <a:cxnLst/>
              <a:rect r="r" b="b" t="t" l="l"/>
              <a:pathLst>
                <a:path h="585216" w="4437888">
                  <a:moveTo>
                    <a:pt x="0" y="0"/>
                  </a:moveTo>
                  <a:lnTo>
                    <a:pt x="4437888" y="0"/>
                  </a:lnTo>
                  <a:lnTo>
                    <a:pt x="4437888" y="585216"/>
                  </a:lnTo>
                  <a:lnTo>
                    <a:pt x="0" y="585216"/>
                  </a:lnTo>
                  <a:close/>
                </a:path>
              </a:pathLst>
            </a:custGeom>
            <a:blipFill>
              <a:blip r:embed="rId2">
                <a:alphaModFix amt="0"/>
              </a:blip>
              <a:stretch>
                <a:fillRect l="0" t="-97761" r="0" b="-97761"/>
              </a:stretch>
            </a:blipFill>
          </p:spPr>
        </p:sp>
        <p:sp>
          <p:nvSpPr>
            <p:cNvPr name="TextBox 261" id="261"/>
            <p:cNvSpPr txBox="true"/>
            <p:nvPr/>
          </p:nvSpPr>
          <p:spPr>
            <a:xfrm>
              <a:off x="0" y="-38100"/>
              <a:ext cx="4437888" cy="623316"/>
            </a:xfrm>
            <a:prstGeom prst="rect">
              <a:avLst/>
            </a:prstGeom>
          </p:spPr>
          <p:txBody>
            <a:bodyPr anchor="ctr" rtlCol="false" tIns="0" lIns="0" bIns="0" rIns="0"/>
            <a:lstStyle/>
            <a:p>
              <a:pPr algn="ctr">
                <a:lnSpc>
                  <a:spcPts val="2039"/>
                </a:lnSpc>
              </a:pPr>
              <a:r>
                <a:rPr lang="en-US" sz="1700">
                  <a:solidFill>
                    <a:srgbClr val="64748B"/>
                  </a:solidFill>
                  <a:latin typeface="Calibri (MS)"/>
                  <a:ea typeface="Calibri (MS)"/>
                  <a:cs typeface="Calibri (MS)"/>
                  <a:sym typeface="Calibri (MS)"/>
                </a:rPr>
                <a:t>Qualitatives</a:t>
              </a:r>
            </a:p>
          </p:txBody>
        </p:sp>
      </p:grpSp>
      <p:grpSp>
        <p:nvGrpSpPr>
          <p:cNvPr name="Group 262" id="262"/>
          <p:cNvGrpSpPr/>
          <p:nvPr/>
        </p:nvGrpSpPr>
        <p:grpSpPr>
          <a:xfrm rot="0">
            <a:off x="14656813" y="8036557"/>
            <a:ext cx="3348733" cy="1629661"/>
            <a:chOff x="0" y="0"/>
            <a:chExt cx="4464977" cy="2172881"/>
          </a:xfrm>
        </p:grpSpPr>
        <p:sp>
          <p:nvSpPr>
            <p:cNvPr name="Freeform 263" id="263"/>
            <p:cNvSpPr/>
            <p:nvPr/>
          </p:nvSpPr>
          <p:spPr>
            <a:xfrm flipH="false" flipV="false" rot="0">
              <a:off x="0" y="0"/>
              <a:ext cx="4464939" cy="2172843"/>
            </a:xfrm>
            <a:custGeom>
              <a:avLst/>
              <a:gdLst/>
              <a:ahLst/>
              <a:cxnLst/>
              <a:rect r="r" b="b" t="t" l="l"/>
              <a:pathLst>
                <a:path h="2172843" w="4464939">
                  <a:moveTo>
                    <a:pt x="0" y="246888"/>
                  </a:moveTo>
                  <a:cubicBezTo>
                    <a:pt x="0" y="110490"/>
                    <a:pt x="110490" y="0"/>
                    <a:pt x="246888" y="0"/>
                  </a:cubicBezTo>
                  <a:lnTo>
                    <a:pt x="4218051" y="0"/>
                  </a:lnTo>
                  <a:cubicBezTo>
                    <a:pt x="4354449" y="0"/>
                    <a:pt x="4464939" y="110490"/>
                    <a:pt x="4464939" y="246888"/>
                  </a:cubicBezTo>
                  <a:lnTo>
                    <a:pt x="4464939" y="1925955"/>
                  </a:lnTo>
                  <a:cubicBezTo>
                    <a:pt x="4464939" y="2062353"/>
                    <a:pt x="4354449" y="2172843"/>
                    <a:pt x="4218051" y="2172843"/>
                  </a:cubicBezTo>
                  <a:lnTo>
                    <a:pt x="246888" y="2172843"/>
                  </a:lnTo>
                  <a:cubicBezTo>
                    <a:pt x="110490" y="2172843"/>
                    <a:pt x="0" y="2062353"/>
                    <a:pt x="0" y="1925955"/>
                  </a:cubicBezTo>
                  <a:close/>
                </a:path>
              </a:pathLst>
            </a:custGeom>
            <a:solidFill>
              <a:srgbClr val="F0FDF4"/>
            </a:solidFill>
            <a:ln w="20320" cap="sq">
              <a:solidFill>
                <a:srgbClr val="4ADE80"/>
              </a:solidFill>
              <a:prstDash val="solid"/>
              <a:miter/>
            </a:ln>
          </p:spPr>
        </p:sp>
      </p:grpSp>
      <p:grpSp>
        <p:nvGrpSpPr>
          <p:cNvPr name="Group 264" id="264"/>
          <p:cNvGrpSpPr/>
          <p:nvPr/>
        </p:nvGrpSpPr>
        <p:grpSpPr>
          <a:xfrm rot="0">
            <a:off x="14666976" y="8156448"/>
            <a:ext cx="3328416" cy="585216"/>
            <a:chOff x="0" y="0"/>
            <a:chExt cx="4437888" cy="780288"/>
          </a:xfrm>
        </p:grpSpPr>
        <p:sp>
          <p:nvSpPr>
            <p:cNvPr name="Freeform 265" id="265"/>
            <p:cNvSpPr/>
            <p:nvPr/>
          </p:nvSpPr>
          <p:spPr>
            <a:xfrm flipH="false" flipV="false" rot="0">
              <a:off x="0" y="0"/>
              <a:ext cx="4437888" cy="780288"/>
            </a:xfrm>
            <a:custGeom>
              <a:avLst/>
              <a:gdLst/>
              <a:ahLst/>
              <a:cxnLst/>
              <a:rect r="r" b="b" t="t" l="l"/>
              <a:pathLst>
                <a:path h="780288" w="4437888">
                  <a:moveTo>
                    <a:pt x="0" y="0"/>
                  </a:moveTo>
                  <a:lnTo>
                    <a:pt x="4437888" y="0"/>
                  </a:lnTo>
                  <a:lnTo>
                    <a:pt x="4437888" y="780288"/>
                  </a:lnTo>
                  <a:lnTo>
                    <a:pt x="0" y="780288"/>
                  </a:lnTo>
                  <a:close/>
                </a:path>
              </a:pathLst>
            </a:custGeom>
            <a:blipFill>
              <a:blip r:embed="rId2">
                <a:alphaModFix amt="0"/>
              </a:blip>
              <a:stretch>
                <a:fillRect l="0" t="-60821" r="0" b="-60821"/>
              </a:stretch>
            </a:blipFill>
          </p:spPr>
        </p:sp>
        <p:sp>
          <p:nvSpPr>
            <p:cNvPr name="TextBox 266" id="266"/>
            <p:cNvSpPr txBox="true"/>
            <p:nvPr/>
          </p:nvSpPr>
          <p:spPr>
            <a:xfrm>
              <a:off x="0" y="-57150"/>
              <a:ext cx="4437888" cy="837438"/>
            </a:xfrm>
            <a:prstGeom prst="rect">
              <a:avLst/>
            </a:prstGeom>
          </p:spPr>
          <p:txBody>
            <a:bodyPr anchor="ctr" rtlCol="false" tIns="0" lIns="0" bIns="0" rIns="0"/>
            <a:lstStyle/>
            <a:p>
              <a:pPr algn="ctr">
                <a:lnSpc>
                  <a:spcPts val="3840"/>
                </a:lnSpc>
              </a:pPr>
              <a:r>
                <a:rPr lang="en-US" sz="3200">
                  <a:solidFill>
                    <a:srgbClr val="000000"/>
                  </a:solidFill>
                  <a:latin typeface="Calibri (MS)"/>
                  <a:ea typeface="Calibri (MS)"/>
                  <a:cs typeface="Calibri (MS)"/>
                  <a:sym typeface="Calibri (MS)"/>
                </a:rPr>
                <a:t>📊</a:t>
              </a:r>
            </a:p>
          </p:txBody>
        </p:sp>
      </p:grpSp>
      <p:grpSp>
        <p:nvGrpSpPr>
          <p:cNvPr name="Group 267" id="267"/>
          <p:cNvGrpSpPr/>
          <p:nvPr/>
        </p:nvGrpSpPr>
        <p:grpSpPr>
          <a:xfrm rot="0">
            <a:off x="14666976" y="8631936"/>
            <a:ext cx="3328416" cy="548640"/>
            <a:chOff x="0" y="0"/>
            <a:chExt cx="4437888" cy="731520"/>
          </a:xfrm>
        </p:grpSpPr>
        <p:sp>
          <p:nvSpPr>
            <p:cNvPr name="Freeform 268" id="268"/>
            <p:cNvSpPr/>
            <p:nvPr/>
          </p:nvSpPr>
          <p:spPr>
            <a:xfrm flipH="false" flipV="false" rot="0">
              <a:off x="0" y="0"/>
              <a:ext cx="4437888" cy="731520"/>
            </a:xfrm>
            <a:custGeom>
              <a:avLst/>
              <a:gdLst/>
              <a:ahLst/>
              <a:cxnLst/>
              <a:rect r="r" b="b" t="t" l="l"/>
              <a:pathLst>
                <a:path h="731520" w="4437888">
                  <a:moveTo>
                    <a:pt x="0" y="0"/>
                  </a:moveTo>
                  <a:lnTo>
                    <a:pt x="4437888" y="0"/>
                  </a:lnTo>
                  <a:lnTo>
                    <a:pt x="4437888" y="731520"/>
                  </a:lnTo>
                  <a:lnTo>
                    <a:pt x="0" y="731520"/>
                  </a:lnTo>
                  <a:close/>
                </a:path>
              </a:pathLst>
            </a:custGeom>
            <a:blipFill>
              <a:blip r:embed="rId2">
                <a:alphaModFix amt="0"/>
              </a:blip>
              <a:stretch>
                <a:fillRect l="0" t="-68209" r="0" b="-68209"/>
              </a:stretch>
            </a:blipFill>
          </p:spPr>
        </p:sp>
        <p:sp>
          <p:nvSpPr>
            <p:cNvPr name="TextBox 269" id="269"/>
            <p:cNvSpPr txBox="true"/>
            <p:nvPr/>
          </p:nvSpPr>
          <p:spPr>
            <a:xfrm>
              <a:off x="0" y="-9525"/>
              <a:ext cx="4437888" cy="741045"/>
            </a:xfrm>
            <a:prstGeom prst="rect">
              <a:avLst/>
            </a:prstGeom>
          </p:spPr>
          <p:txBody>
            <a:bodyPr anchor="ctr" rtlCol="false" tIns="0" lIns="0" bIns="0" rIns="0"/>
            <a:lstStyle/>
            <a:p>
              <a:pPr algn="ctr">
                <a:lnSpc>
                  <a:spcPts val="4079"/>
                </a:lnSpc>
              </a:pPr>
              <a:r>
                <a:rPr lang="en-US" sz="3400" b="true">
                  <a:solidFill>
                    <a:srgbClr val="166534"/>
                  </a:solidFill>
                  <a:latin typeface="Cambria Bold"/>
                  <a:ea typeface="Cambria Bold"/>
                  <a:cs typeface="Cambria Bold"/>
                  <a:sym typeface="Cambria Bold"/>
                </a:rPr>
                <a:t>5</a:t>
              </a:r>
            </a:p>
          </p:txBody>
        </p:sp>
      </p:grpSp>
      <p:grpSp>
        <p:nvGrpSpPr>
          <p:cNvPr name="Group 270" id="270"/>
          <p:cNvGrpSpPr/>
          <p:nvPr/>
        </p:nvGrpSpPr>
        <p:grpSpPr>
          <a:xfrm rot="0">
            <a:off x="14666976" y="9144000"/>
            <a:ext cx="3328416" cy="438912"/>
            <a:chOff x="0" y="0"/>
            <a:chExt cx="4437888" cy="585216"/>
          </a:xfrm>
        </p:grpSpPr>
        <p:sp>
          <p:nvSpPr>
            <p:cNvPr name="Freeform 271" id="271"/>
            <p:cNvSpPr/>
            <p:nvPr/>
          </p:nvSpPr>
          <p:spPr>
            <a:xfrm flipH="false" flipV="false" rot="0">
              <a:off x="0" y="0"/>
              <a:ext cx="4437888" cy="585216"/>
            </a:xfrm>
            <a:custGeom>
              <a:avLst/>
              <a:gdLst/>
              <a:ahLst/>
              <a:cxnLst/>
              <a:rect r="r" b="b" t="t" l="l"/>
              <a:pathLst>
                <a:path h="585216" w="4437888">
                  <a:moveTo>
                    <a:pt x="0" y="0"/>
                  </a:moveTo>
                  <a:lnTo>
                    <a:pt x="4437888" y="0"/>
                  </a:lnTo>
                  <a:lnTo>
                    <a:pt x="4437888" y="585216"/>
                  </a:lnTo>
                  <a:lnTo>
                    <a:pt x="0" y="585216"/>
                  </a:lnTo>
                  <a:close/>
                </a:path>
              </a:pathLst>
            </a:custGeom>
            <a:blipFill>
              <a:blip r:embed="rId2">
                <a:alphaModFix amt="0"/>
              </a:blip>
              <a:stretch>
                <a:fillRect l="0" t="-97761" r="0" b="-97761"/>
              </a:stretch>
            </a:blipFill>
          </p:spPr>
        </p:sp>
        <p:sp>
          <p:nvSpPr>
            <p:cNvPr name="TextBox 272" id="272"/>
            <p:cNvSpPr txBox="true"/>
            <p:nvPr/>
          </p:nvSpPr>
          <p:spPr>
            <a:xfrm>
              <a:off x="0" y="-38100"/>
              <a:ext cx="4437888" cy="623316"/>
            </a:xfrm>
            <a:prstGeom prst="rect">
              <a:avLst/>
            </a:prstGeom>
          </p:spPr>
          <p:txBody>
            <a:bodyPr anchor="ctr" rtlCol="false" tIns="0" lIns="0" bIns="0" rIns="0"/>
            <a:lstStyle/>
            <a:p>
              <a:pPr algn="ctr">
                <a:lnSpc>
                  <a:spcPts val="2039"/>
                </a:lnSpc>
              </a:pPr>
              <a:r>
                <a:rPr lang="en-US" sz="1700">
                  <a:solidFill>
                    <a:srgbClr val="64748B"/>
                  </a:solidFill>
                  <a:latin typeface="Calibri (MS)"/>
                  <a:ea typeface="Calibri (MS)"/>
                  <a:cs typeface="Calibri (MS)"/>
                  <a:sym typeface="Calibri (MS)"/>
                </a:rPr>
                <a:t>Catégories</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0F4FF"/>
        </a:solidFill>
      </p:bgPr>
    </p:bg>
    <p:spTree>
      <p:nvGrpSpPr>
        <p:cNvPr id="1" name=""/>
        <p:cNvGrpSpPr/>
        <p:nvPr/>
      </p:nvGrpSpPr>
      <p:grpSpPr>
        <a:xfrm>
          <a:off x="0" y="0"/>
          <a:ext cx="0" cy="0"/>
          <a:chOff x="0" y="0"/>
          <a:chExt cx="0" cy="0"/>
        </a:xfrm>
      </p:grpSpPr>
      <p:sp>
        <p:nvSpPr>
          <p:cNvPr name="Freeform 2" id="2"/>
          <p:cNvSpPr/>
          <p:nvPr/>
        </p:nvSpPr>
        <p:spPr>
          <a:xfrm flipH="false" flipV="false" rot="0">
            <a:off x="4959228" y="0"/>
            <a:ext cx="8369544" cy="4796195"/>
          </a:xfrm>
          <a:custGeom>
            <a:avLst/>
            <a:gdLst/>
            <a:ahLst/>
            <a:cxnLst/>
            <a:rect r="r" b="b" t="t" l="l"/>
            <a:pathLst>
              <a:path h="4796195" w="8369544">
                <a:moveTo>
                  <a:pt x="0" y="0"/>
                </a:moveTo>
                <a:lnTo>
                  <a:pt x="8369544" y="0"/>
                </a:lnTo>
                <a:lnTo>
                  <a:pt x="8369544" y="4796195"/>
                </a:lnTo>
                <a:lnTo>
                  <a:pt x="0" y="4796195"/>
                </a:lnTo>
                <a:lnTo>
                  <a:pt x="0" y="0"/>
                </a:lnTo>
                <a:close/>
              </a:path>
            </a:pathLst>
          </a:custGeom>
          <a:blipFill>
            <a:blip r:embed="rId2"/>
            <a:stretch>
              <a:fillRect l="0" t="-697" r="-1447" b="-4414"/>
            </a:stretch>
          </a:blipFill>
        </p:spPr>
      </p:sp>
      <p:sp>
        <p:nvSpPr>
          <p:cNvPr name="Freeform 3" id="3"/>
          <p:cNvSpPr/>
          <p:nvPr/>
        </p:nvSpPr>
        <p:spPr>
          <a:xfrm flipH="false" flipV="false" rot="0">
            <a:off x="4959228" y="5131018"/>
            <a:ext cx="8434167" cy="5155982"/>
          </a:xfrm>
          <a:custGeom>
            <a:avLst/>
            <a:gdLst/>
            <a:ahLst/>
            <a:cxnLst/>
            <a:rect r="r" b="b" t="t" l="l"/>
            <a:pathLst>
              <a:path h="5155982" w="8434167">
                <a:moveTo>
                  <a:pt x="0" y="0"/>
                </a:moveTo>
                <a:lnTo>
                  <a:pt x="8434167" y="0"/>
                </a:lnTo>
                <a:lnTo>
                  <a:pt x="8434167" y="5155982"/>
                </a:lnTo>
                <a:lnTo>
                  <a:pt x="0" y="5155982"/>
                </a:lnTo>
                <a:lnTo>
                  <a:pt x="0" y="0"/>
                </a:lnTo>
                <a:close/>
              </a:path>
            </a:pathLst>
          </a:custGeom>
          <a:blipFill>
            <a:blip r:embed="rId3"/>
            <a:stretch>
              <a:fillRect l="0" t="0" r="0" b="0"/>
            </a:stretch>
          </a:blipFill>
        </p:spPr>
      </p:sp>
      <p:sp>
        <p:nvSpPr>
          <p:cNvPr name="Freeform 4" id="4"/>
          <p:cNvSpPr/>
          <p:nvPr/>
        </p:nvSpPr>
        <p:spPr>
          <a:xfrm flipH="false" flipV="false" rot="0">
            <a:off x="6963770" y="9930597"/>
            <a:ext cx="1516607" cy="356403"/>
          </a:xfrm>
          <a:custGeom>
            <a:avLst/>
            <a:gdLst/>
            <a:ahLst/>
            <a:cxnLst/>
            <a:rect r="r" b="b" t="t" l="l"/>
            <a:pathLst>
              <a:path h="356403" w="1516607">
                <a:moveTo>
                  <a:pt x="0" y="0"/>
                </a:moveTo>
                <a:lnTo>
                  <a:pt x="1516607" y="0"/>
                </a:lnTo>
                <a:lnTo>
                  <a:pt x="1516607" y="356403"/>
                </a:lnTo>
                <a:lnTo>
                  <a:pt x="0" y="35640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7446543" y="9927824"/>
            <a:ext cx="551061" cy="323850"/>
          </a:xfrm>
          <a:prstGeom prst="rect">
            <a:avLst/>
          </a:prstGeom>
        </p:spPr>
        <p:txBody>
          <a:bodyPr anchor="t" rtlCol="false" tIns="0" lIns="0" bIns="0" rIns="0">
            <a:spAutoFit/>
          </a:bodyPr>
          <a:lstStyle/>
          <a:p>
            <a:pPr algn="ctr">
              <a:lnSpc>
                <a:spcPts val="2279"/>
              </a:lnSpc>
              <a:spcBef>
                <a:spcPct val="0"/>
              </a:spcBef>
            </a:pPr>
            <a:r>
              <a:rPr lang="en-US" sz="1899">
                <a:solidFill>
                  <a:srgbClr val="1D4ED8"/>
                </a:solidFill>
                <a:latin typeface="Calibri (MS)"/>
                <a:ea typeface="Calibri (MS)"/>
                <a:cs typeface="Calibri (MS)"/>
                <a:sym typeface="Calibri (MS)"/>
              </a:rPr>
              <a:t>passe</a:t>
            </a:r>
          </a:p>
        </p:txBody>
      </p:sp>
      <p:sp>
        <p:nvSpPr>
          <p:cNvPr name="Freeform 6" id="6"/>
          <p:cNvSpPr/>
          <p:nvPr/>
        </p:nvSpPr>
        <p:spPr>
          <a:xfrm flipH="false" flipV="false" rot="0">
            <a:off x="10701795" y="9895271"/>
            <a:ext cx="1516607" cy="356403"/>
          </a:xfrm>
          <a:custGeom>
            <a:avLst/>
            <a:gdLst/>
            <a:ahLst/>
            <a:cxnLst/>
            <a:rect r="r" b="b" t="t" l="l"/>
            <a:pathLst>
              <a:path h="356403" w="1516607">
                <a:moveTo>
                  <a:pt x="0" y="0"/>
                </a:moveTo>
                <a:lnTo>
                  <a:pt x="1516607" y="0"/>
                </a:lnTo>
                <a:lnTo>
                  <a:pt x="1516607" y="356403"/>
                </a:lnTo>
                <a:lnTo>
                  <a:pt x="0" y="35640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0766930" y="9892497"/>
            <a:ext cx="1451471" cy="323850"/>
          </a:xfrm>
          <a:prstGeom prst="rect">
            <a:avLst/>
          </a:prstGeom>
        </p:spPr>
        <p:txBody>
          <a:bodyPr anchor="t" rtlCol="false" tIns="0" lIns="0" bIns="0" rIns="0">
            <a:spAutoFit/>
          </a:bodyPr>
          <a:lstStyle/>
          <a:p>
            <a:pPr algn="ctr">
              <a:lnSpc>
                <a:spcPts val="2279"/>
              </a:lnSpc>
              <a:spcBef>
                <a:spcPct val="0"/>
              </a:spcBef>
            </a:pPr>
            <a:r>
              <a:rPr lang="en-US" sz="1899">
                <a:solidFill>
                  <a:srgbClr val="1D4ED8"/>
                </a:solidFill>
                <a:latin typeface="Calibri (MS)"/>
                <a:ea typeface="Calibri (MS)"/>
                <a:cs typeface="Calibri (MS)"/>
                <a:sym typeface="Calibri (MS)"/>
              </a:rPr>
              <a:t>Alerte/Blocage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0F4FF"/>
        </a:solidFill>
      </p:bgPr>
    </p:bg>
    <p:spTree>
      <p:nvGrpSpPr>
        <p:cNvPr id="1" name=""/>
        <p:cNvGrpSpPr/>
        <p:nvPr/>
      </p:nvGrpSpPr>
      <p:grpSpPr>
        <a:xfrm>
          <a:off x="0" y="0"/>
          <a:ext cx="0" cy="0"/>
          <a:chOff x="0" y="0"/>
          <a:chExt cx="0" cy="0"/>
        </a:xfrm>
      </p:grpSpPr>
      <p:grpSp>
        <p:nvGrpSpPr>
          <p:cNvPr name="Group 2" id="2"/>
          <p:cNvGrpSpPr/>
          <p:nvPr/>
        </p:nvGrpSpPr>
        <p:grpSpPr>
          <a:xfrm rot="0">
            <a:off x="800100" y="-1173696"/>
            <a:ext cx="16459200" cy="4404792"/>
            <a:chOff x="0" y="0"/>
            <a:chExt cx="21945600" cy="5873055"/>
          </a:xfrm>
        </p:grpSpPr>
        <p:sp>
          <p:nvSpPr>
            <p:cNvPr name="Freeform 3" id="3"/>
            <p:cNvSpPr/>
            <p:nvPr/>
          </p:nvSpPr>
          <p:spPr>
            <a:xfrm flipH="false" flipV="false" rot="0">
              <a:off x="0" y="0"/>
              <a:ext cx="21945600" cy="5873055"/>
            </a:xfrm>
            <a:custGeom>
              <a:avLst/>
              <a:gdLst/>
              <a:ahLst/>
              <a:cxnLst/>
              <a:rect r="r" b="b" t="t" l="l"/>
              <a:pathLst>
                <a:path h="5873055" w="21945600">
                  <a:moveTo>
                    <a:pt x="0" y="0"/>
                  </a:moveTo>
                  <a:lnTo>
                    <a:pt x="21945600" y="0"/>
                  </a:lnTo>
                  <a:lnTo>
                    <a:pt x="21945600" y="5873055"/>
                  </a:lnTo>
                  <a:lnTo>
                    <a:pt x="0" y="5873055"/>
                  </a:lnTo>
                  <a:close/>
                </a:path>
              </a:pathLst>
            </a:custGeom>
            <a:blipFill>
              <a:blip r:embed="rId2">
                <a:alphaModFix amt="0"/>
              </a:blip>
              <a:stretch>
                <a:fillRect l="0" t="-59315" r="0" b="13697"/>
              </a:stretch>
            </a:blipFill>
          </p:spPr>
        </p:sp>
        <p:sp>
          <p:nvSpPr>
            <p:cNvPr name="TextBox 4" id="4"/>
            <p:cNvSpPr txBox="true"/>
            <p:nvPr/>
          </p:nvSpPr>
          <p:spPr>
            <a:xfrm>
              <a:off x="0" y="-9525"/>
              <a:ext cx="21945600" cy="5882580"/>
            </a:xfrm>
            <a:prstGeom prst="rect">
              <a:avLst/>
            </a:prstGeom>
          </p:spPr>
          <p:txBody>
            <a:bodyPr anchor="ctr" rtlCol="false" tIns="0" lIns="0" bIns="0" rIns="0"/>
            <a:lstStyle/>
            <a:p>
              <a:pPr algn="l">
                <a:lnSpc>
                  <a:spcPts val="5880"/>
                </a:lnSpc>
              </a:pPr>
              <a:r>
                <a:rPr lang="en-US" sz="4900" b="true">
                  <a:solidFill>
                    <a:srgbClr val="1E293B"/>
                  </a:solidFill>
                  <a:latin typeface="Cambria Bold"/>
                  <a:ea typeface="Cambria Bold"/>
                  <a:cs typeface="Cambria Bold"/>
                  <a:sym typeface="Cambria Bold"/>
                </a:rPr>
                <a:t>Etapes de la conception du modèl</a:t>
              </a:r>
            </a:p>
          </p:txBody>
        </p:sp>
      </p:grpSp>
      <p:grpSp>
        <p:nvGrpSpPr>
          <p:cNvPr name="Group 5" id="5"/>
          <p:cNvGrpSpPr/>
          <p:nvPr/>
        </p:nvGrpSpPr>
        <p:grpSpPr>
          <a:xfrm rot="0">
            <a:off x="633727" y="1913887"/>
            <a:ext cx="5499097" cy="7876537"/>
            <a:chOff x="0" y="0"/>
            <a:chExt cx="7332129" cy="10502049"/>
          </a:xfrm>
        </p:grpSpPr>
        <p:sp>
          <p:nvSpPr>
            <p:cNvPr name="Freeform 6" id="6"/>
            <p:cNvSpPr/>
            <p:nvPr/>
          </p:nvSpPr>
          <p:spPr>
            <a:xfrm flipH="false" flipV="false" rot="0">
              <a:off x="0" y="0"/>
              <a:ext cx="7332091" cy="10502011"/>
            </a:xfrm>
            <a:custGeom>
              <a:avLst/>
              <a:gdLst/>
              <a:ahLst/>
              <a:cxnLst/>
              <a:rect r="r" b="b" t="t" l="l"/>
              <a:pathLst>
                <a:path h="10502011" w="7332091">
                  <a:moveTo>
                    <a:pt x="0" y="244348"/>
                  </a:moveTo>
                  <a:cubicBezTo>
                    <a:pt x="0" y="109474"/>
                    <a:pt x="109474" y="0"/>
                    <a:pt x="244348" y="0"/>
                  </a:cubicBezTo>
                  <a:lnTo>
                    <a:pt x="7087743" y="0"/>
                  </a:lnTo>
                  <a:cubicBezTo>
                    <a:pt x="7222744" y="0"/>
                    <a:pt x="7332091" y="109474"/>
                    <a:pt x="7332091" y="244348"/>
                  </a:cubicBezTo>
                  <a:lnTo>
                    <a:pt x="7332091" y="10257663"/>
                  </a:lnTo>
                  <a:cubicBezTo>
                    <a:pt x="7332091" y="10392664"/>
                    <a:pt x="7222617" y="10502011"/>
                    <a:pt x="7087743" y="10502011"/>
                  </a:cubicBezTo>
                  <a:lnTo>
                    <a:pt x="244348" y="10502011"/>
                  </a:lnTo>
                  <a:cubicBezTo>
                    <a:pt x="109474" y="10502011"/>
                    <a:pt x="0" y="10392664"/>
                    <a:pt x="0" y="10257663"/>
                  </a:cubicBezTo>
                  <a:close/>
                </a:path>
              </a:pathLst>
            </a:custGeom>
            <a:solidFill>
              <a:srgbClr val="FFFFFF"/>
            </a:solidFill>
            <a:ln w="12700" cap="sq">
              <a:solidFill>
                <a:srgbClr val="E2E8F0"/>
              </a:solidFill>
              <a:prstDash val="solid"/>
              <a:miter/>
            </a:ln>
          </p:spPr>
        </p:sp>
      </p:grpSp>
      <p:grpSp>
        <p:nvGrpSpPr>
          <p:cNvPr name="Group 7" id="7"/>
          <p:cNvGrpSpPr/>
          <p:nvPr/>
        </p:nvGrpSpPr>
        <p:grpSpPr>
          <a:xfrm rot="0">
            <a:off x="627383" y="1907543"/>
            <a:ext cx="5511803" cy="1342139"/>
            <a:chOff x="0" y="0"/>
            <a:chExt cx="7349071" cy="1789519"/>
          </a:xfrm>
        </p:grpSpPr>
        <p:sp>
          <p:nvSpPr>
            <p:cNvPr name="Freeform 8" id="8"/>
            <p:cNvSpPr/>
            <p:nvPr/>
          </p:nvSpPr>
          <p:spPr>
            <a:xfrm flipH="false" flipV="false" rot="0">
              <a:off x="0" y="0"/>
              <a:ext cx="7349109" cy="1789557"/>
            </a:xfrm>
            <a:custGeom>
              <a:avLst/>
              <a:gdLst/>
              <a:ahLst/>
              <a:cxnLst/>
              <a:rect r="r" b="b" t="t" l="l"/>
              <a:pathLst>
                <a:path h="1789557" w="7349109">
                  <a:moveTo>
                    <a:pt x="0" y="248539"/>
                  </a:moveTo>
                  <a:cubicBezTo>
                    <a:pt x="0" y="111252"/>
                    <a:pt x="111252" y="0"/>
                    <a:pt x="248539" y="0"/>
                  </a:cubicBezTo>
                  <a:lnTo>
                    <a:pt x="7100570" y="0"/>
                  </a:lnTo>
                  <a:cubicBezTo>
                    <a:pt x="7237857" y="0"/>
                    <a:pt x="7349109" y="111252"/>
                    <a:pt x="7349109" y="248539"/>
                  </a:cubicBezTo>
                  <a:lnTo>
                    <a:pt x="7349109" y="1541018"/>
                  </a:lnTo>
                  <a:cubicBezTo>
                    <a:pt x="7349109" y="1678305"/>
                    <a:pt x="7237857" y="1789557"/>
                    <a:pt x="7100570" y="1789557"/>
                  </a:cubicBezTo>
                  <a:lnTo>
                    <a:pt x="248539" y="1789557"/>
                  </a:lnTo>
                  <a:cubicBezTo>
                    <a:pt x="111252" y="1789557"/>
                    <a:pt x="0" y="1678178"/>
                    <a:pt x="0" y="1541018"/>
                  </a:cubicBezTo>
                  <a:close/>
                </a:path>
              </a:pathLst>
            </a:custGeom>
            <a:solidFill>
              <a:srgbClr val="E8541A"/>
            </a:solidFill>
            <a:ln w="25400" cap="sq">
              <a:solidFill>
                <a:srgbClr val="E8541A"/>
              </a:solidFill>
              <a:prstDash val="solid"/>
              <a:miter/>
            </a:ln>
          </p:spPr>
        </p:sp>
      </p:grpSp>
      <p:grpSp>
        <p:nvGrpSpPr>
          <p:cNvPr name="Group 9" id="9"/>
          <p:cNvGrpSpPr/>
          <p:nvPr/>
        </p:nvGrpSpPr>
        <p:grpSpPr>
          <a:xfrm rot="0">
            <a:off x="768096" y="1404954"/>
            <a:ext cx="5047488" cy="2347317"/>
            <a:chOff x="0" y="0"/>
            <a:chExt cx="6729984" cy="3129756"/>
          </a:xfrm>
        </p:grpSpPr>
        <p:sp>
          <p:nvSpPr>
            <p:cNvPr name="Freeform 10" id="10"/>
            <p:cNvSpPr/>
            <p:nvPr/>
          </p:nvSpPr>
          <p:spPr>
            <a:xfrm flipH="false" flipV="false" rot="0">
              <a:off x="0" y="0"/>
              <a:ext cx="6729984" cy="3129756"/>
            </a:xfrm>
            <a:custGeom>
              <a:avLst/>
              <a:gdLst/>
              <a:ahLst/>
              <a:cxnLst/>
              <a:rect r="r" b="b" t="t" l="l"/>
              <a:pathLst>
                <a:path h="3129756" w="6729984">
                  <a:moveTo>
                    <a:pt x="0" y="0"/>
                  </a:moveTo>
                  <a:lnTo>
                    <a:pt x="6729984" y="0"/>
                  </a:lnTo>
                  <a:lnTo>
                    <a:pt x="6729984" y="3129756"/>
                  </a:lnTo>
                  <a:lnTo>
                    <a:pt x="0" y="3129756"/>
                  </a:lnTo>
                  <a:close/>
                </a:path>
              </a:pathLst>
            </a:custGeom>
            <a:blipFill>
              <a:blip r:embed="rId2">
                <a:alphaModFix amt="0"/>
              </a:blip>
              <a:stretch>
                <a:fillRect l="0" t="-27096" r="0" b="43297"/>
              </a:stretch>
            </a:blipFill>
          </p:spPr>
        </p:sp>
        <p:sp>
          <p:nvSpPr>
            <p:cNvPr name="TextBox 11" id="11"/>
            <p:cNvSpPr txBox="true"/>
            <p:nvPr/>
          </p:nvSpPr>
          <p:spPr>
            <a:xfrm>
              <a:off x="0" y="-9525"/>
              <a:ext cx="6729984" cy="3139281"/>
            </a:xfrm>
            <a:prstGeom prst="rect">
              <a:avLst/>
            </a:prstGeom>
          </p:spPr>
          <p:txBody>
            <a:bodyPr anchor="ctr" rtlCol="false" tIns="0" lIns="0" bIns="0" rIns="0"/>
            <a:lstStyle/>
            <a:p>
              <a:pPr algn="l">
                <a:lnSpc>
                  <a:spcPts val="3840"/>
                </a:lnSpc>
              </a:pPr>
              <a:r>
                <a:rPr lang="en-US" sz="3200" b="true">
                  <a:solidFill>
                    <a:srgbClr val="FFFFFF"/>
                  </a:solidFill>
                  <a:latin typeface="Cambria Bold"/>
                  <a:ea typeface="Cambria Bold"/>
                  <a:cs typeface="Cambria Bold"/>
                  <a:sym typeface="Cambria Bold"/>
                </a:rPr>
                <a:t>Analyse du Dataset</a:t>
              </a:r>
            </a:p>
          </p:txBody>
        </p:sp>
      </p:grpSp>
      <p:grpSp>
        <p:nvGrpSpPr>
          <p:cNvPr name="Group 12" id="12"/>
          <p:cNvGrpSpPr/>
          <p:nvPr/>
        </p:nvGrpSpPr>
        <p:grpSpPr>
          <a:xfrm rot="0">
            <a:off x="969264" y="3438144"/>
            <a:ext cx="4846320" cy="786384"/>
            <a:chOff x="0" y="0"/>
            <a:chExt cx="6461760" cy="1048512"/>
          </a:xfrm>
        </p:grpSpPr>
        <p:sp>
          <p:nvSpPr>
            <p:cNvPr name="Freeform 13" id="13"/>
            <p:cNvSpPr/>
            <p:nvPr/>
          </p:nvSpPr>
          <p:spPr>
            <a:xfrm flipH="false" flipV="false" rot="0">
              <a:off x="0" y="0"/>
              <a:ext cx="6461760" cy="1048512"/>
            </a:xfrm>
            <a:custGeom>
              <a:avLst/>
              <a:gdLst/>
              <a:ahLst/>
              <a:cxnLst/>
              <a:rect r="r" b="b" t="t" l="l"/>
              <a:pathLst>
                <a:path h="1048512" w="6461760">
                  <a:moveTo>
                    <a:pt x="0" y="0"/>
                  </a:moveTo>
                  <a:lnTo>
                    <a:pt x="6461760" y="0"/>
                  </a:lnTo>
                  <a:lnTo>
                    <a:pt x="6461760" y="1048512"/>
                  </a:lnTo>
                  <a:lnTo>
                    <a:pt x="0" y="1048512"/>
                  </a:lnTo>
                  <a:close/>
                </a:path>
              </a:pathLst>
            </a:custGeom>
            <a:blipFill>
              <a:blip r:embed="rId2">
                <a:alphaModFix amt="0"/>
              </a:blip>
              <a:stretch>
                <a:fillRect l="0" t="-70082" r="0" b="-70082"/>
              </a:stretch>
            </a:blipFill>
          </p:spPr>
        </p:sp>
        <p:sp>
          <p:nvSpPr>
            <p:cNvPr name="TextBox 14" id="14"/>
            <p:cNvSpPr txBox="true"/>
            <p:nvPr/>
          </p:nvSpPr>
          <p:spPr>
            <a:xfrm>
              <a:off x="0" y="-47625"/>
              <a:ext cx="6461760" cy="1096137"/>
            </a:xfrm>
            <a:prstGeom prst="rect">
              <a:avLst/>
            </a:prstGeom>
          </p:spPr>
          <p:txBody>
            <a:bodyPr anchor="ctr" rtlCol="false" tIns="0" lIns="0" bIns="0" rIns="0"/>
            <a:lstStyle/>
            <a:p>
              <a:pPr algn="l">
                <a:lnSpc>
                  <a:spcPts val="2520"/>
                </a:lnSpc>
              </a:pPr>
              <a:r>
                <a:rPr lang="en-US" sz="2100">
                  <a:solidFill>
                    <a:srgbClr val="1E293B"/>
                  </a:solidFill>
                  <a:latin typeface="Calibri (MS)"/>
                  <a:ea typeface="Calibri (MS)"/>
                  <a:cs typeface="Calibri (MS)"/>
                  <a:sym typeface="Calibri (MS)"/>
                </a:rPr>
                <a:t>• comprendre le dataset</a:t>
              </a:r>
            </a:p>
          </p:txBody>
        </p:sp>
      </p:grpSp>
      <p:grpSp>
        <p:nvGrpSpPr>
          <p:cNvPr name="Group 15" id="15"/>
          <p:cNvGrpSpPr/>
          <p:nvPr/>
        </p:nvGrpSpPr>
        <p:grpSpPr>
          <a:xfrm rot="0">
            <a:off x="969264" y="4297680"/>
            <a:ext cx="4846320" cy="786384"/>
            <a:chOff x="0" y="0"/>
            <a:chExt cx="6461760" cy="1048512"/>
          </a:xfrm>
        </p:grpSpPr>
        <p:sp>
          <p:nvSpPr>
            <p:cNvPr name="Freeform 16" id="16"/>
            <p:cNvSpPr/>
            <p:nvPr/>
          </p:nvSpPr>
          <p:spPr>
            <a:xfrm flipH="false" flipV="false" rot="0">
              <a:off x="0" y="0"/>
              <a:ext cx="6461760" cy="1048512"/>
            </a:xfrm>
            <a:custGeom>
              <a:avLst/>
              <a:gdLst/>
              <a:ahLst/>
              <a:cxnLst/>
              <a:rect r="r" b="b" t="t" l="l"/>
              <a:pathLst>
                <a:path h="1048512" w="6461760">
                  <a:moveTo>
                    <a:pt x="0" y="0"/>
                  </a:moveTo>
                  <a:lnTo>
                    <a:pt x="6461760" y="0"/>
                  </a:lnTo>
                  <a:lnTo>
                    <a:pt x="6461760" y="1048512"/>
                  </a:lnTo>
                  <a:lnTo>
                    <a:pt x="0" y="1048512"/>
                  </a:lnTo>
                  <a:close/>
                </a:path>
              </a:pathLst>
            </a:custGeom>
            <a:blipFill>
              <a:blip r:embed="rId2">
                <a:alphaModFix amt="0"/>
              </a:blip>
              <a:stretch>
                <a:fillRect l="0" t="-70082" r="0" b="-70082"/>
              </a:stretch>
            </a:blipFill>
          </p:spPr>
        </p:sp>
        <p:sp>
          <p:nvSpPr>
            <p:cNvPr name="TextBox 17" id="17"/>
            <p:cNvSpPr txBox="true"/>
            <p:nvPr/>
          </p:nvSpPr>
          <p:spPr>
            <a:xfrm>
              <a:off x="0" y="-47625"/>
              <a:ext cx="6461760" cy="1096137"/>
            </a:xfrm>
            <a:prstGeom prst="rect">
              <a:avLst/>
            </a:prstGeom>
          </p:spPr>
          <p:txBody>
            <a:bodyPr anchor="ctr" rtlCol="false" tIns="0" lIns="0" bIns="0" rIns="0"/>
            <a:lstStyle/>
            <a:p>
              <a:pPr algn="l">
                <a:lnSpc>
                  <a:spcPts val="2520"/>
                </a:lnSpc>
              </a:pPr>
              <a:r>
                <a:rPr lang="en-US" sz="2100">
                  <a:solidFill>
                    <a:srgbClr val="1E293B"/>
                  </a:solidFill>
                  <a:latin typeface="Calibri (MS)"/>
                  <a:ea typeface="Calibri (MS)"/>
                  <a:cs typeface="Calibri (MS)"/>
                  <a:sym typeface="Calibri (MS)"/>
                </a:rPr>
                <a:t>• Valeurs manquantes ou aberrantes</a:t>
              </a:r>
            </a:p>
          </p:txBody>
        </p:sp>
      </p:grpSp>
      <p:grpSp>
        <p:nvGrpSpPr>
          <p:cNvPr name="Group 18" id="18"/>
          <p:cNvGrpSpPr/>
          <p:nvPr/>
        </p:nvGrpSpPr>
        <p:grpSpPr>
          <a:xfrm rot="0">
            <a:off x="969264" y="5157216"/>
            <a:ext cx="4846320" cy="786384"/>
            <a:chOff x="0" y="0"/>
            <a:chExt cx="6461760" cy="1048512"/>
          </a:xfrm>
        </p:grpSpPr>
        <p:sp>
          <p:nvSpPr>
            <p:cNvPr name="Freeform 19" id="19"/>
            <p:cNvSpPr/>
            <p:nvPr/>
          </p:nvSpPr>
          <p:spPr>
            <a:xfrm flipH="false" flipV="false" rot="0">
              <a:off x="0" y="0"/>
              <a:ext cx="6461760" cy="1048512"/>
            </a:xfrm>
            <a:custGeom>
              <a:avLst/>
              <a:gdLst/>
              <a:ahLst/>
              <a:cxnLst/>
              <a:rect r="r" b="b" t="t" l="l"/>
              <a:pathLst>
                <a:path h="1048512" w="6461760">
                  <a:moveTo>
                    <a:pt x="0" y="0"/>
                  </a:moveTo>
                  <a:lnTo>
                    <a:pt x="6461760" y="0"/>
                  </a:lnTo>
                  <a:lnTo>
                    <a:pt x="6461760" y="1048512"/>
                  </a:lnTo>
                  <a:lnTo>
                    <a:pt x="0" y="1048512"/>
                  </a:lnTo>
                  <a:close/>
                </a:path>
              </a:pathLst>
            </a:custGeom>
            <a:blipFill>
              <a:blip r:embed="rId2">
                <a:alphaModFix amt="0"/>
              </a:blip>
              <a:stretch>
                <a:fillRect l="0" t="-70082" r="0" b="-70082"/>
              </a:stretch>
            </a:blipFill>
          </p:spPr>
        </p:sp>
        <p:sp>
          <p:nvSpPr>
            <p:cNvPr name="TextBox 20" id="20"/>
            <p:cNvSpPr txBox="true"/>
            <p:nvPr/>
          </p:nvSpPr>
          <p:spPr>
            <a:xfrm>
              <a:off x="0" y="-47625"/>
              <a:ext cx="6461760" cy="1096137"/>
            </a:xfrm>
            <a:prstGeom prst="rect">
              <a:avLst/>
            </a:prstGeom>
          </p:spPr>
          <p:txBody>
            <a:bodyPr anchor="ctr" rtlCol="false" tIns="0" lIns="0" bIns="0" rIns="0"/>
            <a:lstStyle/>
            <a:p>
              <a:pPr algn="l">
                <a:lnSpc>
                  <a:spcPts val="2520"/>
                </a:lnSpc>
              </a:pPr>
              <a:r>
                <a:rPr lang="en-US" sz="2100">
                  <a:solidFill>
                    <a:srgbClr val="1E293B"/>
                  </a:solidFill>
                  <a:latin typeface="Calibri (MS)"/>
                  <a:ea typeface="Calibri (MS)"/>
                  <a:cs typeface="Calibri (MS)"/>
                  <a:sym typeface="Calibri (MS)"/>
                </a:rPr>
                <a:t>• infos clées du dataset </a:t>
              </a:r>
            </a:p>
          </p:txBody>
        </p:sp>
      </p:grpSp>
      <p:grpSp>
        <p:nvGrpSpPr>
          <p:cNvPr name="Group 21" id="21"/>
          <p:cNvGrpSpPr/>
          <p:nvPr/>
        </p:nvGrpSpPr>
        <p:grpSpPr>
          <a:xfrm rot="0">
            <a:off x="969264" y="6016752"/>
            <a:ext cx="4846320" cy="786384"/>
            <a:chOff x="0" y="0"/>
            <a:chExt cx="6461760" cy="1048512"/>
          </a:xfrm>
        </p:grpSpPr>
        <p:sp>
          <p:nvSpPr>
            <p:cNvPr name="Freeform 22" id="22"/>
            <p:cNvSpPr/>
            <p:nvPr/>
          </p:nvSpPr>
          <p:spPr>
            <a:xfrm flipH="false" flipV="false" rot="0">
              <a:off x="0" y="0"/>
              <a:ext cx="6461760" cy="1048512"/>
            </a:xfrm>
            <a:custGeom>
              <a:avLst/>
              <a:gdLst/>
              <a:ahLst/>
              <a:cxnLst/>
              <a:rect r="r" b="b" t="t" l="l"/>
              <a:pathLst>
                <a:path h="1048512" w="6461760">
                  <a:moveTo>
                    <a:pt x="0" y="0"/>
                  </a:moveTo>
                  <a:lnTo>
                    <a:pt x="6461760" y="0"/>
                  </a:lnTo>
                  <a:lnTo>
                    <a:pt x="6461760" y="1048512"/>
                  </a:lnTo>
                  <a:lnTo>
                    <a:pt x="0" y="1048512"/>
                  </a:lnTo>
                  <a:close/>
                </a:path>
              </a:pathLst>
            </a:custGeom>
            <a:blipFill>
              <a:blip r:embed="rId2">
                <a:alphaModFix amt="0"/>
              </a:blip>
              <a:stretch>
                <a:fillRect l="0" t="-70082" r="0" b="-70082"/>
              </a:stretch>
            </a:blipFill>
          </p:spPr>
        </p:sp>
        <p:sp>
          <p:nvSpPr>
            <p:cNvPr name="TextBox 23" id="23"/>
            <p:cNvSpPr txBox="true"/>
            <p:nvPr/>
          </p:nvSpPr>
          <p:spPr>
            <a:xfrm>
              <a:off x="0" y="-47625"/>
              <a:ext cx="6461760" cy="1096137"/>
            </a:xfrm>
            <a:prstGeom prst="rect">
              <a:avLst/>
            </a:prstGeom>
          </p:spPr>
          <p:txBody>
            <a:bodyPr anchor="ctr" rtlCol="false" tIns="0" lIns="0" bIns="0" rIns="0"/>
            <a:lstStyle/>
            <a:p>
              <a:pPr algn="l">
                <a:lnSpc>
                  <a:spcPts val="2520"/>
                </a:lnSpc>
              </a:pPr>
              <a:r>
                <a:rPr lang="en-US" sz="2100">
                  <a:solidFill>
                    <a:srgbClr val="1E293B"/>
                  </a:solidFill>
                  <a:latin typeface="Calibri (MS)"/>
                  <a:ea typeface="Calibri (MS)"/>
                  <a:cs typeface="Calibri (MS)"/>
                  <a:sym typeface="Calibri (MS)"/>
                </a:rPr>
                <a:t>• identifier la repartition des classes</a:t>
              </a:r>
            </a:p>
          </p:txBody>
        </p:sp>
      </p:grpSp>
      <p:grpSp>
        <p:nvGrpSpPr>
          <p:cNvPr name="Group 24" id="24"/>
          <p:cNvGrpSpPr/>
          <p:nvPr/>
        </p:nvGrpSpPr>
        <p:grpSpPr>
          <a:xfrm rot="0">
            <a:off x="969264" y="6876288"/>
            <a:ext cx="4846320" cy="786384"/>
            <a:chOff x="0" y="0"/>
            <a:chExt cx="6461760" cy="1048512"/>
          </a:xfrm>
        </p:grpSpPr>
        <p:sp>
          <p:nvSpPr>
            <p:cNvPr name="Freeform 25" id="25"/>
            <p:cNvSpPr/>
            <p:nvPr/>
          </p:nvSpPr>
          <p:spPr>
            <a:xfrm flipH="false" flipV="false" rot="0">
              <a:off x="0" y="0"/>
              <a:ext cx="6461760" cy="1048512"/>
            </a:xfrm>
            <a:custGeom>
              <a:avLst/>
              <a:gdLst/>
              <a:ahLst/>
              <a:cxnLst/>
              <a:rect r="r" b="b" t="t" l="l"/>
              <a:pathLst>
                <a:path h="1048512" w="6461760">
                  <a:moveTo>
                    <a:pt x="0" y="0"/>
                  </a:moveTo>
                  <a:lnTo>
                    <a:pt x="6461760" y="0"/>
                  </a:lnTo>
                  <a:lnTo>
                    <a:pt x="6461760" y="1048512"/>
                  </a:lnTo>
                  <a:lnTo>
                    <a:pt x="0" y="1048512"/>
                  </a:lnTo>
                  <a:close/>
                </a:path>
              </a:pathLst>
            </a:custGeom>
            <a:blipFill>
              <a:blip r:embed="rId2">
                <a:alphaModFix amt="0"/>
              </a:blip>
              <a:stretch>
                <a:fillRect l="0" t="-70082" r="0" b="-70082"/>
              </a:stretch>
            </a:blipFill>
          </p:spPr>
        </p:sp>
        <p:sp>
          <p:nvSpPr>
            <p:cNvPr name="TextBox 26" id="26"/>
            <p:cNvSpPr txBox="true"/>
            <p:nvPr/>
          </p:nvSpPr>
          <p:spPr>
            <a:xfrm>
              <a:off x="0" y="-47625"/>
              <a:ext cx="6461760" cy="1096137"/>
            </a:xfrm>
            <a:prstGeom prst="rect">
              <a:avLst/>
            </a:prstGeom>
          </p:spPr>
          <p:txBody>
            <a:bodyPr anchor="ctr" rtlCol="false" tIns="0" lIns="0" bIns="0" rIns="0"/>
            <a:lstStyle/>
            <a:p>
              <a:pPr algn="l">
                <a:lnSpc>
                  <a:spcPts val="2520"/>
                </a:lnSpc>
              </a:pPr>
              <a:r>
                <a:rPr lang="en-US" sz="2100">
                  <a:solidFill>
                    <a:srgbClr val="1E293B"/>
                  </a:solidFill>
                  <a:latin typeface="Calibri (MS)"/>
                  <a:ea typeface="Calibri (MS)"/>
                  <a:cs typeface="Calibri (MS)"/>
                  <a:sym typeface="Calibri (MS)"/>
                </a:rPr>
                <a:t>• Identifier les types</a:t>
              </a:r>
            </a:p>
          </p:txBody>
        </p:sp>
      </p:grpSp>
      <p:grpSp>
        <p:nvGrpSpPr>
          <p:cNvPr name="Group 27" id="27"/>
          <p:cNvGrpSpPr/>
          <p:nvPr/>
        </p:nvGrpSpPr>
        <p:grpSpPr>
          <a:xfrm rot="0">
            <a:off x="6431023" y="1913887"/>
            <a:ext cx="5499097" cy="7876537"/>
            <a:chOff x="0" y="0"/>
            <a:chExt cx="7332129" cy="10502049"/>
          </a:xfrm>
        </p:grpSpPr>
        <p:sp>
          <p:nvSpPr>
            <p:cNvPr name="Freeform 28" id="28"/>
            <p:cNvSpPr/>
            <p:nvPr/>
          </p:nvSpPr>
          <p:spPr>
            <a:xfrm flipH="false" flipV="false" rot="0">
              <a:off x="0" y="0"/>
              <a:ext cx="7332091" cy="10502011"/>
            </a:xfrm>
            <a:custGeom>
              <a:avLst/>
              <a:gdLst/>
              <a:ahLst/>
              <a:cxnLst/>
              <a:rect r="r" b="b" t="t" l="l"/>
              <a:pathLst>
                <a:path h="10502011" w="7332091">
                  <a:moveTo>
                    <a:pt x="0" y="244348"/>
                  </a:moveTo>
                  <a:cubicBezTo>
                    <a:pt x="0" y="109474"/>
                    <a:pt x="109474" y="0"/>
                    <a:pt x="244348" y="0"/>
                  </a:cubicBezTo>
                  <a:lnTo>
                    <a:pt x="7087743" y="0"/>
                  </a:lnTo>
                  <a:cubicBezTo>
                    <a:pt x="7222744" y="0"/>
                    <a:pt x="7332091" y="109474"/>
                    <a:pt x="7332091" y="244348"/>
                  </a:cubicBezTo>
                  <a:lnTo>
                    <a:pt x="7332091" y="10257663"/>
                  </a:lnTo>
                  <a:cubicBezTo>
                    <a:pt x="7332091" y="10392664"/>
                    <a:pt x="7222617" y="10502011"/>
                    <a:pt x="7087743" y="10502011"/>
                  </a:cubicBezTo>
                  <a:lnTo>
                    <a:pt x="244348" y="10502011"/>
                  </a:lnTo>
                  <a:cubicBezTo>
                    <a:pt x="109474" y="10502011"/>
                    <a:pt x="0" y="10392664"/>
                    <a:pt x="0" y="10257663"/>
                  </a:cubicBezTo>
                  <a:close/>
                </a:path>
              </a:pathLst>
            </a:custGeom>
            <a:solidFill>
              <a:srgbClr val="FFFFFF"/>
            </a:solidFill>
            <a:ln w="12700" cap="sq">
              <a:solidFill>
                <a:srgbClr val="E2E8F0"/>
              </a:solidFill>
              <a:prstDash val="solid"/>
              <a:miter/>
            </a:ln>
          </p:spPr>
        </p:sp>
      </p:grpSp>
      <p:grpSp>
        <p:nvGrpSpPr>
          <p:cNvPr name="Group 29" id="29"/>
          <p:cNvGrpSpPr/>
          <p:nvPr/>
        </p:nvGrpSpPr>
        <p:grpSpPr>
          <a:xfrm rot="0">
            <a:off x="6424679" y="1907543"/>
            <a:ext cx="5511803" cy="1342139"/>
            <a:chOff x="0" y="0"/>
            <a:chExt cx="7349071" cy="1789519"/>
          </a:xfrm>
        </p:grpSpPr>
        <p:sp>
          <p:nvSpPr>
            <p:cNvPr name="Freeform 30" id="30"/>
            <p:cNvSpPr/>
            <p:nvPr/>
          </p:nvSpPr>
          <p:spPr>
            <a:xfrm flipH="false" flipV="false" rot="0">
              <a:off x="0" y="0"/>
              <a:ext cx="7349109" cy="1789557"/>
            </a:xfrm>
            <a:custGeom>
              <a:avLst/>
              <a:gdLst/>
              <a:ahLst/>
              <a:cxnLst/>
              <a:rect r="r" b="b" t="t" l="l"/>
              <a:pathLst>
                <a:path h="1789557" w="7349109">
                  <a:moveTo>
                    <a:pt x="0" y="248539"/>
                  </a:moveTo>
                  <a:cubicBezTo>
                    <a:pt x="0" y="111252"/>
                    <a:pt x="111252" y="0"/>
                    <a:pt x="248539" y="0"/>
                  </a:cubicBezTo>
                  <a:lnTo>
                    <a:pt x="7100570" y="0"/>
                  </a:lnTo>
                  <a:cubicBezTo>
                    <a:pt x="7237857" y="0"/>
                    <a:pt x="7349109" y="111252"/>
                    <a:pt x="7349109" y="248539"/>
                  </a:cubicBezTo>
                  <a:lnTo>
                    <a:pt x="7349109" y="1541018"/>
                  </a:lnTo>
                  <a:cubicBezTo>
                    <a:pt x="7349109" y="1678305"/>
                    <a:pt x="7237857" y="1789557"/>
                    <a:pt x="7100570" y="1789557"/>
                  </a:cubicBezTo>
                  <a:lnTo>
                    <a:pt x="248539" y="1789557"/>
                  </a:lnTo>
                  <a:cubicBezTo>
                    <a:pt x="111252" y="1789557"/>
                    <a:pt x="0" y="1678178"/>
                    <a:pt x="0" y="1541018"/>
                  </a:cubicBezTo>
                  <a:close/>
                </a:path>
              </a:pathLst>
            </a:custGeom>
            <a:solidFill>
              <a:srgbClr val="B22222"/>
            </a:solidFill>
            <a:ln w="25400" cap="sq">
              <a:solidFill>
                <a:srgbClr val="B22222"/>
              </a:solidFill>
              <a:prstDash val="solid"/>
              <a:miter/>
            </a:ln>
          </p:spPr>
        </p:sp>
      </p:grpSp>
      <p:grpSp>
        <p:nvGrpSpPr>
          <p:cNvPr name="Group 31" id="31"/>
          <p:cNvGrpSpPr/>
          <p:nvPr/>
        </p:nvGrpSpPr>
        <p:grpSpPr>
          <a:xfrm rot="0">
            <a:off x="6888994" y="1404954"/>
            <a:ext cx="5047488" cy="2347347"/>
            <a:chOff x="0" y="0"/>
            <a:chExt cx="6729984" cy="3129795"/>
          </a:xfrm>
        </p:grpSpPr>
        <p:sp>
          <p:nvSpPr>
            <p:cNvPr name="Freeform 32" id="32"/>
            <p:cNvSpPr/>
            <p:nvPr/>
          </p:nvSpPr>
          <p:spPr>
            <a:xfrm flipH="false" flipV="false" rot="0">
              <a:off x="0" y="0"/>
              <a:ext cx="6729984" cy="3129795"/>
            </a:xfrm>
            <a:custGeom>
              <a:avLst/>
              <a:gdLst/>
              <a:ahLst/>
              <a:cxnLst/>
              <a:rect r="r" b="b" t="t" l="l"/>
              <a:pathLst>
                <a:path h="3129795" w="6729984">
                  <a:moveTo>
                    <a:pt x="0" y="0"/>
                  </a:moveTo>
                  <a:lnTo>
                    <a:pt x="6729984" y="0"/>
                  </a:lnTo>
                  <a:lnTo>
                    <a:pt x="6729984" y="3129795"/>
                  </a:lnTo>
                  <a:lnTo>
                    <a:pt x="0" y="3129795"/>
                  </a:lnTo>
                  <a:close/>
                </a:path>
              </a:pathLst>
            </a:custGeom>
            <a:blipFill>
              <a:blip r:embed="rId2">
                <a:alphaModFix amt="0"/>
              </a:blip>
              <a:stretch>
                <a:fillRect l="0" t="-27095" r="0" b="43298"/>
              </a:stretch>
            </a:blipFill>
          </p:spPr>
        </p:sp>
        <p:sp>
          <p:nvSpPr>
            <p:cNvPr name="TextBox 33" id="33"/>
            <p:cNvSpPr txBox="true"/>
            <p:nvPr/>
          </p:nvSpPr>
          <p:spPr>
            <a:xfrm>
              <a:off x="0" y="-9525"/>
              <a:ext cx="6729984" cy="3139320"/>
            </a:xfrm>
            <a:prstGeom prst="rect">
              <a:avLst/>
            </a:prstGeom>
          </p:spPr>
          <p:txBody>
            <a:bodyPr anchor="ctr" rtlCol="false" tIns="0" lIns="0" bIns="0" rIns="0"/>
            <a:lstStyle/>
            <a:p>
              <a:pPr algn="l">
                <a:lnSpc>
                  <a:spcPts val="3840"/>
                </a:lnSpc>
              </a:pPr>
              <a:r>
                <a:rPr lang="en-US" sz="3200" b="true">
                  <a:solidFill>
                    <a:srgbClr val="FFFFFF"/>
                  </a:solidFill>
                  <a:latin typeface="Cambria Bold"/>
                  <a:ea typeface="Cambria Bold"/>
                  <a:cs typeface="Cambria Bold"/>
                  <a:sym typeface="Cambria Bold"/>
                </a:rPr>
                <a:t>Prétraitement </a:t>
              </a:r>
            </a:p>
          </p:txBody>
        </p:sp>
      </p:grpSp>
      <p:grpSp>
        <p:nvGrpSpPr>
          <p:cNvPr name="Group 34" id="34"/>
          <p:cNvGrpSpPr/>
          <p:nvPr/>
        </p:nvGrpSpPr>
        <p:grpSpPr>
          <a:xfrm rot="0">
            <a:off x="6766560" y="3438144"/>
            <a:ext cx="4846320" cy="786384"/>
            <a:chOff x="0" y="0"/>
            <a:chExt cx="6461760" cy="1048512"/>
          </a:xfrm>
        </p:grpSpPr>
        <p:sp>
          <p:nvSpPr>
            <p:cNvPr name="Freeform 35" id="35"/>
            <p:cNvSpPr/>
            <p:nvPr/>
          </p:nvSpPr>
          <p:spPr>
            <a:xfrm flipH="false" flipV="false" rot="0">
              <a:off x="0" y="0"/>
              <a:ext cx="6461760" cy="1048512"/>
            </a:xfrm>
            <a:custGeom>
              <a:avLst/>
              <a:gdLst/>
              <a:ahLst/>
              <a:cxnLst/>
              <a:rect r="r" b="b" t="t" l="l"/>
              <a:pathLst>
                <a:path h="1048512" w="6461760">
                  <a:moveTo>
                    <a:pt x="0" y="0"/>
                  </a:moveTo>
                  <a:lnTo>
                    <a:pt x="6461760" y="0"/>
                  </a:lnTo>
                  <a:lnTo>
                    <a:pt x="6461760" y="1048512"/>
                  </a:lnTo>
                  <a:lnTo>
                    <a:pt x="0" y="1048512"/>
                  </a:lnTo>
                  <a:close/>
                </a:path>
              </a:pathLst>
            </a:custGeom>
            <a:blipFill>
              <a:blip r:embed="rId2">
                <a:alphaModFix amt="0"/>
              </a:blip>
              <a:stretch>
                <a:fillRect l="0" t="-70082" r="0" b="-70082"/>
              </a:stretch>
            </a:blipFill>
          </p:spPr>
        </p:sp>
        <p:sp>
          <p:nvSpPr>
            <p:cNvPr name="TextBox 36" id="36"/>
            <p:cNvSpPr txBox="true"/>
            <p:nvPr/>
          </p:nvSpPr>
          <p:spPr>
            <a:xfrm>
              <a:off x="0" y="-47625"/>
              <a:ext cx="6461760" cy="1096137"/>
            </a:xfrm>
            <a:prstGeom prst="rect">
              <a:avLst/>
            </a:prstGeom>
          </p:spPr>
          <p:txBody>
            <a:bodyPr anchor="ctr" rtlCol="false" tIns="0" lIns="0" bIns="0" rIns="0"/>
            <a:lstStyle/>
            <a:p>
              <a:pPr algn="l">
                <a:lnSpc>
                  <a:spcPts val="2520"/>
                </a:lnSpc>
              </a:pPr>
              <a:r>
                <a:rPr lang="en-US" sz="2100">
                  <a:solidFill>
                    <a:srgbClr val="1E293B"/>
                  </a:solidFill>
                  <a:latin typeface="Calibri (MS)"/>
                  <a:ea typeface="Calibri (MS)"/>
                  <a:cs typeface="Calibri (MS)"/>
                  <a:sym typeface="Calibri (MS)"/>
                </a:rPr>
                <a:t>• supprimer ou remplacer les valeurs manquants</a:t>
              </a:r>
            </a:p>
          </p:txBody>
        </p:sp>
      </p:grpSp>
      <p:grpSp>
        <p:nvGrpSpPr>
          <p:cNvPr name="Group 37" id="37"/>
          <p:cNvGrpSpPr/>
          <p:nvPr/>
        </p:nvGrpSpPr>
        <p:grpSpPr>
          <a:xfrm rot="0">
            <a:off x="6766560" y="4297680"/>
            <a:ext cx="4846320" cy="786384"/>
            <a:chOff x="0" y="0"/>
            <a:chExt cx="6461760" cy="1048512"/>
          </a:xfrm>
        </p:grpSpPr>
        <p:sp>
          <p:nvSpPr>
            <p:cNvPr name="Freeform 38" id="38"/>
            <p:cNvSpPr/>
            <p:nvPr/>
          </p:nvSpPr>
          <p:spPr>
            <a:xfrm flipH="false" flipV="false" rot="0">
              <a:off x="0" y="0"/>
              <a:ext cx="6461760" cy="1048512"/>
            </a:xfrm>
            <a:custGeom>
              <a:avLst/>
              <a:gdLst/>
              <a:ahLst/>
              <a:cxnLst/>
              <a:rect r="r" b="b" t="t" l="l"/>
              <a:pathLst>
                <a:path h="1048512" w="6461760">
                  <a:moveTo>
                    <a:pt x="0" y="0"/>
                  </a:moveTo>
                  <a:lnTo>
                    <a:pt x="6461760" y="0"/>
                  </a:lnTo>
                  <a:lnTo>
                    <a:pt x="6461760" y="1048512"/>
                  </a:lnTo>
                  <a:lnTo>
                    <a:pt x="0" y="1048512"/>
                  </a:lnTo>
                  <a:close/>
                </a:path>
              </a:pathLst>
            </a:custGeom>
            <a:blipFill>
              <a:blip r:embed="rId2">
                <a:alphaModFix amt="0"/>
              </a:blip>
              <a:stretch>
                <a:fillRect l="0" t="-70082" r="0" b="-70082"/>
              </a:stretch>
            </a:blipFill>
          </p:spPr>
        </p:sp>
        <p:sp>
          <p:nvSpPr>
            <p:cNvPr name="TextBox 39" id="39"/>
            <p:cNvSpPr txBox="true"/>
            <p:nvPr/>
          </p:nvSpPr>
          <p:spPr>
            <a:xfrm>
              <a:off x="0" y="-47625"/>
              <a:ext cx="6461760" cy="1096137"/>
            </a:xfrm>
            <a:prstGeom prst="rect">
              <a:avLst/>
            </a:prstGeom>
          </p:spPr>
          <p:txBody>
            <a:bodyPr anchor="ctr" rtlCol="false" tIns="0" lIns="0" bIns="0" rIns="0"/>
            <a:lstStyle/>
            <a:p>
              <a:pPr algn="l">
                <a:lnSpc>
                  <a:spcPts val="2520"/>
                </a:lnSpc>
              </a:pPr>
              <a:r>
                <a:rPr lang="en-US" sz="2100">
                  <a:solidFill>
                    <a:srgbClr val="1E293B"/>
                  </a:solidFill>
                  <a:latin typeface="Calibri (MS)"/>
                  <a:ea typeface="Calibri (MS)"/>
                  <a:cs typeface="Calibri (MS)"/>
                  <a:sym typeface="Calibri (MS)"/>
                </a:rPr>
                <a:t>• encodage des valeurs categorielles</a:t>
              </a:r>
            </a:p>
          </p:txBody>
        </p:sp>
      </p:grpSp>
      <p:grpSp>
        <p:nvGrpSpPr>
          <p:cNvPr name="Group 40" id="40"/>
          <p:cNvGrpSpPr/>
          <p:nvPr/>
        </p:nvGrpSpPr>
        <p:grpSpPr>
          <a:xfrm rot="0">
            <a:off x="6766560" y="5157216"/>
            <a:ext cx="4846320" cy="786384"/>
            <a:chOff x="0" y="0"/>
            <a:chExt cx="6461760" cy="1048512"/>
          </a:xfrm>
        </p:grpSpPr>
        <p:sp>
          <p:nvSpPr>
            <p:cNvPr name="Freeform 41" id="41"/>
            <p:cNvSpPr/>
            <p:nvPr/>
          </p:nvSpPr>
          <p:spPr>
            <a:xfrm flipH="false" flipV="false" rot="0">
              <a:off x="0" y="0"/>
              <a:ext cx="6461760" cy="1048512"/>
            </a:xfrm>
            <a:custGeom>
              <a:avLst/>
              <a:gdLst/>
              <a:ahLst/>
              <a:cxnLst/>
              <a:rect r="r" b="b" t="t" l="l"/>
              <a:pathLst>
                <a:path h="1048512" w="6461760">
                  <a:moveTo>
                    <a:pt x="0" y="0"/>
                  </a:moveTo>
                  <a:lnTo>
                    <a:pt x="6461760" y="0"/>
                  </a:lnTo>
                  <a:lnTo>
                    <a:pt x="6461760" y="1048512"/>
                  </a:lnTo>
                  <a:lnTo>
                    <a:pt x="0" y="1048512"/>
                  </a:lnTo>
                  <a:close/>
                </a:path>
              </a:pathLst>
            </a:custGeom>
            <a:blipFill>
              <a:blip r:embed="rId2">
                <a:alphaModFix amt="0"/>
              </a:blip>
              <a:stretch>
                <a:fillRect l="0" t="-70082" r="0" b="-70082"/>
              </a:stretch>
            </a:blipFill>
          </p:spPr>
        </p:sp>
        <p:sp>
          <p:nvSpPr>
            <p:cNvPr name="TextBox 42" id="42"/>
            <p:cNvSpPr txBox="true"/>
            <p:nvPr/>
          </p:nvSpPr>
          <p:spPr>
            <a:xfrm>
              <a:off x="0" y="-47625"/>
              <a:ext cx="6461760" cy="1096137"/>
            </a:xfrm>
            <a:prstGeom prst="rect">
              <a:avLst/>
            </a:prstGeom>
          </p:spPr>
          <p:txBody>
            <a:bodyPr anchor="ctr" rtlCol="false" tIns="0" lIns="0" bIns="0" rIns="0"/>
            <a:lstStyle/>
            <a:p>
              <a:pPr algn="l">
                <a:lnSpc>
                  <a:spcPts val="2520"/>
                </a:lnSpc>
              </a:pPr>
              <a:r>
                <a:rPr lang="en-US" sz="2100">
                  <a:solidFill>
                    <a:srgbClr val="1E293B"/>
                  </a:solidFill>
                  <a:latin typeface="Calibri (MS)"/>
                  <a:ea typeface="Calibri (MS)"/>
                  <a:cs typeface="Calibri (MS)"/>
                  <a:sym typeface="Calibri (MS)"/>
                </a:rPr>
                <a:t>• standardisation</a:t>
              </a:r>
            </a:p>
          </p:txBody>
        </p:sp>
      </p:grpSp>
      <p:grpSp>
        <p:nvGrpSpPr>
          <p:cNvPr name="Group 43" id="43"/>
          <p:cNvGrpSpPr/>
          <p:nvPr/>
        </p:nvGrpSpPr>
        <p:grpSpPr>
          <a:xfrm rot="0">
            <a:off x="6766560" y="6016752"/>
            <a:ext cx="4846320" cy="786384"/>
            <a:chOff x="0" y="0"/>
            <a:chExt cx="6461760" cy="1048512"/>
          </a:xfrm>
        </p:grpSpPr>
        <p:sp>
          <p:nvSpPr>
            <p:cNvPr name="Freeform 44" id="44"/>
            <p:cNvSpPr/>
            <p:nvPr/>
          </p:nvSpPr>
          <p:spPr>
            <a:xfrm flipH="false" flipV="false" rot="0">
              <a:off x="0" y="0"/>
              <a:ext cx="6461760" cy="1048512"/>
            </a:xfrm>
            <a:custGeom>
              <a:avLst/>
              <a:gdLst/>
              <a:ahLst/>
              <a:cxnLst/>
              <a:rect r="r" b="b" t="t" l="l"/>
              <a:pathLst>
                <a:path h="1048512" w="6461760">
                  <a:moveTo>
                    <a:pt x="0" y="0"/>
                  </a:moveTo>
                  <a:lnTo>
                    <a:pt x="6461760" y="0"/>
                  </a:lnTo>
                  <a:lnTo>
                    <a:pt x="6461760" y="1048512"/>
                  </a:lnTo>
                  <a:lnTo>
                    <a:pt x="0" y="1048512"/>
                  </a:lnTo>
                  <a:close/>
                </a:path>
              </a:pathLst>
            </a:custGeom>
            <a:blipFill>
              <a:blip r:embed="rId2">
                <a:alphaModFix amt="0"/>
              </a:blip>
              <a:stretch>
                <a:fillRect l="0" t="-70082" r="0" b="-70082"/>
              </a:stretch>
            </a:blipFill>
          </p:spPr>
        </p:sp>
        <p:sp>
          <p:nvSpPr>
            <p:cNvPr name="TextBox 45" id="45"/>
            <p:cNvSpPr txBox="true"/>
            <p:nvPr/>
          </p:nvSpPr>
          <p:spPr>
            <a:xfrm>
              <a:off x="0" y="-47625"/>
              <a:ext cx="6461760" cy="1096137"/>
            </a:xfrm>
            <a:prstGeom prst="rect">
              <a:avLst/>
            </a:prstGeom>
          </p:spPr>
          <p:txBody>
            <a:bodyPr anchor="ctr" rtlCol="false" tIns="0" lIns="0" bIns="0" rIns="0"/>
            <a:lstStyle/>
            <a:p>
              <a:pPr algn="l">
                <a:lnSpc>
                  <a:spcPts val="2520"/>
                </a:lnSpc>
              </a:pPr>
              <a:r>
                <a:rPr lang="en-US" sz="2100">
                  <a:solidFill>
                    <a:srgbClr val="1E293B"/>
                  </a:solidFill>
                  <a:latin typeface="Calibri (MS)"/>
                  <a:ea typeface="Calibri (MS)"/>
                  <a:cs typeface="Calibri (MS)"/>
                  <a:sym typeface="Calibri (MS)"/>
                </a:rPr>
                <a:t>• normalisation</a:t>
              </a:r>
            </a:p>
          </p:txBody>
        </p:sp>
      </p:grpSp>
      <p:grpSp>
        <p:nvGrpSpPr>
          <p:cNvPr name="Group 46" id="46"/>
          <p:cNvGrpSpPr/>
          <p:nvPr/>
        </p:nvGrpSpPr>
        <p:grpSpPr>
          <a:xfrm rot="0">
            <a:off x="6766560" y="6876288"/>
            <a:ext cx="4846320" cy="786384"/>
            <a:chOff x="0" y="0"/>
            <a:chExt cx="6461760" cy="1048512"/>
          </a:xfrm>
        </p:grpSpPr>
        <p:sp>
          <p:nvSpPr>
            <p:cNvPr name="Freeform 47" id="47"/>
            <p:cNvSpPr/>
            <p:nvPr/>
          </p:nvSpPr>
          <p:spPr>
            <a:xfrm flipH="false" flipV="false" rot="0">
              <a:off x="0" y="0"/>
              <a:ext cx="6461760" cy="1048512"/>
            </a:xfrm>
            <a:custGeom>
              <a:avLst/>
              <a:gdLst/>
              <a:ahLst/>
              <a:cxnLst/>
              <a:rect r="r" b="b" t="t" l="l"/>
              <a:pathLst>
                <a:path h="1048512" w="6461760">
                  <a:moveTo>
                    <a:pt x="0" y="0"/>
                  </a:moveTo>
                  <a:lnTo>
                    <a:pt x="6461760" y="0"/>
                  </a:lnTo>
                  <a:lnTo>
                    <a:pt x="6461760" y="1048512"/>
                  </a:lnTo>
                  <a:lnTo>
                    <a:pt x="0" y="1048512"/>
                  </a:lnTo>
                  <a:close/>
                </a:path>
              </a:pathLst>
            </a:custGeom>
            <a:blipFill>
              <a:blip r:embed="rId2">
                <a:alphaModFix amt="0"/>
              </a:blip>
              <a:stretch>
                <a:fillRect l="0" t="-70082" r="0" b="-70082"/>
              </a:stretch>
            </a:blipFill>
          </p:spPr>
        </p:sp>
        <p:sp>
          <p:nvSpPr>
            <p:cNvPr name="TextBox 48" id="48"/>
            <p:cNvSpPr txBox="true"/>
            <p:nvPr/>
          </p:nvSpPr>
          <p:spPr>
            <a:xfrm>
              <a:off x="0" y="-47625"/>
              <a:ext cx="6461760" cy="1096137"/>
            </a:xfrm>
            <a:prstGeom prst="rect">
              <a:avLst/>
            </a:prstGeom>
          </p:spPr>
          <p:txBody>
            <a:bodyPr anchor="ctr" rtlCol="false" tIns="0" lIns="0" bIns="0" rIns="0"/>
            <a:lstStyle/>
            <a:p>
              <a:pPr algn="l">
                <a:lnSpc>
                  <a:spcPts val="2520"/>
                </a:lnSpc>
              </a:pPr>
              <a:r>
                <a:rPr lang="en-US" sz="2100">
                  <a:solidFill>
                    <a:srgbClr val="1E293B"/>
                  </a:solidFill>
                  <a:latin typeface="Calibri (MS)"/>
                  <a:ea typeface="Calibri (MS)"/>
                  <a:cs typeface="Calibri (MS)"/>
                  <a:sym typeface="Calibri (MS)"/>
                </a:rPr>
                <a:t>• séparation des données entrainement et test</a:t>
              </a:r>
            </a:p>
          </p:txBody>
        </p:sp>
      </p:grpSp>
      <p:grpSp>
        <p:nvGrpSpPr>
          <p:cNvPr name="Group 49" id="49"/>
          <p:cNvGrpSpPr/>
          <p:nvPr/>
        </p:nvGrpSpPr>
        <p:grpSpPr>
          <a:xfrm rot="0">
            <a:off x="12228319" y="1913887"/>
            <a:ext cx="5499097" cy="7876537"/>
            <a:chOff x="0" y="0"/>
            <a:chExt cx="7332129" cy="10502049"/>
          </a:xfrm>
        </p:grpSpPr>
        <p:sp>
          <p:nvSpPr>
            <p:cNvPr name="Freeform 50" id="50"/>
            <p:cNvSpPr/>
            <p:nvPr/>
          </p:nvSpPr>
          <p:spPr>
            <a:xfrm flipH="false" flipV="false" rot="0">
              <a:off x="0" y="0"/>
              <a:ext cx="7332091" cy="10502011"/>
            </a:xfrm>
            <a:custGeom>
              <a:avLst/>
              <a:gdLst/>
              <a:ahLst/>
              <a:cxnLst/>
              <a:rect r="r" b="b" t="t" l="l"/>
              <a:pathLst>
                <a:path h="10502011" w="7332091">
                  <a:moveTo>
                    <a:pt x="0" y="244348"/>
                  </a:moveTo>
                  <a:cubicBezTo>
                    <a:pt x="0" y="109474"/>
                    <a:pt x="109474" y="0"/>
                    <a:pt x="244348" y="0"/>
                  </a:cubicBezTo>
                  <a:lnTo>
                    <a:pt x="7087743" y="0"/>
                  </a:lnTo>
                  <a:cubicBezTo>
                    <a:pt x="7222744" y="0"/>
                    <a:pt x="7332091" y="109474"/>
                    <a:pt x="7332091" y="244348"/>
                  </a:cubicBezTo>
                  <a:lnTo>
                    <a:pt x="7332091" y="10257663"/>
                  </a:lnTo>
                  <a:cubicBezTo>
                    <a:pt x="7332091" y="10392664"/>
                    <a:pt x="7222617" y="10502011"/>
                    <a:pt x="7087743" y="10502011"/>
                  </a:cubicBezTo>
                  <a:lnTo>
                    <a:pt x="244348" y="10502011"/>
                  </a:lnTo>
                  <a:cubicBezTo>
                    <a:pt x="109474" y="10502011"/>
                    <a:pt x="0" y="10392664"/>
                    <a:pt x="0" y="10257663"/>
                  </a:cubicBezTo>
                  <a:close/>
                </a:path>
              </a:pathLst>
            </a:custGeom>
            <a:solidFill>
              <a:srgbClr val="FFFFFF"/>
            </a:solidFill>
            <a:ln w="12700" cap="sq">
              <a:solidFill>
                <a:srgbClr val="E2E8F0"/>
              </a:solidFill>
              <a:prstDash val="solid"/>
              <a:miter/>
            </a:ln>
          </p:spPr>
        </p:sp>
      </p:grpSp>
      <p:grpSp>
        <p:nvGrpSpPr>
          <p:cNvPr name="Group 51" id="51"/>
          <p:cNvGrpSpPr/>
          <p:nvPr/>
        </p:nvGrpSpPr>
        <p:grpSpPr>
          <a:xfrm rot="0">
            <a:off x="12221975" y="1907543"/>
            <a:ext cx="5511803" cy="1342139"/>
            <a:chOff x="0" y="0"/>
            <a:chExt cx="7349071" cy="1789519"/>
          </a:xfrm>
        </p:grpSpPr>
        <p:sp>
          <p:nvSpPr>
            <p:cNvPr name="Freeform 52" id="52"/>
            <p:cNvSpPr/>
            <p:nvPr/>
          </p:nvSpPr>
          <p:spPr>
            <a:xfrm flipH="false" flipV="false" rot="0">
              <a:off x="0" y="0"/>
              <a:ext cx="7349109" cy="1789557"/>
            </a:xfrm>
            <a:custGeom>
              <a:avLst/>
              <a:gdLst/>
              <a:ahLst/>
              <a:cxnLst/>
              <a:rect r="r" b="b" t="t" l="l"/>
              <a:pathLst>
                <a:path h="1789557" w="7349109">
                  <a:moveTo>
                    <a:pt x="0" y="248539"/>
                  </a:moveTo>
                  <a:cubicBezTo>
                    <a:pt x="0" y="111252"/>
                    <a:pt x="111252" y="0"/>
                    <a:pt x="248539" y="0"/>
                  </a:cubicBezTo>
                  <a:lnTo>
                    <a:pt x="7100570" y="0"/>
                  </a:lnTo>
                  <a:cubicBezTo>
                    <a:pt x="7237857" y="0"/>
                    <a:pt x="7349109" y="111252"/>
                    <a:pt x="7349109" y="248539"/>
                  </a:cubicBezTo>
                  <a:lnTo>
                    <a:pt x="7349109" y="1541018"/>
                  </a:lnTo>
                  <a:cubicBezTo>
                    <a:pt x="7349109" y="1678305"/>
                    <a:pt x="7237857" y="1789557"/>
                    <a:pt x="7100570" y="1789557"/>
                  </a:cubicBezTo>
                  <a:lnTo>
                    <a:pt x="248539" y="1789557"/>
                  </a:lnTo>
                  <a:cubicBezTo>
                    <a:pt x="111252" y="1789557"/>
                    <a:pt x="0" y="1678178"/>
                    <a:pt x="0" y="1541018"/>
                  </a:cubicBezTo>
                  <a:close/>
                </a:path>
              </a:pathLst>
            </a:custGeom>
            <a:solidFill>
              <a:srgbClr val="6B3A2A"/>
            </a:solidFill>
            <a:ln w="25400" cap="sq">
              <a:solidFill>
                <a:srgbClr val="6B3A2A"/>
              </a:solidFill>
              <a:prstDash val="solid"/>
              <a:miter/>
            </a:ln>
          </p:spPr>
        </p:sp>
      </p:grpSp>
      <p:grpSp>
        <p:nvGrpSpPr>
          <p:cNvPr name="Group 53" id="53"/>
          <p:cNvGrpSpPr/>
          <p:nvPr/>
        </p:nvGrpSpPr>
        <p:grpSpPr>
          <a:xfrm rot="0">
            <a:off x="12454123" y="1484019"/>
            <a:ext cx="5047488" cy="2347317"/>
            <a:chOff x="0" y="0"/>
            <a:chExt cx="6729984" cy="3129756"/>
          </a:xfrm>
        </p:grpSpPr>
        <p:sp>
          <p:nvSpPr>
            <p:cNvPr name="Freeform 54" id="54"/>
            <p:cNvSpPr/>
            <p:nvPr/>
          </p:nvSpPr>
          <p:spPr>
            <a:xfrm flipH="false" flipV="false" rot="0">
              <a:off x="0" y="0"/>
              <a:ext cx="6729984" cy="3129756"/>
            </a:xfrm>
            <a:custGeom>
              <a:avLst/>
              <a:gdLst/>
              <a:ahLst/>
              <a:cxnLst/>
              <a:rect r="r" b="b" t="t" l="l"/>
              <a:pathLst>
                <a:path h="3129756" w="6729984">
                  <a:moveTo>
                    <a:pt x="0" y="0"/>
                  </a:moveTo>
                  <a:lnTo>
                    <a:pt x="6729984" y="0"/>
                  </a:lnTo>
                  <a:lnTo>
                    <a:pt x="6729984" y="3129756"/>
                  </a:lnTo>
                  <a:lnTo>
                    <a:pt x="0" y="3129756"/>
                  </a:lnTo>
                  <a:close/>
                </a:path>
              </a:pathLst>
            </a:custGeom>
            <a:blipFill>
              <a:blip r:embed="rId2">
                <a:alphaModFix amt="0"/>
              </a:blip>
              <a:stretch>
                <a:fillRect l="0" t="-27096" r="0" b="43297"/>
              </a:stretch>
            </a:blipFill>
          </p:spPr>
        </p:sp>
        <p:sp>
          <p:nvSpPr>
            <p:cNvPr name="TextBox 55" id="55"/>
            <p:cNvSpPr txBox="true"/>
            <p:nvPr/>
          </p:nvSpPr>
          <p:spPr>
            <a:xfrm>
              <a:off x="0" y="-9525"/>
              <a:ext cx="6729984" cy="3139281"/>
            </a:xfrm>
            <a:prstGeom prst="rect">
              <a:avLst/>
            </a:prstGeom>
          </p:spPr>
          <p:txBody>
            <a:bodyPr anchor="ctr" rtlCol="false" tIns="0" lIns="0" bIns="0" rIns="0"/>
            <a:lstStyle/>
            <a:p>
              <a:pPr algn="l">
                <a:lnSpc>
                  <a:spcPts val="3840"/>
                </a:lnSpc>
              </a:pPr>
              <a:r>
                <a:rPr lang="en-US" sz="3200" b="true">
                  <a:solidFill>
                    <a:srgbClr val="FFFFFF"/>
                  </a:solidFill>
                  <a:latin typeface="Cambria Bold"/>
                  <a:ea typeface="Cambria Bold"/>
                  <a:cs typeface="Cambria Bold"/>
                  <a:sym typeface="Cambria Bold"/>
                </a:rPr>
                <a:t>Entrainement &amp; teste</a:t>
              </a:r>
            </a:p>
          </p:txBody>
        </p:sp>
      </p:grpSp>
      <p:grpSp>
        <p:nvGrpSpPr>
          <p:cNvPr name="Group 56" id="56"/>
          <p:cNvGrpSpPr/>
          <p:nvPr/>
        </p:nvGrpSpPr>
        <p:grpSpPr>
          <a:xfrm rot="0">
            <a:off x="12563856" y="3438144"/>
            <a:ext cx="4846320" cy="786384"/>
            <a:chOff x="0" y="0"/>
            <a:chExt cx="6461760" cy="1048512"/>
          </a:xfrm>
        </p:grpSpPr>
        <p:sp>
          <p:nvSpPr>
            <p:cNvPr name="Freeform 57" id="57"/>
            <p:cNvSpPr/>
            <p:nvPr/>
          </p:nvSpPr>
          <p:spPr>
            <a:xfrm flipH="false" flipV="false" rot="0">
              <a:off x="0" y="0"/>
              <a:ext cx="6461760" cy="1048512"/>
            </a:xfrm>
            <a:custGeom>
              <a:avLst/>
              <a:gdLst/>
              <a:ahLst/>
              <a:cxnLst/>
              <a:rect r="r" b="b" t="t" l="l"/>
              <a:pathLst>
                <a:path h="1048512" w="6461760">
                  <a:moveTo>
                    <a:pt x="0" y="0"/>
                  </a:moveTo>
                  <a:lnTo>
                    <a:pt x="6461760" y="0"/>
                  </a:lnTo>
                  <a:lnTo>
                    <a:pt x="6461760" y="1048512"/>
                  </a:lnTo>
                  <a:lnTo>
                    <a:pt x="0" y="1048512"/>
                  </a:lnTo>
                  <a:close/>
                </a:path>
              </a:pathLst>
            </a:custGeom>
            <a:blipFill>
              <a:blip r:embed="rId2">
                <a:alphaModFix amt="0"/>
              </a:blip>
              <a:stretch>
                <a:fillRect l="0" t="-70082" r="0" b="-70082"/>
              </a:stretch>
            </a:blipFill>
          </p:spPr>
        </p:sp>
        <p:sp>
          <p:nvSpPr>
            <p:cNvPr name="TextBox 58" id="58"/>
            <p:cNvSpPr txBox="true"/>
            <p:nvPr/>
          </p:nvSpPr>
          <p:spPr>
            <a:xfrm>
              <a:off x="0" y="-47625"/>
              <a:ext cx="6461760" cy="1096137"/>
            </a:xfrm>
            <a:prstGeom prst="rect">
              <a:avLst/>
            </a:prstGeom>
          </p:spPr>
          <p:txBody>
            <a:bodyPr anchor="ctr" rtlCol="false" tIns="0" lIns="0" bIns="0" rIns="0"/>
            <a:lstStyle/>
            <a:p>
              <a:pPr algn="l">
                <a:lnSpc>
                  <a:spcPts val="2520"/>
                </a:lnSpc>
              </a:pPr>
              <a:r>
                <a:rPr lang="en-US" sz="2100">
                  <a:solidFill>
                    <a:srgbClr val="1E293B"/>
                  </a:solidFill>
                  <a:latin typeface="Calibri (MS)"/>
                  <a:ea typeface="Calibri (MS)"/>
                  <a:cs typeface="Calibri (MS)"/>
                  <a:sym typeface="Calibri (MS)"/>
                </a:rPr>
                <a:t>• Choix du modèl</a:t>
              </a:r>
            </a:p>
          </p:txBody>
        </p:sp>
      </p:grpSp>
      <p:grpSp>
        <p:nvGrpSpPr>
          <p:cNvPr name="Group 59" id="59"/>
          <p:cNvGrpSpPr/>
          <p:nvPr/>
        </p:nvGrpSpPr>
        <p:grpSpPr>
          <a:xfrm rot="0">
            <a:off x="12563856" y="4297680"/>
            <a:ext cx="4846320" cy="786384"/>
            <a:chOff x="0" y="0"/>
            <a:chExt cx="6461760" cy="1048512"/>
          </a:xfrm>
        </p:grpSpPr>
        <p:sp>
          <p:nvSpPr>
            <p:cNvPr name="Freeform 60" id="60"/>
            <p:cNvSpPr/>
            <p:nvPr/>
          </p:nvSpPr>
          <p:spPr>
            <a:xfrm flipH="false" flipV="false" rot="0">
              <a:off x="0" y="0"/>
              <a:ext cx="6461760" cy="1048512"/>
            </a:xfrm>
            <a:custGeom>
              <a:avLst/>
              <a:gdLst/>
              <a:ahLst/>
              <a:cxnLst/>
              <a:rect r="r" b="b" t="t" l="l"/>
              <a:pathLst>
                <a:path h="1048512" w="6461760">
                  <a:moveTo>
                    <a:pt x="0" y="0"/>
                  </a:moveTo>
                  <a:lnTo>
                    <a:pt x="6461760" y="0"/>
                  </a:lnTo>
                  <a:lnTo>
                    <a:pt x="6461760" y="1048512"/>
                  </a:lnTo>
                  <a:lnTo>
                    <a:pt x="0" y="1048512"/>
                  </a:lnTo>
                  <a:close/>
                </a:path>
              </a:pathLst>
            </a:custGeom>
            <a:blipFill>
              <a:blip r:embed="rId2">
                <a:alphaModFix amt="0"/>
              </a:blip>
              <a:stretch>
                <a:fillRect l="0" t="-70082" r="0" b="-70082"/>
              </a:stretch>
            </a:blipFill>
          </p:spPr>
        </p:sp>
        <p:sp>
          <p:nvSpPr>
            <p:cNvPr name="TextBox 61" id="61"/>
            <p:cNvSpPr txBox="true"/>
            <p:nvPr/>
          </p:nvSpPr>
          <p:spPr>
            <a:xfrm>
              <a:off x="0" y="-47625"/>
              <a:ext cx="6461760" cy="1096137"/>
            </a:xfrm>
            <a:prstGeom prst="rect">
              <a:avLst/>
            </a:prstGeom>
          </p:spPr>
          <p:txBody>
            <a:bodyPr anchor="ctr" rtlCol="false" tIns="0" lIns="0" bIns="0" rIns="0"/>
            <a:lstStyle/>
            <a:p>
              <a:pPr algn="l">
                <a:lnSpc>
                  <a:spcPts val="2520"/>
                </a:lnSpc>
              </a:pPr>
              <a:r>
                <a:rPr lang="en-US" sz="2100">
                  <a:solidFill>
                    <a:srgbClr val="1E293B"/>
                  </a:solidFill>
                  <a:latin typeface="Calibri (MS)"/>
                  <a:ea typeface="Calibri (MS)"/>
                  <a:cs typeface="Calibri (MS)"/>
                  <a:sym typeface="Calibri (MS)"/>
                </a:rPr>
                <a:t>• Entraînement a l’aide de la fonction fit()</a:t>
              </a:r>
            </a:p>
          </p:txBody>
        </p:sp>
      </p:grpSp>
      <p:grpSp>
        <p:nvGrpSpPr>
          <p:cNvPr name="Group 62" id="62"/>
          <p:cNvGrpSpPr/>
          <p:nvPr/>
        </p:nvGrpSpPr>
        <p:grpSpPr>
          <a:xfrm rot="0">
            <a:off x="12563856" y="5157216"/>
            <a:ext cx="4846320" cy="786384"/>
            <a:chOff x="0" y="0"/>
            <a:chExt cx="6461760" cy="1048512"/>
          </a:xfrm>
        </p:grpSpPr>
        <p:sp>
          <p:nvSpPr>
            <p:cNvPr name="Freeform 63" id="63"/>
            <p:cNvSpPr/>
            <p:nvPr/>
          </p:nvSpPr>
          <p:spPr>
            <a:xfrm flipH="false" flipV="false" rot="0">
              <a:off x="0" y="0"/>
              <a:ext cx="6461760" cy="1048512"/>
            </a:xfrm>
            <a:custGeom>
              <a:avLst/>
              <a:gdLst/>
              <a:ahLst/>
              <a:cxnLst/>
              <a:rect r="r" b="b" t="t" l="l"/>
              <a:pathLst>
                <a:path h="1048512" w="6461760">
                  <a:moveTo>
                    <a:pt x="0" y="0"/>
                  </a:moveTo>
                  <a:lnTo>
                    <a:pt x="6461760" y="0"/>
                  </a:lnTo>
                  <a:lnTo>
                    <a:pt x="6461760" y="1048512"/>
                  </a:lnTo>
                  <a:lnTo>
                    <a:pt x="0" y="1048512"/>
                  </a:lnTo>
                  <a:close/>
                </a:path>
              </a:pathLst>
            </a:custGeom>
            <a:blipFill>
              <a:blip r:embed="rId2">
                <a:alphaModFix amt="0"/>
              </a:blip>
              <a:stretch>
                <a:fillRect l="0" t="-70082" r="0" b="-70082"/>
              </a:stretch>
            </a:blipFill>
          </p:spPr>
        </p:sp>
        <p:sp>
          <p:nvSpPr>
            <p:cNvPr name="TextBox 64" id="64"/>
            <p:cNvSpPr txBox="true"/>
            <p:nvPr/>
          </p:nvSpPr>
          <p:spPr>
            <a:xfrm>
              <a:off x="0" y="-47625"/>
              <a:ext cx="6461760" cy="1096137"/>
            </a:xfrm>
            <a:prstGeom prst="rect">
              <a:avLst/>
            </a:prstGeom>
          </p:spPr>
          <p:txBody>
            <a:bodyPr anchor="ctr" rtlCol="false" tIns="0" lIns="0" bIns="0" rIns="0"/>
            <a:lstStyle/>
            <a:p>
              <a:pPr algn="l">
                <a:lnSpc>
                  <a:spcPts val="2520"/>
                </a:lnSpc>
              </a:pPr>
              <a:r>
                <a:rPr lang="en-US" sz="2100">
                  <a:solidFill>
                    <a:srgbClr val="1E293B"/>
                  </a:solidFill>
                  <a:latin typeface="Calibri (MS)"/>
                  <a:ea typeface="Calibri (MS)"/>
                  <a:cs typeface="Calibri (MS)"/>
                  <a:sym typeface="Calibri (MS)"/>
                </a:rPr>
                <a:t>• teste</a:t>
              </a:r>
            </a:p>
          </p:txBody>
        </p:sp>
      </p:grpSp>
      <p:grpSp>
        <p:nvGrpSpPr>
          <p:cNvPr name="Group 65" id="65"/>
          <p:cNvGrpSpPr/>
          <p:nvPr/>
        </p:nvGrpSpPr>
        <p:grpSpPr>
          <a:xfrm rot="0">
            <a:off x="12563856" y="6016752"/>
            <a:ext cx="4846320" cy="786384"/>
            <a:chOff x="0" y="0"/>
            <a:chExt cx="6461760" cy="1048512"/>
          </a:xfrm>
        </p:grpSpPr>
        <p:sp>
          <p:nvSpPr>
            <p:cNvPr name="Freeform 66" id="66"/>
            <p:cNvSpPr/>
            <p:nvPr/>
          </p:nvSpPr>
          <p:spPr>
            <a:xfrm flipH="false" flipV="false" rot="0">
              <a:off x="0" y="0"/>
              <a:ext cx="6461760" cy="1048512"/>
            </a:xfrm>
            <a:custGeom>
              <a:avLst/>
              <a:gdLst/>
              <a:ahLst/>
              <a:cxnLst/>
              <a:rect r="r" b="b" t="t" l="l"/>
              <a:pathLst>
                <a:path h="1048512" w="6461760">
                  <a:moveTo>
                    <a:pt x="0" y="0"/>
                  </a:moveTo>
                  <a:lnTo>
                    <a:pt x="6461760" y="0"/>
                  </a:lnTo>
                  <a:lnTo>
                    <a:pt x="6461760" y="1048512"/>
                  </a:lnTo>
                  <a:lnTo>
                    <a:pt x="0" y="1048512"/>
                  </a:lnTo>
                  <a:close/>
                </a:path>
              </a:pathLst>
            </a:custGeom>
            <a:blipFill>
              <a:blip r:embed="rId2">
                <a:alphaModFix amt="0"/>
              </a:blip>
              <a:stretch>
                <a:fillRect l="0" t="-70082" r="0" b="-70082"/>
              </a:stretch>
            </a:blipFill>
          </p:spPr>
        </p:sp>
        <p:sp>
          <p:nvSpPr>
            <p:cNvPr name="TextBox 67" id="67"/>
            <p:cNvSpPr txBox="true"/>
            <p:nvPr/>
          </p:nvSpPr>
          <p:spPr>
            <a:xfrm>
              <a:off x="0" y="-47625"/>
              <a:ext cx="6461760" cy="1096137"/>
            </a:xfrm>
            <a:prstGeom prst="rect">
              <a:avLst/>
            </a:prstGeom>
          </p:spPr>
          <p:txBody>
            <a:bodyPr anchor="ctr" rtlCol="false" tIns="0" lIns="0" bIns="0" rIns="0"/>
            <a:lstStyle/>
            <a:p>
              <a:pPr algn="l">
                <a:lnSpc>
                  <a:spcPts val="2520"/>
                </a:lnSpc>
              </a:pPr>
              <a:r>
                <a:rPr lang="en-US" sz="2100">
                  <a:solidFill>
                    <a:srgbClr val="1E293B"/>
                  </a:solidFill>
                  <a:latin typeface="Calibri (MS)"/>
                  <a:ea typeface="Calibri (MS)"/>
                  <a:cs typeface="Calibri (MS)"/>
                  <a:sym typeface="Calibri (MS)"/>
                </a:rPr>
                <a:t>• Evaluer les resultats</a:t>
              </a:r>
            </a:p>
          </p:txBody>
        </p:sp>
      </p:grpSp>
      <p:grpSp>
        <p:nvGrpSpPr>
          <p:cNvPr name="Group 68" id="68"/>
          <p:cNvGrpSpPr/>
          <p:nvPr/>
        </p:nvGrpSpPr>
        <p:grpSpPr>
          <a:xfrm rot="0">
            <a:off x="12563856" y="6876288"/>
            <a:ext cx="4846320" cy="786384"/>
            <a:chOff x="0" y="0"/>
            <a:chExt cx="6461760" cy="1048512"/>
          </a:xfrm>
        </p:grpSpPr>
        <p:sp>
          <p:nvSpPr>
            <p:cNvPr name="Freeform 69" id="69"/>
            <p:cNvSpPr/>
            <p:nvPr/>
          </p:nvSpPr>
          <p:spPr>
            <a:xfrm flipH="false" flipV="false" rot="0">
              <a:off x="0" y="0"/>
              <a:ext cx="6461760" cy="1048512"/>
            </a:xfrm>
            <a:custGeom>
              <a:avLst/>
              <a:gdLst/>
              <a:ahLst/>
              <a:cxnLst/>
              <a:rect r="r" b="b" t="t" l="l"/>
              <a:pathLst>
                <a:path h="1048512" w="6461760">
                  <a:moveTo>
                    <a:pt x="0" y="0"/>
                  </a:moveTo>
                  <a:lnTo>
                    <a:pt x="6461760" y="0"/>
                  </a:lnTo>
                  <a:lnTo>
                    <a:pt x="6461760" y="1048512"/>
                  </a:lnTo>
                  <a:lnTo>
                    <a:pt x="0" y="1048512"/>
                  </a:lnTo>
                  <a:close/>
                </a:path>
              </a:pathLst>
            </a:custGeom>
            <a:blipFill>
              <a:blip r:embed="rId2">
                <a:alphaModFix amt="0"/>
              </a:blip>
              <a:stretch>
                <a:fillRect l="0" t="-70082" r="0" b="-70082"/>
              </a:stretch>
            </a:blipFill>
          </p:spPr>
        </p:sp>
        <p:sp>
          <p:nvSpPr>
            <p:cNvPr name="TextBox 70" id="70"/>
            <p:cNvSpPr txBox="true"/>
            <p:nvPr/>
          </p:nvSpPr>
          <p:spPr>
            <a:xfrm>
              <a:off x="0" y="-47625"/>
              <a:ext cx="6461760" cy="1096137"/>
            </a:xfrm>
            <a:prstGeom prst="rect">
              <a:avLst/>
            </a:prstGeom>
          </p:spPr>
          <p:txBody>
            <a:bodyPr anchor="ctr" rtlCol="false" tIns="0" lIns="0" bIns="0" rIns="0"/>
            <a:lstStyle/>
            <a:p>
              <a:pPr algn="l">
                <a:lnSpc>
                  <a:spcPts val="2520"/>
                </a:lnSpc>
              </a:pPr>
              <a:r>
                <a:rPr lang="en-US" sz="2100">
                  <a:solidFill>
                    <a:srgbClr val="1E293B"/>
                  </a:solidFill>
                  <a:latin typeface="Calibri (MS)"/>
                  <a:ea typeface="Calibri (MS)"/>
                  <a:cs typeface="Calibri (MS)"/>
                  <a:sym typeface="Calibri (MS)"/>
                </a:rPr>
                <a:t>• Validation </a:t>
              </a:r>
            </a:p>
          </p:txBody>
        </p:sp>
      </p:grpSp>
      <p:grpSp>
        <p:nvGrpSpPr>
          <p:cNvPr name="Group 71" id="71"/>
          <p:cNvGrpSpPr/>
          <p:nvPr/>
        </p:nvGrpSpPr>
        <p:grpSpPr>
          <a:xfrm rot="0">
            <a:off x="869947" y="1519251"/>
            <a:ext cx="16680180" cy="38100"/>
            <a:chOff x="0" y="0"/>
            <a:chExt cx="22240240" cy="50800"/>
          </a:xfrm>
        </p:grpSpPr>
        <p:sp>
          <p:nvSpPr>
            <p:cNvPr name="Freeform 72" id="72"/>
            <p:cNvSpPr/>
            <p:nvPr/>
          </p:nvSpPr>
          <p:spPr>
            <a:xfrm flipH="false" flipV="false" rot="0">
              <a:off x="25400" y="0"/>
              <a:ext cx="22189439" cy="50800"/>
            </a:xfrm>
            <a:custGeom>
              <a:avLst/>
              <a:gdLst/>
              <a:ahLst/>
              <a:cxnLst/>
              <a:rect r="r" b="b" t="t" l="l"/>
              <a:pathLst>
                <a:path h="50800" w="22189439">
                  <a:moveTo>
                    <a:pt x="0" y="0"/>
                  </a:moveTo>
                  <a:lnTo>
                    <a:pt x="22189439" y="0"/>
                  </a:lnTo>
                  <a:lnTo>
                    <a:pt x="22189439" y="50800"/>
                  </a:lnTo>
                  <a:lnTo>
                    <a:pt x="0" y="50800"/>
                  </a:lnTo>
                  <a:close/>
                </a:path>
              </a:pathLst>
            </a:custGeom>
            <a:solidFill>
              <a:srgbClr val="E8541A"/>
            </a:solidFill>
          </p:spPr>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0F4FF"/>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2037083"/>
            <a:chOff x="0" y="0"/>
            <a:chExt cx="24417871" cy="2716111"/>
          </a:xfrm>
        </p:grpSpPr>
        <p:sp>
          <p:nvSpPr>
            <p:cNvPr name="Freeform 3" id="3"/>
            <p:cNvSpPr/>
            <p:nvPr/>
          </p:nvSpPr>
          <p:spPr>
            <a:xfrm flipH="false" flipV="false" rot="0">
              <a:off x="0" y="0"/>
              <a:ext cx="24417910" cy="2716149"/>
            </a:xfrm>
            <a:custGeom>
              <a:avLst/>
              <a:gdLst/>
              <a:ahLst/>
              <a:cxnLst/>
              <a:rect r="r" b="b" t="t" l="l"/>
              <a:pathLst>
                <a:path h="2716149" w="24417910">
                  <a:moveTo>
                    <a:pt x="0" y="0"/>
                  </a:moveTo>
                  <a:lnTo>
                    <a:pt x="24417910" y="0"/>
                  </a:lnTo>
                  <a:lnTo>
                    <a:pt x="24417910" y="2716149"/>
                  </a:lnTo>
                  <a:lnTo>
                    <a:pt x="0" y="2716149"/>
                  </a:lnTo>
                  <a:close/>
                </a:path>
              </a:pathLst>
            </a:custGeom>
            <a:solidFill>
              <a:srgbClr val="1B2D4F"/>
            </a:solidFill>
            <a:ln w="25400" cap="sq">
              <a:solidFill>
                <a:srgbClr val="1B2D4F"/>
              </a:solidFill>
              <a:prstDash val="solid"/>
              <a:miter/>
            </a:ln>
          </p:spPr>
        </p:sp>
      </p:grpSp>
      <p:grpSp>
        <p:nvGrpSpPr>
          <p:cNvPr name="Group 4" id="4"/>
          <p:cNvGrpSpPr/>
          <p:nvPr/>
        </p:nvGrpSpPr>
        <p:grpSpPr>
          <a:xfrm rot="0">
            <a:off x="548640" y="109728"/>
            <a:ext cx="15544800" cy="1097280"/>
            <a:chOff x="0" y="0"/>
            <a:chExt cx="20726400" cy="1463040"/>
          </a:xfrm>
        </p:grpSpPr>
        <p:sp>
          <p:nvSpPr>
            <p:cNvPr name="Freeform 5" id="5"/>
            <p:cNvSpPr/>
            <p:nvPr/>
          </p:nvSpPr>
          <p:spPr>
            <a:xfrm flipH="false" flipV="false" rot="0">
              <a:off x="0" y="0"/>
              <a:ext cx="20726400" cy="1463040"/>
            </a:xfrm>
            <a:custGeom>
              <a:avLst/>
              <a:gdLst/>
              <a:ahLst/>
              <a:cxnLst/>
              <a:rect r="r" b="b" t="t" l="l"/>
              <a:pathLst>
                <a:path h="1463040" w="20726400">
                  <a:moveTo>
                    <a:pt x="0" y="0"/>
                  </a:moveTo>
                  <a:lnTo>
                    <a:pt x="20726400" y="0"/>
                  </a:lnTo>
                  <a:lnTo>
                    <a:pt x="20726400" y="1463040"/>
                  </a:lnTo>
                  <a:lnTo>
                    <a:pt x="0" y="1463040"/>
                  </a:lnTo>
                  <a:close/>
                </a:path>
              </a:pathLst>
            </a:custGeom>
            <a:blipFill>
              <a:blip r:embed="rId2">
                <a:alphaModFix amt="0"/>
              </a:blip>
              <a:stretch>
                <a:fillRect l="0" t="-226038" r="0" b="-226038"/>
              </a:stretch>
            </a:blipFill>
          </p:spPr>
        </p:sp>
        <p:sp>
          <p:nvSpPr>
            <p:cNvPr name="TextBox 6" id="6"/>
            <p:cNvSpPr txBox="true"/>
            <p:nvPr/>
          </p:nvSpPr>
          <p:spPr>
            <a:xfrm>
              <a:off x="0" y="-104775"/>
              <a:ext cx="20726400" cy="1567815"/>
            </a:xfrm>
            <a:prstGeom prst="rect">
              <a:avLst/>
            </a:prstGeom>
          </p:spPr>
          <p:txBody>
            <a:bodyPr anchor="ctr" rtlCol="false" tIns="0" lIns="0" bIns="0" rIns="0"/>
            <a:lstStyle/>
            <a:p>
              <a:pPr algn="l">
                <a:lnSpc>
                  <a:spcPts val="6240"/>
                </a:lnSpc>
              </a:pPr>
              <a:r>
                <a:rPr lang="en-US" sz="5200" b="true">
                  <a:solidFill>
                    <a:srgbClr val="FFFFFF"/>
                  </a:solidFill>
                  <a:latin typeface="Calibri (MS) Bold"/>
                  <a:ea typeface="Calibri (MS) Bold"/>
                  <a:cs typeface="Calibri (MS) Bold"/>
                  <a:sym typeface="Calibri (MS) Bold"/>
                </a:rPr>
                <a:t>Proposition d'une Application Pratique (GNS3)</a:t>
              </a:r>
            </a:p>
          </p:txBody>
        </p:sp>
      </p:grpSp>
      <p:grpSp>
        <p:nvGrpSpPr>
          <p:cNvPr name="Group 7" id="7"/>
          <p:cNvGrpSpPr/>
          <p:nvPr/>
        </p:nvGrpSpPr>
        <p:grpSpPr>
          <a:xfrm rot="0">
            <a:off x="548640" y="1316736"/>
            <a:ext cx="16093440" cy="475488"/>
            <a:chOff x="0" y="0"/>
            <a:chExt cx="21457920" cy="633984"/>
          </a:xfrm>
        </p:grpSpPr>
        <p:sp>
          <p:nvSpPr>
            <p:cNvPr name="Freeform 8" id="8"/>
            <p:cNvSpPr/>
            <p:nvPr/>
          </p:nvSpPr>
          <p:spPr>
            <a:xfrm flipH="false" flipV="false" rot="0">
              <a:off x="0" y="0"/>
              <a:ext cx="21457920" cy="633984"/>
            </a:xfrm>
            <a:custGeom>
              <a:avLst/>
              <a:gdLst/>
              <a:ahLst/>
              <a:cxnLst/>
              <a:rect r="r" b="b" t="t" l="l"/>
              <a:pathLst>
                <a:path h="633984" w="21457920">
                  <a:moveTo>
                    <a:pt x="0" y="0"/>
                  </a:moveTo>
                  <a:lnTo>
                    <a:pt x="21457920" y="0"/>
                  </a:lnTo>
                  <a:lnTo>
                    <a:pt x="21457920" y="633984"/>
                  </a:lnTo>
                  <a:lnTo>
                    <a:pt x="0" y="633984"/>
                  </a:lnTo>
                  <a:close/>
                </a:path>
              </a:pathLst>
            </a:custGeom>
            <a:blipFill>
              <a:blip r:embed="rId2">
                <a:alphaModFix amt="0"/>
              </a:blip>
              <a:stretch>
                <a:fillRect l="0" t="-609493" r="0" b="-609493"/>
              </a:stretch>
            </a:blipFill>
          </p:spPr>
        </p:sp>
        <p:sp>
          <p:nvSpPr>
            <p:cNvPr name="TextBox 9" id="9"/>
            <p:cNvSpPr txBox="true"/>
            <p:nvPr/>
          </p:nvSpPr>
          <p:spPr>
            <a:xfrm>
              <a:off x="0" y="-47625"/>
              <a:ext cx="21457920" cy="681609"/>
            </a:xfrm>
            <a:prstGeom prst="rect">
              <a:avLst/>
            </a:prstGeom>
          </p:spPr>
          <p:txBody>
            <a:bodyPr anchor="ctr" rtlCol="false" tIns="0" lIns="0" bIns="0" rIns="0"/>
            <a:lstStyle/>
            <a:p>
              <a:pPr algn="l">
                <a:lnSpc>
                  <a:spcPts val="2520"/>
                </a:lnSpc>
              </a:pPr>
              <a:r>
                <a:rPr lang="en-US" sz="2100">
                  <a:solidFill>
                    <a:srgbClr val="ADBDD4"/>
                  </a:solidFill>
                  <a:latin typeface="Calibri (MS)"/>
                  <a:ea typeface="Calibri (MS)"/>
                  <a:cs typeface="Calibri (MS)"/>
                  <a:sym typeface="Calibri (MS)"/>
                </a:rPr>
                <a:t>Architecture simulée — Intégration du modèle IDS dans un environnement réseau virtuel</a:t>
              </a:r>
            </a:p>
          </p:txBody>
        </p:sp>
      </p:grpSp>
      <p:grpSp>
        <p:nvGrpSpPr>
          <p:cNvPr name="Group 10" id="10"/>
          <p:cNvGrpSpPr/>
          <p:nvPr/>
        </p:nvGrpSpPr>
        <p:grpSpPr>
          <a:xfrm rot="0">
            <a:off x="535943" y="2218439"/>
            <a:ext cx="4048763" cy="647195"/>
            <a:chOff x="0" y="0"/>
            <a:chExt cx="5398351" cy="862927"/>
          </a:xfrm>
        </p:grpSpPr>
        <p:sp>
          <p:nvSpPr>
            <p:cNvPr name="Freeform 11" id="11"/>
            <p:cNvSpPr/>
            <p:nvPr/>
          </p:nvSpPr>
          <p:spPr>
            <a:xfrm flipH="false" flipV="false" rot="0">
              <a:off x="0" y="0"/>
              <a:ext cx="5398389" cy="862965"/>
            </a:xfrm>
            <a:custGeom>
              <a:avLst/>
              <a:gdLst/>
              <a:ahLst/>
              <a:cxnLst/>
              <a:rect r="r" b="b" t="t" l="l"/>
              <a:pathLst>
                <a:path h="862965" w="5398389">
                  <a:moveTo>
                    <a:pt x="0" y="152273"/>
                  </a:moveTo>
                  <a:cubicBezTo>
                    <a:pt x="0" y="68199"/>
                    <a:pt x="68199" y="0"/>
                    <a:pt x="152273" y="0"/>
                  </a:cubicBezTo>
                  <a:lnTo>
                    <a:pt x="5246116" y="0"/>
                  </a:lnTo>
                  <a:cubicBezTo>
                    <a:pt x="5330190" y="0"/>
                    <a:pt x="5398389" y="68199"/>
                    <a:pt x="5398389" y="152273"/>
                  </a:cubicBezTo>
                  <a:lnTo>
                    <a:pt x="5398389" y="710692"/>
                  </a:lnTo>
                  <a:cubicBezTo>
                    <a:pt x="5398389" y="794766"/>
                    <a:pt x="5330190" y="862965"/>
                    <a:pt x="5246116" y="862965"/>
                  </a:cubicBezTo>
                  <a:lnTo>
                    <a:pt x="152273" y="862965"/>
                  </a:lnTo>
                  <a:cubicBezTo>
                    <a:pt x="68199" y="862965"/>
                    <a:pt x="0" y="794766"/>
                    <a:pt x="0" y="710692"/>
                  </a:cubicBezTo>
                  <a:close/>
                </a:path>
              </a:pathLst>
            </a:custGeom>
            <a:solidFill>
              <a:srgbClr val="1B2D4F"/>
            </a:solidFill>
            <a:ln w="25400" cap="sq">
              <a:solidFill>
                <a:srgbClr val="1B2D4F"/>
              </a:solidFill>
              <a:prstDash val="solid"/>
              <a:miter/>
            </a:ln>
          </p:spPr>
        </p:sp>
      </p:grpSp>
      <p:grpSp>
        <p:nvGrpSpPr>
          <p:cNvPr name="Group 12" id="12"/>
          <p:cNvGrpSpPr/>
          <p:nvPr/>
        </p:nvGrpSpPr>
        <p:grpSpPr>
          <a:xfrm rot="0">
            <a:off x="548640" y="2231136"/>
            <a:ext cx="4023360" cy="621792"/>
            <a:chOff x="0" y="0"/>
            <a:chExt cx="5364480" cy="829056"/>
          </a:xfrm>
        </p:grpSpPr>
        <p:sp>
          <p:nvSpPr>
            <p:cNvPr name="Freeform 13" id="13"/>
            <p:cNvSpPr/>
            <p:nvPr/>
          </p:nvSpPr>
          <p:spPr>
            <a:xfrm flipH="false" flipV="false" rot="0">
              <a:off x="0" y="0"/>
              <a:ext cx="5364480" cy="829056"/>
            </a:xfrm>
            <a:custGeom>
              <a:avLst/>
              <a:gdLst/>
              <a:ahLst/>
              <a:cxnLst/>
              <a:rect r="r" b="b" t="t" l="l"/>
              <a:pathLst>
                <a:path h="829056" w="5364480">
                  <a:moveTo>
                    <a:pt x="0" y="0"/>
                  </a:moveTo>
                  <a:lnTo>
                    <a:pt x="5364480" y="0"/>
                  </a:lnTo>
                  <a:lnTo>
                    <a:pt x="5364480" y="829056"/>
                  </a:lnTo>
                  <a:lnTo>
                    <a:pt x="0" y="829056"/>
                  </a:lnTo>
                  <a:close/>
                </a:path>
              </a:pathLst>
            </a:custGeom>
            <a:blipFill>
              <a:blip r:embed="rId2">
                <a:alphaModFix amt="0"/>
              </a:blip>
              <a:stretch>
                <a:fillRect l="0" t="-76079" r="0" b="-76079"/>
              </a:stretch>
            </a:blipFill>
          </p:spPr>
        </p:sp>
        <p:sp>
          <p:nvSpPr>
            <p:cNvPr name="TextBox 14" id="14"/>
            <p:cNvSpPr txBox="true"/>
            <p:nvPr/>
          </p:nvSpPr>
          <p:spPr>
            <a:xfrm>
              <a:off x="0" y="-47625"/>
              <a:ext cx="5364480" cy="876681"/>
            </a:xfrm>
            <a:prstGeom prst="rect">
              <a:avLst/>
            </a:prstGeom>
          </p:spPr>
          <p:txBody>
            <a:bodyPr anchor="ctr" rtlCol="false" tIns="0" lIns="0" bIns="0" rIns="0"/>
            <a:lstStyle/>
            <a:p>
              <a:pPr algn="ctr">
                <a:lnSpc>
                  <a:spcPts val="2640"/>
                </a:lnSpc>
              </a:pPr>
              <a:r>
                <a:rPr lang="en-US" sz="2200" b="true">
                  <a:solidFill>
                    <a:srgbClr val="FFFFFF"/>
                  </a:solidFill>
                  <a:latin typeface="Calibri (MS) Bold"/>
                  <a:ea typeface="Calibri (MS) Bold"/>
                  <a:cs typeface="Calibri (MS) Bold"/>
                  <a:sym typeface="Calibri (MS) Bold"/>
                </a:rPr>
                <a:t>5.1  Contexte</a:t>
              </a:r>
            </a:p>
          </p:txBody>
        </p:sp>
      </p:grpSp>
      <p:grpSp>
        <p:nvGrpSpPr>
          <p:cNvPr name="Group 15" id="15"/>
          <p:cNvGrpSpPr/>
          <p:nvPr/>
        </p:nvGrpSpPr>
        <p:grpSpPr>
          <a:xfrm rot="0">
            <a:off x="535943" y="3023111"/>
            <a:ext cx="153419" cy="1525019"/>
            <a:chOff x="0" y="0"/>
            <a:chExt cx="204559" cy="2033359"/>
          </a:xfrm>
        </p:grpSpPr>
        <p:sp>
          <p:nvSpPr>
            <p:cNvPr name="Freeform 16" id="16"/>
            <p:cNvSpPr/>
            <p:nvPr/>
          </p:nvSpPr>
          <p:spPr>
            <a:xfrm flipH="false" flipV="false" rot="0">
              <a:off x="0" y="0"/>
              <a:ext cx="204597" cy="2033397"/>
            </a:xfrm>
            <a:custGeom>
              <a:avLst/>
              <a:gdLst/>
              <a:ahLst/>
              <a:cxnLst/>
              <a:rect r="r" b="b" t="t" l="l"/>
              <a:pathLst>
                <a:path h="2033397" w="204597">
                  <a:moveTo>
                    <a:pt x="0" y="0"/>
                  </a:moveTo>
                  <a:lnTo>
                    <a:pt x="204597" y="0"/>
                  </a:lnTo>
                  <a:lnTo>
                    <a:pt x="204597" y="2033397"/>
                  </a:lnTo>
                  <a:lnTo>
                    <a:pt x="0" y="2033397"/>
                  </a:lnTo>
                  <a:close/>
                </a:path>
              </a:pathLst>
            </a:custGeom>
            <a:solidFill>
              <a:srgbClr val="1B4F9C"/>
            </a:solidFill>
            <a:ln w="25400" cap="sq">
              <a:solidFill>
                <a:srgbClr val="1B4F9C"/>
              </a:solidFill>
              <a:prstDash val="solid"/>
              <a:miter/>
            </a:ln>
          </p:spPr>
        </p:sp>
      </p:grpSp>
      <p:grpSp>
        <p:nvGrpSpPr>
          <p:cNvPr name="Group 17" id="17"/>
          <p:cNvGrpSpPr/>
          <p:nvPr/>
        </p:nvGrpSpPr>
        <p:grpSpPr>
          <a:xfrm rot="0">
            <a:off x="670303" y="3029455"/>
            <a:ext cx="17075401" cy="1512313"/>
            <a:chOff x="0" y="0"/>
            <a:chExt cx="22767201" cy="2016417"/>
          </a:xfrm>
        </p:grpSpPr>
        <p:sp>
          <p:nvSpPr>
            <p:cNvPr name="Freeform 18" id="18"/>
            <p:cNvSpPr/>
            <p:nvPr/>
          </p:nvSpPr>
          <p:spPr>
            <a:xfrm flipH="false" flipV="false" rot="0">
              <a:off x="0" y="0"/>
              <a:ext cx="22767162" cy="2016379"/>
            </a:xfrm>
            <a:custGeom>
              <a:avLst/>
              <a:gdLst/>
              <a:ahLst/>
              <a:cxnLst/>
              <a:rect r="r" b="b" t="t" l="l"/>
              <a:pathLst>
                <a:path h="2016379" w="22767162">
                  <a:moveTo>
                    <a:pt x="0" y="0"/>
                  </a:moveTo>
                  <a:lnTo>
                    <a:pt x="22767162" y="0"/>
                  </a:lnTo>
                  <a:lnTo>
                    <a:pt x="22767162" y="2016379"/>
                  </a:lnTo>
                  <a:lnTo>
                    <a:pt x="0" y="2016379"/>
                  </a:lnTo>
                  <a:close/>
                </a:path>
              </a:pathLst>
            </a:custGeom>
            <a:solidFill>
              <a:srgbClr val="FFFFFF"/>
            </a:solidFill>
            <a:ln w="12700" cap="sq">
              <a:solidFill>
                <a:srgbClr val="D0D8E8"/>
              </a:solidFill>
              <a:prstDash val="solid"/>
              <a:miter/>
            </a:ln>
          </p:spPr>
        </p:sp>
      </p:grpSp>
      <p:grpSp>
        <p:nvGrpSpPr>
          <p:cNvPr name="Group 19" id="19"/>
          <p:cNvGrpSpPr/>
          <p:nvPr/>
        </p:nvGrpSpPr>
        <p:grpSpPr>
          <a:xfrm rot="0">
            <a:off x="950976" y="3108960"/>
            <a:ext cx="16642080" cy="1316736"/>
            <a:chOff x="0" y="0"/>
            <a:chExt cx="22189440" cy="1755648"/>
          </a:xfrm>
        </p:grpSpPr>
        <p:sp>
          <p:nvSpPr>
            <p:cNvPr name="Freeform 20" id="20"/>
            <p:cNvSpPr/>
            <p:nvPr/>
          </p:nvSpPr>
          <p:spPr>
            <a:xfrm flipH="false" flipV="false" rot="0">
              <a:off x="0" y="0"/>
              <a:ext cx="22189439" cy="1755648"/>
            </a:xfrm>
            <a:custGeom>
              <a:avLst/>
              <a:gdLst/>
              <a:ahLst/>
              <a:cxnLst/>
              <a:rect r="r" b="b" t="t" l="l"/>
              <a:pathLst>
                <a:path h="1755648" w="22189439">
                  <a:moveTo>
                    <a:pt x="0" y="0"/>
                  </a:moveTo>
                  <a:lnTo>
                    <a:pt x="22189439" y="0"/>
                  </a:lnTo>
                  <a:lnTo>
                    <a:pt x="22189439" y="1755648"/>
                  </a:lnTo>
                  <a:lnTo>
                    <a:pt x="0" y="1755648"/>
                  </a:lnTo>
                  <a:close/>
                </a:path>
              </a:pathLst>
            </a:custGeom>
            <a:blipFill>
              <a:blip r:embed="rId2">
                <a:alphaModFix amt="0"/>
              </a:blip>
              <a:stretch>
                <a:fillRect l="0" t="-196269" r="0" b="-196269"/>
              </a:stretch>
            </a:blipFill>
          </p:spPr>
        </p:sp>
        <p:sp>
          <p:nvSpPr>
            <p:cNvPr name="TextBox 21" id="21"/>
            <p:cNvSpPr txBox="true"/>
            <p:nvPr/>
          </p:nvSpPr>
          <p:spPr>
            <a:xfrm>
              <a:off x="0" y="-47625"/>
              <a:ext cx="22189440" cy="1803273"/>
            </a:xfrm>
            <a:prstGeom prst="rect">
              <a:avLst/>
            </a:prstGeom>
          </p:spPr>
          <p:txBody>
            <a:bodyPr anchor="ctr" rtlCol="false" tIns="0" lIns="0" bIns="0" rIns="0"/>
            <a:lstStyle/>
            <a:p>
              <a:pPr algn="l">
                <a:lnSpc>
                  <a:spcPts val="2640"/>
                </a:lnSpc>
              </a:pPr>
              <a:r>
                <a:rPr lang="en-US" sz="2200">
                  <a:solidFill>
                    <a:srgbClr val="2C2C2C"/>
                  </a:solidFill>
                  <a:latin typeface="Calibri (MS)"/>
                  <a:ea typeface="Calibri (MS)"/>
                  <a:cs typeface="Calibri (MS)"/>
                  <a:sym typeface="Calibri (MS)"/>
                </a:rPr>
                <a:t>L'intégration du modèle dans une architecture simulée sous </a:t>
              </a:r>
              <a:r>
                <a:rPr lang="en-US" sz="2200" b="true">
                  <a:solidFill>
                    <a:srgbClr val="1B2D4F"/>
                  </a:solidFill>
                  <a:latin typeface="Calibri (MS) Bold"/>
                  <a:ea typeface="Calibri (MS) Bold"/>
                  <a:cs typeface="Calibri (MS) Bold"/>
                  <a:sym typeface="Calibri (MS) Bold"/>
                </a:rPr>
                <a:t>GNS3</a:t>
              </a:r>
              <a:r>
                <a:rPr lang="en-US" sz="2200">
                  <a:solidFill>
                    <a:srgbClr val="2C2C2C"/>
                  </a:solidFill>
                  <a:latin typeface="Calibri (MS)"/>
                  <a:ea typeface="Calibri (MS)"/>
                  <a:cs typeface="Calibri (MS)"/>
                  <a:sym typeface="Calibri (MS)"/>
                </a:rPr>
                <a:t> était envisagée pour observer son comportement sur un trafic généré dynamiquement. Les limitations matérielles de la plateforme (nombre de VM nécessaires) n'ont pas permis de finaliser cette mise en œuvre. Cette section décrit </a:t>
              </a:r>
              <a:r>
                <a:rPr lang="en-US" sz="2200" b="true">
                  <a:solidFill>
                    <a:srgbClr val="1B2D4F"/>
                  </a:solidFill>
                  <a:latin typeface="Calibri (MS) Bold"/>
                  <a:ea typeface="Calibri (MS) Bold"/>
                  <a:cs typeface="Calibri (MS) Bold"/>
                  <a:sym typeface="Calibri (MS) Bold"/>
                </a:rPr>
                <a:t>l'architecture envisagée</a:t>
              </a:r>
              <a:r>
                <a:rPr lang="en-US" sz="2200">
                  <a:solidFill>
                    <a:srgbClr val="2C2C2C"/>
                  </a:solidFill>
                  <a:latin typeface="Calibri (MS)"/>
                  <a:ea typeface="Calibri (MS)"/>
                  <a:cs typeface="Calibri (MS)"/>
                  <a:sym typeface="Calibri (MS)"/>
                </a:rPr>
                <a:t>.</a:t>
              </a:r>
            </a:p>
          </p:txBody>
        </p:sp>
      </p:grpSp>
      <p:grpSp>
        <p:nvGrpSpPr>
          <p:cNvPr name="Group 22" id="22"/>
          <p:cNvGrpSpPr/>
          <p:nvPr/>
        </p:nvGrpSpPr>
        <p:grpSpPr>
          <a:xfrm rot="0">
            <a:off x="535943" y="4778759"/>
            <a:ext cx="5877563" cy="647195"/>
            <a:chOff x="0" y="0"/>
            <a:chExt cx="7836751" cy="862927"/>
          </a:xfrm>
        </p:grpSpPr>
        <p:sp>
          <p:nvSpPr>
            <p:cNvPr name="Freeform 23" id="23"/>
            <p:cNvSpPr/>
            <p:nvPr/>
          </p:nvSpPr>
          <p:spPr>
            <a:xfrm flipH="false" flipV="false" rot="0">
              <a:off x="0" y="0"/>
              <a:ext cx="7836789" cy="862965"/>
            </a:xfrm>
            <a:custGeom>
              <a:avLst/>
              <a:gdLst/>
              <a:ahLst/>
              <a:cxnLst/>
              <a:rect r="r" b="b" t="t" l="l"/>
              <a:pathLst>
                <a:path h="862965" w="7836789">
                  <a:moveTo>
                    <a:pt x="0" y="152273"/>
                  </a:moveTo>
                  <a:cubicBezTo>
                    <a:pt x="0" y="68199"/>
                    <a:pt x="68199" y="0"/>
                    <a:pt x="152273" y="0"/>
                  </a:cubicBezTo>
                  <a:lnTo>
                    <a:pt x="7684516" y="0"/>
                  </a:lnTo>
                  <a:cubicBezTo>
                    <a:pt x="7768590" y="0"/>
                    <a:pt x="7836789" y="68199"/>
                    <a:pt x="7836789" y="152273"/>
                  </a:cubicBezTo>
                  <a:lnTo>
                    <a:pt x="7836789" y="710692"/>
                  </a:lnTo>
                  <a:cubicBezTo>
                    <a:pt x="7836789" y="794766"/>
                    <a:pt x="7768590" y="862965"/>
                    <a:pt x="7684516" y="862965"/>
                  </a:cubicBezTo>
                  <a:lnTo>
                    <a:pt x="152273" y="862965"/>
                  </a:lnTo>
                  <a:cubicBezTo>
                    <a:pt x="68199" y="862965"/>
                    <a:pt x="0" y="794766"/>
                    <a:pt x="0" y="710692"/>
                  </a:cubicBezTo>
                  <a:close/>
                </a:path>
              </a:pathLst>
            </a:custGeom>
            <a:solidFill>
              <a:srgbClr val="1B2D4F"/>
            </a:solidFill>
            <a:ln w="25400" cap="sq">
              <a:solidFill>
                <a:srgbClr val="1B2D4F"/>
              </a:solidFill>
              <a:prstDash val="solid"/>
              <a:miter/>
            </a:ln>
          </p:spPr>
        </p:sp>
      </p:grpSp>
      <p:grpSp>
        <p:nvGrpSpPr>
          <p:cNvPr name="Group 24" id="24"/>
          <p:cNvGrpSpPr/>
          <p:nvPr/>
        </p:nvGrpSpPr>
        <p:grpSpPr>
          <a:xfrm rot="0">
            <a:off x="548640" y="4791456"/>
            <a:ext cx="5852160" cy="621792"/>
            <a:chOff x="0" y="0"/>
            <a:chExt cx="7802880" cy="829056"/>
          </a:xfrm>
        </p:grpSpPr>
        <p:sp>
          <p:nvSpPr>
            <p:cNvPr name="Freeform 25" id="25"/>
            <p:cNvSpPr/>
            <p:nvPr/>
          </p:nvSpPr>
          <p:spPr>
            <a:xfrm flipH="false" flipV="false" rot="0">
              <a:off x="0" y="0"/>
              <a:ext cx="7802880" cy="829056"/>
            </a:xfrm>
            <a:custGeom>
              <a:avLst/>
              <a:gdLst/>
              <a:ahLst/>
              <a:cxnLst/>
              <a:rect r="r" b="b" t="t" l="l"/>
              <a:pathLst>
                <a:path h="829056" w="7802880">
                  <a:moveTo>
                    <a:pt x="0" y="0"/>
                  </a:moveTo>
                  <a:lnTo>
                    <a:pt x="7802880" y="0"/>
                  </a:lnTo>
                  <a:lnTo>
                    <a:pt x="7802880" y="829056"/>
                  </a:lnTo>
                  <a:lnTo>
                    <a:pt x="0" y="829056"/>
                  </a:lnTo>
                  <a:close/>
                </a:path>
              </a:pathLst>
            </a:custGeom>
            <a:blipFill>
              <a:blip r:embed="rId2">
                <a:alphaModFix amt="0"/>
              </a:blip>
              <a:stretch>
                <a:fillRect l="0" t="-133388" r="0" b="-133388"/>
              </a:stretch>
            </a:blipFill>
          </p:spPr>
        </p:sp>
        <p:sp>
          <p:nvSpPr>
            <p:cNvPr name="TextBox 26" id="26"/>
            <p:cNvSpPr txBox="true"/>
            <p:nvPr/>
          </p:nvSpPr>
          <p:spPr>
            <a:xfrm>
              <a:off x="0" y="-47625"/>
              <a:ext cx="7802880" cy="876681"/>
            </a:xfrm>
            <a:prstGeom prst="rect">
              <a:avLst/>
            </a:prstGeom>
          </p:spPr>
          <p:txBody>
            <a:bodyPr anchor="ctr" rtlCol="false" tIns="0" lIns="0" bIns="0" rIns="0"/>
            <a:lstStyle/>
            <a:p>
              <a:pPr algn="ctr">
                <a:lnSpc>
                  <a:spcPts val="2640"/>
                </a:lnSpc>
              </a:pPr>
              <a:r>
                <a:rPr lang="en-US" sz="2200" b="true">
                  <a:solidFill>
                    <a:srgbClr val="FFFFFF"/>
                  </a:solidFill>
                  <a:latin typeface="Calibri (MS) Bold"/>
                  <a:ea typeface="Calibri (MS) Bold"/>
                  <a:cs typeface="Calibri (MS) Bold"/>
                  <a:sym typeface="Calibri (MS) Bold"/>
                </a:rPr>
                <a:t>5.2  Architecture envisagée</a:t>
              </a:r>
            </a:p>
          </p:txBody>
        </p:sp>
      </p:grpSp>
      <p:grpSp>
        <p:nvGrpSpPr>
          <p:cNvPr name="Group 27" id="27"/>
          <p:cNvGrpSpPr/>
          <p:nvPr/>
        </p:nvGrpSpPr>
        <p:grpSpPr>
          <a:xfrm rot="0">
            <a:off x="6675120" y="4901184"/>
            <a:ext cx="8229600" cy="402336"/>
            <a:chOff x="0" y="0"/>
            <a:chExt cx="10972800" cy="536448"/>
          </a:xfrm>
        </p:grpSpPr>
        <p:sp>
          <p:nvSpPr>
            <p:cNvPr name="Freeform 28" id="28"/>
            <p:cNvSpPr/>
            <p:nvPr/>
          </p:nvSpPr>
          <p:spPr>
            <a:xfrm flipH="false" flipV="false" rot="0">
              <a:off x="0" y="0"/>
              <a:ext cx="10972800" cy="536448"/>
            </a:xfrm>
            <a:custGeom>
              <a:avLst/>
              <a:gdLst/>
              <a:ahLst/>
              <a:cxnLst/>
              <a:rect r="r" b="b" t="t" l="l"/>
              <a:pathLst>
                <a:path h="536448" w="10972800">
                  <a:moveTo>
                    <a:pt x="0" y="0"/>
                  </a:moveTo>
                  <a:lnTo>
                    <a:pt x="10972800" y="0"/>
                  </a:lnTo>
                  <a:lnTo>
                    <a:pt x="10972800" y="536448"/>
                  </a:lnTo>
                  <a:lnTo>
                    <a:pt x="0" y="536448"/>
                  </a:lnTo>
                  <a:close/>
                </a:path>
              </a:pathLst>
            </a:custGeom>
            <a:blipFill>
              <a:blip r:embed="rId2">
                <a:alphaModFix amt="0"/>
              </a:blip>
              <a:stretch>
                <a:fillRect l="0" t="-348557" r="0" b="-348557"/>
              </a:stretch>
            </a:blipFill>
          </p:spPr>
        </p:sp>
        <p:sp>
          <p:nvSpPr>
            <p:cNvPr name="TextBox 29" id="29"/>
            <p:cNvSpPr txBox="true"/>
            <p:nvPr/>
          </p:nvSpPr>
          <p:spPr>
            <a:xfrm>
              <a:off x="0" y="-38100"/>
              <a:ext cx="10972800" cy="574548"/>
            </a:xfrm>
            <a:prstGeom prst="rect">
              <a:avLst/>
            </a:prstGeom>
          </p:spPr>
          <p:txBody>
            <a:bodyPr anchor="ctr" rtlCol="false" tIns="0" lIns="0" bIns="0" rIns="0"/>
            <a:lstStyle/>
            <a:p>
              <a:pPr algn="l">
                <a:lnSpc>
                  <a:spcPts val="2280"/>
                </a:lnSpc>
              </a:pPr>
              <a:r>
                <a:rPr lang="en-US" sz="1900" i="true">
                  <a:solidFill>
                    <a:srgbClr val="7A8FA8"/>
                  </a:solidFill>
                  <a:latin typeface="Calibri (MS) Italics"/>
                  <a:ea typeface="Calibri (MS) Italics"/>
                  <a:cs typeface="Calibri (MS) Italics"/>
                  <a:sym typeface="Calibri (MS) Italics"/>
                </a:rPr>
                <a:t>Tableau 5.1 — Machines virtuelles prévues</a:t>
              </a:r>
            </a:p>
          </p:txBody>
        </p:sp>
      </p:grpSp>
      <p:grpSp>
        <p:nvGrpSpPr>
          <p:cNvPr name="Group 30" id="30"/>
          <p:cNvGrpSpPr/>
          <p:nvPr/>
        </p:nvGrpSpPr>
        <p:grpSpPr>
          <a:xfrm rot="0">
            <a:off x="535943" y="5601719"/>
            <a:ext cx="4048763" cy="610619"/>
            <a:chOff x="0" y="0"/>
            <a:chExt cx="5398351" cy="814159"/>
          </a:xfrm>
        </p:grpSpPr>
        <p:sp>
          <p:nvSpPr>
            <p:cNvPr name="Freeform 31" id="31"/>
            <p:cNvSpPr/>
            <p:nvPr/>
          </p:nvSpPr>
          <p:spPr>
            <a:xfrm flipH="false" flipV="false" rot="0">
              <a:off x="0" y="0"/>
              <a:ext cx="5398389" cy="814197"/>
            </a:xfrm>
            <a:custGeom>
              <a:avLst/>
              <a:gdLst/>
              <a:ahLst/>
              <a:cxnLst/>
              <a:rect r="r" b="b" t="t" l="l"/>
              <a:pathLst>
                <a:path h="814197" w="5398389">
                  <a:moveTo>
                    <a:pt x="0" y="0"/>
                  </a:moveTo>
                  <a:lnTo>
                    <a:pt x="5398389" y="0"/>
                  </a:lnTo>
                  <a:lnTo>
                    <a:pt x="5398389" y="814197"/>
                  </a:lnTo>
                  <a:lnTo>
                    <a:pt x="0" y="814197"/>
                  </a:lnTo>
                  <a:close/>
                </a:path>
              </a:pathLst>
            </a:custGeom>
            <a:solidFill>
              <a:srgbClr val="1B2D4F"/>
            </a:solidFill>
            <a:ln w="25400" cap="sq">
              <a:solidFill>
                <a:srgbClr val="1B2D4F"/>
              </a:solidFill>
              <a:prstDash val="solid"/>
              <a:miter/>
            </a:ln>
          </p:spPr>
        </p:sp>
      </p:grpSp>
      <p:grpSp>
        <p:nvGrpSpPr>
          <p:cNvPr name="Group 32" id="32"/>
          <p:cNvGrpSpPr/>
          <p:nvPr/>
        </p:nvGrpSpPr>
        <p:grpSpPr>
          <a:xfrm rot="0">
            <a:off x="768096" y="5614416"/>
            <a:ext cx="3803904" cy="585216"/>
            <a:chOff x="0" y="0"/>
            <a:chExt cx="5071872" cy="780288"/>
          </a:xfrm>
        </p:grpSpPr>
        <p:sp>
          <p:nvSpPr>
            <p:cNvPr name="Freeform 33" id="33"/>
            <p:cNvSpPr/>
            <p:nvPr/>
          </p:nvSpPr>
          <p:spPr>
            <a:xfrm flipH="false" flipV="false" rot="0">
              <a:off x="0" y="0"/>
              <a:ext cx="5071872" cy="780288"/>
            </a:xfrm>
            <a:custGeom>
              <a:avLst/>
              <a:gdLst/>
              <a:ahLst/>
              <a:cxnLst/>
              <a:rect r="r" b="b" t="t" l="l"/>
              <a:pathLst>
                <a:path h="780288" w="5071872">
                  <a:moveTo>
                    <a:pt x="0" y="0"/>
                  </a:moveTo>
                  <a:lnTo>
                    <a:pt x="5071872" y="0"/>
                  </a:lnTo>
                  <a:lnTo>
                    <a:pt x="5071872" y="780288"/>
                  </a:lnTo>
                  <a:lnTo>
                    <a:pt x="0" y="780288"/>
                  </a:lnTo>
                  <a:close/>
                </a:path>
              </a:pathLst>
            </a:custGeom>
            <a:blipFill>
              <a:blip r:embed="rId2">
                <a:alphaModFix amt="0"/>
              </a:blip>
              <a:stretch>
                <a:fillRect l="0" t="-76652" r="0" b="-76652"/>
              </a:stretch>
            </a:blipFill>
          </p:spPr>
        </p:sp>
        <p:sp>
          <p:nvSpPr>
            <p:cNvPr name="TextBox 34" id="34"/>
            <p:cNvSpPr txBox="true"/>
            <p:nvPr/>
          </p:nvSpPr>
          <p:spPr>
            <a:xfrm>
              <a:off x="0" y="-47625"/>
              <a:ext cx="5071872" cy="827913"/>
            </a:xfrm>
            <a:prstGeom prst="rect">
              <a:avLst/>
            </a:prstGeom>
          </p:spPr>
          <p:txBody>
            <a:bodyPr anchor="ctr" rtlCol="false" tIns="0" lIns="0" bIns="0" rIns="0"/>
            <a:lstStyle/>
            <a:p>
              <a:pPr algn="l">
                <a:lnSpc>
                  <a:spcPts val="2640"/>
                </a:lnSpc>
              </a:pPr>
              <a:r>
                <a:rPr lang="en-US" sz="2200" b="true">
                  <a:solidFill>
                    <a:srgbClr val="FFFFFF"/>
                  </a:solidFill>
                  <a:latin typeface="Calibri (MS) Bold"/>
                  <a:ea typeface="Calibri (MS) Bold"/>
                  <a:cs typeface="Calibri (MS) Bold"/>
                  <a:sym typeface="Calibri (MS) Bold"/>
                </a:rPr>
                <a:t>Machine</a:t>
              </a:r>
            </a:p>
          </p:txBody>
        </p:sp>
      </p:grpSp>
      <p:grpSp>
        <p:nvGrpSpPr>
          <p:cNvPr name="Group 35" id="35"/>
          <p:cNvGrpSpPr/>
          <p:nvPr/>
        </p:nvGrpSpPr>
        <p:grpSpPr>
          <a:xfrm rot="0">
            <a:off x="4650743" y="5601719"/>
            <a:ext cx="13101323" cy="610619"/>
            <a:chOff x="0" y="0"/>
            <a:chExt cx="17468431" cy="814159"/>
          </a:xfrm>
        </p:grpSpPr>
        <p:sp>
          <p:nvSpPr>
            <p:cNvPr name="Freeform 36" id="36"/>
            <p:cNvSpPr/>
            <p:nvPr/>
          </p:nvSpPr>
          <p:spPr>
            <a:xfrm flipH="false" flipV="false" rot="0">
              <a:off x="0" y="0"/>
              <a:ext cx="17468469" cy="814197"/>
            </a:xfrm>
            <a:custGeom>
              <a:avLst/>
              <a:gdLst/>
              <a:ahLst/>
              <a:cxnLst/>
              <a:rect r="r" b="b" t="t" l="l"/>
              <a:pathLst>
                <a:path h="814197" w="17468469">
                  <a:moveTo>
                    <a:pt x="0" y="0"/>
                  </a:moveTo>
                  <a:lnTo>
                    <a:pt x="17468469" y="0"/>
                  </a:lnTo>
                  <a:lnTo>
                    <a:pt x="17468469" y="814197"/>
                  </a:lnTo>
                  <a:lnTo>
                    <a:pt x="0" y="814197"/>
                  </a:lnTo>
                  <a:close/>
                </a:path>
              </a:pathLst>
            </a:custGeom>
            <a:solidFill>
              <a:srgbClr val="1B2D4F"/>
            </a:solidFill>
            <a:ln w="25400" cap="sq">
              <a:solidFill>
                <a:srgbClr val="1B2D4F"/>
              </a:solidFill>
              <a:prstDash val="solid"/>
              <a:miter/>
            </a:ln>
          </p:spPr>
        </p:sp>
      </p:grpSp>
      <p:grpSp>
        <p:nvGrpSpPr>
          <p:cNvPr name="Group 37" id="37"/>
          <p:cNvGrpSpPr/>
          <p:nvPr/>
        </p:nvGrpSpPr>
        <p:grpSpPr>
          <a:xfrm rot="0">
            <a:off x="4882896" y="5614416"/>
            <a:ext cx="12856464" cy="585216"/>
            <a:chOff x="0" y="0"/>
            <a:chExt cx="17141952" cy="780288"/>
          </a:xfrm>
        </p:grpSpPr>
        <p:sp>
          <p:nvSpPr>
            <p:cNvPr name="Freeform 38" id="38"/>
            <p:cNvSpPr/>
            <p:nvPr/>
          </p:nvSpPr>
          <p:spPr>
            <a:xfrm flipH="false" flipV="false" rot="0">
              <a:off x="0" y="0"/>
              <a:ext cx="17141952" cy="780288"/>
            </a:xfrm>
            <a:custGeom>
              <a:avLst/>
              <a:gdLst/>
              <a:ahLst/>
              <a:cxnLst/>
              <a:rect r="r" b="b" t="t" l="l"/>
              <a:pathLst>
                <a:path h="780288" w="17141952">
                  <a:moveTo>
                    <a:pt x="0" y="0"/>
                  </a:moveTo>
                  <a:lnTo>
                    <a:pt x="17141952" y="0"/>
                  </a:lnTo>
                  <a:lnTo>
                    <a:pt x="17141952" y="780288"/>
                  </a:lnTo>
                  <a:lnTo>
                    <a:pt x="0" y="780288"/>
                  </a:lnTo>
                  <a:close/>
                </a:path>
              </a:pathLst>
            </a:custGeom>
            <a:blipFill>
              <a:blip r:embed="rId2">
                <a:alphaModFix amt="0"/>
              </a:blip>
              <a:stretch>
                <a:fillRect l="0" t="-378061" r="0" b="-378061"/>
              </a:stretch>
            </a:blipFill>
          </p:spPr>
        </p:sp>
        <p:sp>
          <p:nvSpPr>
            <p:cNvPr name="TextBox 39" id="39"/>
            <p:cNvSpPr txBox="true"/>
            <p:nvPr/>
          </p:nvSpPr>
          <p:spPr>
            <a:xfrm>
              <a:off x="0" y="-47625"/>
              <a:ext cx="17141952" cy="827913"/>
            </a:xfrm>
            <a:prstGeom prst="rect">
              <a:avLst/>
            </a:prstGeom>
          </p:spPr>
          <p:txBody>
            <a:bodyPr anchor="ctr" rtlCol="false" tIns="0" lIns="0" bIns="0" rIns="0"/>
            <a:lstStyle/>
            <a:p>
              <a:pPr algn="l">
                <a:lnSpc>
                  <a:spcPts val="2640"/>
                </a:lnSpc>
              </a:pPr>
              <a:r>
                <a:rPr lang="en-US" sz="2200" b="true">
                  <a:solidFill>
                    <a:srgbClr val="FFFFFF"/>
                  </a:solidFill>
                  <a:latin typeface="Calibri (MS) Bold"/>
                  <a:ea typeface="Calibri (MS) Bold"/>
                  <a:cs typeface="Calibri (MS) Bold"/>
                  <a:sym typeface="Calibri (MS) Bold"/>
                </a:rPr>
                <a:t>Rôle</a:t>
              </a:r>
            </a:p>
          </p:txBody>
        </p:sp>
      </p:grpSp>
      <p:grpSp>
        <p:nvGrpSpPr>
          <p:cNvPr name="Group 40" id="40"/>
          <p:cNvGrpSpPr/>
          <p:nvPr/>
        </p:nvGrpSpPr>
        <p:grpSpPr>
          <a:xfrm rot="0">
            <a:off x="542287" y="6193279"/>
            <a:ext cx="4036057" cy="725929"/>
            <a:chOff x="0" y="0"/>
            <a:chExt cx="5381409" cy="967905"/>
          </a:xfrm>
        </p:grpSpPr>
        <p:sp>
          <p:nvSpPr>
            <p:cNvPr name="Freeform 41" id="41"/>
            <p:cNvSpPr/>
            <p:nvPr/>
          </p:nvSpPr>
          <p:spPr>
            <a:xfrm flipH="false" flipV="false" rot="0">
              <a:off x="0" y="0"/>
              <a:ext cx="5381371" cy="967867"/>
            </a:xfrm>
            <a:custGeom>
              <a:avLst/>
              <a:gdLst/>
              <a:ahLst/>
              <a:cxnLst/>
              <a:rect r="r" b="b" t="t" l="l"/>
              <a:pathLst>
                <a:path h="967867" w="5381371">
                  <a:moveTo>
                    <a:pt x="0" y="0"/>
                  </a:moveTo>
                  <a:lnTo>
                    <a:pt x="5381371" y="0"/>
                  </a:lnTo>
                  <a:lnTo>
                    <a:pt x="5381371" y="967867"/>
                  </a:lnTo>
                  <a:lnTo>
                    <a:pt x="0" y="967867"/>
                  </a:lnTo>
                  <a:close/>
                </a:path>
              </a:pathLst>
            </a:custGeom>
            <a:solidFill>
              <a:srgbClr val="FFFFFF"/>
            </a:solidFill>
            <a:ln w="12700" cap="sq">
              <a:solidFill>
                <a:srgbClr val="D0D8E8"/>
              </a:solidFill>
              <a:prstDash val="solid"/>
              <a:miter/>
            </a:ln>
          </p:spPr>
        </p:sp>
      </p:grpSp>
      <p:grpSp>
        <p:nvGrpSpPr>
          <p:cNvPr name="Group 42" id="42"/>
          <p:cNvGrpSpPr/>
          <p:nvPr/>
        </p:nvGrpSpPr>
        <p:grpSpPr>
          <a:xfrm rot="0">
            <a:off x="535943" y="6186935"/>
            <a:ext cx="135131" cy="738635"/>
            <a:chOff x="0" y="0"/>
            <a:chExt cx="180175" cy="984847"/>
          </a:xfrm>
        </p:grpSpPr>
        <p:sp>
          <p:nvSpPr>
            <p:cNvPr name="Freeform 43" id="43"/>
            <p:cNvSpPr/>
            <p:nvPr/>
          </p:nvSpPr>
          <p:spPr>
            <a:xfrm flipH="false" flipV="false" rot="0">
              <a:off x="0" y="0"/>
              <a:ext cx="180213" cy="984885"/>
            </a:xfrm>
            <a:custGeom>
              <a:avLst/>
              <a:gdLst/>
              <a:ahLst/>
              <a:cxnLst/>
              <a:rect r="r" b="b" t="t" l="l"/>
              <a:pathLst>
                <a:path h="984885" w="180213">
                  <a:moveTo>
                    <a:pt x="0" y="0"/>
                  </a:moveTo>
                  <a:lnTo>
                    <a:pt x="180213" y="0"/>
                  </a:lnTo>
                  <a:lnTo>
                    <a:pt x="180213" y="984885"/>
                  </a:lnTo>
                  <a:lnTo>
                    <a:pt x="0" y="984885"/>
                  </a:lnTo>
                  <a:close/>
                </a:path>
              </a:pathLst>
            </a:custGeom>
            <a:solidFill>
              <a:srgbClr val="1A6B3A"/>
            </a:solidFill>
            <a:ln w="25400" cap="sq">
              <a:solidFill>
                <a:srgbClr val="1A6B3A"/>
              </a:solidFill>
              <a:prstDash val="solid"/>
              <a:miter/>
            </a:ln>
          </p:spPr>
        </p:sp>
      </p:grpSp>
      <p:grpSp>
        <p:nvGrpSpPr>
          <p:cNvPr name="Group 44" id="44"/>
          <p:cNvGrpSpPr/>
          <p:nvPr/>
        </p:nvGrpSpPr>
        <p:grpSpPr>
          <a:xfrm rot="0">
            <a:off x="804672" y="6254496"/>
            <a:ext cx="3694176" cy="603504"/>
            <a:chOff x="0" y="0"/>
            <a:chExt cx="4925568" cy="804672"/>
          </a:xfrm>
        </p:grpSpPr>
        <p:sp>
          <p:nvSpPr>
            <p:cNvPr name="Freeform 45" id="45"/>
            <p:cNvSpPr/>
            <p:nvPr/>
          </p:nvSpPr>
          <p:spPr>
            <a:xfrm flipH="false" flipV="false" rot="0">
              <a:off x="0" y="0"/>
              <a:ext cx="4925568" cy="804672"/>
            </a:xfrm>
            <a:custGeom>
              <a:avLst/>
              <a:gdLst/>
              <a:ahLst/>
              <a:cxnLst/>
              <a:rect r="r" b="b" t="t" l="l"/>
              <a:pathLst>
                <a:path h="804672" w="4925568">
                  <a:moveTo>
                    <a:pt x="0" y="0"/>
                  </a:moveTo>
                  <a:lnTo>
                    <a:pt x="4925568" y="0"/>
                  </a:lnTo>
                  <a:lnTo>
                    <a:pt x="4925568" y="804672"/>
                  </a:lnTo>
                  <a:lnTo>
                    <a:pt x="0" y="804672"/>
                  </a:lnTo>
                  <a:close/>
                </a:path>
              </a:pathLst>
            </a:custGeom>
            <a:blipFill>
              <a:blip r:embed="rId2">
                <a:alphaModFix amt="0"/>
              </a:blip>
              <a:stretch>
                <a:fillRect l="0" t="-69272" r="0" b="-69272"/>
              </a:stretch>
            </a:blipFill>
          </p:spPr>
        </p:sp>
        <p:sp>
          <p:nvSpPr>
            <p:cNvPr name="TextBox 46" id="46"/>
            <p:cNvSpPr txBox="true"/>
            <p:nvPr/>
          </p:nvSpPr>
          <p:spPr>
            <a:xfrm>
              <a:off x="0" y="-47625"/>
              <a:ext cx="4925568" cy="852297"/>
            </a:xfrm>
            <a:prstGeom prst="rect">
              <a:avLst/>
            </a:prstGeom>
          </p:spPr>
          <p:txBody>
            <a:bodyPr anchor="ctr" rtlCol="false" tIns="0" lIns="0" bIns="0" rIns="0"/>
            <a:lstStyle/>
            <a:p>
              <a:pPr algn="l">
                <a:lnSpc>
                  <a:spcPts val="2520"/>
                </a:lnSpc>
              </a:pPr>
              <a:r>
                <a:rPr lang="en-US" sz="2100" b="true">
                  <a:solidFill>
                    <a:srgbClr val="1A6B3A"/>
                  </a:solidFill>
                  <a:latin typeface="Calibri (MS) Bold"/>
                  <a:ea typeface="Calibri (MS) Bold"/>
                  <a:cs typeface="Calibri (MS) Bold"/>
                  <a:sym typeface="Calibri (MS) Bold"/>
                </a:rPr>
                <a:t>Client légitime</a:t>
              </a:r>
            </a:p>
          </p:txBody>
        </p:sp>
      </p:grpSp>
      <p:grpSp>
        <p:nvGrpSpPr>
          <p:cNvPr name="Group 47" id="47"/>
          <p:cNvGrpSpPr/>
          <p:nvPr/>
        </p:nvGrpSpPr>
        <p:grpSpPr>
          <a:xfrm rot="0">
            <a:off x="4657087" y="6193279"/>
            <a:ext cx="13088617" cy="725929"/>
            <a:chOff x="0" y="0"/>
            <a:chExt cx="17451489" cy="967905"/>
          </a:xfrm>
        </p:grpSpPr>
        <p:sp>
          <p:nvSpPr>
            <p:cNvPr name="Freeform 48" id="48"/>
            <p:cNvSpPr/>
            <p:nvPr/>
          </p:nvSpPr>
          <p:spPr>
            <a:xfrm flipH="false" flipV="false" rot="0">
              <a:off x="0" y="0"/>
              <a:ext cx="17451451" cy="967867"/>
            </a:xfrm>
            <a:custGeom>
              <a:avLst/>
              <a:gdLst/>
              <a:ahLst/>
              <a:cxnLst/>
              <a:rect r="r" b="b" t="t" l="l"/>
              <a:pathLst>
                <a:path h="967867" w="17451451">
                  <a:moveTo>
                    <a:pt x="0" y="0"/>
                  </a:moveTo>
                  <a:lnTo>
                    <a:pt x="17451451" y="0"/>
                  </a:lnTo>
                  <a:lnTo>
                    <a:pt x="17451451" y="967867"/>
                  </a:lnTo>
                  <a:lnTo>
                    <a:pt x="0" y="967867"/>
                  </a:lnTo>
                  <a:close/>
                </a:path>
              </a:pathLst>
            </a:custGeom>
            <a:solidFill>
              <a:srgbClr val="FFFFFF"/>
            </a:solidFill>
            <a:ln w="12700" cap="sq">
              <a:solidFill>
                <a:srgbClr val="D0D8E8"/>
              </a:solidFill>
              <a:prstDash val="solid"/>
              <a:miter/>
            </a:ln>
          </p:spPr>
        </p:sp>
      </p:grpSp>
      <p:grpSp>
        <p:nvGrpSpPr>
          <p:cNvPr name="Group 49" id="49"/>
          <p:cNvGrpSpPr/>
          <p:nvPr/>
        </p:nvGrpSpPr>
        <p:grpSpPr>
          <a:xfrm rot="0">
            <a:off x="4882896" y="6254496"/>
            <a:ext cx="12746736" cy="603504"/>
            <a:chOff x="0" y="0"/>
            <a:chExt cx="16995648" cy="804672"/>
          </a:xfrm>
        </p:grpSpPr>
        <p:sp>
          <p:nvSpPr>
            <p:cNvPr name="Freeform 50" id="50"/>
            <p:cNvSpPr/>
            <p:nvPr/>
          </p:nvSpPr>
          <p:spPr>
            <a:xfrm flipH="false" flipV="false" rot="0">
              <a:off x="0" y="0"/>
              <a:ext cx="16995648" cy="804672"/>
            </a:xfrm>
            <a:custGeom>
              <a:avLst/>
              <a:gdLst/>
              <a:ahLst/>
              <a:cxnLst/>
              <a:rect r="r" b="b" t="t" l="l"/>
              <a:pathLst>
                <a:path h="804672" w="16995648">
                  <a:moveTo>
                    <a:pt x="0" y="0"/>
                  </a:moveTo>
                  <a:lnTo>
                    <a:pt x="16995648" y="0"/>
                  </a:lnTo>
                  <a:lnTo>
                    <a:pt x="16995648" y="804672"/>
                  </a:lnTo>
                  <a:lnTo>
                    <a:pt x="0" y="804672"/>
                  </a:lnTo>
                  <a:close/>
                </a:path>
              </a:pathLst>
            </a:custGeom>
            <a:blipFill>
              <a:blip r:embed="rId2">
                <a:alphaModFix amt="0"/>
              </a:blip>
              <a:stretch>
                <a:fillRect l="0" t="-361547" r="0" b="-361547"/>
              </a:stretch>
            </a:blipFill>
          </p:spPr>
        </p:sp>
        <p:sp>
          <p:nvSpPr>
            <p:cNvPr name="TextBox 51" id="51"/>
            <p:cNvSpPr txBox="true"/>
            <p:nvPr/>
          </p:nvSpPr>
          <p:spPr>
            <a:xfrm>
              <a:off x="0" y="-38100"/>
              <a:ext cx="16995648" cy="842772"/>
            </a:xfrm>
            <a:prstGeom prst="rect">
              <a:avLst/>
            </a:prstGeom>
          </p:spPr>
          <p:txBody>
            <a:bodyPr anchor="ctr" rtlCol="false" tIns="0" lIns="0" bIns="0" rIns="0"/>
            <a:lstStyle/>
            <a:p>
              <a:pPr algn="l">
                <a:lnSpc>
                  <a:spcPts val="2400"/>
                </a:lnSpc>
              </a:pPr>
              <a:r>
                <a:rPr lang="en-US" sz="2000">
                  <a:solidFill>
                    <a:srgbClr val="2C2C2C"/>
                  </a:solidFill>
                  <a:latin typeface="Calibri (MS)"/>
                  <a:ea typeface="Calibri (MS)"/>
                  <a:cs typeface="Calibri (MS)"/>
                  <a:sym typeface="Calibri (MS)"/>
                </a:rPr>
                <a:t>Trafic normal : navigation HTTP/HTTPS, DNS, transferts modérés.</a:t>
              </a:r>
            </a:p>
          </p:txBody>
        </p:sp>
      </p:grpSp>
      <p:grpSp>
        <p:nvGrpSpPr>
          <p:cNvPr name="Group 52" id="52"/>
          <p:cNvGrpSpPr/>
          <p:nvPr/>
        </p:nvGrpSpPr>
        <p:grpSpPr>
          <a:xfrm rot="0">
            <a:off x="542287" y="6906511"/>
            <a:ext cx="4036057" cy="725929"/>
            <a:chOff x="0" y="0"/>
            <a:chExt cx="5381409" cy="967905"/>
          </a:xfrm>
        </p:grpSpPr>
        <p:sp>
          <p:nvSpPr>
            <p:cNvPr name="Freeform 53" id="53"/>
            <p:cNvSpPr/>
            <p:nvPr/>
          </p:nvSpPr>
          <p:spPr>
            <a:xfrm flipH="false" flipV="false" rot="0">
              <a:off x="0" y="0"/>
              <a:ext cx="5381371" cy="967867"/>
            </a:xfrm>
            <a:custGeom>
              <a:avLst/>
              <a:gdLst/>
              <a:ahLst/>
              <a:cxnLst/>
              <a:rect r="r" b="b" t="t" l="l"/>
              <a:pathLst>
                <a:path h="967867" w="5381371">
                  <a:moveTo>
                    <a:pt x="0" y="0"/>
                  </a:moveTo>
                  <a:lnTo>
                    <a:pt x="5381371" y="0"/>
                  </a:lnTo>
                  <a:lnTo>
                    <a:pt x="5381371" y="967867"/>
                  </a:lnTo>
                  <a:lnTo>
                    <a:pt x="0" y="967867"/>
                  </a:lnTo>
                  <a:close/>
                </a:path>
              </a:pathLst>
            </a:custGeom>
            <a:solidFill>
              <a:srgbClr val="F3F6FB"/>
            </a:solidFill>
            <a:ln w="12700" cap="sq">
              <a:solidFill>
                <a:srgbClr val="D0D8E8"/>
              </a:solidFill>
              <a:prstDash val="solid"/>
              <a:miter/>
            </a:ln>
          </p:spPr>
        </p:sp>
      </p:grpSp>
      <p:grpSp>
        <p:nvGrpSpPr>
          <p:cNvPr name="Group 54" id="54"/>
          <p:cNvGrpSpPr/>
          <p:nvPr/>
        </p:nvGrpSpPr>
        <p:grpSpPr>
          <a:xfrm rot="0">
            <a:off x="535943" y="6900167"/>
            <a:ext cx="135131" cy="738635"/>
            <a:chOff x="0" y="0"/>
            <a:chExt cx="180175" cy="984847"/>
          </a:xfrm>
        </p:grpSpPr>
        <p:sp>
          <p:nvSpPr>
            <p:cNvPr name="Freeform 55" id="55"/>
            <p:cNvSpPr/>
            <p:nvPr/>
          </p:nvSpPr>
          <p:spPr>
            <a:xfrm flipH="false" flipV="false" rot="0">
              <a:off x="0" y="0"/>
              <a:ext cx="180213" cy="984885"/>
            </a:xfrm>
            <a:custGeom>
              <a:avLst/>
              <a:gdLst/>
              <a:ahLst/>
              <a:cxnLst/>
              <a:rect r="r" b="b" t="t" l="l"/>
              <a:pathLst>
                <a:path h="984885" w="180213">
                  <a:moveTo>
                    <a:pt x="0" y="0"/>
                  </a:moveTo>
                  <a:lnTo>
                    <a:pt x="180213" y="0"/>
                  </a:lnTo>
                  <a:lnTo>
                    <a:pt x="180213" y="984885"/>
                  </a:lnTo>
                  <a:lnTo>
                    <a:pt x="0" y="984885"/>
                  </a:lnTo>
                  <a:close/>
                </a:path>
              </a:pathLst>
            </a:custGeom>
            <a:solidFill>
              <a:srgbClr val="9B2020"/>
            </a:solidFill>
            <a:ln w="25400" cap="sq">
              <a:solidFill>
                <a:srgbClr val="9B2020"/>
              </a:solidFill>
              <a:prstDash val="solid"/>
              <a:miter/>
            </a:ln>
          </p:spPr>
        </p:sp>
      </p:grpSp>
      <p:grpSp>
        <p:nvGrpSpPr>
          <p:cNvPr name="Group 56" id="56"/>
          <p:cNvGrpSpPr/>
          <p:nvPr/>
        </p:nvGrpSpPr>
        <p:grpSpPr>
          <a:xfrm rot="0">
            <a:off x="804672" y="6967728"/>
            <a:ext cx="3694176" cy="603504"/>
            <a:chOff x="0" y="0"/>
            <a:chExt cx="4925568" cy="804672"/>
          </a:xfrm>
        </p:grpSpPr>
        <p:sp>
          <p:nvSpPr>
            <p:cNvPr name="Freeform 57" id="57"/>
            <p:cNvSpPr/>
            <p:nvPr/>
          </p:nvSpPr>
          <p:spPr>
            <a:xfrm flipH="false" flipV="false" rot="0">
              <a:off x="0" y="0"/>
              <a:ext cx="4925568" cy="804672"/>
            </a:xfrm>
            <a:custGeom>
              <a:avLst/>
              <a:gdLst/>
              <a:ahLst/>
              <a:cxnLst/>
              <a:rect r="r" b="b" t="t" l="l"/>
              <a:pathLst>
                <a:path h="804672" w="4925568">
                  <a:moveTo>
                    <a:pt x="0" y="0"/>
                  </a:moveTo>
                  <a:lnTo>
                    <a:pt x="4925568" y="0"/>
                  </a:lnTo>
                  <a:lnTo>
                    <a:pt x="4925568" y="804672"/>
                  </a:lnTo>
                  <a:lnTo>
                    <a:pt x="0" y="804672"/>
                  </a:lnTo>
                  <a:close/>
                </a:path>
              </a:pathLst>
            </a:custGeom>
            <a:blipFill>
              <a:blip r:embed="rId2">
                <a:alphaModFix amt="0"/>
              </a:blip>
              <a:stretch>
                <a:fillRect l="0" t="-69272" r="0" b="-69272"/>
              </a:stretch>
            </a:blipFill>
          </p:spPr>
        </p:sp>
        <p:sp>
          <p:nvSpPr>
            <p:cNvPr name="TextBox 58" id="58"/>
            <p:cNvSpPr txBox="true"/>
            <p:nvPr/>
          </p:nvSpPr>
          <p:spPr>
            <a:xfrm>
              <a:off x="0" y="-47625"/>
              <a:ext cx="4925568" cy="852297"/>
            </a:xfrm>
            <a:prstGeom prst="rect">
              <a:avLst/>
            </a:prstGeom>
          </p:spPr>
          <p:txBody>
            <a:bodyPr anchor="ctr" rtlCol="false" tIns="0" lIns="0" bIns="0" rIns="0"/>
            <a:lstStyle/>
            <a:p>
              <a:pPr algn="l">
                <a:lnSpc>
                  <a:spcPts val="2520"/>
                </a:lnSpc>
              </a:pPr>
              <a:r>
                <a:rPr lang="en-US" sz="2100" b="true">
                  <a:solidFill>
                    <a:srgbClr val="9B2020"/>
                  </a:solidFill>
                  <a:latin typeface="Calibri (MS) Bold"/>
                  <a:ea typeface="Calibri (MS) Bold"/>
                  <a:cs typeface="Calibri (MS) Bold"/>
                  <a:sym typeface="Calibri (MS) Bold"/>
                </a:rPr>
                <a:t>Attaquant</a:t>
              </a:r>
            </a:p>
          </p:txBody>
        </p:sp>
      </p:grpSp>
      <p:grpSp>
        <p:nvGrpSpPr>
          <p:cNvPr name="Group 59" id="59"/>
          <p:cNvGrpSpPr/>
          <p:nvPr/>
        </p:nvGrpSpPr>
        <p:grpSpPr>
          <a:xfrm rot="0">
            <a:off x="4657087" y="6906511"/>
            <a:ext cx="13088617" cy="725929"/>
            <a:chOff x="0" y="0"/>
            <a:chExt cx="17451489" cy="967905"/>
          </a:xfrm>
        </p:grpSpPr>
        <p:sp>
          <p:nvSpPr>
            <p:cNvPr name="Freeform 60" id="60"/>
            <p:cNvSpPr/>
            <p:nvPr/>
          </p:nvSpPr>
          <p:spPr>
            <a:xfrm flipH="false" flipV="false" rot="0">
              <a:off x="0" y="0"/>
              <a:ext cx="17451451" cy="967867"/>
            </a:xfrm>
            <a:custGeom>
              <a:avLst/>
              <a:gdLst/>
              <a:ahLst/>
              <a:cxnLst/>
              <a:rect r="r" b="b" t="t" l="l"/>
              <a:pathLst>
                <a:path h="967867" w="17451451">
                  <a:moveTo>
                    <a:pt x="0" y="0"/>
                  </a:moveTo>
                  <a:lnTo>
                    <a:pt x="17451451" y="0"/>
                  </a:lnTo>
                  <a:lnTo>
                    <a:pt x="17451451" y="967867"/>
                  </a:lnTo>
                  <a:lnTo>
                    <a:pt x="0" y="967867"/>
                  </a:lnTo>
                  <a:close/>
                </a:path>
              </a:pathLst>
            </a:custGeom>
            <a:solidFill>
              <a:srgbClr val="F3F6FB"/>
            </a:solidFill>
            <a:ln w="12700" cap="sq">
              <a:solidFill>
                <a:srgbClr val="D0D8E8"/>
              </a:solidFill>
              <a:prstDash val="solid"/>
              <a:miter/>
            </a:ln>
          </p:spPr>
        </p:sp>
      </p:grpSp>
      <p:grpSp>
        <p:nvGrpSpPr>
          <p:cNvPr name="Group 61" id="61"/>
          <p:cNvGrpSpPr/>
          <p:nvPr/>
        </p:nvGrpSpPr>
        <p:grpSpPr>
          <a:xfrm rot="0">
            <a:off x="4882896" y="6967728"/>
            <a:ext cx="12746736" cy="603504"/>
            <a:chOff x="0" y="0"/>
            <a:chExt cx="16995648" cy="804672"/>
          </a:xfrm>
        </p:grpSpPr>
        <p:sp>
          <p:nvSpPr>
            <p:cNvPr name="Freeform 62" id="62"/>
            <p:cNvSpPr/>
            <p:nvPr/>
          </p:nvSpPr>
          <p:spPr>
            <a:xfrm flipH="false" flipV="false" rot="0">
              <a:off x="0" y="0"/>
              <a:ext cx="16995648" cy="804672"/>
            </a:xfrm>
            <a:custGeom>
              <a:avLst/>
              <a:gdLst/>
              <a:ahLst/>
              <a:cxnLst/>
              <a:rect r="r" b="b" t="t" l="l"/>
              <a:pathLst>
                <a:path h="804672" w="16995648">
                  <a:moveTo>
                    <a:pt x="0" y="0"/>
                  </a:moveTo>
                  <a:lnTo>
                    <a:pt x="16995648" y="0"/>
                  </a:lnTo>
                  <a:lnTo>
                    <a:pt x="16995648" y="804672"/>
                  </a:lnTo>
                  <a:lnTo>
                    <a:pt x="0" y="804672"/>
                  </a:lnTo>
                  <a:close/>
                </a:path>
              </a:pathLst>
            </a:custGeom>
            <a:blipFill>
              <a:blip r:embed="rId2">
                <a:alphaModFix amt="0"/>
              </a:blip>
              <a:stretch>
                <a:fillRect l="0" t="-361547" r="0" b="-361547"/>
              </a:stretch>
            </a:blipFill>
          </p:spPr>
        </p:sp>
        <p:sp>
          <p:nvSpPr>
            <p:cNvPr name="TextBox 63" id="63"/>
            <p:cNvSpPr txBox="true"/>
            <p:nvPr/>
          </p:nvSpPr>
          <p:spPr>
            <a:xfrm>
              <a:off x="0" y="-38100"/>
              <a:ext cx="16995648" cy="842772"/>
            </a:xfrm>
            <a:prstGeom prst="rect">
              <a:avLst/>
            </a:prstGeom>
          </p:spPr>
          <p:txBody>
            <a:bodyPr anchor="ctr" rtlCol="false" tIns="0" lIns="0" bIns="0" rIns="0"/>
            <a:lstStyle/>
            <a:p>
              <a:pPr algn="l">
                <a:lnSpc>
                  <a:spcPts val="2400"/>
                </a:lnSpc>
              </a:pPr>
              <a:r>
                <a:rPr lang="en-US" sz="2000">
                  <a:solidFill>
                    <a:srgbClr val="2C2C2C"/>
                  </a:solidFill>
                  <a:latin typeface="Calibri (MS)"/>
                  <a:ea typeface="Calibri (MS)"/>
                  <a:cs typeface="Calibri (MS)"/>
                  <a:sym typeface="Calibri (MS)"/>
                </a:rPr>
                <a:t>Trafic anormal : scans de ports, tentatives de connexion répétées, flooding.</a:t>
              </a:r>
            </a:p>
          </p:txBody>
        </p:sp>
      </p:grpSp>
      <p:grpSp>
        <p:nvGrpSpPr>
          <p:cNvPr name="Group 64" id="64"/>
          <p:cNvGrpSpPr/>
          <p:nvPr/>
        </p:nvGrpSpPr>
        <p:grpSpPr>
          <a:xfrm rot="0">
            <a:off x="542287" y="7619743"/>
            <a:ext cx="4036057" cy="725929"/>
            <a:chOff x="0" y="0"/>
            <a:chExt cx="5381409" cy="967905"/>
          </a:xfrm>
        </p:grpSpPr>
        <p:sp>
          <p:nvSpPr>
            <p:cNvPr name="Freeform 65" id="65"/>
            <p:cNvSpPr/>
            <p:nvPr/>
          </p:nvSpPr>
          <p:spPr>
            <a:xfrm flipH="false" flipV="false" rot="0">
              <a:off x="0" y="0"/>
              <a:ext cx="5381371" cy="967867"/>
            </a:xfrm>
            <a:custGeom>
              <a:avLst/>
              <a:gdLst/>
              <a:ahLst/>
              <a:cxnLst/>
              <a:rect r="r" b="b" t="t" l="l"/>
              <a:pathLst>
                <a:path h="967867" w="5381371">
                  <a:moveTo>
                    <a:pt x="0" y="0"/>
                  </a:moveTo>
                  <a:lnTo>
                    <a:pt x="5381371" y="0"/>
                  </a:lnTo>
                  <a:lnTo>
                    <a:pt x="5381371" y="967867"/>
                  </a:lnTo>
                  <a:lnTo>
                    <a:pt x="0" y="967867"/>
                  </a:lnTo>
                  <a:close/>
                </a:path>
              </a:pathLst>
            </a:custGeom>
            <a:solidFill>
              <a:srgbClr val="FFFFFF"/>
            </a:solidFill>
            <a:ln w="12700" cap="sq">
              <a:solidFill>
                <a:srgbClr val="D0D8E8"/>
              </a:solidFill>
              <a:prstDash val="solid"/>
              <a:miter/>
            </a:ln>
          </p:spPr>
        </p:sp>
      </p:grpSp>
      <p:grpSp>
        <p:nvGrpSpPr>
          <p:cNvPr name="Group 66" id="66"/>
          <p:cNvGrpSpPr/>
          <p:nvPr/>
        </p:nvGrpSpPr>
        <p:grpSpPr>
          <a:xfrm rot="0">
            <a:off x="535943" y="7613399"/>
            <a:ext cx="135131" cy="738635"/>
            <a:chOff x="0" y="0"/>
            <a:chExt cx="180175" cy="984847"/>
          </a:xfrm>
        </p:grpSpPr>
        <p:sp>
          <p:nvSpPr>
            <p:cNvPr name="Freeform 67" id="67"/>
            <p:cNvSpPr/>
            <p:nvPr/>
          </p:nvSpPr>
          <p:spPr>
            <a:xfrm flipH="false" flipV="false" rot="0">
              <a:off x="0" y="0"/>
              <a:ext cx="180213" cy="984885"/>
            </a:xfrm>
            <a:custGeom>
              <a:avLst/>
              <a:gdLst/>
              <a:ahLst/>
              <a:cxnLst/>
              <a:rect r="r" b="b" t="t" l="l"/>
              <a:pathLst>
                <a:path h="984885" w="180213">
                  <a:moveTo>
                    <a:pt x="0" y="0"/>
                  </a:moveTo>
                  <a:lnTo>
                    <a:pt x="180213" y="0"/>
                  </a:lnTo>
                  <a:lnTo>
                    <a:pt x="180213" y="984885"/>
                  </a:lnTo>
                  <a:lnTo>
                    <a:pt x="0" y="984885"/>
                  </a:lnTo>
                  <a:close/>
                </a:path>
              </a:pathLst>
            </a:custGeom>
            <a:solidFill>
              <a:srgbClr val="D95C1A"/>
            </a:solidFill>
            <a:ln w="25400" cap="sq">
              <a:solidFill>
                <a:srgbClr val="D95C1A"/>
              </a:solidFill>
              <a:prstDash val="solid"/>
              <a:miter/>
            </a:ln>
          </p:spPr>
        </p:sp>
      </p:grpSp>
      <p:grpSp>
        <p:nvGrpSpPr>
          <p:cNvPr name="Group 68" id="68"/>
          <p:cNvGrpSpPr/>
          <p:nvPr/>
        </p:nvGrpSpPr>
        <p:grpSpPr>
          <a:xfrm rot="0">
            <a:off x="804672" y="7680960"/>
            <a:ext cx="3694176" cy="603504"/>
            <a:chOff x="0" y="0"/>
            <a:chExt cx="4925568" cy="804672"/>
          </a:xfrm>
        </p:grpSpPr>
        <p:sp>
          <p:nvSpPr>
            <p:cNvPr name="Freeform 69" id="69"/>
            <p:cNvSpPr/>
            <p:nvPr/>
          </p:nvSpPr>
          <p:spPr>
            <a:xfrm flipH="false" flipV="false" rot="0">
              <a:off x="0" y="0"/>
              <a:ext cx="4925568" cy="804672"/>
            </a:xfrm>
            <a:custGeom>
              <a:avLst/>
              <a:gdLst/>
              <a:ahLst/>
              <a:cxnLst/>
              <a:rect r="r" b="b" t="t" l="l"/>
              <a:pathLst>
                <a:path h="804672" w="4925568">
                  <a:moveTo>
                    <a:pt x="0" y="0"/>
                  </a:moveTo>
                  <a:lnTo>
                    <a:pt x="4925568" y="0"/>
                  </a:lnTo>
                  <a:lnTo>
                    <a:pt x="4925568" y="804672"/>
                  </a:lnTo>
                  <a:lnTo>
                    <a:pt x="0" y="804672"/>
                  </a:lnTo>
                  <a:close/>
                </a:path>
              </a:pathLst>
            </a:custGeom>
            <a:blipFill>
              <a:blip r:embed="rId2">
                <a:alphaModFix amt="0"/>
              </a:blip>
              <a:stretch>
                <a:fillRect l="0" t="-69272" r="0" b="-69272"/>
              </a:stretch>
            </a:blipFill>
          </p:spPr>
        </p:sp>
        <p:sp>
          <p:nvSpPr>
            <p:cNvPr name="TextBox 70" id="70"/>
            <p:cNvSpPr txBox="true"/>
            <p:nvPr/>
          </p:nvSpPr>
          <p:spPr>
            <a:xfrm>
              <a:off x="0" y="-47625"/>
              <a:ext cx="4925568" cy="852297"/>
            </a:xfrm>
            <a:prstGeom prst="rect">
              <a:avLst/>
            </a:prstGeom>
          </p:spPr>
          <p:txBody>
            <a:bodyPr anchor="ctr" rtlCol="false" tIns="0" lIns="0" bIns="0" rIns="0"/>
            <a:lstStyle/>
            <a:p>
              <a:pPr algn="l">
                <a:lnSpc>
                  <a:spcPts val="2520"/>
                </a:lnSpc>
              </a:pPr>
              <a:r>
                <a:rPr lang="en-US" sz="2100" b="true">
                  <a:solidFill>
                    <a:srgbClr val="D95C1A"/>
                  </a:solidFill>
                  <a:latin typeface="Calibri (MS) Bold"/>
                  <a:ea typeface="Calibri (MS) Bold"/>
                  <a:cs typeface="Calibri (MS) Bold"/>
                  <a:sym typeface="Calibri (MS) Bold"/>
                </a:rPr>
                <a:t>Routeur / Switch</a:t>
              </a:r>
            </a:p>
          </p:txBody>
        </p:sp>
      </p:grpSp>
      <p:grpSp>
        <p:nvGrpSpPr>
          <p:cNvPr name="Group 71" id="71"/>
          <p:cNvGrpSpPr/>
          <p:nvPr/>
        </p:nvGrpSpPr>
        <p:grpSpPr>
          <a:xfrm rot="0">
            <a:off x="4657087" y="7619743"/>
            <a:ext cx="13088617" cy="725929"/>
            <a:chOff x="0" y="0"/>
            <a:chExt cx="17451489" cy="967905"/>
          </a:xfrm>
        </p:grpSpPr>
        <p:sp>
          <p:nvSpPr>
            <p:cNvPr name="Freeform 72" id="72"/>
            <p:cNvSpPr/>
            <p:nvPr/>
          </p:nvSpPr>
          <p:spPr>
            <a:xfrm flipH="false" flipV="false" rot="0">
              <a:off x="0" y="0"/>
              <a:ext cx="17451451" cy="967867"/>
            </a:xfrm>
            <a:custGeom>
              <a:avLst/>
              <a:gdLst/>
              <a:ahLst/>
              <a:cxnLst/>
              <a:rect r="r" b="b" t="t" l="l"/>
              <a:pathLst>
                <a:path h="967867" w="17451451">
                  <a:moveTo>
                    <a:pt x="0" y="0"/>
                  </a:moveTo>
                  <a:lnTo>
                    <a:pt x="17451451" y="0"/>
                  </a:lnTo>
                  <a:lnTo>
                    <a:pt x="17451451" y="967867"/>
                  </a:lnTo>
                  <a:lnTo>
                    <a:pt x="0" y="967867"/>
                  </a:lnTo>
                  <a:close/>
                </a:path>
              </a:pathLst>
            </a:custGeom>
            <a:solidFill>
              <a:srgbClr val="FFFFFF"/>
            </a:solidFill>
            <a:ln w="12700" cap="sq">
              <a:solidFill>
                <a:srgbClr val="D0D8E8"/>
              </a:solidFill>
              <a:prstDash val="solid"/>
              <a:miter/>
            </a:ln>
          </p:spPr>
        </p:sp>
      </p:grpSp>
      <p:grpSp>
        <p:nvGrpSpPr>
          <p:cNvPr name="Group 73" id="73"/>
          <p:cNvGrpSpPr/>
          <p:nvPr/>
        </p:nvGrpSpPr>
        <p:grpSpPr>
          <a:xfrm rot="0">
            <a:off x="4882896" y="7680960"/>
            <a:ext cx="12746736" cy="603504"/>
            <a:chOff x="0" y="0"/>
            <a:chExt cx="16995648" cy="804672"/>
          </a:xfrm>
        </p:grpSpPr>
        <p:sp>
          <p:nvSpPr>
            <p:cNvPr name="Freeform 74" id="74"/>
            <p:cNvSpPr/>
            <p:nvPr/>
          </p:nvSpPr>
          <p:spPr>
            <a:xfrm flipH="false" flipV="false" rot="0">
              <a:off x="0" y="0"/>
              <a:ext cx="16995648" cy="804672"/>
            </a:xfrm>
            <a:custGeom>
              <a:avLst/>
              <a:gdLst/>
              <a:ahLst/>
              <a:cxnLst/>
              <a:rect r="r" b="b" t="t" l="l"/>
              <a:pathLst>
                <a:path h="804672" w="16995648">
                  <a:moveTo>
                    <a:pt x="0" y="0"/>
                  </a:moveTo>
                  <a:lnTo>
                    <a:pt x="16995648" y="0"/>
                  </a:lnTo>
                  <a:lnTo>
                    <a:pt x="16995648" y="804672"/>
                  </a:lnTo>
                  <a:lnTo>
                    <a:pt x="0" y="804672"/>
                  </a:lnTo>
                  <a:close/>
                </a:path>
              </a:pathLst>
            </a:custGeom>
            <a:blipFill>
              <a:blip r:embed="rId2">
                <a:alphaModFix amt="0"/>
              </a:blip>
              <a:stretch>
                <a:fillRect l="0" t="-361547" r="0" b="-361547"/>
              </a:stretch>
            </a:blipFill>
          </p:spPr>
        </p:sp>
        <p:sp>
          <p:nvSpPr>
            <p:cNvPr name="TextBox 75" id="75"/>
            <p:cNvSpPr txBox="true"/>
            <p:nvPr/>
          </p:nvSpPr>
          <p:spPr>
            <a:xfrm>
              <a:off x="0" y="-38100"/>
              <a:ext cx="16995648" cy="842772"/>
            </a:xfrm>
            <a:prstGeom prst="rect">
              <a:avLst/>
            </a:prstGeom>
          </p:spPr>
          <p:txBody>
            <a:bodyPr anchor="ctr" rtlCol="false" tIns="0" lIns="0" bIns="0" rIns="0"/>
            <a:lstStyle/>
            <a:p>
              <a:pPr algn="l">
                <a:lnSpc>
                  <a:spcPts val="2400"/>
                </a:lnSpc>
              </a:pPr>
              <a:r>
                <a:rPr lang="en-US" sz="2000">
                  <a:solidFill>
                    <a:srgbClr val="2C2C2C"/>
                  </a:solidFill>
                  <a:latin typeface="Calibri (MS)"/>
                  <a:ea typeface="Calibri (MS)"/>
                  <a:cs typeface="Calibri (MS)"/>
                  <a:sym typeface="Calibri (MS)"/>
                </a:rPr>
                <a:t>Interconnexion + point de capture centralisé (port miroir).</a:t>
              </a:r>
            </a:p>
          </p:txBody>
        </p:sp>
      </p:grpSp>
      <p:grpSp>
        <p:nvGrpSpPr>
          <p:cNvPr name="Group 76" id="76"/>
          <p:cNvGrpSpPr/>
          <p:nvPr/>
        </p:nvGrpSpPr>
        <p:grpSpPr>
          <a:xfrm rot="0">
            <a:off x="542287" y="8332975"/>
            <a:ext cx="4036057" cy="725929"/>
            <a:chOff x="0" y="0"/>
            <a:chExt cx="5381409" cy="967905"/>
          </a:xfrm>
        </p:grpSpPr>
        <p:sp>
          <p:nvSpPr>
            <p:cNvPr name="Freeform 77" id="77"/>
            <p:cNvSpPr/>
            <p:nvPr/>
          </p:nvSpPr>
          <p:spPr>
            <a:xfrm flipH="false" flipV="false" rot="0">
              <a:off x="0" y="0"/>
              <a:ext cx="5381371" cy="967867"/>
            </a:xfrm>
            <a:custGeom>
              <a:avLst/>
              <a:gdLst/>
              <a:ahLst/>
              <a:cxnLst/>
              <a:rect r="r" b="b" t="t" l="l"/>
              <a:pathLst>
                <a:path h="967867" w="5381371">
                  <a:moveTo>
                    <a:pt x="0" y="0"/>
                  </a:moveTo>
                  <a:lnTo>
                    <a:pt x="5381371" y="0"/>
                  </a:lnTo>
                  <a:lnTo>
                    <a:pt x="5381371" y="967867"/>
                  </a:lnTo>
                  <a:lnTo>
                    <a:pt x="0" y="967867"/>
                  </a:lnTo>
                  <a:close/>
                </a:path>
              </a:pathLst>
            </a:custGeom>
            <a:solidFill>
              <a:srgbClr val="F3F6FB"/>
            </a:solidFill>
            <a:ln w="12700" cap="sq">
              <a:solidFill>
                <a:srgbClr val="D0D8E8"/>
              </a:solidFill>
              <a:prstDash val="solid"/>
              <a:miter/>
            </a:ln>
          </p:spPr>
        </p:sp>
      </p:grpSp>
      <p:grpSp>
        <p:nvGrpSpPr>
          <p:cNvPr name="Group 78" id="78"/>
          <p:cNvGrpSpPr/>
          <p:nvPr/>
        </p:nvGrpSpPr>
        <p:grpSpPr>
          <a:xfrm rot="0">
            <a:off x="535943" y="8326631"/>
            <a:ext cx="135131" cy="738635"/>
            <a:chOff x="0" y="0"/>
            <a:chExt cx="180175" cy="984847"/>
          </a:xfrm>
        </p:grpSpPr>
        <p:sp>
          <p:nvSpPr>
            <p:cNvPr name="Freeform 79" id="79"/>
            <p:cNvSpPr/>
            <p:nvPr/>
          </p:nvSpPr>
          <p:spPr>
            <a:xfrm flipH="false" flipV="false" rot="0">
              <a:off x="0" y="0"/>
              <a:ext cx="180213" cy="984885"/>
            </a:xfrm>
            <a:custGeom>
              <a:avLst/>
              <a:gdLst/>
              <a:ahLst/>
              <a:cxnLst/>
              <a:rect r="r" b="b" t="t" l="l"/>
              <a:pathLst>
                <a:path h="984885" w="180213">
                  <a:moveTo>
                    <a:pt x="0" y="0"/>
                  </a:moveTo>
                  <a:lnTo>
                    <a:pt x="180213" y="0"/>
                  </a:lnTo>
                  <a:lnTo>
                    <a:pt x="180213" y="984885"/>
                  </a:lnTo>
                  <a:lnTo>
                    <a:pt x="0" y="984885"/>
                  </a:lnTo>
                  <a:close/>
                </a:path>
              </a:pathLst>
            </a:custGeom>
            <a:solidFill>
              <a:srgbClr val="6B3A2A"/>
            </a:solidFill>
            <a:ln w="25400" cap="sq">
              <a:solidFill>
                <a:srgbClr val="6B3A2A"/>
              </a:solidFill>
              <a:prstDash val="solid"/>
              <a:miter/>
            </a:ln>
          </p:spPr>
        </p:sp>
      </p:grpSp>
      <p:grpSp>
        <p:nvGrpSpPr>
          <p:cNvPr name="Group 80" id="80"/>
          <p:cNvGrpSpPr/>
          <p:nvPr/>
        </p:nvGrpSpPr>
        <p:grpSpPr>
          <a:xfrm rot="0">
            <a:off x="804672" y="8394192"/>
            <a:ext cx="3694176" cy="603504"/>
            <a:chOff x="0" y="0"/>
            <a:chExt cx="4925568" cy="804672"/>
          </a:xfrm>
        </p:grpSpPr>
        <p:sp>
          <p:nvSpPr>
            <p:cNvPr name="Freeform 81" id="81"/>
            <p:cNvSpPr/>
            <p:nvPr/>
          </p:nvSpPr>
          <p:spPr>
            <a:xfrm flipH="false" flipV="false" rot="0">
              <a:off x="0" y="0"/>
              <a:ext cx="4925568" cy="804672"/>
            </a:xfrm>
            <a:custGeom>
              <a:avLst/>
              <a:gdLst/>
              <a:ahLst/>
              <a:cxnLst/>
              <a:rect r="r" b="b" t="t" l="l"/>
              <a:pathLst>
                <a:path h="804672" w="4925568">
                  <a:moveTo>
                    <a:pt x="0" y="0"/>
                  </a:moveTo>
                  <a:lnTo>
                    <a:pt x="4925568" y="0"/>
                  </a:lnTo>
                  <a:lnTo>
                    <a:pt x="4925568" y="804672"/>
                  </a:lnTo>
                  <a:lnTo>
                    <a:pt x="0" y="804672"/>
                  </a:lnTo>
                  <a:close/>
                </a:path>
              </a:pathLst>
            </a:custGeom>
            <a:blipFill>
              <a:blip r:embed="rId2">
                <a:alphaModFix amt="0"/>
              </a:blip>
              <a:stretch>
                <a:fillRect l="0" t="-69272" r="0" b="-69272"/>
              </a:stretch>
            </a:blipFill>
          </p:spPr>
        </p:sp>
        <p:sp>
          <p:nvSpPr>
            <p:cNvPr name="TextBox 82" id="82"/>
            <p:cNvSpPr txBox="true"/>
            <p:nvPr/>
          </p:nvSpPr>
          <p:spPr>
            <a:xfrm>
              <a:off x="0" y="-47625"/>
              <a:ext cx="4925568" cy="852297"/>
            </a:xfrm>
            <a:prstGeom prst="rect">
              <a:avLst/>
            </a:prstGeom>
          </p:spPr>
          <p:txBody>
            <a:bodyPr anchor="ctr" rtlCol="false" tIns="0" lIns="0" bIns="0" rIns="0"/>
            <a:lstStyle/>
            <a:p>
              <a:pPr algn="l">
                <a:lnSpc>
                  <a:spcPts val="2520"/>
                </a:lnSpc>
              </a:pPr>
              <a:r>
                <a:rPr lang="en-US" sz="2100" b="true">
                  <a:solidFill>
                    <a:srgbClr val="6B3A2A"/>
                  </a:solidFill>
                  <a:latin typeface="Calibri (MS) Bold"/>
                  <a:ea typeface="Calibri (MS) Bold"/>
                  <a:cs typeface="Calibri (MS) Bold"/>
                  <a:sym typeface="Calibri (MS) Bold"/>
                </a:rPr>
                <a:t>Serveur cible</a:t>
              </a:r>
            </a:p>
          </p:txBody>
        </p:sp>
      </p:grpSp>
      <p:grpSp>
        <p:nvGrpSpPr>
          <p:cNvPr name="Group 83" id="83"/>
          <p:cNvGrpSpPr/>
          <p:nvPr/>
        </p:nvGrpSpPr>
        <p:grpSpPr>
          <a:xfrm rot="0">
            <a:off x="4657087" y="8332975"/>
            <a:ext cx="13088617" cy="725929"/>
            <a:chOff x="0" y="0"/>
            <a:chExt cx="17451489" cy="967905"/>
          </a:xfrm>
        </p:grpSpPr>
        <p:sp>
          <p:nvSpPr>
            <p:cNvPr name="Freeform 84" id="84"/>
            <p:cNvSpPr/>
            <p:nvPr/>
          </p:nvSpPr>
          <p:spPr>
            <a:xfrm flipH="false" flipV="false" rot="0">
              <a:off x="0" y="0"/>
              <a:ext cx="17451451" cy="967867"/>
            </a:xfrm>
            <a:custGeom>
              <a:avLst/>
              <a:gdLst/>
              <a:ahLst/>
              <a:cxnLst/>
              <a:rect r="r" b="b" t="t" l="l"/>
              <a:pathLst>
                <a:path h="967867" w="17451451">
                  <a:moveTo>
                    <a:pt x="0" y="0"/>
                  </a:moveTo>
                  <a:lnTo>
                    <a:pt x="17451451" y="0"/>
                  </a:lnTo>
                  <a:lnTo>
                    <a:pt x="17451451" y="967867"/>
                  </a:lnTo>
                  <a:lnTo>
                    <a:pt x="0" y="967867"/>
                  </a:lnTo>
                  <a:close/>
                </a:path>
              </a:pathLst>
            </a:custGeom>
            <a:solidFill>
              <a:srgbClr val="F3F6FB"/>
            </a:solidFill>
            <a:ln w="12700" cap="sq">
              <a:solidFill>
                <a:srgbClr val="D0D8E8"/>
              </a:solidFill>
              <a:prstDash val="solid"/>
              <a:miter/>
            </a:ln>
          </p:spPr>
        </p:sp>
      </p:grpSp>
      <p:grpSp>
        <p:nvGrpSpPr>
          <p:cNvPr name="Group 85" id="85"/>
          <p:cNvGrpSpPr/>
          <p:nvPr/>
        </p:nvGrpSpPr>
        <p:grpSpPr>
          <a:xfrm rot="0">
            <a:off x="4882896" y="8394192"/>
            <a:ext cx="12746736" cy="603504"/>
            <a:chOff x="0" y="0"/>
            <a:chExt cx="16995648" cy="804672"/>
          </a:xfrm>
        </p:grpSpPr>
        <p:sp>
          <p:nvSpPr>
            <p:cNvPr name="Freeform 86" id="86"/>
            <p:cNvSpPr/>
            <p:nvPr/>
          </p:nvSpPr>
          <p:spPr>
            <a:xfrm flipH="false" flipV="false" rot="0">
              <a:off x="0" y="0"/>
              <a:ext cx="16995648" cy="804672"/>
            </a:xfrm>
            <a:custGeom>
              <a:avLst/>
              <a:gdLst/>
              <a:ahLst/>
              <a:cxnLst/>
              <a:rect r="r" b="b" t="t" l="l"/>
              <a:pathLst>
                <a:path h="804672" w="16995648">
                  <a:moveTo>
                    <a:pt x="0" y="0"/>
                  </a:moveTo>
                  <a:lnTo>
                    <a:pt x="16995648" y="0"/>
                  </a:lnTo>
                  <a:lnTo>
                    <a:pt x="16995648" y="804672"/>
                  </a:lnTo>
                  <a:lnTo>
                    <a:pt x="0" y="804672"/>
                  </a:lnTo>
                  <a:close/>
                </a:path>
              </a:pathLst>
            </a:custGeom>
            <a:blipFill>
              <a:blip r:embed="rId2">
                <a:alphaModFix amt="0"/>
              </a:blip>
              <a:stretch>
                <a:fillRect l="0" t="-361547" r="0" b="-361547"/>
              </a:stretch>
            </a:blipFill>
          </p:spPr>
        </p:sp>
        <p:sp>
          <p:nvSpPr>
            <p:cNvPr name="TextBox 87" id="87"/>
            <p:cNvSpPr txBox="true"/>
            <p:nvPr/>
          </p:nvSpPr>
          <p:spPr>
            <a:xfrm>
              <a:off x="0" y="-38100"/>
              <a:ext cx="16995648" cy="842772"/>
            </a:xfrm>
            <a:prstGeom prst="rect">
              <a:avLst/>
            </a:prstGeom>
          </p:spPr>
          <p:txBody>
            <a:bodyPr anchor="ctr" rtlCol="false" tIns="0" lIns="0" bIns="0" rIns="0"/>
            <a:lstStyle/>
            <a:p>
              <a:pPr algn="l">
                <a:lnSpc>
                  <a:spcPts val="2400"/>
                </a:lnSpc>
              </a:pPr>
              <a:r>
                <a:rPr lang="en-US" sz="2000">
                  <a:solidFill>
                    <a:srgbClr val="2C2C2C"/>
                  </a:solidFill>
                  <a:latin typeface="Calibri (MS)"/>
                  <a:ea typeface="Calibri (MS)"/>
                  <a:cs typeface="Calibri (MS)"/>
                  <a:sym typeface="Calibri (MS)"/>
                </a:rPr>
                <a:t>Hébergement des services visés (web, DNS).</a:t>
              </a:r>
            </a:p>
          </p:txBody>
        </p:sp>
      </p:grpSp>
      <p:grpSp>
        <p:nvGrpSpPr>
          <p:cNvPr name="Group 88" id="88"/>
          <p:cNvGrpSpPr/>
          <p:nvPr/>
        </p:nvGrpSpPr>
        <p:grpSpPr>
          <a:xfrm rot="0">
            <a:off x="542287" y="9046207"/>
            <a:ext cx="4036057" cy="725929"/>
            <a:chOff x="0" y="0"/>
            <a:chExt cx="5381409" cy="967905"/>
          </a:xfrm>
        </p:grpSpPr>
        <p:sp>
          <p:nvSpPr>
            <p:cNvPr name="Freeform 89" id="89"/>
            <p:cNvSpPr/>
            <p:nvPr/>
          </p:nvSpPr>
          <p:spPr>
            <a:xfrm flipH="false" flipV="false" rot="0">
              <a:off x="0" y="0"/>
              <a:ext cx="5381371" cy="967867"/>
            </a:xfrm>
            <a:custGeom>
              <a:avLst/>
              <a:gdLst/>
              <a:ahLst/>
              <a:cxnLst/>
              <a:rect r="r" b="b" t="t" l="l"/>
              <a:pathLst>
                <a:path h="967867" w="5381371">
                  <a:moveTo>
                    <a:pt x="0" y="0"/>
                  </a:moveTo>
                  <a:lnTo>
                    <a:pt x="5381371" y="0"/>
                  </a:lnTo>
                  <a:lnTo>
                    <a:pt x="5381371" y="967867"/>
                  </a:lnTo>
                  <a:lnTo>
                    <a:pt x="0" y="967867"/>
                  </a:lnTo>
                  <a:close/>
                </a:path>
              </a:pathLst>
            </a:custGeom>
            <a:solidFill>
              <a:srgbClr val="FFFFFF"/>
            </a:solidFill>
            <a:ln w="12700" cap="sq">
              <a:solidFill>
                <a:srgbClr val="D0D8E8"/>
              </a:solidFill>
              <a:prstDash val="solid"/>
              <a:miter/>
            </a:ln>
          </p:spPr>
        </p:sp>
      </p:grpSp>
      <p:grpSp>
        <p:nvGrpSpPr>
          <p:cNvPr name="Group 90" id="90"/>
          <p:cNvGrpSpPr/>
          <p:nvPr/>
        </p:nvGrpSpPr>
        <p:grpSpPr>
          <a:xfrm rot="0">
            <a:off x="535943" y="9039863"/>
            <a:ext cx="135131" cy="738635"/>
            <a:chOff x="0" y="0"/>
            <a:chExt cx="180175" cy="984847"/>
          </a:xfrm>
        </p:grpSpPr>
        <p:sp>
          <p:nvSpPr>
            <p:cNvPr name="Freeform 91" id="91"/>
            <p:cNvSpPr/>
            <p:nvPr/>
          </p:nvSpPr>
          <p:spPr>
            <a:xfrm flipH="false" flipV="false" rot="0">
              <a:off x="0" y="0"/>
              <a:ext cx="180213" cy="984885"/>
            </a:xfrm>
            <a:custGeom>
              <a:avLst/>
              <a:gdLst/>
              <a:ahLst/>
              <a:cxnLst/>
              <a:rect r="r" b="b" t="t" l="l"/>
              <a:pathLst>
                <a:path h="984885" w="180213">
                  <a:moveTo>
                    <a:pt x="0" y="0"/>
                  </a:moveTo>
                  <a:lnTo>
                    <a:pt x="180213" y="0"/>
                  </a:lnTo>
                  <a:lnTo>
                    <a:pt x="180213" y="984885"/>
                  </a:lnTo>
                  <a:lnTo>
                    <a:pt x="0" y="984885"/>
                  </a:lnTo>
                  <a:close/>
                </a:path>
              </a:pathLst>
            </a:custGeom>
            <a:solidFill>
              <a:srgbClr val="1B4F9C"/>
            </a:solidFill>
            <a:ln w="25400" cap="sq">
              <a:solidFill>
                <a:srgbClr val="1B4F9C"/>
              </a:solidFill>
              <a:prstDash val="solid"/>
              <a:miter/>
            </a:ln>
          </p:spPr>
        </p:sp>
      </p:grpSp>
      <p:grpSp>
        <p:nvGrpSpPr>
          <p:cNvPr name="Group 92" id="92"/>
          <p:cNvGrpSpPr/>
          <p:nvPr/>
        </p:nvGrpSpPr>
        <p:grpSpPr>
          <a:xfrm rot="0">
            <a:off x="804672" y="9107424"/>
            <a:ext cx="3694176" cy="603504"/>
            <a:chOff x="0" y="0"/>
            <a:chExt cx="4925568" cy="804672"/>
          </a:xfrm>
        </p:grpSpPr>
        <p:sp>
          <p:nvSpPr>
            <p:cNvPr name="Freeform 93" id="93"/>
            <p:cNvSpPr/>
            <p:nvPr/>
          </p:nvSpPr>
          <p:spPr>
            <a:xfrm flipH="false" flipV="false" rot="0">
              <a:off x="0" y="0"/>
              <a:ext cx="4925568" cy="804672"/>
            </a:xfrm>
            <a:custGeom>
              <a:avLst/>
              <a:gdLst/>
              <a:ahLst/>
              <a:cxnLst/>
              <a:rect r="r" b="b" t="t" l="l"/>
              <a:pathLst>
                <a:path h="804672" w="4925568">
                  <a:moveTo>
                    <a:pt x="0" y="0"/>
                  </a:moveTo>
                  <a:lnTo>
                    <a:pt x="4925568" y="0"/>
                  </a:lnTo>
                  <a:lnTo>
                    <a:pt x="4925568" y="804672"/>
                  </a:lnTo>
                  <a:lnTo>
                    <a:pt x="0" y="804672"/>
                  </a:lnTo>
                  <a:close/>
                </a:path>
              </a:pathLst>
            </a:custGeom>
            <a:blipFill>
              <a:blip r:embed="rId2">
                <a:alphaModFix amt="0"/>
              </a:blip>
              <a:stretch>
                <a:fillRect l="0" t="-69272" r="0" b="-69272"/>
              </a:stretch>
            </a:blipFill>
          </p:spPr>
        </p:sp>
        <p:sp>
          <p:nvSpPr>
            <p:cNvPr name="TextBox 94" id="94"/>
            <p:cNvSpPr txBox="true"/>
            <p:nvPr/>
          </p:nvSpPr>
          <p:spPr>
            <a:xfrm>
              <a:off x="0" y="-47625"/>
              <a:ext cx="4925568" cy="852297"/>
            </a:xfrm>
            <a:prstGeom prst="rect">
              <a:avLst/>
            </a:prstGeom>
          </p:spPr>
          <p:txBody>
            <a:bodyPr anchor="ctr" rtlCol="false" tIns="0" lIns="0" bIns="0" rIns="0"/>
            <a:lstStyle/>
            <a:p>
              <a:pPr algn="l">
                <a:lnSpc>
                  <a:spcPts val="2520"/>
                </a:lnSpc>
              </a:pPr>
              <a:r>
                <a:rPr lang="en-US" sz="2100" b="true">
                  <a:solidFill>
                    <a:srgbClr val="1B4F9C"/>
                  </a:solidFill>
                  <a:latin typeface="Calibri (MS) Bold"/>
                  <a:ea typeface="Calibri (MS) Bold"/>
                  <a:cs typeface="Calibri (MS) Bold"/>
                  <a:sym typeface="Calibri (MS) Bold"/>
                </a:rPr>
                <a:t>Analyse / IA</a:t>
              </a:r>
            </a:p>
          </p:txBody>
        </p:sp>
      </p:grpSp>
      <p:grpSp>
        <p:nvGrpSpPr>
          <p:cNvPr name="Group 95" id="95"/>
          <p:cNvGrpSpPr/>
          <p:nvPr/>
        </p:nvGrpSpPr>
        <p:grpSpPr>
          <a:xfrm rot="0">
            <a:off x="4657087" y="9046207"/>
            <a:ext cx="13088617" cy="725929"/>
            <a:chOff x="0" y="0"/>
            <a:chExt cx="17451489" cy="967905"/>
          </a:xfrm>
        </p:grpSpPr>
        <p:sp>
          <p:nvSpPr>
            <p:cNvPr name="Freeform 96" id="96"/>
            <p:cNvSpPr/>
            <p:nvPr/>
          </p:nvSpPr>
          <p:spPr>
            <a:xfrm flipH="false" flipV="false" rot="0">
              <a:off x="0" y="0"/>
              <a:ext cx="17451451" cy="967867"/>
            </a:xfrm>
            <a:custGeom>
              <a:avLst/>
              <a:gdLst/>
              <a:ahLst/>
              <a:cxnLst/>
              <a:rect r="r" b="b" t="t" l="l"/>
              <a:pathLst>
                <a:path h="967867" w="17451451">
                  <a:moveTo>
                    <a:pt x="0" y="0"/>
                  </a:moveTo>
                  <a:lnTo>
                    <a:pt x="17451451" y="0"/>
                  </a:lnTo>
                  <a:lnTo>
                    <a:pt x="17451451" y="967867"/>
                  </a:lnTo>
                  <a:lnTo>
                    <a:pt x="0" y="967867"/>
                  </a:lnTo>
                  <a:close/>
                </a:path>
              </a:pathLst>
            </a:custGeom>
            <a:solidFill>
              <a:srgbClr val="FFFFFF"/>
            </a:solidFill>
            <a:ln w="12700" cap="sq">
              <a:solidFill>
                <a:srgbClr val="D0D8E8"/>
              </a:solidFill>
              <a:prstDash val="solid"/>
              <a:miter/>
            </a:ln>
          </p:spPr>
        </p:sp>
      </p:grpSp>
      <p:grpSp>
        <p:nvGrpSpPr>
          <p:cNvPr name="Group 97" id="97"/>
          <p:cNvGrpSpPr/>
          <p:nvPr/>
        </p:nvGrpSpPr>
        <p:grpSpPr>
          <a:xfrm rot="0">
            <a:off x="4882896" y="9107424"/>
            <a:ext cx="12746736" cy="603504"/>
            <a:chOff x="0" y="0"/>
            <a:chExt cx="16995648" cy="804672"/>
          </a:xfrm>
        </p:grpSpPr>
        <p:sp>
          <p:nvSpPr>
            <p:cNvPr name="Freeform 98" id="98"/>
            <p:cNvSpPr/>
            <p:nvPr/>
          </p:nvSpPr>
          <p:spPr>
            <a:xfrm flipH="false" flipV="false" rot="0">
              <a:off x="0" y="0"/>
              <a:ext cx="16995648" cy="804672"/>
            </a:xfrm>
            <a:custGeom>
              <a:avLst/>
              <a:gdLst/>
              <a:ahLst/>
              <a:cxnLst/>
              <a:rect r="r" b="b" t="t" l="l"/>
              <a:pathLst>
                <a:path h="804672" w="16995648">
                  <a:moveTo>
                    <a:pt x="0" y="0"/>
                  </a:moveTo>
                  <a:lnTo>
                    <a:pt x="16995648" y="0"/>
                  </a:lnTo>
                  <a:lnTo>
                    <a:pt x="16995648" y="804672"/>
                  </a:lnTo>
                  <a:lnTo>
                    <a:pt x="0" y="804672"/>
                  </a:lnTo>
                  <a:close/>
                </a:path>
              </a:pathLst>
            </a:custGeom>
            <a:blipFill>
              <a:blip r:embed="rId2">
                <a:alphaModFix amt="0"/>
              </a:blip>
              <a:stretch>
                <a:fillRect l="0" t="-361547" r="0" b="-361547"/>
              </a:stretch>
            </a:blipFill>
          </p:spPr>
        </p:sp>
        <p:sp>
          <p:nvSpPr>
            <p:cNvPr name="TextBox 99" id="99"/>
            <p:cNvSpPr txBox="true"/>
            <p:nvPr/>
          </p:nvSpPr>
          <p:spPr>
            <a:xfrm>
              <a:off x="0" y="-38100"/>
              <a:ext cx="16995648" cy="842772"/>
            </a:xfrm>
            <a:prstGeom prst="rect">
              <a:avLst/>
            </a:prstGeom>
          </p:spPr>
          <p:txBody>
            <a:bodyPr anchor="ctr" rtlCol="false" tIns="0" lIns="0" bIns="0" rIns="0"/>
            <a:lstStyle/>
            <a:p>
              <a:pPr algn="l">
                <a:lnSpc>
                  <a:spcPts val="2400"/>
                </a:lnSpc>
              </a:pPr>
              <a:r>
                <a:rPr lang="en-US" sz="2000">
                  <a:solidFill>
                    <a:srgbClr val="2C2C2C"/>
                  </a:solidFill>
                  <a:latin typeface="Calibri (MS)"/>
                  <a:ea typeface="Calibri (MS)"/>
                  <a:cs typeface="Calibri (MS)"/>
                  <a:sym typeface="Calibri (MS)"/>
                </a:rPr>
                <a:t>Capture le trafic, extrait les variables (Partie 1), applique le pipeline (Partie 2) et le modèle entraîné.</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0F4FF"/>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219705"/>
            <a:chOff x="0" y="0"/>
            <a:chExt cx="24417871" cy="1626273"/>
          </a:xfrm>
        </p:grpSpPr>
        <p:sp>
          <p:nvSpPr>
            <p:cNvPr name="Freeform 3" id="3"/>
            <p:cNvSpPr/>
            <p:nvPr/>
          </p:nvSpPr>
          <p:spPr>
            <a:xfrm flipH="false" flipV="false" rot="0">
              <a:off x="0" y="0"/>
              <a:ext cx="24417910" cy="1626311"/>
            </a:xfrm>
            <a:custGeom>
              <a:avLst/>
              <a:gdLst/>
              <a:ahLst/>
              <a:cxnLst/>
              <a:rect r="r" b="b" t="t" l="l"/>
              <a:pathLst>
                <a:path h="1626311" w="24417910">
                  <a:moveTo>
                    <a:pt x="0" y="0"/>
                  </a:moveTo>
                  <a:lnTo>
                    <a:pt x="24417910" y="0"/>
                  </a:lnTo>
                  <a:lnTo>
                    <a:pt x="24417910" y="1626311"/>
                  </a:lnTo>
                  <a:lnTo>
                    <a:pt x="0" y="1626311"/>
                  </a:lnTo>
                  <a:close/>
                </a:path>
              </a:pathLst>
            </a:custGeom>
            <a:solidFill>
              <a:srgbClr val="1B2D4F"/>
            </a:solidFill>
            <a:ln w="25400" cap="sq">
              <a:solidFill>
                <a:srgbClr val="1B2D4F"/>
              </a:solidFill>
              <a:prstDash val="solid"/>
              <a:miter/>
            </a:ln>
          </p:spPr>
        </p:sp>
      </p:grpSp>
      <p:grpSp>
        <p:nvGrpSpPr>
          <p:cNvPr name="Group 4" id="4"/>
          <p:cNvGrpSpPr/>
          <p:nvPr/>
        </p:nvGrpSpPr>
        <p:grpSpPr>
          <a:xfrm rot="0">
            <a:off x="548640" y="109728"/>
            <a:ext cx="15544800" cy="1097280"/>
            <a:chOff x="0" y="0"/>
            <a:chExt cx="20726400" cy="1463040"/>
          </a:xfrm>
        </p:grpSpPr>
        <p:sp>
          <p:nvSpPr>
            <p:cNvPr name="Freeform 5" id="5"/>
            <p:cNvSpPr/>
            <p:nvPr/>
          </p:nvSpPr>
          <p:spPr>
            <a:xfrm flipH="false" flipV="false" rot="0">
              <a:off x="0" y="0"/>
              <a:ext cx="20726400" cy="1463040"/>
            </a:xfrm>
            <a:custGeom>
              <a:avLst/>
              <a:gdLst/>
              <a:ahLst/>
              <a:cxnLst/>
              <a:rect r="r" b="b" t="t" l="l"/>
              <a:pathLst>
                <a:path h="1463040" w="20726400">
                  <a:moveTo>
                    <a:pt x="0" y="0"/>
                  </a:moveTo>
                  <a:lnTo>
                    <a:pt x="20726400" y="0"/>
                  </a:lnTo>
                  <a:lnTo>
                    <a:pt x="20726400" y="1463040"/>
                  </a:lnTo>
                  <a:lnTo>
                    <a:pt x="0" y="1463040"/>
                  </a:lnTo>
                  <a:close/>
                </a:path>
              </a:pathLst>
            </a:custGeom>
            <a:blipFill>
              <a:blip r:embed="rId2">
                <a:alphaModFix amt="0"/>
              </a:blip>
              <a:stretch>
                <a:fillRect l="0" t="-226038" r="0" b="-226038"/>
              </a:stretch>
            </a:blipFill>
          </p:spPr>
        </p:sp>
        <p:sp>
          <p:nvSpPr>
            <p:cNvPr name="TextBox 6" id="6"/>
            <p:cNvSpPr txBox="true"/>
            <p:nvPr/>
          </p:nvSpPr>
          <p:spPr>
            <a:xfrm>
              <a:off x="0" y="-104775"/>
              <a:ext cx="20726400" cy="1567815"/>
            </a:xfrm>
            <a:prstGeom prst="rect">
              <a:avLst/>
            </a:prstGeom>
          </p:spPr>
          <p:txBody>
            <a:bodyPr anchor="ctr" rtlCol="false" tIns="0" lIns="0" bIns="0" rIns="0"/>
            <a:lstStyle/>
            <a:p>
              <a:pPr algn="l">
                <a:lnSpc>
                  <a:spcPts val="6240"/>
                </a:lnSpc>
              </a:pPr>
              <a:r>
                <a:rPr lang="en-US" sz="5200" b="true">
                  <a:solidFill>
                    <a:srgbClr val="FFFFFF"/>
                  </a:solidFill>
                  <a:latin typeface="Calibri (MS) Bold"/>
                  <a:ea typeface="Calibri (MS) Bold"/>
                  <a:cs typeface="Calibri (MS) Bold"/>
                  <a:sym typeface="Calibri (MS) Bold"/>
                </a:rPr>
                <a:t>SCHEMA DE L’ </a:t>
              </a:r>
              <a:r>
                <a:rPr lang="en-US" sz="5200" b="true">
                  <a:solidFill>
                    <a:srgbClr val="FFFFFF"/>
                  </a:solidFill>
                  <a:latin typeface="Calibri (MS) Bold"/>
                  <a:ea typeface="Calibri (MS) Bold"/>
                  <a:cs typeface="Calibri (MS) Bold"/>
                  <a:sym typeface="Calibri (MS) Bold"/>
                </a:rPr>
                <a:t>Application Pratique (GNS3)</a:t>
              </a:r>
            </a:p>
          </p:txBody>
        </p:sp>
      </p:grpSp>
      <p:sp>
        <p:nvSpPr>
          <p:cNvPr name="Freeform 7" id="7"/>
          <p:cNvSpPr/>
          <p:nvPr/>
        </p:nvSpPr>
        <p:spPr>
          <a:xfrm flipH="false" flipV="false" rot="0">
            <a:off x="1917263" y="1674978"/>
            <a:ext cx="12807555" cy="7798622"/>
          </a:xfrm>
          <a:custGeom>
            <a:avLst/>
            <a:gdLst/>
            <a:ahLst/>
            <a:cxnLst/>
            <a:rect r="r" b="b" t="t" l="l"/>
            <a:pathLst>
              <a:path h="7798622" w="12807555">
                <a:moveTo>
                  <a:pt x="0" y="0"/>
                </a:moveTo>
                <a:lnTo>
                  <a:pt x="12807554" y="0"/>
                </a:lnTo>
                <a:lnTo>
                  <a:pt x="12807554" y="7798622"/>
                </a:lnTo>
                <a:lnTo>
                  <a:pt x="0" y="7798622"/>
                </a:lnTo>
                <a:lnTo>
                  <a:pt x="0" y="0"/>
                </a:lnTo>
                <a:close/>
              </a:path>
            </a:pathLst>
          </a:custGeom>
          <a:blipFill>
            <a:blip r:embed="rId3"/>
            <a:stretch>
              <a:fillRect l="-17361" t="0" r="-15009"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0F4FF"/>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2128523"/>
            <a:chOff x="0" y="0"/>
            <a:chExt cx="24417871" cy="2838031"/>
          </a:xfrm>
        </p:grpSpPr>
        <p:sp>
          <p:nvSpPr>
            <p:cNvPr name="Freeform 3" id="3"/>
            <p:cNvSpPr/>
            <p:nvPr/>
          </p:nvSpPr>
          <p:spPr>
            <a:xfrm flipH="false" flipV="false" rot="0">
              <a:off x="0" y="0"/>
              <a:ext cx="24417910" cy="2838069"/>
            </a:xfrm>
            <a:custGeom>
              <a:avLst/>
              <a:gdLst/>
              <a:ahLst/>
              <a:cxnLst/>
              <a:rect r="r" b="b" t="t" l="l"/>
              <a:pathLst>
                <a:path h="2838069" w="24417910">
                  <a:moveTo>
                    <a:pt x="0" y="0"/>
                  </a:moveTo>
                  <a:lnTo>
                    <a:pt x="24417910" y="0"/>
                  </a:lnTo>
                  <a:lnTo>
                    <a:pt x="24417910" y="2838069"/>
                  </a:lnTo>
                  <a:lnTo>
                    <a:pt x="0" y="2838069"/>
                  </a:lnTo>
                  <a:close/>
                </a:path>
              </a:pathLst>
            </a:custGeom>
            <a:solidFill>
              <a:srgbClr val="1B2D4F"/>
            </a:solidFill>
            <a:ln w="25400" cap="sq">
              <a:solidFill>
                <a:srgbClr val="1B2D4F"/>
              </a:solidFill>
              <a:prstDash val="solid"/>
              <a:miter/>
            </a:ln>
          </p:spPr>
        </p:sp>
      </p:grpSp>
      <p:grpSp>
        <p:nvGrpSpPr>
          <p:cNvPr name="Group 4" id="4"/>
          <p:cNvGrpSpPr/>
          <p:nvPr/>
        </p:nvGrpSpPr>
        <p:grpSpPr>
          <a:xfrm rot="0">
            <a:off x="640080" y="128016"/>
            <a:ext cx="13716000" cy="1188720"/>
            <a:chOff x="0" y="0"/>
            <a:chExt cx="18288000" cy="1584960"/>
          </a:xfrm>
        </p:grpSpPr>
        <p:sp>
          <p:nvSpPr>
            <p:cNvPr name="Freeform 5" id="5"/>
            <p:cNvSpPr/>
            <p:nvPr/>
          </p:nvSpPr>
          <p:spPr>
            <a:xfrm flipH="false" flipV="false" rot="0">
              <a:off x="0" y="0"/>
              <a:ext cx="18288000" cy="1584960"/>
            </a:xfrm>
            <a:custGeom>
              <a:avLst/>
              <a:gdLst/>
              <a:ahLst/>
              <a:cxnLst/>
              <a:rect r="r" b="b" t="t" l="l"/>
              <a:pathLst>
                <a:path h="1584960" w="18288000">
                  <a:moveTo>
                    <a:pt x="0" y="0"/>
                  </a:moveTo>
                  <a:lnTo>
                    <a:pt x="18288000" y="0"/>
                  </a:lnTo>
                  <a:lnTo>
                    <a:pt x="18288000" y="1584960"/>
                  </a:lnTo>
                  <a:lnTo>
                    <a:pt x="0" y="1584960"/>
                  </a:lnTo>
                  <a:close/>
                </a:path>
              </a:pathLst>
            </a:custGeom>
            <a:blipFill>
              <a:blip r:embed="rId2">
                <a:alphaModFix amt="0"/>
              </a:blip>
              <a:stretch>
                <a:fillRect l="0" t="-174827" r="0" b="-174827"/>
              </a:stretch>
            </a:blipFill>
          </p:spPr>
        </p:sp>
        <p:sp>
          <p:nvSpPr>
            <p:cNvPr name="TextBox 6" id="6"/>
            <p:cNvSpPr txBox="true"/>
            <p:nvPr/>
          </p:nvSpPr>
          <p:spPr>
            <a:xfrm>
              <a:off x="0" y="-142875"/>
              <a:ext cx="18288000" cy="1727835"/>
            </a:xfrm>
            <a:prstGeom prst="rect">
              <a:avLst/>
            </a:prstGeom>
          </p:spPr>
          <p:txBody>
            <a:bodyPr anchor="ctr" rtlCol="false" tIns="0" lIns="0" bIns="0" rIns="0"/>
            <a:lstStyle/>
            <a:p>
              <a:pPr algn="l">
                <a:lnSpc>
                  <a:spcPts val="8640"/>
                </a:lnSpc>
              </a:pPr>
              <a:r>
                <a:rPr lang="en-US" sz="7200" b="true">
                  <a:solidFill>
                    <a:srgbClr val="FFFFFF"/>
                  </a:solidFill>
                  <a:latin typeface="Calibri (MS) Bold"/>
                  <a:ea typeface="Calibri (MS) Bold"/>
                  <a:cs typeface="Calibri (MS) Bold"/>
                  <a:sym typeface="Calibri (MS) Bold"/>
                </a:rPr>
                <a:t>Conclusion</a:t>
              </a:r>
            </a:p>
          </p:txBody>
        </p:sp>
      </p:grpSp>
      <p:grpSp>
        <p:nvGrpSpPr>
          <p:cNvPr name="Group 7" id="7"/>
          <p:cNvGrpSpPr/>
          <p:nvPr/>
        </p:nvGrpSpPr>
        <p:grpSpPr>
          <a:xfrm rot="0">
            <a:off x="640080" y="1389888"/>
            <a:ext cx="15544800" cy="512064"/>
            <a:chOff x="0" y="0"/>
            <a:chExt cx="20726400" cy="682752"/>
          </a:xfrm>
        </p:grpSpPr>
        <p:sp>
          <p:nvSpPr>
            <p:cNvPr name="Freeform 8" id="8"/>
            <p:cNvSpPr/>
            <p:nvPr/>
          </p:nvSpPr>
          <p:spPr>
            <a:xfrm flipH="false" flipV="false" rot="0">
              <a:off x="0" y="0"/>
              <a:ext cx="20726400" cy="682752"/>
            </a:xfrm>
            <a:custGeom>
              <a:avLst/>
              <a:gdLst/>
              <a:ahLst/>
              <a:cxnLst/>
              <a:rect r="r" b="b" t="t" l="l"/>
              <a:pathLst>
                <a:path h="682752" w="20726400">
                  <a:moveTo>
                    <a:pt x="0" y="0"/>
                  </a:moveTo>
                  <a:lnTo>
                    <a:pt x="20726400" y="0"/>
                  </a:lnTo>
                  <a:lnTo>
                    <a:pt x="20726400" y="682752"/>
                  </a:lnTo>
                  <a:lnTo>
                    <a:pt x="0" y="682752"/>
                  </a:lnTo>
                  <a:close/>
                </a:path>
              </a:pathLst>
            </a:custGeom>
            <a:blipFill>
              <a:blip r:embed="rId2">
                <a:alphaModFix amt="0"/>
              </a:blip>
              <a:stretch>
                <a:fillRect l="0" t="-541510" r="0" b="-541510"/>
              </a:stretch>
            </a:blipFill>
          </p:spPr>
        </p:sp>
        <p:sp>
          <p:nvSpPr>
            <p:cNvPr name="TextBox 9" id="9"/>
            <p:cNvSpPr txBox="true"/>
            <p:nvPr/>
          </p:nvSpPr>
          <p:spPr>
            <a:xfrm>
              <a:off x="0" y="-38100"/>
              <a:ext cx="20726400" cy="720852"/>
            </a:xfrm>
            <a:prstGeom prst="rect">
              <a:avLst/>
            </a:prstGeom>
          </p:spPr>
          <p:txBody>
            <a:bodyPr anchor="ctr" rtlCol="false" tIns="0" lIns="0" bIns="0" rIns="0"/>
            <a:lstStyle/>
            <a:p>
              <a:pPr algn="l">
                <a:lnSpc>
                  <a:spcPts val="2879"/>
                </a:lnSpc>
              </a:pPr>
              <a:r>
                <a:rPr lang="en-US" sz="2400">
                  <a:solidFill>
                    <a:srgbClr val="ADBDD4"/>
                  </a:solidFill>
                  <a:latin typeface="Calibri (MS)"/>
                  <a:ea typeface="Calibri (MS)"/>
                  <a:cs typeface="Calibri (MS)"/>
                  <a:sym typeface="Calibri (MS)"/>
                </a:rPr>
                <a:t>Système de Détection d'Intrusions basé sur l'IA</a:t>
              </a:r>
            </a:p>
          </p:txBody>
        </p:sp>
      </p:grpSp>
      <p:grpSp>
        <p:nvGrpSpPr>
          <p:cNvPr name="Group 10" id="10"/>
          <p:cNvGrpSpPr/>
          <p:nvPr/>
        </p:nvGrpSpPr>
        <p:grpSpPr>
          <a:xfrm rot="0">
            <a:off x="627383" y="2328167"/>
            <a:ext cx="6974843" cy="720347"/>
            <a:chOff x="0" y="0"/>
            <a:chExt cx="9299791" cy="960463"/>
          </a:xfrm>
        </p:grpSpPr>
        <p:sp>
          <p:nvSpPr>
            <p:cNvPr name="Freeform 11" id="11"/>
            <p:cNvSpPr/>
            <p:nvPr/>
          </p:nvSpPr>
          <p:spPr>
            <a:xfrm flipH="false" flipV="false" rot="0">
              <a:off x="0" y="0"/>
              <a:ext cx="9299829" cy="960501"/>
            </a:xfrm>
            <a:custGeom>
              <a:avLst/>
              <a:gdLst/>
              <a:ahLst/>
              <a:cxnLst/>
              <a:rect r="r" b="b" t="t" l="l"/>
              <a:pathLst>
                <a:path h="960501" w="9299829">
                  <a:moveTo>
                    <a:pt x="0" y="151638"/>
                  </a:moveTo>
                  <a:cubicBezTo>
                    <a:pt x="0" y="67945"/>
                    <a:pt x="67945" y="0"/>
                    <a:pt x="151638" y="0"/>
                  </a:cubicBezTo>
                  <a:lnTo>
                    <a:pt x="9148191" y="0"/>
                  </a:lnTo>
                  <a:cubicBezTo>
                    <a:pt x="9231885" y="0"/>
                    <a:pt x="9299829" y="67945"/>
                    <a:pt x="9299829" y="151638"/>
                  </a:cubicBezTo>
                  <a:lnTo>
                    <a:pt x="9299829" y="808863"/>
                  </a:lnTo>
                  <a:cubicBezTo>
                    <a:pt x="9299829" y="892556"/>
                    <a:pt x="9231885" y="960501"/>
                    <a:pt x="9148191" y="960501"/>
                  </a:cubicBezTo>
                  <a:lnTo>
                    <a:pt x="151638" y="960501"/>
                  </a:lnTo>
                  <a:cubicBezTo>
                    <a:pt x="67945" y="960501"/>
                    <a:pt x="0" y="892556"/>
                    <a:pt x="0" y="808863"/>
                  </a:cubicBezTo>
                  <a:close/>
                </a:path>
              </a:pathLst>
            </a:custGeom>
            <a:solidFill>
              <a:srgbClr val="1B2D4F"/>
            </a:solidFill>
            <a:ln w="25400" cap="sq">
              <a:solidFill>
                <a:srgbClr val="1B2D4F"/>
              </a:solidFill>
              <a:prstDash val="solid"/>
              <a:miter/>
            </a:ln>
          </p:spPr>
        </p:sp>
      </p:grpSp>
      <p:grpSp>
        <p:nvGrpSpPr>
          <p:cNvPr name="Group 12" id="12"/>
          <p:cNvGrpSpPr/>
          <p:nvPr/>
        </p:nvGrpSpPr>
        <p:grpSpPr>
          <a:xfrm rot="0">
            <a:off x="640080" y="2340864"/>
            <a:ext cx="6949440" cy="694944"/>
            <a:chOff x="0" y="0"/>
            <a:chExt cx="9265920" cy="926592"/>
          </a:xfrm>
        </p:grpSpPr>
        <p:sp>
          <p:nvSpPr>
            <p:cNvPr name="Freeform 13" id="13"/>
            <p:cNvSpPr/>
            <p:nvPr/>
          </p:nvSpPr>
          <p:spPr>
            <a:xfrm flipH="false" flipV="false" rot="0">
              <a:off x="0" y="0"/>
              <a:ext cx="9265920" cy="926592"/>
            </a:xfrm>
            <a:custGeom>
              <a:avLst/>
              <a:gdLst/>
              <a:ahLst/>
              <a:cxnLst/>
              <a:rect r="r" b="b" t="t" l="l"/>
              <a:pathLst>
                <a:path h="926592" w="9265920">
                  <a:moveTo>
                    <a:pt x="0" y="0"/>
                  </a:moveTo>
                  <a:lnTo>
                    <a:pt x="9265920" y="0"/>
                  </a:lnTo>
                  <a:lnTo>
                    <a:pt x="9265920" y="926592"/>
                  </a:lnTo>
                  <a:lnTo>
                    <a:pt x="0" y="926592"/>
                  </a:lnTo>
                  <a:close/>
                </a:path>
              </a:pathLst>
            </a:custGeom>
            <a:blipFill>
              <a:blip r:embed="rId2">
                <a:alphaModFix amt="0"/>
              </a:blip>
              <a:stretch>
                <a:fillRect l="0" t="-144850" r="0" b="-144850"/>
              </a:stretch>
            </a:blipFill>
          </p:spPr>
        </p:sp>
        <p:sp>
          <p:nvSpPr>
            <p:cNvPr name="TextBox 14" id="14"/>
            <p:cNvSpPr txBox="true"/>
            <p:nvPr/>
          </p:nvSpPr>
          <p:spPr>
            <a:xfrm>
              <a:off x="0" y="-38100"/>
              <a:ext cx="9265920" cy="964692"/>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  Ce que nous avons réalisé</a:t>
              </a:r>
            </a:p>
          </p:txBody>
        </p:sp>
      </p:grpSp>
      <p:grpSp>
        <p:nvGrpSpPr>
          <p:cNvPr name="Group 15" id="15"/>
          <p:cNvGrpSpPr/>
          <p:nvPr/>
        </p:nvGrpSpPr>
        <p:grpSpPr>
          <a:xfrm rot="0">
            <a:off x="627383" y="3205991"/>
            <a:ext cx="153419" cy="2768603"/>
            <a:chOff x="0" y="0"/>
            <a:chExt cx="204559" cy="3691471"/>
          </a:xfrm>
        </p:grpSpPr>
        <p:sp>
          <p:nvSpPr>
            <p:cNvPr name="Freeform 16" id="16"/>
            <p:cNvSpPr/>
            <p:nvPr/>
          </p:nvSpPr>
          <p:spPr>
            <a:xfrm flipH="false" flipV="false" rot="0">
              <a:off x="0" y="0"/>
              <a:ext cx="204597" cy="3691509"/>
            </a:xfrm>
            <a:custGeom>
              <a:avLst/>
              <a:gdLst/>
              <a:ahLst/>
              <a:cxnLst/>
              <a:rect r="r" b="b" t="t" l="l"/>
              <a:pathLst>
                <a:path h="3691509" w="204597">
                  <a:moveTo>
                    <a:pt x="0" y="0"/>
                  </a:moveTo>
                  <a:lnTo>
                    <a:pt x="204597" y="0"/>
                  </a:lnTo>
                  <a:lnTo>
                    <a:pt x="204597" y="3691509"/>
                  </a:lnTo>
                  <a:lnTo>
                    <a:pt x="0" y="3691509"/>
                  </a:lnTo>
                  <a:close/>
                </a:path>
              </a:pathLst>
            </a:custGeom>
            <a:solidFill>
              <a:srgbClr val="3B6FBE"/>
            </a:solidFill>
            <a:ln w="25400" cap="sq">
              <a:solidFill>
                <a:srgbClr val="3B6FBE"/>
              </a:solidFill>
              <a:prstDash val="solid"/>
              <a:miter/>
            </a:ln>
          </p:spPr>
        </p:sp>
      </p:grpSp>
      <p:grpSp>
        <p:nvGrpSpPr>
          <p:cNvPr name="Group 17" id="17"/>
          <p:cNvGrpSpPr/>
          <p:nvPr/>
        </p:nvGrpSpPr>
        <p:grpSpPr>
          <a:xfrm rot="0">
            <a:off x="761743" y="3212335"/>
            <a:ext cx="16892521" cy="2755897"/>
            <a:chOff x="0" y="0"/>
            <a:chExt cx="22523361" cy="3674529"/>
          </a:xfrm>
        </p:grpSpPr>
        <p:sp>
          <p:nvSpPr>
            <p:cNvPr name="Freeform 18" id="18"/>
            <p:cNvSpPr/>
            <p:nvPr/>
          </p:nvSpPr>
          <p:spPr>
            <a:xfrm flipH="false" flipV="false" rot="0">
              <a:off x="0" y="0"/>
              <a:ext cx="22523323" cy="3674491"/>
            </a:xfrm>
            <a:custGeom>
              <a:avLst/>
              <a:gdLst/>
              <a:ahLst/>
              <a:cxnLst/>
              <a:rect r="r" b="b" t="t" l="l"/>
              <a:pathLst>
                <a:path h="3674491" w="22523323">
                  <a:moveTo>
                    <a:pt x="0" y="0"/>
                  </a:moveTo>
                  <a:lnTo>
                    <a:pt x="22523323" y="0"/>
                  </a:lnTo>
                  <a:lnTo>
                    <a:pt x="22523323" y="3674491"/>
                  </a:lnTo>
                  <a:lnTo>
                    <a:pt x="0" y="3674491"/>
                  </a:lnTo>
                  <a:close/>
                </a:path>
              </a:pathLst>
            </a:custGeom>
            <a:solidFill>
              <a:srgbClr val="FFFFFF"/>
            </a:solidFill>
            <a:ln w="12700" cap="sq">
              <a:solidFill>
                <a:srgbClr val="D0D8E8"/>
              </a:solidFill>
              <a:prstDash val="solid"/>
              <a:miter/>
            </a:ln>
          </p:spPr>
        </p:sp>
      </p:grpSp>
      <p:grpSp>
        <p:nvGrpSpPr>
          <p:cNvPr name="Group 19" id="19"/>
          <p:cNvGrpSpPr/>
          <p:nvPr/>
        </p:nvGrpSpPr>
        <p:grpSpPr>
          <a:xfrm rot="0">
            <a:off x="1005840" y="3346704"/>
            <a:ext cx="5212080" cy="512064"/>
            <a:chOff x="0" y="0"/>
            <a:chExt cx="6949440" cy="682752"/>
          </a:xfrm>
        </p:grpSpPr>
        <p:sp>
          <p:nvSpPr>
            <p:cNvPr name="Freeform 20" id="20"/>
            <p:cNvSpPr/>
            <p:nvPr/>
          </p:nvSpPr>
          <p:spPr>
            <a:xfrm flipH="false" flipV="false" rot="0">
              <a:off x="0" y="0"/>
              <a:ext cx="6949440" cy="682752"/>
            </a:xfrm>
            <a:custGeom>
              <a:avLst/>
              <a:gdLst/>
              <a:ahLst/>
              <a:cxnLst/>
              <a:rect r="r" b="b" t="t" l="l"/>
              <a:pathLst>
                <a:path h="682752" w="6949440">
                  <a:moveTo>
                    <a:pt x="0" y="0"/>
                  </a:moveTo>
                  <a:lnTo>
                    <a:pt x="6949440" y="0"/>
                  </a:lnTo>
                  <a:lnTo>
                    <a:pt x="6949440" y="682752"/>
                  </a:lnTo>
                  <a:lnTo>
                    <a:pt x="0" y="682752"/>
                  </a:lnTo>
                  <a:close/>
                </a:path>
              </a:pathLst>
            </a:custGeom>
            <a:blipFill>
              <a:blip r:embed="rId2">
                <a:alphaModFix amt="0"/>
              </a:blip>
              <a:stretch>
                <a:fillRect l="0" t="-148329" r="0" b="-148329"/>
              </a:stretch>
            </a:blipFill>
          </p:spPr>
        </p:sp>
        <p:sp>
          <p:nvSpPr>
            <p:cNvPr name="TextBox 21" id="21"/>
            <p:cNvSpPr txBox="true"/>
            <p:nvPr/>
          </p:nvSpPr>
          <p:spPr>
            <a:xfrm>
              <a:off x="0" y="-47625"/>
              <a:ext cx="6949440" cy="730377"/>
            </a:xfrm>
            <a:prstGeom prst="rect">
              <a:avLst/>
            </a:prstGeom>
          </p:spPr>
          <p:txBody>
            <a:bodyPr anchor="ctr" rtlCol="false" tIns="0" lIns="0" bIns="0" rIns="0"/>
            <a:lstStyle/>
            <a:p>
              <a:pPr algn="l">
                <a:lnSpc>
                  <a:spcPts val="2640"/>
                </a:lnSpc>
              </a:pPr>
              <a:r>
                <a:rPr lang="en-US" sz="2200" b="true">
                  <a:solidFill>
                    <a:srgbClr val="1B4F9C"/>
                  </a:solidFill>
                  <a:latin typeface="Calibri (MS) Bold"/>
                  <a:ea typeface="Calibri (MS) Bold"/>
                  <a:cs typeface="Calibri (MS) Bold"/>
                  <a:sym typeface="Calibri (MS) Bold"/>
                </a:rPr>
                <a:t>Modèle IA supervisé</a:t>
              </a:r>
            </a:p>
          </p:txBody>
        </p:sp>
      </p:grpSp>
      <p:grpSp>
        <p:nvGrpSpPr>
          <p:cNvPr name="Group 22" id="22"/>
          <p:cNvGrpSpPr/>
          <p:nvPr/>
        </p:nvGrpSpPr>
        <p:grpSpPr>
          <a:xfrm rot="0">
            <a:off x="1005840" y="3913632"/>
            <a:ext cx="5212080" cy="1828800"/>
            <a:chOff x="0" y="0"/>
            <a:chExt cx="6949440" cy="2438400"/>
          </a:xfrm>
        </p:grpSpPr>
        <p:sp>
          <p:nvSpPr>
            <p:cNvPr name="Freeform 23" id="23"/>
            <p:cNvSpPr/>
            <p:nvPr/>
          </p:nvSpPr>
          <p:spPr>
            <a:xfrm flipH="false" flipV="false" rot="0">
              <a:off x="0" y="0"/>
              <a:ext cx="6949440" cy="2438400"/>
            </a:xfrm>
            <a:custGeom>
              <a:avLst/>
              <a:gdLst/>
              <a:ahLst/>
              <a:cxnLst/>
              <a:rect r="r" b="b" t="t" l="l"/>
              <a:pathLst>
                <a:path h="2438400" w="6949440">
                  <a:moveTo>
                    <a:pt x="0" y="0"/>
                  </a:moveTo>
                  <a:lnTo>
                    <a:pt x="6949440" y="0"/>
                  </a:lnTo>
                  <a:lnTo>
                    <a:pt x="6949440" y="2438400"/>
                  </a:lnTo>
                  <a:lnTo>
                    <a:pt x="0" y="2438400"/>
                  </a:lnTo>
                  <a:close/>
                </a:path>
              </a:pathLst>
            </a:custGeom>
            <a:blipFill>
              <a:blip r:embed="rId2">
                <a:alphaModFix amt="0"/>
              </a:blip>
              <a:stretch>
                <a:fillRect l="0" t="-5532" r="0" b="-5532"/>
              </a:stretch>
            </a:blipFill>
          </p:spPr>
        </p:sp>
        <p:sp>
          <p:nvSpPr>
            <p:cNvPr name="TextBox 24" id="24"/>
            <p:cNvSpPr txBox="true"/>
            <p:nvPr/>
          </p:nvSpPr>
          <p:spPr>
            <a:xfrm>
              <a:off x="0" y="-47625"/>
              <a:ext cx="6949440" cy="2486025"/>
            </a:xfrm>
            <a:prstGeom prst="rect">
              <a:avLst/>
            </a:prstGeom>
          </p:spPr>
          <p:txBody>
            <a:bodyPr anchor="ctr" rtlCol="false" tIns="0" lIns="0" bIns="0" rIns="0"/>
            <a:lstStyle/>
            <a:p>
              <a:pPr algn="l">
                <a:lnSpc>
                  <a:spcPts val="2520"/>
                </a:lnSpc>
              </a:pPr>
              <a:r>
                <a:rPr lang="en-US" sz="2100">
                  <a:solidFill>
                    <a:srgbClr val="2C2C2C"/>
                  </a:solidFill>
                  <a:latin typeface="Calibri (MS)"/>
                  <a:ea typeface="Calibri (MS)"/>
                  <a:cs typeface="Calibri (MS)"/>
                  <a:sym typeface="Calibri (MS)"/>
                </a:rPr>
                <a:t>Classification automatique du trafic réseau (Normal / Attaque) via apprentissage supervisé (RandomForest).</a:t>
              </a:r>
            </a:p>
          </p:txBody>
        </p:sp>
      </p:grpSp>
      <p:grpSp>
        <p:nvGrpSpPr>
          <p:cNvPr name="Group 25" id="25"/>
          <p:cNvGrpSpPr/>
          <p:nvPr/>
        </p:nvGrpSpPr>
        <p:grpSpPr>
          <a:xfrm rot="0">
            <a:off x="6601968" y="3346704"/>
            <a:ext cx="5212080" cy="512064"/>
            <a:chOff x="0" y="0"/>
            <a:chExt cx="6949440" cy="682752"/>
          </a:xfrm>
        </p:grpSpPr>
        <p:sp>
          <p:nvSpPr>
            <p:cNvPr name="Freeform 26" id="26"/>
            <p:cNvSpPr/>
            <p:nvPr/>
          </p:nvSpPr>
          <p:spPr>
            <a:xfrm flipH="false" flipV="false" rot="0">
              <a:off x="0" y="0"/>
              <a:ext cx="6949440" cy="682752"/>
            </a:xfrm>
            <a:custGeom>
              <a:avLst/>
              <a:gdLst/>
              <a:ahLst/>
              <a:cxnLst/>
              <a:rect r="r" b="b" t="t" l="l"/>
              <a:pathLst>
                <a:path h="682752" w="6949440">
                  <a:moveTo>
                    <a:pt x="0" y="0"/>
                  </a:moveTo>
                  <a:lnTo>
                    <a:pt x="6949440" y="0"/>
                  </a:lnTo>
                  <a:lnTo>
                    <a:pt x="6949440" y="682752"/>
                  </a:lnTo>
                  <a:lnTo>
                    <a:pt x="0" y="682752"/>
                  </a:lnTo>
                  <a:close/>
                </a:path>
              </a:pathLst>
            </a:custGeom>
            <a:blipFill>
              <a:blip r:embed="rId2">
                <a:alphaModFix amt="0"/>
              </a:blip>
              <a:stretch>
                <a:fillRect l="0" t="-148329" r="0" b="-148329"/>
              </a:stretch>
            </a:blipFill>
          </p:spPr>
        </p:sp>
        <p:sp>
          <p:nvSpPr>
            <p:cNvPr name="TextBox 27" id="27"/>
            <p:cNvSpPr txBox="true"/>
            <p:nvPr/>
          </p:nvSpPr>
          <p:spPr>
            <a:xfrm>
              <a:off x="0" y="-47625"/>
              <a:ext cx="6949440" cy="730377"/>
            </a:xfrm>
            <a:prstGeom prst="rect">
              <a:avLst/>
            </a:prstGeom>
          </p:spPr>
          <p:txBody>
            <a:bodyPr anchor="ctr" rtlCol="false" tIns="0" lIns="0" bIns="0" rIns="0"/>
            <a:lstStyle/>
            <a:p>
              <a:pPr algn="l">
                <a:lnSpc>
                  <a:spcPts val="2640"/>
                </a:lnSpc>
              </a:pPr>
              <a:r>
                <a:rPr lang="en-US" sz="2200" b="true">
                  <a:solidFill>
                    <a:srgbClr val="1B4F9C"/>
                  </a:solidFill>
                  <a:latin typeface="Calibri (MS) Bold"/>
                  <a:ea typeface="Calibri (MS) Bold"/>
                  <a:cs typeface="Calibri (MS) Bold"/>
                  <a:sym typeface="Calibri (MS) Bold"/>
                </a:rPr>
                <a:t>Pipeline complet maîtrisé</a:t>
              </a:r>
            </a:p>
          </p:txBody>
        </p:sp>
      </p:grpSp>
      <p:grpSp>
        <p:nvGrpSpPr>
          <p:cNvPr name="Group 28" id="28"/>
          <p:cNvGrpSpPr/>
          <p:nvPr/>
        </p:nvGrpSpPr>
        <p:grpSpPr>
          <a:xfrm rot="0">
            <a:off x="6601968" y="3913632"/>
            <a:ext cx="5212080" cy="1828800"/>
            <a:chOff x="0" y="0"/>
            <a:chExt cx="6949440" cy="2438400"/>
          </a:xfrm>
        </p:grpSpPr>
        <p:sp>
          <p:nvSpPr>
            <p:cNvPr name="Freeform 29" id="29"/>
            <p:cNvSpPr/>
            <p:nvPr/>
          </p:nvSpPr>
          <p:spPr>
            <a:xfrm flipH="false" flipV="false" rot="0">
              <a:off x="0" y="0"/>
              <a:ext cx="6949440" cy="2438400"/>
            </a:xfrm>
            <a:custGeom>
              <a:avLst/>
              <a:gdLst/>
              <a:ahLst/>
              <a:cxnLst/>
              <a:rect r="r" b="b" t="t" l="l"/>
              <a:pathLst>
                <a:path h="2438400" w="6949440">
                  <a:moveTo>
                    <a:pt x="0" y="0"/>
                  </a:moveTo>
                  <a:lnTo>
                    <a:pt x="6949440" y="0"/>
                  </a:lnTo>
                  <a:lnTo>
                    <a:pt x="6949440" y="2438400"/>
                  </a:lnTo>
                  <a:lnTo>
                    <a:pt x="0" y="2438400"/>
                  </a:lnTo>
                  <a:close/>
                </a:path>
              </a:pathLst>
            </a:custGeom>
            <a:blipFill>
              <a:blip r:embed="rId2">
                <a:alphaModFix amt="0"/>
              </a:blip>
              <a:stretch>
                <a:fillRect l="0" t="-5532" r="0" b="-5532"/>
              </a:stretch>
            </a:blipFill>
          </p:spPr>
        </p:sp>
        <p:sp>
          <p:nvSpPr>
            <p:cNvPr name="TextBox 30" id="30"/>
            <p:cNvSpPr txBox="true"/>
            <p:nvPr/>
          </p:nvSpPr>
          <p:spPr>
            <a:xfrm>
              <a:off x="0" y="-47625"/>
              <a:ext cx="6949440" cy="2486025"/>
            </a:xfrm>
            <a:prstGeom prst="rect">
              <a:avLst/>
            </a:prstGeom>
          </p:spPr>
          <p:txBody>
            <a:bodyPr anchor="ctr" rtlCol="false" tIns="0" lIns="0" bIns="0" rIns="0"/>
            <a:lstStyle/>
            <a:p>
              <a:pPr algn="l">
                <a:lnSpc>
                  <a:spcPts val="2520"/>
                </a:lnSpc>
              </a:pPr>
              <a:r>
                <a:rPr lang="en-US" sz="2100">
                  <a:solidFill>
                    <a:srgbClr val="2C2C2C"/>
                  </a:solidFill>
                  <a:latin typeface="Calibri (MS)"/>
                  <a:ea typeface="Calibri (MS)"/>
                  <a:cs typeface="Calibri (MS)"/>
                  <a:sym typeface="Calibri (MS)"/>
                </a:rPr>
                <a:t>Analyse · Prétraitement · Encodage · Normalisation · Entraînement · Évaluation · Validation.</a:t>
              </a:r>
            </a:p>
          </p:txBody>
        </p:sp>
      </p:grpSp>
      <p:grpSp>
        <p:nvGrpSpPr>
          <p:cNvPr name="Group 31" id="31"/>
          <p:cNvGrpSpPr/>
          <p:nvPr/>
        </p:nvGrpSpPr>
        <p:grpSpPr>
          <a:xfrm rot="0">
            <a:off x="12198096" y="3346704"/>
            <a:ext cx="5212080" cy="512064"/>
            <a:chOff x="0" y="0"/>
            <a:chExt cx="6949440" cy="682752"/>
          </a:xfrm>
        </p:grpSpPr>
        <p:sp>
          <p:nvSpPr>
            <p:cNvPr name="Freeform 32" id="32"/>
            <p:cNvSpPr/>
            <p:nvPr/>
          </p:nvSpPr>
          <p:spPr>
            <a:xfrm flipH="false" flipV="false" rot="0">
              <a:off x="0" y="0"/>
              <a:ext cx="6949440" cy="682752"/>
            </a:xfrm>
            <a:custGeom>
              <a:avLst/>
              <a:gdLst/>
              <a:ahLst/>
              <a:cxnLst/>
              <a:rect r="r" b="b" t="t" l="l"/>
              <a:pathLst>
                <a:path h="682752" w="6949440">
                  <a:moveTo>
                    <a:pt x="0" y="0"/>
                  </a:moveTo>
                  <a:lnTo>
                    <a:pt x="6949440" y="0"/>
                  </a:lnTo>
                  <a:lnTo>
                    <a:pt x="6949440" y="682752"/>
                  </a:lnTo>
                  <a:lnTo>
                    <a:pt x="0" y="682752"/>
                  </a:lnTo>
                  <a:close/>
                </a:path>
              </a:pathLst>
            </a:custGeom>
            <a:blipFill>
              <a:blip r:embed="rId2">
                <a:alphaModFix amt="0"/>
              </a:blip>
              <a:stretch>
                <a:fillRect l="0" t="-148329" r="0" b="-148329"/>
              </a:stretch>
            </a:blipFill>
          </p:spPr>
        </p:sp>
        <p:sp>
          <p:nvSpPr>
            <p:cNvPr name="TextBox 33" id="33"/>
            <p:cNvSpPr txBox="true"/>
            <p:nvPr/>
          </p:nvSpPr>
          <p:spPr>
            <a:xfrm>
              <a:off x="0" y="-47625"/>
              <a:ext cx="6949440" cy="730377"/>
            </a:xfrm>
            <a:prstGeom prst="rect">
              <a:avLst/>
            </a:prstGeom>
          </p:spPr>
          <p:txBody>
            <a:bodyPr anchor="ctr" rtlCol="false" tIns="0" lIns="0" bIns="0" rIns="0"/>
            <a:lstStyle/>
            <a:p>
              <a:pPr algn="l">
                <a:lnSpc>
                  <a:spcPts val="2640"/>
                </a:lnSpc>
              </a:pPr>
              <a:r>
                <a:rPr lang="en-US" sz="2200" b="true">
                  <a:solidFill>
                    <a:srgbClr val="1B4F9C"/>
                  </a:solidFill>
                  <a:latin typeface="Calibri (MS) Bold"/>
                  <a:ea typeface="Calibri (MS) Bold"/>
                  <a:cs typeface="Calibri (MS) Bold"/>
                  <a:sym typeface="Calibri (MS) Bold"/>
                </a:rPr>
                <a:t>Solution adaptée au terrain</a:t>
              </a:r>
            </a:p>
          </p:txBody>
        </p:sp>
      </p:grpSp>
      <p:grpSp>
        <p:nvGrpSpPr>
          <p:cNvPr name="Group 34" id="34"/>
          <p:cNvGrpSpPr/>
          <p:nvPr/>
        </p:nvGrpSpPr>
        <p:grpSpPr>
          <a:xfrm rot="0">
            <a:off x="12198096" y="3913632"/>
            <a:ext cx="5212080" cy="1828800"/>
            <a:chOff x="0" y="0"/>
            <a:chExt cx="6949440" cy="2438400"/>
          </a:xfrm>
        </p:grpSpPr>
        <p:sp>
          <p:nvSpPr>
            <p:cNvPr name="Freeform 35" id="35"/>
            <p:cNvSpPr/>
            <p:nvPr/>
          </p:nvSpPr>
          <p:spPr>
            <a:xfrm flipH="false" flipV="false" rot="0">
              <a:off x="0" y="0"/>
              <a:ext cx="6949440" cy="2438400"/>
            </a:xfrm>
            <a:custGeom>
              <a:avLst/>
              <a:gdLst/>
              <a:ahLst/>
              <a:cxnLst/>
              <a:rect r="r" b="b" t="t" l="l"/>
              <a:pathLst>
                <a:path h="2438400" w="6949440">
                  <a:moveTo>
                    <a:pt x="0" y="0"/>
                  </a:moveTo>
                  <a:lnTo>
                    <a:pt x="6949440" y="0"/>
                  </a:lnTo>
                  <a:lnTo>
                    <a:pt x="6949440" y="2438400"/>
                  </a:lnTo>
                  <a:lnTo>
                    <a:pt x="0" y="2438400"/>
                  </a:lnTo>
                  <a:close/>
                </a:path>
              </a:pathLst>
            </a:custGeom>
            <a:blipFill>
              <a:blip r:embed="rId2">
                <a:alphaModFix amt="0"/>
              </a:blip>
              <a:stretch>
                <a:fillRect l="0" t="-5532" r="0" b="-5532"/>
              </a:stretch>
            </a:blipFill>
          </p:spPr>
        </p:sp>
        <p:sp>
          <p:nvSpPr>
            <p:cNvPr name="TextBox 36" id="36"/>
            <p:cNvSpPr txBox="true"/>
            <p:nvPr/>
          </p:nvSpPr>
          <p:spPr>
            <a:xfrm>
              <a:off x="0" y="-47625"/>
              <a:ext cx="6949440" cy="2486025"/>
            </a:xfrm>
            <a:prstGeom prst="rect">
              <a:avLst/>
            </a:prstGeom>
          </p:spPr>
          <p:txBody>
            <a:bodyPr anchor="ctr" rtlCol="false" tIns="0" lIns="0" bIns="0" rIns="0"/>
            <a:lstStyle/>
            <a:p>
              <a:pPr algn="l">
                <a:lnSpc>
                  <a:spcPts val="2520"/>
                </a:lnSpc>
              </a:pPr>
              <a:r>
                <a:rPr lang="en-US" sz="2100">
                  <a:solidFill>
                    <a:srgbClr val="2C2C2C"/>
                  </a:solidFill>
                  <a:latin typeface="Calibri (MS)"/>
                  <a:ea typeface="Calibri (MS)"/>
                  <a:cs typeface="Calibri (MS)"/>
                  <a:sym typeface="Calibri (MS)"/>
                </a:rPr>
                <a:t>Réponse directe aux limites identifiées chez DakarTech Solutions — détection en temps réel, alertes automatiques.</a:t>
              </a:r>
            </a:p>
          </p:txBody>
        </p:sp>
      </p:grpSp>
      <p:grpSp>
        <p:nvGrpSpPr>
          <p:cNvPr name="Group 37" id="37"/>
          <p:cNvGrpSpPr/>
          <p:nvPr/>
        </p:nvGrpSpPr>
        <p:grpSpPr>
          <a:xfrm rot="0">
            <a:off x="627383" y="6168647"/>
            <a:ext cx="5146043" cy="720347"/>
            <a:chOff x="0" y="0"/>
            <a:chExt cx="6861391" cy="960463"/>
          </a:xfrm>
        </p:grpSpPr>
        <p:sp>
          <p:nvSpPr>
            <p:cNvPr name="Freeform 38" id="38"/>
            <p:cNvSpPr/>
            <p:nvPr/>
          </p:nvSpPr>
          <p:spPr>
            <a:xfrm flipH="false" flipV="false" rot="0">
              <a:off x="0" y="0"/>
              <a:ext cx="6861429" cy="960501"/>
            </a:xfrm>
            <a:custGeom>
              <a:avLst/>
              <a:gdLst/>
              <a:ahLst/>
              <a:cxnLst/>
              <a:rect r="r" b="b" t="t" l="l"/>
              <a:pathLst>
                <a:path h="960501" w="6861429">
                  <a:moveTo>
                    <a:pt x="0" y="151638"/>
                  </a:moveTo>
                  <a:cubicBezTo>
                    <a:pt x="0" y="67945"/>
                    <a:pt x="67945" y="0"/>
                    <a:pt x="151638" y="0"/>
                  </a:cubicBezTo>
                  <a:lnTo>
                    <a:pt x="6709791" y="0"/>
                  </a:lnTo>
                  <a:cubicBezTo>
                    <a:pt x="6793485" y="0"/>
                    <a:pt x="6861429" y="67945"/>
                    <a:pt x="6861429" y="151638"/>
                  </a:cubicBezTo>
                  <a:lnTo>
                    <a:pt x="6861429" y="808863"/>
                  </a:lnTo>
                  <a:cubicBezTo>
                    <a:pt x="6861429" y="892556"/>
                    <a:pt x="6793485" y="960501"/>
                    <a:pt x="6709791" y="960501"/>
                  </a:cubicBezTo>
                  <a:lnTo>
                    <a:pt x="151638" y="960501"/>
                  </a:lnTo>
                  <a:cubicBezTo>
                    <a:pt x="67945" y="960501"/>
                    <a:pt x="0" y="892556"/>
                    <a:pt x="0" y="808863"/>
                  </a:cubicBezTo>
                  <a:close/>
                </a:path>
              </a:pathLst>
            </a:custGeom>
            <a:solidFill>
              <a:srgbClr val="1B2D4F"/>
            </a:solidFill>
            <a:ln w="25400" cap="sq">
              <a:solidFill>
                <a:srgbClr val="1B2D4F"/>
              </a:solidFill>
              <a:prstDash val="solid"/>
              <a:miter/>
            </a:ln>
          </p:spPr>
        </p:sp>
      </p:grpSp>
      <p:grpSp>
        <p:nvGrpSpPr>
          <p:cNvPr name="Group 39" id="39"/>
          <p:cNvGrpSpPr/>
          <p:nvPr/>
        </p:nvGrpSpPr>
        <p:grpSpPr>
          <a:xfrm rot="0">
            <a:off x="640080" y="6181344"/>
            <a:ext cx="5120640" cy="694944"/>
            <a:chOff x="0" y="0"/>
            <a:chExt cx="6827520" cy="926592"/>
          </a:xfrm>
        </p:grpSpPr>
        <p:sp>
          <p:nvSpPr>
            <p:cNvPr name="Freeform 40" id="40"/>
            <p:cNvSpPr/>
            <p:nvPr/>
          </p:nvSpPr>
          <p:spPr>
            <a:xfrm flipH="false" flipV="false" rot="0">
              <a:off x="0" y="0"/>
              <a:ext cx="6827520" cy="926592"/>
            </a:xfrm>
            <a:custGeom>
              <a:avLst/>
              <a:gdLst/>
              <a:ahLst/>
              <a:cxnLst/>
              <a:rect r="r" b="b" t="t" l="l"/>
              <a:pathLst>
                <a:path h="926592" w="6827520">
                  <a:moveTo>
                    <a:pt x="0" y="0"/>
                  </a:moveTo>
                  <a:lnTo>
                    <a:pt x="6827520" y="0"/>
                  </a:lnTo>
                  <a:lnTo>
                    <a:pt x="6827520" y="926592"/>
                  </a:lnTo>
                  <a:lnTo>
                    <a:pt x="0" y="926592"/>
                  </a:lnTo>
                  <a:close/>
                </a:path>
              </a:pathLst>
            </a:custGeom>
            <a:blipFill>
              <a:blip r:embed="rId2">
                <a:alphaModFix amt="0"/>
              </a:blip>
              <a:stretch>
                <a:fillRect l="0" t="-93573" r="0" b="-93573"/>
              </a:stretch>
            </a:blipFill>
          </p:spPr>
        </p:sp>
        <p:sp>
          <p:nvSpPr>
            <p:cNvPr name="TextBox 41" id="41"/>
            <p:cNvSpPr txBox="true"/>
            <p:nvPr/>
          </p:nvSpPr>
          <p:spPr>
            <a:xfrm>
              <a:off x="0" y="-38100"/>
              <a:ext cx="6827520" cy="964692"/>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  Perspectives</a:t>
              </a:r>
            </a:p>
          </p:txBody>
        </p:sp>
      </p:grpSp>
      <p:grpSp>
        <p:nvGrpSpPr>
          <p:cNvPr name="Group 42" id="42"/>
          <p:cNvGrpSpPr/>
          <p:nvPr/>
        </p:nvGrpSpPr>
        <p:grpSpPr>
          <a:xfrm rot="0">
            <a:off x="6035040" y="6254496"/>
            <a:ext cx="7315200" cy="512064"/>
            <a:chOff x="0" y="0"/>
            <a:chExt cx="9753600" cy="682752"/>
          </a:xfrm>
        </p:grpSpPr>
        <p:sp>
          <p:nvSpPr>
            <p:cNvPr name="Freeform 43" id="43"/>
            <p:cNvSpPr/>
            <p:nvPr/>
          </p:nvSpPr>
          <p:spPr>
            <a:xfrm flipH="false" flipV="false" rot="0">
              <a:off x="0" y="0"/>
              <a:ext cx="9753600" cy="682752"/>
            </a:xfrm>
            <a:custGeom>
              <a:avLst/>
              <a:gdLst/>
              <a:ahLst/>
              <a:cxnLst/>
              <a:rect r="r" b="b" t="t" l="l"/>
              <a:pathLst>
                <a:path h="682752" w="9753600">
                  <a:moveTo>
                    <a:pt x="0" y="0"/>
                  </a:moveTo>
                  <a:lnTo>
                    <a:pt x="9753600" y="0"/>
                  </a:lnTo>
                  <a:lnTo>
                    <a:pt x="9753600" y="682752"/>
                  </a:lnTo>
                  <a:lnTo>
                    <a:pt x="0" y="682752"/>
                  </a:lnTo>
                  <a:close/>
                </a:path>
              </a:pathLst>
            </a:custGeom>
            <a:blipFill>
              <a:blip r:embed="rId2">
                <a:alphaModFix amt="0"/>
              </a:blip>
              <a:stretch>
                <a:fillRect l="0" t="-228357" r="0" b="-228357"/>
              </a:stretch>
            </a:blipFill>
          </p:spPr>
        </p:sp>
        <p:sp>
          <p:nvSpPr>
            <p:cNvPr name="TextBox 44" id="44"/>
            <p:cNvSpPr txBox="true"/>
            <p:nvPr/>
          </p:nvSpPr>
          <p:spPr>
            <a:xfrm>
              <a:off x="0" y="-47625"/>
              <a:ext cx="9753600" cy="730377"/>
            </a:xfrm>
            <a:prstGeom prst="rect">
              <a:avLst/>
            </a:prstGeom>
          </p:spPr>
          <p:txBody>
            <a:bodyPr anchor="ctr" rtlCol="false" tIns="0" lIns="0" bIns="0" rIns="0"/>
            <a:lstStyle/>
            <a:p>
              <a:pPr algn="l">
                <a:lnSpc>
                  <a:spcPts val="2640"/>
                </a:lnSpc>
              </a:pPr>
              <a:r>
                <a:rPr lang="en-US" sz="2200" i="true">
                  <a:solidFill>
                    <a:srgbClr val="555555"/>
                  </a:solidFill>
                  <a:latin typeface="Calibri (MS) Italics"/>
                  <a:ea typeface="Calibri (MS) Italics"/>
                  <a:cs typeface="Calibri (MS) Italics"/>
                  <a:sym typeface="Calibri (MS) Italics"/>
                </a:rPr>
                <a:t>Axes de développement futur :</a:t>
              </a:r>
            </a:p>
          </p:txBody>
        </p:sp>
      </p:grpSp>
      <p:grpSp>
        <p:nvGrpSpPr>
          <p:cNvPr name="Group 45" id="45"/>
          <p:cNvGrpSpPr/>
          <p:nvPr/>
        </p:nvGrpSpPr>
        <p:grpSpPr>
          <a:xfrm rot="0">
            <a:off x="627383" y="7046471"/>
            <a:ext cx="5658107" cy="793499"/>
            <a:chOff x="0" y="0"/>
            <a:chExt cx="7544143" cy="1057999"/>
          </a:xfrm>
        </p:grpSpPr>
        <p:sp>
          <p:nvSpPr>
            <p:cNvPr name="Freeform 46" id="46"/>
            <p:cNvSpPr/>
            <p:nvPr/>
          </p:nvSpPr>
          <p:spPr>
            <a:xfrm flipH="false" flipV="false" rot="0">
              <a:off x="0" y="0"/>
              <a:ext cx="7544181" cy="1058037"/>
            </a:xfrm>
            <a:custGeom>
              <a:avLst/>
              <a:gdLst/>
              <a:ahLst/>
              <a:cxnLst/>
              <a:rect r="r" b="b" t="t" l="l"/>
              <a:pathLst>
                <a:path h="1058037" w="7544181">
                  <a:moveTo>
                    <a:pt x="0" y="201549"/>
                  </a:moveTo>
                  <a:cubicBezTo>
                    <a:pt x="0" y="90170"/>
                    <a:pt x="90170" y="0"/>
                    <a:pt x="201549" y="0"/>
                  </a:cubicBezTo>
                  <a:lnTo>
                    <a:pt x="7342632" y="0"/>
                  </a:lnTo>
                  <a:cubicBezTo>
                    <a:pt x="7453884" y="0"/>
                    <a:pt x="7544181" y="90170"/>
                    <a:pt x="7544181" y="201549"/>
                  </a:cubicBezTo>
                  <a:lnTo>
                    <a:pt x="7544181" y="856488"/>
                  </a:lnTo>
                  <a:cubicBezTo>
                    <a:pt x="7544181" y="967740"/>
                    <a:pt x="7454011" y="1058037"/>
                    <a:pt x="7342632" y="1058037"/>
                  </a:cubicBezTo>
                  <a:lnTo>
                    <a:pt x="201549" y="1058037"/>
                  </a:lnTo>
                  <a:cubicBezTo>
                    <a:pt x="90170" y="1058037"/>
                    <a:pt x="0" y="967740"/>
                    <a:pt x="0" y="856488"/>
                  </a:cubicBezTo>
                  <a:close/>
                </a:path>
              </a:pathLst>
            </a:custGeom>
            <a:solidFill>
              <a:srgbClr val="1B4F9C"/>
            </a:solidFill>
            <a:ln w="25400" cap="sq">
              <a:solidFill>
                <a:srgbClr val="1B4F9C"/>
              </a:solidFill>
              <a:prstDash val="solid"/>
              <a:miter/>
            </a:ln>
          </p:spPr>
        </p:sp>
      </p:grpSp>
      <p:grpSp>
        <p:nvGrpSpPr>
          <p:cNvPr name="Group 47" id="47"/>
          <p:cNvGrpSpPr/>
          <p:nvPr/>
        </p:nvGrpSpPr>
        <p:grpSpPr>
          <a:xfrm rot="0">
            <a:off x="640080" y="7059168"/>
            <a:ext cx="5632704" cy="768096"/>
            <a:chOff x="0" y="0"/>
            <a:chExt cx="7510272" cy="1024128"/>
          </a:xfrm>
        </p:grpSpPr>
        <p:sp>
          <p:nvSpPr>
            <p:cNvPr name="Freeform 48" id="48"/>
            <p:cNvSpPr/>
            <p:nvPr/>
          </p:nvSpPr>
          <p:spPr>
            <a:xfrm flipH="false" flipV="false" rot="0">
              <a:off x="0" y="0"/>
              <a:ext cx="7510272" cy="1024128"/>
            </a:xfrm>
            <a:custGeom>
              <a:avLst/>
              <a:gdLst/>
              <a:ahLst/>
              <a:cxnLst/>
              <a:rect r="r" b="b" t="t" l="l"/>
              <a:pathLst>
                <a:path h="1024128" w="7510272">
                  <a:moveTo>
                    <a:pt x="0" y="0"/>
                  </a:moveTo>
                  <a:lnTo>
                    <a:pt x="7510272" y="0"/>
                  </a:lnTo>
                  <a:lnTo>
                    <a:pt x="7510272" y="1024128"/>
                  </a:lnTo>
                  <a:lnTo>
                    <a:pt x="0" y="1024128"/>
                  </a:lnTo>
                  <a:close/>
                </a:path>
              </a:pathLst>
            </a:custGeom>
            <a:blipFill>
              <a:blip r:embed="rId2">
                <a:alphaModFix amt="0"/>
              </a:blip>
              <a:stretch>
                <a:fillRect l="0" t="-92890" r="0" b="-92890"/>
              </a:stretch>
            </a:blipFill>
          </p:spPr>
        </p:sp>
        <p:sp>
          <p:nvSpPr>
            <p:cNvPr name="TextBox 49" id="49"/>
            <p:cNvSpPr txBox="true"/>
            <p:nvPr/>
          </p:nvSpPr>
          <p:spPr>
            <a:xfrm>
              <a:off x="0" y="-38100"/>
              <a:ext cx="7510272" cy="1062228"/>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Réponse automatique</a:t>
              </a:r>
            </a:p>
          </p:txBody>
        </p:sp>
      </p:grpSp>
      <p:grpSp>
        <p:nvGrpSpPr>
          <p:cNvPr name="Group 50" id="50"/>
          <p:cNvGrpSpPr/>
          <p:nvPr/>
        </p:nvGrpSpPr>
        <p:grpSpPr>
          <a:xfrm rot="0">
            <a:off x="633727" y="7894063"/>
            <a:ext cx="5645401" cy="1512313"/>
            <a:chOff x="0" y="0"/>
            <a:chExt cx="7527201" cy="2016417"/>
          </a:xfrm>
        </p:grpSpPr>
        <p:sp>
          <p:nvSpPr>
            <p:cNvPr name="Freeform 51" id="51"/>
            <p:cNvSpPr/>
            <p:nvPr/>
          </p:nvSpPr>
          <p:spPr>
            <a:xfrm flipH="false" flipV="false" rot="0">
              <a:off x="0" y="0"/>
              <a:ext cx="7527163" cy="2016379"/>
            </a:xfrm>
            <a:custGeom>
              <a:avLst/>
              <a:gdLst/>
              <a:ahLst/>
              <a:cxnLst/>
              <a:rect r="r" b="b" t="t" l="l"/>
              <a:pathLst>
                <a:path h="2016379" w="7527163">
                  <a:moveTo>
                    <a:pt x="0" y="196723"/>
                  </a:moveTo>
                  <a:cubicBezTo>
                    <a:pt x="0" y="88138"/>
                    <a:pt x="88138" y="0"/>
                    <a:pt x="196723" y="0"/>
                  </a:cubicBezTo>
                  <a:lnTo>
                    <a:pt x="7330440" y="0"/>
                  </a:lnTo>
                  <a:cubicBezTo>
                    <a:pt x="7439025" y="0"/>
                    <a:pt x="7527163" y="88138"/>
                    <a:pt x="7527163" y="196723"/>
                  </a:cubicBezTo>
                  <a:lnTo>
                    <a:pt x="7527163" y="1819656"/>
                  </a:lnTo>
                  <a:cubicBezTo>
                    <a:pt x="7527163" y="1928241"/>
                    <a:pt x="7439025" y="2016379"/>
                    <a:pt x="7330440" y="2016379"/>
                  </a:cubicBezTo>
                  <a:lnTo>
                    <a:pt x="196723" y="2016379"/>
                  </a:lnTo>
                  <a:cubicBezTo>
                    <a:pt x="88138" y="2016379"/>
                    <a:pt x="0" y="1928368"/>
                    <a:pt x="0" y="1819656"/>
                  </a:cubicBezTo>
                  <a:close/>
                </a:path>
              </a:pathLst>
            </a:custGeom>
            <a:solidFill>
              <a:srgbClr val="FFFFFF"/>
            </a:solidFill>
            <a:ln w="12700" cap="sq">
              <a:solidFill>
                <a:srgbClr val="D0D8E8"/>
              </a:solidFill>
              <a:prstDash val="solid"/>
              <a:miter/>
            </a:ln>
          </p:spPr>
        </p:sp>
      </p:grpSp>
      <p:grpSp>
        <p:nvGrpSpPr>
          <p:cNvPr name="Group 52" id="52"/>
          <p:cNvGrpSpPr/>
          <p:nvPr/>
        </p:nvGrpSpPr>
        <p:grpSpPr>
          <a:xfrm rot="0">
            <a:off x="859536" y="7955280"/>
            <a:ext cx="5193792" cy="1389888"/>
            <a:chOff x="0" y="0"/>
            <a:chExt cx="6925056" cy="1853184"/>
          </a:xfrm>
        </p:grpSpPr>
        <p:sp>
          <p:nvSpPr>
            <p:cNvPr name="Freeform 53" id="53"/>
            <p:cNvSpPr/>
            <p:nvPr/>
          </p:nvSpPr>
          <p:spPr>
            <a:xfrm flipH="false" flipV="false" rot="0">
              <a:off x="0" y="0"/>
              <a:ext cx="6925056" cy="1853184"/>
            </a:xfrm>
            <a:custGeom>
              <a:avLst/>
              <a:gdLst/>
              <a:ahLst/>
              <a:cxnLst/>
              <a:rect r="r" b="b" t="t" l="l"/>
              <a:pathLst>
                <a:path h="1853184" w="6925056">
                  <a:moveTo>
                    <a:pt x="0" y="0"/>
                  </a:moveTo>
                  <a:lnTo>
                    <a:pt x="6925056" y="0"/>
                  </a:lnTo>
                  <a:lnTo>
                    <a:pt x="6925056" y="1853184"/>
                  </a:lnTo>
                  <a:lnTo>
                    <a:pt x="0" y="1853184"/>
                  </a:lnTo>
                  <a:close/>
                </a:path>
              </a:pathLst>
            </a:custGeom>
            <a:blipFill>
              <a:blip r:embed="rId2">
                <a:alphaModFix amt="0"/>
              </a:blip>
              <a:stretch>
                <a:fillRect l="0" t="-22812" r="0" b="-22812"/>
              </a:stretch>
            </a:blipFill>
          </p:spPr>
        </p:sp>
        <p:sp>
          <p:nvSpPr>
            <p:cNvPr name="TextBox 54" id="54"/>
            <p:cNvSpPr txBox="true"/>
            <p:nvPr/>
          </p:nvSpPr>
          <p:spPr>
            <a:xfrm>
              <a:off x="0" y="-47625"/>
              <a:ext cx="6925056" cy="1900809"/>
            </a:xfrm>
            <a:prstGeom prst="rect">
              <a:avLst/>
            </a:prstGeom>
          </p:spPr>
          <p:txBody>
            <a:bodyPr anchor="ctr" rtlCol="false" tIns="0" lIns="0" bIns="0" rIns="0"/>
            <a:lstStyle/>
            <a:p>
              <a:pPr algn="l">
                <a:lnSpc>
                  <a:spcPts val="2520"/>
                </a:lnSpc>
              </a:pPr>
              <a:r>
                <a:rPr lang="en-US" sz="2100">
                  <a:solidFill>
                    <a:srgbClr val="2C2C2C"/>
                  </a:solidFill>
                  <a:latin typeface="Calibri (MS)"/>
                  <a:ea typeface="Calibri (MS)"/>
                  <a:cs typeface="Calibri (MS)"/>
                  <a:sym typeface="Calibri (MS)"/>
                </a:rPr>
                <a:t>Intégrer un module de réponse automatique aux incidents pour réduire le temps d'exposition.</a:t>
              </a:r>
            </a:p>
          </p:txBody>
        </p:sp>
      </p:grpSp>
      <p:grpSp>
        <p:nvGrpSpPr>
          <p:cNvPr name="Group 55" id="55"/>
          <p:cNvGrpSpPr/>
          <p:nvPr/>
        </p:nvGrpSpPr>
        <p:grpSpPr>
          <a:xfrm rot="0">
            <a:off x="6333239" y="7046471"/>
            <a:ext cx="5658107" cy="793499"/>
            <a:chOff x="0" y="0"/>
            <a:chExt cx="7544143" cy="1057999"/>
          </a:xfrm>
        </p:grpSpPr>
        <p:sp>
          <p:nvSpPr>
            <p:cNvPr name="Freeform 56" id="56"/>
            <p:cNvSpPr/>
            <p:nvPr/>
          </p:nvSpPr>
          <p:spPr>
            <a:xfrm flipH="false" flipV="false" rot="0">
              <a:off x="0" y="0"/>
              <a:ext cx="7544181" cy="1058037"/>
            </a:xfrm>
            <a:custGeom>
              <a:avLst/>
              <a:gdLst/>
              <a:ahLst/>
              <a:cxnLst/>
              <a:rect r="r" b="b" t="t" l="l"/>
              <a:pathLst>
                <a:path h="1058037" w="7544181">
                  <a:moveTo>
                    <a:pt x="0" y="201549"/>
                  </a:moveTo>
                  <a:cubicBezTo>
                    <a:pt x="0" y="90170"/>
                    <a:pt x="90170" y="0"/>
                    <a:pt x="201549" y="0"/>
                  </a:cubicBezTo>
                  <a:lnTo>
                    <a:pt x="7342632" y="0"/>
                  </a:lnTo>
                  <a:cubicBezTo>
                    <a:pt x="7453884" y="0"/>
                    <a:pt x="7544181" y="90170"/>
                    <a:pt x="7544181" y="201549"/>
                  </a:cubicBezTo>
                  <a:lnTo>
                    <a:pt x="7544181" y="856488"/>
                  </a:lnTo>
                  <a:cubicBezTo>
                    <a:pt x="7544181" y="967740"/>
                    <a:pt x="7454011" y="1058037"/>
                    <a:pt x="7342632" y="1058037"/>
                  </a:cubicBezTo>
                  <a:lnTo>
                    <a:pt x="201549" y="1058037"/>
                  </a:lnTo>
                  <a:cubicBezTo>
                    <a:pt x="90170" y="1058037"/>
                    <a:pt x="0" y="967740"/>
                    <a:pt x="0" y="856488"/>
                  </a:cubicBezTo>
                  <a:close/>
                </a:path>
              </a:pathLst>
            </a:custGeom>
            <a:solidFill>
              <a:srgbClr val="1B2D4F"/>
            </a:solidFill>
            <a:ln w="25400" cap="sq">
              <a:solidFill>
                <a:srgbClr val="1B2D4F"/>
              </a:solidFill>
              <a:prstDash val="solid"/>
              <a:miter/>
            </a:ln>
          </p:spPr>
        </p:sp>
      </p:grpSp>
      <p:grpSp>
        <p:nvGrpSpPr>
          <p:cNvPr name="Group 57" id="57"/>
          <p:cNvGrpSpPr/>
          <p:nvPr/>
        </p:nvGrpSpPr>
        <p:grpSpPr>
          <a:xfrm rot="0">
            <a:off x="6345936" y="7059168"/>
            <a:ext cx="5632704" cy="768096"/>
            <a:chOff x="0" y="0"/>
            <a:chExt cx="7510272" cy="1024128"/>
          </a:xfrm>
        </p:grpSpPr>
        <p:sp>
          <p:nvSpPr>
            <p:cNvPr name="Freeform 58" id="58"/>
            <p:cNvSpPr/>
            <p:nvPr/>
          </p:nvSpPr>
          <p:spPr>
            <a:xfrm flipH="false" flipV="false" rot="0">
              <a:off x="0" y="0"/>
              <a:ext cx="7510272" cy="1024128"/>
            </a:xfrm>
            <a:custGeom>
              <a:avLst/>
              <a:gdLst/>
              <a:ahLst/>
              <a:cxnLst/>
              <a:rect r="r" b="b" t="t" l="l"/>
              <a:pathLst>
                <a:path h="1024128" w="7510272">
                  <a:moveTo>
                    <a:pt x="0" y="0"/>
                  </a:moveTo>
                  <a:lnTo>
                    <a:pt x="7510272" y="0"/>
                  </a:lnTo>
                  <a:lnTo>
                    <a:pt x="7510272" y="1024128"/>
                  </a:lnTo>
                  <a:lnTo>
                    <a:pt x="0" y="1024128"/>
                  </a:lnTo>
                  <a:close/>
                </a:path>
              </a:pathLst>
            </a:custGeom>
            <a:blipFill>
              <a:blip r:embed="rId2">
                <a:alphaModFix amt="0"/>
              </a:blip>
              <a:stretch>
                <a:fillRect l="0" t="-92890" r="0" b="-92890"/>
              </a:stretch>
            </a:blipFill>
          </p:spPr>
        </p:sp>
        <p:sp>
          <p:nvSpPr>
            <p:cNvPr name="TextBox 59" id="59"/>
            <p:cNvSpPr txBox="true"/>
            <p:nvPr/>
          </p:nvSpPr>
          <p:spPr>
            <a:xfrm>
              <a:off x="0" y="-38100"/>
              <a:ext cx="7510272" cy="1062228"/>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Détection zero-day</a:t>
              </a:r>
            </a:p>
          </p:txBody>
        </p:sp>
      </p:grpSp>
      <p:grpSp>
        <p:nvGrpSpPr>
          <p:cNvPr name="Group 60" id="60"/>
          <p:cNvGrpSpPr/>
          <p:nvPr/>
        </p:nvGrpSpPr>
        <p:grpSpPr>
          <a:xfrm rot="0">
            <a:off x="6339583" y="7894063"/>
            <a:ext cx="5645401" cy="1512313"/>
            <a:chOff x="0" y="0"/>
            <a:chExt cx="7527201" cy="2016417"/>
          </a:xfrm>
        </p:grpSpPr>
        <p:sp>
          <p:nvSpPr>
            <p:cNvPr name="Freeform 61" id="61"/>
            <p:cNvSpPr/>
            <p:nvPr/>
          </p:nvSpPr>
          <p:spPr>
            <a:xfrm flipH="false" flipV="false" rot="0">
              <a:off x="0" y="0"/>
              <a:ext cx="7527163" cy="2016379"/>
            </a:xfrm>
            <a:custGeom>
              <a:avLst/>
              <a:gdLst/>
              <a:ahLst/>
              <a:cxnLst/>
              <a:rect r="r" b="b" t="t" l="l"/>
              <a:pathLst>
                <a:path h="2016379" w="7527163">
                  <a:moveTo>
                    <a:pt x="0" y="196723"/>
                  </a:moveTo>
                  <a:cubicBezTo>
                    <a:pt x="0" y="88138"/>
                    <a:pt x="88138" y="0"/>
                    <a:pt x="196723" y="0"/>
                  </a:cubicBezTo>
                  <a:lnTo>
                    <a:pt x="7330440" y="0"/>
                  </a:lnTo>
                  <a:cubicBezTo>
                    <a:pt x="7439025" y="0"/>
                    <a:pt x="7527163" y="88138"/>
                    <a:pt x="7527163" y="196723"/>
                  </a:cubicBezTo>
                  <a:lnTo>
                    <a:pt x="7527163" y="1819656"/>
                  </a:lnTo>
                  <a:cubicBezTo>
                    <a:pt x="7527163" y="1928241"/>
                    <a:pt x="7439025" y="2016379"/>
                    <a:pt x="7330440" y="2016379"/>
                  </a:cubicBezTo>
                  <a:lnTo>
                    <a:pt x="196723" y="2016379"/>
                  </a:lnTo>
                  <a:cubicBezTo>
                    <a:pt x="88138" y="2016379"/>
                    <a:pt x="0" y="1928368"/>
                    <a:pt x="0" y="1819656"/>
                  </a:cubicBezTo>
                  <a:close/>
                </a:path>
              </a:pathLst>
            </a:custGeom>
            <a:solidFill>
              <a:srgbClr val="FFFFFF"/>
            </a:solidFill>
            <a:ln w="12700" cap="sq">
              <a:solidFill>
                <a:srgbClr val="D0D8E8"/>
              </a:solidFill>
              <a:prstDash val="solid"/>
              <a:miter/>
            </a:ln>
          </p:spPr>
        </p:sp>
      </p:grpSp>
      <p:grpSp>
        <p:nvGrpSpPr>
          <p:cNvPr name="Group 62" id="62"/>
          <p:cNvGrpSpPr/>
          <p:nvPr/>
        </p:nvGrpSpPr>
        <p:grpSpPr>
          <a:xfrm rot="0">
            <a:off x="6565392" y="7955280"/>
            <a:ext cx="5193792" cy="1389888"/>
            <a:chOff x="0" y="0"/>
            <a:chExt cx="6925056" cy="1853184"/>
          </a:xfrm>
        </p:grpSpPr>
        <p:sp>
          <p:nvSpPr>
            <p:cNvPr name="Freeform 63" id="63"/>
            <p:cNvSpPr/>
            <p:nvPr/>
          </p:nvSpPr>
          <p:spPr>
            <a:xfrm flipH="false" flipV="false" rot="0">
              <a:off x="0" y="0"/>
              <a:ext cx="6925056" cy="1853184"/>
            </a:xfrm>
            <a:custGeom>
              <a:avLst/>
              <a:gdLst/>
              <a:ahLst/>
              <a:cxnLst/>
              <a:rect r="r" b="b" t="t" l="l"/>
              <a:pathLst>
                <a:path h="1853184" w="6925056">
                  <a:moveTo>
                    <a:pt x="0" y="0"/>
                  </a:moveTo>
                  <a:lnTo>
                    <a:pt x="6925056" y="0"/>
                  </a:lnTo>
                  <a:lnTo>
                    <a:pt x="6925056" y="1853184"/>
                  </a:lnTo>
                  <a:lnTo>
                    <a:pt x="0" y="1853184"/>
                  </a:lnTo>
                  <a:close/>
                </a:path>
              </a:pathLst>
            </a:custGeom>
            <a:blipFill>
              <a:blip r:embed="rId2">
                <a:alphaModFix amt="0"/>
              </a:blip>
              <a:stretch>
                <a:fillRect l="0" t="-22812" r="0" b="-22812"/>
              </a:stretch>
            </a:blipFill>
          </p:spPr>
        </p:sp>
        <p:sp>
          <p:nvSpPr>
            <p:cNvPr name="TextBox 64" id="64"/>
            <p:cNvSpPr txBox="true"/>
            <p:nvPr/>
          </p:nvSpPr>
          <p:spPr>
            <a:xfrm>
              <a:off x="0" y="-47625"/>
              <a:ext cx="6925056" cy="1900809"/>
            </a:xfrm>
            <a:prstGeom prst="rect">
              <a:avLst/>
            </a:prstGeom>
          </p:spPr>
          <p:txBody>
            <a:bodyPr anchor="ctr" rtlCol="false" tIns="0" lIns="0" bIns="0" rIns="0"/>
            <a:lstStyle/>
            <a:p>
              <a:pPr algn="l">
                <a:lnSpc>
                  <a:spcPts val="2520"/>
                </a:lnSpc>
              </a:pPr>
              <a:r>
                <a:rPr lang="en-US" sz="2100">
                  <a:solidFill>
                    <a:srgbClr val="2C2C2C"/>
                  </a:solidFill>
                  <a:latin typeface="Calibri (MS)"/>
                  <a:ea typeface="Calibri (MS)"/>
                  <a:cs typeface="Calibri (MS)"/>
                  <a:sym typeface="Calibri (MS)"/>
                </a:rPr>
                <a:t>Étendre la solution à l'apprentissage non supervisé pour anticiper les attaques inconnues.</a:t>
              </a:r>
            </a:p>
          </p:txBody>
        </p:sp>
      </p:grpSp>
      <p:grpSp>
        <p:nvGrpSpPr>
          <p:cNvPr name="Group 65" id="65"/>
          <p:cNvGrpSpPr/>
          <p:nvPr/>
        </p:nvGrpSpPr>
        <p:grpSpPr>
          <a:xfrm rot="0">
            <a:off x="12020807" y="7046471"/>
            <a:ext cx="5658107" cy="793499"/>
            <a:chOff x="0" y="0"/>
            <a:chExt cx="7544143" cy="1057999"/>
          </a:xfrm>
        </p:grpSpPr>
        <p:sp>
          <p:nvSpPr>
            <p:cNvPr name="Freeform 66" id="66"/>
            <p:cNvSpPr/>
            <p:nvPr/>
          </p:nvSpPr>
          <p:spPr>
            <a:xfrm flipH="false" flipV="false" rot="0">
              <a:off x="0" y="0"/>
              <a:ext cx="7544181" cy="1058037"/>
            </a:xfrm>
            <a:custGeom>
              <a:avLst/>
              <a:gdLst/>
              <a:ahLst/>
              <a:cxnLst/>
              <a:rect r="r" b="b" t="t" l="l"/>
              <a:pathLst>
                <a:path h="1058037" w="7544181">
                  <a:moveTo>
                    <a:pt x="0" y="201549"/>
                  </a:moveTo>
                  <a:cubicBezTo>
                    <a:pt x="0" y="90170"/>
                    <a:pt x="90170" y="0"/>
                    <a:pt x="201549" y="0"/>
                  </a:cubicBezTo>
                  <a:lnTo>
                    <a:pt x="7342632" y="0"/>
                  </a:lnTo>
                  <a:cubicBezTo>
                    <a:pt x="7453884" y="0"/>
                    <a:pt x="7544181" y="90170"/>
                    <a:pt x="7544181" y="201549"/>
                  </a:cubicBezTo>
                  <a:lnTo>
                    <a:pt x="7544181" y="856488"/>
                  </a:lnTo>
                  <a:cubicBezTo>
                    <a:pt x="7544181" y="967740"/>
                    <a:pt x="7454011" y="1058037"/>
                    <a:pt x="7342632" y="1058037"/>
                  </a:cubicBezTo>
                  <a:lnTo>
                    <a:pt x="201549" y="1058037"/>
                  </a:lnTo>
                  <a:cubicBezTo>
                    <a:pt x="90170" y="1058037"/>
                    <a:pt x="0" y="967740"/>
                    <a:pt x="0" y="856488"/>
                  </a:cubicBezTo>
                  <a:close/>
                </a:path>
              </a:pathLst>
            </a:custGeom>
            <a:solidFill>
              <a:srgbClr val="1B2D4F"/>
            </a:solidFill>
            <a:ln w="25400" cap="sq">
              <a:solidFill>
                <a:srgbClr val="1B2D4F"/>
              </a:solidFill>
              <a:prstDash val="solid"/>
              <a:miter/>
            </a:ln>
          </p:spPr>
        </p:sp>
      </p:grpSp>
      <p:grpSp>
        <p:nvGrpSpPr>
          <p:cNvPr name="Group 67" id="67"/>
          <p:cNvGrpSpPr/>
          <p:nvPr/>
        </p:nvGrpSpPr>
        <p:grpSpPr>
          <a:xfrm rot="0">
            <a:off x="12033504" y="7059168"/>
            <a:ext cx="5632704" cy="768096"/>
            <a:chOff x="0" y="0"/>
            <a:chExt cx="7510272" cy="1024128"/>
          </a:xfrm>
        </p:grpSpPr>
        <p:sp>
          <p:nvSpPr>
            <p:cNvPr name="Freeform 68" id="68"/>
            <p:cNvSpPr/>
            <p:nvPr/>
          </p:nvSpPr>
          <p:spPr>
            <a:xfrm flipH="false" flipV="false" rot="0">
              <a:off x="0" y="0"/>
              <a:ext cx="7510272" cy="1024128"/>
            </a:xfrm>
            <a:custGeom>
              <a:avLst/>
              <a:gdLst/>
              <a:ahLst/>
              <a:cxnLst/>
              <a:rect r="r" b="b" t="t" l="l"/>
              <a:pathLst>
                <a:path h="1024128" w="7510272">
                  <a:moveTo>
                    <a:pt x="0" y="0"/>
                  </a:moveTo>
                  <a:lnTo>
                    <a:pt x="7510272" y="0"/>
                  </a:lnTo>
                  <a:lnTo>
                    <a:pt x="7510272" y="1024128"/>
                  </a:lnTo>
                  <a:lnTo>
                    <a:pt x="0" y="1024128"/>
                  </a:lnTo>
                  <a:close/>
                </a:path>
              </a:pathLst>
            </a:custGeom>
            <a:blipFill>
              <a:blip r:embed="rId2">
                <a:alphaModFix amt="0"/>
              </a:blip>
              <a:stretch>
                <a:fillRect l="0" t="-92890" r="0" b="-92890"/>
              </a:stretch>
            </a:blipFill>
          </p:spPr>
        </p:sp>
        <p:sp>
          <p:nvSpPr>
            <p:cNvPr name="TextBox 69" id="69"/>
            <p:cNvSpPr txBox="true"/>
            <p:nvPr/>
          </p:nvSpPr>
          <p:spPr>
            <a:xfrm>
              <a:off x="0" y="-38100"/>
              <a:ext cx="7510272" cy="1062228"/>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Déploiement réel</a:t>
              </a:r>
            </a:p>
          </p:txBody>
        </p:sp>
      </p:grpSp>
      <p:grpSp>
        <p:nvGrpSpPr>
          <p:cNvPr name="Group 70" id="70"/>
          <p:cNvGrpSpPr/>
          <p:nvPr/>
        </p:nvGrpSpPr>
        <p:grpSpPr>
          <a:xfrm rot="0">
            <a:off x="12027151" y="7894063"/>
            <a:ext cx="5645401" cy="1512313"/>
            <a:chOff x="0" y="0"/>
            <a:chExt cx="7527201" cy="2016417"/>
          </a:xfrm>
        </p:grpSpPr>
        <p:sp>
          <p:nvSpPr>
            <p:cNvPr name="Freeform 71" id="71"/>
            <p:cNvSpPr/>
            <p:nvPr/>
          </p:nvSpPr>
          <p:spPr>
            <a:xfrm flipH="false" flipV="false" rot="0">
              <a:off x="0" y="0"/>
              <a:ext cx="7527163" cy="2016379"/>
            </a:xfrm>
            <a:custGeom>
              <a:avLst/>
              <a:gdLst/>
              <a:ahLst/>
              <a:cxnLst/>
              <a:rect r="r" b="b" t="t" l="l"/>
              <a:pathLst>
                <a:path h="2016379" w="7527163">
                  <a:moveTo>
                    <a:pt x="0" y="196723"/>
                  </a:moveTo>
                  <a:cubicBezTo>
                    <a:pt x="0" y="88138"/>
                    <a:pt x="88138" y="0"/>
                    <a:pt x="196723" y="0"/>
                  </a:cubicBezTo>
                  <a:lnTo>
                    <a:pt x="7330440" y="0"/>
                  </a:lnTo>
                  <a:cubicBezTo>
                    <a:pt x="7439025" y="0"/>
                    <a:pt x="7527163" y="88138"/>
                    <a:pt x="7527163" y="196723"/>
                  </a:cubicBezTo>
                  <a:lnTo>
                    <a:pt x="7527163" y="1819656"/>
                  </a:lnTo>
                  <a:cubicBezTo>
                    <a:pt x="7527163" y="1928241"/>
                    <a:pt x="7439025" y="2016379"/>
                    <a:pt x="7330440" y="2016379"/>
                  </a:cubicBezTo>
                  <a:lnTo>
                    <a:pt x="196723" y="2016379"/>
                  </a:lnTo>
                  <a:cubicBezTo>
                    <a:pt x="88138" y="2016379"/>
                    <a:pt x="0" y="1928368"/>
                    <a:pt x="0" y="1819656"/>
                  </a:cubicBezTo>
                  <a:close/>
                </a:path>
              </a:pathLst>
            </a:custGeom>
            <a:solidFill>
              <a:srgbClr val="FFFFFF"/>
            </a:solidFill>
            <a:ln w="12700" cap="sq">
              <a:solidFill>
                <a:srgbClr val="D0D8E8"/>
              </a:solidFill>
              <a:prstDash val="solid"/>
              <a:miter/>
            </a:ln>
          </p:spPr>
        </p:sp>
      </p:grpSp>
      <p:grpSp>
        <p:nvGrpSpPr>
          <p:cNvPr name="Group 72" id="72"/>
          <p:cNvGrpSpPr/>
          <p:nvPr/>
        </p:nvGrpSpPr>
        <p:grpSpPr>
          <a:xfrm rot="0">
            <a:off x="12252960" y="7955280"/>
            <a:ext cx="5193792" cy="1389888"/>
            <a:chOff x="0" y="0"/>
            <a:chExt cx="6925056" cy="1853184"/>
          </a:xfrm>
        </p:grpSpPr>
        <p:sp>
          <p:nvSpPr>
            <p:cNvPr name="Freeform 73" id="73"/>
            <p:cNvSpPr/>
            <p:nvPr/>
          </p:nvSpPr>
          <p:spPr>
            <a:xfrm flipH="false" flipV="false" rot="0">
              <a:off x="0" y="0"/>
              <a:ext cx="6925056" cy="1853184"/>
            </a:xfrm>
            <a:custGeom>
              <a:avLst/>
              <a:gdLst/>
              <a:ahLst/>
              <a:cxnLst/>
              <a:rect r="r" b="b" t="t" l="l"/>
              <a:pathLst>
                <a:path h="1853184" w="6925056">
                  <a:moveTo>
                    <a:pt x="0" y="0"/>
                  </a:moveTo>
                  <a:lnTo>
                    <a:pt x="6925056" y="0"/>
                  </a:lnTo>
                  <a:lnTo>
                    <a:pt x="6925056" y="1853184"/>
                  </a:lnTo>
                  <a:lnTo>
                    <a:pt x="0" y="1853184"/>
                  </a:lnTo>
                  <a:close/>
                </a:path>
              </a:pathLst>
            </a:custGeom>
            <a:blipFill>
              <a:blip r:embed="rId2">
                <a:alphaModFix amt="0"/>
              </a:blip>
              <a:stretch>
                <a:fillRect l="0" t="-22812" r="0" b="-22812"/>
              </a:stretch>
            </a:blipFill>
          </p:spPr>
        </p:sp>
        <p:sp>
          <p:nvSpPr>
            <p:cNvPr name="TextBox 74" id="74"/>
            <p:cNvSpPr txBox="true"/>
            <p:nvPr/>
          </p:nvSpPr>
          <p:spPr>
            <a:xfrm>
              <a:off x="0" y="-47625"/>
              <a:ext cx="6925056" cy="1900809"/>
            </a:xfrm>
            <a:prstGeom prst="rect">
              <a:avLst/>
            </a:prstGeom>
          </p:spPr>
          <p:txBody>
            <a:bodyPr anchor="ctr" rtlCol="false" tIns="0" lIns="0" bIns="0" rIns="0"/>
            <a:lstStyle/>
            <a:p>
              <a:pPr algn="l">
                <a:lnSpc>
                  <a:spcPts val="2520"/>
                </a:lnSpc>
              </a:pPr>
              <a:r>
                <a:rPr lang="en-US" sz="2100">
                  <a:solidFill>
                    <a:srgbClr val="2C2C2C"/>
                  </a:solidFill>
                  <a:latin typeface="Calibri (MS)"/>
                  <a:ea typeface="Calibri (MS)"/>
                  <a:cs typeface="Calibri (MS)"/>
                  <a:sym typeface="Calibri (MS)"/>
                </a:rPr>
                <a:t>Déployer le système en production chez DakarTech Solutions avec une interface de supervision.</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0F4FF"/>
        </a:solidFill>
      </p:bgPr>
    </p:bg>
    <p:spTree>
      <p:nvGrpSpPr>
        <p:cNvPr id="1" name=""/>
        <p:cNvGrpSpPr/>
        <p:nvPr/>
      </p:nvGrpSpPr>
      <p:grpSpPr>
        <a:xfrm>
          <a:off x="0" y="0"/>
          <a:ext cx="0" cy="0"/>
          <a:chOff x="0" y="0"/>
          <a:chExt cx="0" cy="0"/>
        </a:xfrm>
      </p:grpSpPr>
      <p:grpSp>
        <p:nvGrpSpPr>
          <p:cNvPr name="Group 2" id="2"/>
          <p:cNvGrpSpPr/>
          <p:nvPr/>
        </p:nvGrpSpPr>
        <p:grpSpPr>
          <a:xfrm rot="0">
            <a:off x="12423143" y="-2755897"/>
            <a:ext cx="10083803" cy="10083803"/>
            <a:chOff x="0" y="0"/>
            <a:chExt cx="13445071" cy="13445071"/>
          </a:xfrm>
        </p:grpSpPr>
        <p:sp>
          <p:nvSpPr>
            <p:cNvPr name="Freeform 3" id="3"/>
            <p:cNvSpPr/>
            <p:nvPr/>
          </p:nvSpPr>
          <p:spPr>
            <a:xfrm flipH="false" flipV="false" rot="0">
              <a:off x="0" y="0"/>
              <a:ext cx="13444982" cy="13444982"/>
            </a:xfrm>
            <a:custGeom>
              <a:avLst/>
              <a:gdLst/>
              <a:ahLst/>
              <a:cxnLst/>
              <a:rect r="r" b="b" t="t" l="l"/>
              <a:pathLst>
                <a:path h="13444982" w="13444982">
                  <a:moveTo>
                    <a:pt x="0" y="6722491"/>
                  </a:moveTo>
                  <a:cubicBezTo>
                    <a:pt x="0" y="3009773"/>
                    <a:pt x="3009773" y="0"/>
                    <a:pt x="6722491" y="0"/>
                  </a:cubicBezTo>
                  <a:cubicBezTo>
                    <a:pt x="10435210" y="0"/>
                    <a:pt x="13444982" y="3009773"/>
                    <a:pt x="13444982" y="6722491"/>
                  </a:cubicBezTo>
                  <a:cubicBezTo>
                    <a:pt x="13444982" y="10435210"/>
                    <a:pt x="10435210" y="13444982"/>
                    <a:pt x="6722491" y="13444982"/>
                  </a:cubicBezTo>
                  <a:cubicBezTo>
                    <a:pt x="3009773" y="13444982"/>
                    <a:pt x="0" y="10435336"/>
                    <a:pt x="0" y="6722491"/>
                  </a:cubicBezTo>
                  <a:close/>
                </a:path>
              </a:pathLst>
            </a:custGeom>
            <a:solidFill>
              <a:srgbClr val="DBEAFE">
                <a:alpha val="48627"/>
              </a:srgbClr>
            </a:solidFill>
            <a:ln w="25400" cap="sq">
              <a:solidFill>
                <a:srgbClr val="DBEAFE"/>
              </a:solidFill>
              <a:prstDash val="solid"/>
              <a:miter/>
            </a:ln>
          </p:spPr>
        </p:sp>
      </p:grpSp>
      <p:grpSp>
        <p:nvGrpSpPr>
          <p:cNvPr name="Group 4" id="4"/>
          <p:cNvGrpSpPr/>
          <p:nvPr/>
        </p:nvGrpSpPr>
        <p:grpSpPr>
          <a:xfrm rot="0">
            <a:off x="-2207257" y="6570983"/>
            <a:ext cx="6426203" cy="6426203"/>
            <a:chOff x="0" y="0"/>
            <a:chExt cx="8568271" cy="8568271"/>
          </a:xfrm>
        </p:grpSpPr>
        <p:sp>
          <p:nvSpPr>
            <p:cNvPr name="Freeform 5" id="5"/>
            <p:cNvSpPr/>
            <p:nvPr/>
          </p:nvSpPr>
          <p:spPr>
            <a:xfrm flipH="false" flipV="false" rot="0">
              <a:off x="0" y="0"/>
              <a:ext cx="8568309" cy="8568309"/>
            </a:xfrm>
            <a:custGeom>
              <a:avLst/>
              <a:gdLst/>
              <a:ahLst/>
              <a:cxnLst/>
              <a:rect r="r" b="b" t="t" l="l"/>
              <a:pathLst>
                <a:path h="8568309" w="8568309">
                  <a:moveTo>
                    <a:pt x="0" y="4284091"/>
                  </a:moveTo>
                  <a:cubicBezTo>
                    <a:pt x="0" y="1918081"/>
                    <a:pt x="1918081" y="0"/>
                    <a:pt x="4284091" y="0"/>
                  </a:cubicBezTo>
                  <a:cubicBezTo>
                    <a:pt x="6650101" y="0"/>
                    <a:pt x="8568309" y="1918081"/>
                    <a:pt x="8568309" y="4284091"/>
                  </a:cubicBezTo>
                  <a:cubicBezTo>
                    <a:pt x="8568309" y="6650101"/>
                    <a:pt x="6650228" y="8568309"/>
                    <a:pt x="4284091" y="8568309"/>
                  </a:cubicBezTo>
                  <a:cubicBezTo>
                    <a:pt x="1917953" y="8568309"/>
                    <a:pt x="0" y="6650228"/>
                    <a:pt x="0" y="4284091"/>
                  </a:cubicBezTo>
                  <a:close/>
                </a:path>
              </a:pathLst>
            </a:custGeom>
            <a:solidFill>
              <a:srgbClr val="DBEAFE">
                <a:alpha val="48627"/>
              </a:srgbClr>
            </a:solidFill>
            <a:ln w="25400" cap="sq">
              <a:solidFill>
                <a:srgbClr val="DBEAFE"/>
              </a:solidFill>
              <a:prstDash val="solid"/>
              <a:miter/>
            </a:ln>
          </p:spPr>
        </p:sp>
      </p:grpSp>
      <p:grpSp>
        <p:nvGrpSpPr>
          <p:cNvPr name="Group 6" id="6"/>
          <p:cNvGrpSpPr/>
          <p:nvPr/>
        </p:nvGrpSpPr>
        <p:grpSpPr>
          <a:xfrm rot="0">
            <a:off x="6388103" y="4778759"/>
            <a:ext cx="5511803" cy="80267"/>
            <a:chOff x="0" y="0"/>
            <a:chExt cx="7349071" cy="107023"/>
          </a:xfrm>
        </p:grpSpPr>
        <p:sp>
          <p:nvSpPr>
            <p:cNvPr name="Freeform 7" id="7"/>
            <p:cNvSpPr/>
            <p:nvPr/>
          </p:nvSpPr>
          <p:spPr>
            <a:xfrm flipH="false" flipV="false" rot="0">
              <a:off x="0" y="0"/>
              <a:ext cx="7349109" cy="107061"/>
            </a:xfrm>
            <a:custGeom>
              <a:avLst/>
              <a:gdLst/>
              <a:ahLst/>
              <a:cxnLst/>
              <a:rect r="r" b="b" t="t" l="l"/>
              <a:pathLst>
                <a:path h="107061" w="7349109">
                  <a:moveTo>
                    <a:pt x="0" y="0"/>
                  </a:moveTo>
                  <a:lnTo>
                    <a:pt x="7349109" y="0"/>
                  </a:lnTo>
                  <a:lnTo>
                    <a:pt x="7349109" y="107061"/>
                  </a:lnTo>
                  <a:lnTo>
                    <a:pt x="0" y="107061"/>
                  </a:lnTo>
                  <a:close/>
                </a:path>
              </a:pathLst>
            </a:custGeom>
            <a:solidFill>
              <a:srgbClr val="2563EB"/>
            </a:solidFill>
            <a:ln w="25400" cap="sq">
              <a:solidFill>
                <a:srgbClr val="2563EB"/>
              </a:solidFill>
              <a:prstDash val="solid"/>
              <a:miter/>
            </a:ln>
          </p:spPr>
        </p:sp>
      </p:grpSp>
      <p:grpSp>
        <p:nvGrpSpPr>
          <p:cNvPr name="Group 8" id="8"/>
          <p:cNvGrpSpPr/>
          <p:nvPr/>
        </p:nvGrpSpPr>
        <p:grpSpPr>
          <a:xfrm rot="0">
            <a:off x="-12697" y="3003171"/>
            <a:ext cx="18300697" cy="2140329"/>
            <a:chOff x="0" y="0"/>
            <a:chExt cx="24384000" cy="2851793"/>
          </a:xfrm>
        </p:grpSpPr>
        <p:sp>
          <p:nvSpPr>
            <p:cNvPr name="Freeform 9" id="9"/>
            <p:cNvSpPr/>
            <p:nvPr/>
          </p:nvSpPr>
          <p:spPr>
            <a:xfrm flipH="false" flipV="false" rot="0">
              <a:off x="0" y="0"/>
              <a:ext cx="24384000" cy="2851793"/>
            </a:xfrm>
            <a:custGeom>
              <a:avLst/>
              <a:gdLst/>
              <a:ahLst/>
              <a:cxnLst/>
              <a:rect r="r" b="b" t="t" l="l"/>
              <a:pathLst>
                <a:path h="2851793" w="24384000">
                  <a:moveTo>
                    <a:pt x="0" y="0"/>
                  </a:moveTo>
                  <a:lnTo>
                    <a:pt x="24384000" y="0"/>
                  </a:lnTo>
                  <a:lnTo>
                    <a:pt x="24384000" y="2851793"/>
                  </a:lnTo>
                  <a:lnTo>
                    <a:pt x="0" y="2851793"/>
                  </a:lnTo>
                  <a:close/>
                </a:path>
              </a:pathLst>
            </a:custGeom>
            <a:blipFill>
              <a:blip r:embed="rId2">
                <a:alphaModFix amt="0"/>
              </a:blip>
              <a:stretch>
                <a:fillRect l="0" t="-115302" r="0" b="-117907"/>
              </a:stretch>
            </a:blipFill>
          </p:spPr>
        </p:sp>
        <p:sp>
          <p:nvSpPr>
            <p:cNvPr name="TextBox 10" id="10"/>
            <p:cNvSpPr txBox="true"/>
            <p:nvPr/>
          </p:nvSpPr>
          <p:spPr>
            <a:xfrm>
              <a:off x="0" y="0"/>
              <a:ext cx="24384000" cy="2851793"/>
            </a:xfrm>
            <a:prstGeom prst="rect">
              <a:avLst/>
            </a:prstGeom>
          </p:spPr>
          <p:txBody>
            <a:bodyPr anchor="ctr" rtlCol="false" tIns="0" lIns="0" bIns="0" rIns="0"/>
            <a:lstStyle/>
            <a:p>
              <a:pPr algn="ctr">
                <a:lnSpc>
                  <a:spcPts val="10441"/>
                </a:lnSpc>
              </a:pPr>
              <a:r>
                <a:rPr lang="en-US" sz="8701">
                  <a:solidFill>
                    <a:srgbClr val="2563EB"/>
                  </a:solidFill>
                  <a:latin typeface="TAN Headline"/>
                  <a:ea typeface="TAN Headline"/>
                  <a:cs typeface="TAN Headline"/>
                  <a:sym typeface="TAN Headline"/>
                </a:rPr>
                <a:t>Merci !!!</a:t>
              </a:r>
            </a:p>
          </p:txBody>
        </p:sp>
      </p:grpSp>
      <p:grpSp>
        <p:nvGrpSpPr>
          <p:cNvPr name="Group 11" id="11"/>
          <p:cNvGrpSpPr/>
          <p:nvPr/>
        </p:nvGrpSpPr>
        <p:grpSpPr>
          <a:xfrm rot="0">
            <a:off x="0" y="5212080"/>
            <a:ext cx="18288000" cy="822960"/>
            <a:chOff x="0" y="0"/>
            <a:chExt cx="24384000" cy="1097280"/>
          </a:xfrm>
        </p:grpSpPr>
        <p:sp>
          <p:nvSpPr>
            <p:cNvPr name="Freeform 12" id="12"/>
            <p:cNvSpPr/>
            <p:nvPr/>
          </p:nvSpPr>
          <p:spPr>
            <a:xfrm flipH="false" flipV="false" rot="0">
              <a:off x="0" y="0"/>
              <a:ext cx="24384000" cy="1097280"/>
            </a:xfrm>
            <a:custGeom>
              <a:avLst/>
              <a:gdLst/>
              <a:ahLst/>
              <a:cxnLst/>
              <a:rect r="r" b="b" t="t" l="l"/>
              <a:pathLst>
                <a:path h="1097280" w="24384000">
                  <a:moveTo>
                    <a:pt x="0" y="0"/>
                  </a:moveTo>
                  <a:lnTo>
                    <a:pt x="24384000" y="0"/>
                  </a:lnTo>
                  <a:lnTo>
                    <a:pt x="24384000" y="1097280"/>
                  </a:lnTo>
                  <a:lnTo>
                    <a:pt x="0" y="1097280"/>
                  </a:lnTo>
                  <a:close/>
                </a:path>
              </a:pathLst>
            </a:custGeom>
            <a:blipFill>
              <a:blip r:embed="rId2">
                <a:alphaModFix amt="0"/>
              </a:blip>
              <a:stretch>
                <a:fillRect l="0" t="-383000" r="0" b="-383000"/>
              </a:stretch>
            </a:blipFill>
          </p:spPr>
        </p:sp>
        <p:sp>
          <p:nvSpPr>
            <p:cNvPr name="TextBox 13" id="13"/>
            <p:cNvSpPr txBox="true"/>
            <p:nvPr/>
          </p:nvSpPr>
          <p:spPr>
            <a:xfrm>
              <a:off x="0" y="-66675"/>
              <a:ext cx="24384000" cy="1163955"/>
            </a:xfrm>
            <a:prstGeom prst="rect">
              <a:avLst/>
            </a:prstGeom>
          </p:spPr>
          <p:txBody>
            <a:bodyPr anchor="ctr" rtlCol="false" tIns="0" lIns="0" bIns="0" rIns="0"/>
            <a:lstStyle/>
            <a:p>
              <a:pPr algn="ctr">
                <a:lnSpc>
                  <a:spcPts val="4320"/>
                </a:lnSpc>
              </a:pPr>
              <a:r>
                <a:rPr lang="en-US" b="true" sz="3600" i="true">
                  <a:solidFill>
                    <a:srgbClr val="64748B"/>
                  </a:solidFill>
                  <a:latin typeface="Calibri (MS) Bold Italics"/>
                  <a:ea typeface="Calibri (MS) Bold Italics"/>
                  <a:cs typeface="Calibri (MS) Bold Italics"/>
                  <a:sym typeface="Calibri (MS) Bold Italics"/>
                </a:rPr>
                <a:t>pour votre attention</a:t>
              </a:r>
            </a:p>
          </p:txBody>
        </p:sp>
      </p:grpSp>
      <p:grpSp>
        <p:nvGrpSpPr>
          <p:cNvPr name="Group 14" id="14"/>
          <p:cNvGrpSpPr/>
          <p:nvPr/>
        </p:nvGrpSpPr>
        <p:grpSpPr>
          <a:xfrm rot="0">
            <a:off x="0" y="6309360"/>
            <a:ext cx="18288000" cy="585216"/>
            <a:chOff x="0" y="0"/>
            <a:chExt cx="24384000" cy="780288"/>
          </a:xfrm>
        </p:grpSpPr>
        <p:sp>
          <p:nvSpPr>
            <p:cNvPr name="Freeform 15" id="15"/>
            <p:cNvSpPr/>
            <p:nvPr/>
          </p:nvSpPr>
          <p:spPr>
            <a:xfrm flipH="false" flipV="false" rot="0">
              <a:off x="0" y="0"/>
              <a:ext cx="24384000" cy="780288"/>
            </a:xfrm>
            <a:custGeom>
              <a:avLst/>
              <a:gdLst/>
              <a:ahLst/>
              <a:cxnLst/>
              <a:rect r="r" b="b" t="t" l="l"/>
              <a:pathLst>
                <a:path h="780288" w="24384000">
                  <a:moveTo>
                    <a:pt x="0" y="0"/>
                  </a:moveTo>
                  <a:lnTo>
                    <a:pt x="24384000" y="0"/>
                  </a:lnTo>
                  <a:lnTo>
                    <a:pt x="24384000" y="780288"/>
                  </a:lnTo>
                  <a:lnTo>
                    <a:pt x="0" y="780288"/>
                  </a:lnTo>
                  <a:close/>
                </a:path>
              </a:pathLst>
            </a:custGeom>
            <a:blipFill>
              <a:blip r:embed="rId2">
                <a:alphaModFix amt="0"/>
              </a:blip>
              <a:stretch>
                <a:fillRect l="0" t="-558907" r="0" b="-558907"/>
              </a:stretch>
            </a:blipFill>
          </p:spPr>
        </p:sp>
        <p:sp>
          <p:nvSpPr>
            <p:cNvPr name="TextBox 16" id="16"/>
            <p:cNvSpPr txBox="true"/>
            <p:nvPr/>
          </p:nvSpPr>
          <p:spPr>
            <a:xfrm>
              <a:off x="0" y="-47625"/>
              <a:ext cx="24384000" cy="827913"/>
            </a:xfrm>
            <a:prstGeom prst="rect">
              <a:avLst/>
            </a:prstGeom>
          </p:spPr>
          <p:txBody>
            <a:bodyPr anchor="ctr" rtlCol="false" tIns="0" lIns="0" bIns="0" rIns="0"/>
            <a:lstStyle/>
            <a:p>
              <a:pPr algn="ctr">
                <a:lnSpc>
                  <a:spcPts val="2640"/>
                </a:lnSpc>
              </a:pPr>
              <a:r>
                <a:rPr lang="en-US" sz="2200" spc="600">
                  <a:solidFill>
                    <a:srgbClr val="2563EB"/>
                  </a:solidFill>
                  <a:latin typeface="Calibri (MS)"/>
                  <a:ea typeface="Calibri (MS)"/>
                  <a:cs typeface="Calibri (MS)"/>
                  <a:sym typeface="Calibri (MS)"/>
                </a:rPr>
                <a:t>Projet-IA</a:t>
              </a:r>
            </a:p>
          </p:txBody>
        </p:sp>
      </p:grpSp>
      <p:grpSp>
        <p:nvGrpSpPr>
          <p:cNvPr name="Group 17" id="17"/>
          <p:cNvGrpSpPr/>
          <p:nvPr/>
        </p:nvGrpSpPr>
        <p:grpSpPr>
          <a:xfrm rot="0">
            <a:off x="7354985" y="6961251"/>
            <a:ext cx="8229600" cy="762968"/>
            <a:chOff x="0" y="0"/>
            <a:chExt cx="10972800" cy="1017291"/>
          </a:xfrm>
        </p:grpSpPr>
        <p:sp>
          <p:nvSpPr>
            <p:cNvPr name="Freeform 18" id="18"/>
            <p:cNvSpPr/>
            <p:nvPr/>
          </p:nvSpPr>
          <p:spPr>
            <a:xfrm flipH="false" flipV="false" rot="0">
              <a:off x="0" y="0"/>
              <a:ext cx="10972800" cy="1017291"/>
            </a:xfrm>
            <a:custGeom>
              <a:avLst/>
              <a:gdLst/>
              <a:ahLst/>
              <a:cxnLst/>
              <a:rect r="r" b="b" t="t" l="l"/>
              <a:pathLst>
                <a:path h="1017291" w="10972800">
                  <a:moveTo>
                    <a:pt x="0" y="0"/>
                  </a:moveTo>
                  <a:lnTo>
                    <a:pt x="10972800" y="0"/>
                  </a:lnTo>
                  <a:lnTo>
                    <a:pt x="10972800" y="1017291"/>
                  </a:lnTo>
                  <a:lnTo>
                    <a:pt x="0" y="1017291"/>
                  </a:lnTo>
                  <a:close/>
                </a:path>
              </a:pathLst>
            </a:custGeom>
            <a:blipFill>
              <a:blip r:embed="rId2">
                <a:alphaModFix amt="0"/>
              </a:blip>
              <a:stretch>
                <a:fillRect l="0" t="-176614" r="0" b="-143728"/>
              </a:stretch>
            </a:blipFill>
          </p:spPr>
        </p:sp>
        <p:sp>
          <p:nvSpPr>
            <p:cNvPr name="TextBox 19" id="19"/>
            <p:cNvSpPr txBox="true"/>
            <p:nvPr/>
          </p:nvSpPr>
          <p:spPr>
            <a:xfrm>
              <a:off x="0" y="-38100"/>
              <a:ext cx="10972800" cy="1055391"/>
            </a:xfrm>
            <a:prstGeom prst="rect">
              <a:avLst/>
            </a:prstGeom>
          </p:spPr>
          <p:txBody>
            <a:bodyPr anchor="ctr" rtlCol="false" tIns="0" lIns="0" bIns="0" rIns="0"/>
            <a:lstStyle/>
            <a:p>
              <a:pPr algn="l">
                <a:lnSpc>
                  <a:spcPts val="2039"/>
                </a:lnSpc>
              </a:pPr>
              <a:r>
                <a:rPr lang="en-US" sz="1700">
                  <a:solidFill>
                    <a:srgbClr val="607D8B"/>
                  </a:solidFill>
                  <a:latin typeface="Calibri (MS)"/>
                  <a:ea typeface="Calibri (MS)"/>
                  <a:cs typeface="Calibri (MS)"/>
                  <a:sym typeface="Calibri (MS)"/>
                </a:rPr>
                <a:t>Ensak </a:t>
              </a:r>
              <a:r>
                <a:rPr lang="en-US" sz="1700">
                  <a:solidFill>
                    <a:srgbClr val="607D8B"/>
                  </a:solidFill>
                  <a:latin typeface="Calibri (MS)"/>
                  <a:ea typeface="Calibri (MS)"/>
                  <a:cs typeface="Calibri (MS)"/>
                  <a:sym typeface="Calibri (MS)"/>
                </a:rPr>
                <a:t>Année universitaire 2025 – 2026</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DAHKBwMv7DQ</dc:identifier>
  <dcterms:modified xsi:type="dcterms:W3CDTF">2011-08-01T06:04:30Z</dcterms:modified>
  <cp:revision>1</cp:revision>
  <dc:title>projet_IA.pptx</dc:title>
</cp:coreProperties>
</file>